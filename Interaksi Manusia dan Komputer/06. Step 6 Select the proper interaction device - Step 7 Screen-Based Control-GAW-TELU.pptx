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8" r:id="rId4"/>
  </p:sldMasterIdLst>
  <p:notesMasterIdLst>
    <p:notesMasterId r:id="rId45"/>
  </p:notesMasterIdLst>
  <p:sldIdLst>
    <p:sldId id="313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338" r:id="rId41"/>
    <p:sldId id="339" r:id="rId42"/>
    <p:sldId id="340" r:id="rId43"/>
    <p:sldId id="341" r:id="rId44"/>
  </p:sldIdLst>
  <p:sldSz cx="9144000" cy="6858000" type="screen4x3"/>
  <p:notesSz cx="6858000" cy="9144000"/>
  <p:custDataLst>
    <p:tags r:id="rId4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666699"/>
    <a:srgbClr val="663300"/>
    <a:srgbClr val="FFE2A7"/>
    <a:srgbClr val="9900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3059"/>
  </p:normalViewPr>
  <p:slideViewPr>
    <p:cSldViewPr>
      <p:cViewPr varScale="1">
        <p:scale>
          <a:sx n="99" d="100"/>
          <a:sy n="99" d="100"/>
        </p:scale>
        <p:origin x="186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gs" Target="tags/tag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CD4B763-836C-42EA-84C5-FA02BC1944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652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Pemilihan</a:t>
            </a:r>
            <a:r>
              <a:rPr lang="en-US" dirty="0"/>
              <a:t> device yang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mengakomodir</a:t>
            </a:r>
            <a:r>
              <a:rPr lang="en-US" dirty="0"/>
              <a:t> </a:t>
            </a:r>
            <a:r>
              <a:rPr lang="en-US" dirty="0" err="1"/>
              <a:t>pekerjaan</a:t>
            </a:r>
            <a:r>
              <a:rPr lang="en-US" dirty="0"/>
              <a:t> user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sangat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kesuksesan</a:t>
            </a:r>
            <a:r>
              <a:rPr lang="en-US" dirty="0"/>
              <a:t> </a:t>
            </a:r>
            <a:r>
              <a:rPr lang="en-US" dirty="0" err="1"/>
              <a:t>sistem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D587A6-A3C8-4590-AEA7-ADED50B7455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2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E0808A-CEEA-4609-8C09-BBE473331F2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4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A building with a sign on i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4762"/>
          <a:stretch/>
        </p:blipFill>
        <p:spPr>
          <a:xfrm>
            <a:off x="0" y="2006600"/>
            <a:ext cx="3315974" cy="4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 rot="10800000" flipH="1">
            <a:off x="0" y="5074920"/>
            <a:ext cx="9144000" cy="1783073"/>
          </a:xfrm>
          <a:prstGeom prst="rect">
            <a:avLst/>
          </a:prstGeom>
          <a:gradFill>
            <a:gsLst>
              <a:gs pos="0">
                <a:schemeClr val="lt1"/>
              </a:gs>
              <a:gs pos="2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13" name="Google Shape;13;p2"/>
          <p:cNvGrpSpPr/>
          <p:nvPr/>
        </p:nvGrpSpPr>
        <p:grpSpPr>
          <a:xfrm>
            <a:off x="4572000" y="6528817"/>
            <a:ext cx="4594860" cy="658366"/>
            <a:chOff x="6566098" y="6529395"/>
            <a:chExt cx="5625902" cy="658365"/>
          </a:xfrm>
        </p:grpSpPr>
        <p:sp>
          <p:nvSpPr>
            <p:cNvPr id="14" name="Google Shape;14;p2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 flipH="1">
            <a:off x="0" y="6527465"/>
            <a:ext cx="4594860" cy="658366"/>
            <a:chOff x="6566098" y="6529395"/>
            <a:chExt cx="5625902" cy="658365"/>
          </a:xfrm>
        </p:grpSpPr>
        <p:sp>
          <p:nvSpPr>
            <p:cNvPr id="17" name="Google Shape;17;p2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3532908" y="1702118"/>
            <a:ext cx="5248189" cy="17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3532908" y="3468456"/>
            <a:ext cx="5248189" cy="119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1" name="Google Shape;21;p2" descr="A black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230" y="223036"/>
            <a:ext cx="757142" cy="345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oogle Shape;22;p2"/>
          <p:cNvGrpSpPr/>
          <p:nvPr/>
        </p:nvGrpSpPr>
        <p:grpSpPr>
          <a:xfrm>
            <a:off x="6821313" y="113327"/>
            <a:ext cx="2032457" cy="503420"/>
            <a:chOff x="9320766" y="88308"/>
            <a:chExt cx="2709943" cy="503420"/>
          </a:xfrm>
        </p:grpSpPr>
        <p:pic>
          <p:nvPicPr>
            <p:cNvPr id="23" name="Google Shape;23;p2" descr="A yellow text on a black background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A person holding a microphone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20766" y="88308"/>
              <a:ext cx="1404190" cy="5034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" name="Google Shape;25;p2" descr="A black background with yellow and grey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2038" y="154187"/>
            <a:ext cx="1447800" cy="4832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2"/>
          <p:cNvGrpSpPr/>
          <p:nvPr/>
        </p:nvGrpSpPr>
        <p:grpSpPr>
          <a:xfrm>
            <a:off x="3315974" y="126998"/>
            <a:ext cx="2562463" cy="498680"/>
            <a:chOff x="4421298" y="126998"/>
            <a:chExt cx="3416617" cy="498680"/>
          </a:xfrm>
        </p:grpSpPr>
        <p:sp>
          <p:nvSpPr>
            <p:cNvPr id="27" name="Google Shape;27;p2"/>
            <p:cNvSpPr txBox="1"/>
            <p:nvPr/>
          </p:nvSpPr>
          <p:spPr>
            <a:xfrm>
              <a:off x="5766211" y="222450"/>
              <a:ext cx="2071704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50" b="1" i="0" u="none" strike="noStrike" cap="none">
                  <a:solidFill>
                    <a:srgbClr val="996600"/>
                  </a:solidFill>
                  <a:latin typeface="Calibri"/>
                  <a:ea typeface="Calibri"/>
                  <a:cs typeface="Calibri"/>
                  <a:sym typeface="Calibri"/>
                </a:rPr>
                <a:t>#InformatikaBerkarakter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2" descr="A logo with a black background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 l="7304" t="24481" r="5732" b="29999"/>
            <a:stretch/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" name="Google Shape;29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96295" y="6116054"/>
            <a:ext cx="4851313" cy="3231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45080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3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1"/>
          </p:nvPr>
        </p:nvSpPr>
        <p:spPr>
          <a:xfrm>
            <a:off x="220866" y="1140497"/>
            <a:ext cx="4214345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7" name="Google Shape;37;p3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2"/>
          </p:nvPr>
        </p:nvSpPr>
        <p:spPr>
          <a:xfrm>
            <a:off x="4681081" y="1132252"/>
            <a:ext cx="4214345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667957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4" descr="A building with a sign on i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4762"/>
          <a:stretch/>
        </p:blipFill>
        <p:spPr>
          <a:xfrm>
            <a:off x="0" y="2006600"/>
            <a:ext cx="3315974" cy="4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 rot="10800000" flipH="1">
            <a:off x="0" y="5074920"/>
            <a:ext cx="9144000" cy="1783073"/>
          </a:xfrm>
          <a:prstGeom prst="rect">
            <a:avLst/>
          </a:prstGeom>
          <a:gradFill>
            <a:gsLst>
              <a:gs pos="0">
                <a:schemeClr val="lt1"/>
              </a:gs>
              <a:gs pos="2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45" name="Google Shape;45;p4"/>
          <p:cNvGrpSpPr/>
          <p:nvPr/>
        </p:nvGrpSpPr>
        <p:grpSpPr>
          <a:xfrm>
            <a:off x="4572001" y="6528817"/>
            <a:ext cx="4594859" cy="658366"/>
            <a:chOff x="6566098" y="6529395"/>
            <a:chExt cx="5625901" cy="658365"/>
          </a:xfrm>
        </p:grpSpPr>
        <p:sp>
          <p:nvSpPr>
            <p:cNvPr id="46" name="Google Shape;46;p4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870700" y="6529395"/>
              <a:ext cx="5321299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48" name="Google Shape;48;p4"/>
          <p:cNvGrpSpPr/>
          <p:nvPr/>
        </p:nvGrpSpPr>
        <p:grpSpPr>
          <a:xfrm flipH="1">
            <a:off x="0" y="6527465"/>
            <a:ext cx="4594860" cy="658366"/>
            <a:chOff x="6566098" y="6529395"/>
            <a:chExt cx="5625902" cy="658365"/>
          </a:xfrm>
        </p:grpSpPr>
        <p:sp>
          <p:nvSpPr>
            <p:cNvPr id="49" name="Google Shape;49;p4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51" name="Google Shape;51;p4"/>
          <p:cNvSpPr txBox="1">
            <a:spLocks noGrp="1"/>
          </p:cNvSpPr>
          <p:nvPr>
            <p:ph type="ctrTitle"/>
          </p:nvPr>
        </p:nvSpPr>
        <p:spPr>
          <a:xfrm>
            <a:off x="3532908" y="1702118"/>
            <a:ext cx="5248189" cy="17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subTitle" idx="1"/>
          </p:nvPr>
        </p:nvSpPr>
        <p:spPr>
          <a:xfrm>
            <a:off x="3532908" y="3468456"/>
            <a:ext cx="5248189" cy="119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53" name="Google Shape;53;p4" descr="A black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230" y="223036"/>
            <a:ext cx="757142" cy="345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4"/>
          <p:cNvGrpSpPr/>
          <p:nvPr/>
        </p:nvGrpSpPr>
        <p:grpSpPr>
          <a:xfrm>
            <a:off x="6821313" y="113327"/>
            <a:ext cx="2032457" cy="503420"/>
            <a:chOff x="9320766" y="88308"/>
            <a:chExt cx="2709943" cy="503420"/>
          </a:xfrm>
        </p:grpSpPr>
        <p:pic>
          <p:nvPicPr>
            <p:cNvPr id="55" name="Google Shape;55;p4" descr="A yellow text on a black background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4" descr="A person holding a microphone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20766" y="88308"/>
              <a:ext cx="1404190" cy="5034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" name="Google Shape;57;p4" descr="A black background with yellow and grey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2038" y="154187"/>
            <a:ext cx="1447800" cy="4832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4"/>
          <p:cNvGrpSpPr/>
          <p:nvPr/>
        </p:nvGrpSpPr>
        <p:grpSpPr>
          <a:xfrm>
            <a:off x="3315974" y="126998"/>
            <a:ext cx="2562463" cy="498680"/>
            <a:chOff x="4421298" y="126998"/>
            <a:chExt cx="3416617" cy="498680"/>
          </a:xfrm>
        </p:grpSpPr>
        <p:sp>
          <p:nvSpPr>
            <p:cNvPr id="59" name="Google Shape;59;p4"/>
            <p:cNvSpPr txBox="1"/>
            <p:nvPr/>
          </p:nvSpPr>
          <p:spPr>
            <a:xfrm>
              <a:off x="5766211" y="222450"/>
              <a:ext cx="2071704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50" b="1" i="0" u="none" strike="noStrike" cap="none">
                  <a:solidFill>
                    <a:srgbClr val="996600"/>
                  </a:solidFill>
                  <a:latin typeface="Calibri"/>
                  <a:ea typeface="Calibri"/>
                  <a:cs typeface="Calibri"/>
                  <a:sym typeface="Calibri"/>
                </a:rPr>
                <a:t>#InformatikaBerkarakter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" name="Google Shape;60;p4" descr="A logo with a black background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 l="7304" t="24481" r="5732" b="29999"/>
            <a:stretch/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" name="Google Shape;61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28418" y="6149139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73040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5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1"/>
          </p:nvPr>
        </p:nvSpPr>
        <p:spPr>
          <a:xfrm>
            <a:off x="220866" y="1140497"/>
            <a:ext cx="8706656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9" name="Google Shape;69;p5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2190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6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79" name="Google Shape;79;p6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22161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>
            <a:spLocks noGrp="1"/>
          </p:cNvSpPr>
          <p:nvPr>
            <p:ph type="body" idx="1"/>
          </p:nvPr>
        </p:nvSpPr>
        <p:spPr>
          <a:xfrm>
            <a:off x="223435" y="1060992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3" name="Google Shape;83;p6"/>
          <p:cNvCxnSpPr/>
          <p:nvPr/>
        </p:nvCxnSpPr>
        <p:spPr>
          <a:xfrm>
            <a:off x="3072633" y="1039103"/>
            <a:ext cx="0" cy="520438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4" name="Google Shape;84;p6"/>
          <p:cNvCxnSpPr/>
          <p:nvPr/>
        </p:nvCxnSpPr>
        <p:spPr>
          <a:xfrm>
            <a:off x="6024639" y="1039103"/>
            <a:ext cx="0" cy="520438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5" name="Google Shape;85;p6"/>
          <p:cNvSpPr txBox="1">
            <a:spLocks noGrp="1"/>
          </p:cNvSpPr>
          <p:nvPr>
            <p:ph type="body" idx="2"/>
          </p:nvPr>
        </p:nvSpPr>
        <p:spPr>
          <a:xfrm>
            <a:off x="3176836" y="1050048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Google Shape;86;p6"/>
          <p:cNvSpPr txBox="1">
            <a:spLocks noGrp="1"/>
          </p:cNvSpPr>
          <p:nvPr>
            <p:ph type="body" idx="3"/>
          </p:nvPr>
        </p:nvSpPr>
        <p:spPr>
          <a:xfrm>
            <a:off x="6130237" y="1039103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7" name="Google Shape;8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12675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7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94" name="Google Shape;94;p7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498585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83233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41E6AC2-F0DD-44E8-9558-07914650F7C0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F3612A9-08C7-41D0-8B33-5CDD947169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9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3612A9-08C7-41D0-8B33-5CDD947169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AC256-88B1-406B-8A69-3B7D1291CCF5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451885"/>
            <a:ext cx="843142" cy="365125"/>
          </a:xfrm>
        </p:spPr>
        <p:txBody>
          <a:bodyPr/>
          <a:lstStyle/>
          <a:p>
            <a:pPr>
              <a:defRPr/>
            </a:pPr>
            <a:fld id="{E3B37A88-4F66-4549-9F25-2F4CA1289580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62600" y="6453451"/>
            <a:ext cx="3128963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7D2979-C843-489B-A0C2-31CE45A4545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7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90600" y="6451885"/>
            <a:ext cx="1066800" cy="365125"/>
          </a:xfrm>
        </p:spPr>
        <p:txBody>
          <a:bodyPr/>
          <a:lstStyle/>
          <a:p>
            <a:fld id="{8CC519AF-891D-40A2-AA25-71BCA42115F0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245100" y="6492875"/>
            <a:ext cx="3886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920B0-2987-4F89-B53D-8CAAC986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37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6440948"/>
      </p:ext>
    </p:extLst>
  </p:cSld>
  <p:clrMapOvr>
    <a:masterClrMapping/>
  </p:clrMapOvr>
  <p:transition spd="med"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191000" cy="541020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990600"/>
            <a:ext cx="4191000" cy="541020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  <a:solidFill>
            <a:srgbClr val="0066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E14EA8-9CBA-4A6A-9268-B94EA4F122CB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486400" y="6439186"/>
            <a:ext cx="3429000" cy="365125"/>
          </a:xfrm>
          <a:prstGeom prst="rect">
            <a:avLst/>
          </a:prstGeom>
          <a:ln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CACD4-2B1D-487E-8199-187310036F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 sz="44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7AC15D36-6FFF-4583-A353-B371F0B38A68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>
              <a:defRPr/>
            </a:pPr>
            <a:fld id="{BF3612A9-08C7-41D0-8B33-5CDD947169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4023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7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52800" y="3032049"/>
            <a:ext cx="5334000" cy="2123658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THE USER INTERFACE  (UI)</a:t>
            </a:r>
            <a:br>
              <a:rPr lang="en-US" sz="2400" b="1" dirty="0"/>
            </a:br>
            <a:r>
              <a:rPr lang="en-US" sz="2400" b="1" dirty="0"/>
              <a:t>DESIGN PROCESS</a:t>
            </a:r>
          </a:p>
          <a:p>
            <a:endParaRPr lang="en-US" sz="1400" b="1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Step 6</a:t>
            </a:r>
            <a:br>
              <a:rPr lang="en-US" sz="1400" b="1" dirty="0">
                <a:latin typeface="+mj-lt"/>
              </a:rPr>
            </a:br>
            <a:r>
              <a:rPr lang="en-US" sz="1400" b="1" dirty="0">
                <a:latin typeface="+mj-lt"/>
              </a:rPr>
              <a:t>Select the proper interaction device</a:t>
            </a:r>
          </a:p>
          <a:p>
            <a:endParaRPr lang="en-US" sz="1400" b="1" dirty="0">
              <a:latin typeface="+mj-lt"/>
            </a:endParaRPr>
          </a:p>
          <a:p>
            <a:r>
              <a:rPr lang="en-US" sz="1400" b="1" dirty="0">
                <a:latin typeface="+mj-lt"/>
              </a:rPr>
              <a:t>Step – 7</a:t>
            </a:r>
            <a:br>
              <a:rPr lang="en-US" sz="1400" b="1" dirty="0">
                <a:latin typeface="+mj-lt"/>
              </a:rPr>
            </a:br>
            <a:r>
              <a:rPr lang="en-US" sz="1400" b="1" dirty="0">
                <a:latin typeface="+mj-lt"/>
              </a:rPr>
              <a:t>Screen-Based Control</a:t>
            </a:r>
          </a:p>
        </p:txBody>
      </p:sp>
    </p:spTree>
    <p:extLst>
      <p:ext uri="{BB962C8B-B14F-4D97-AF65-F5344CB8AC3E}">
        <p14:creationId xmlns:p14="http://schemas.microsoft.com/office/powerpoint/2010/main" val="1972928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5742" y="3401556"/>
            <a:ext cx="5334000" cy="1754326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THE USER INTERFACE  (UI)</a:t>
            </a:r>
            <a:br>
              <a:rPr lang="en-US" sz="2400" b="1" dirty="0"/>
            </a:br>
            <a:r>
              <a:rPr lang="en-US" sz="2400" b="1" dirty="0"/>
              <a:t>DESIGN PROCESS</a:t>
            </a:r>
          </a:p>
          <a:p>
            <a:pPr algn="just"/>
            <a:endParaRPr lang="en-US" sz="2800" b="1" dirty="0">
              <a:latin typeface="+mj-lt"/>
            </a:endParaRPr>
          </a:p>
          <a:p>
            <a:r>
              <a:rPr lang="en-US" sz="1600" b="1" dirty="0">
                <a:latin typeface="+mj-lt"/>
              </a:rPr>
              <a:t>Step 6</a:t>
            </a:r>
            <a:br>
              <a:rPr lang="en-US" sz="1600" b="1" dirty="0">
                <a:latin typeface="+mj-lt"/>
              </a:rPr>
            </a:br>
            <a:r>
              <a:rPr lang="en-US" sz="1600" b="1" dirty="0">
                <a:latin typeface="+mj-lt"/>
              </a:rPr>
              <a:t>Select the proper interaction device</a:t>
            </a:r>
          </a:p>
        </p:txBody>
      </p:sp>
    </p:spTree>
    <p:extLst>
      <p:ext uri="{BB962C8B-B14F-4D97-AF65-F5344CB8AC3E}">
        <p14:creationId xmlns:p14="http://schemas.microsoft.com/office/powerpoint/2010/main" val="2367867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/>
          <a:lstStyle/>
          <a:p>
            <a:r>
              <a:rPr lang="en-US" noProof="1"/>
              <a:t>Setelah mengikuti materi ini mahasiswa dapat:</a:t>
            </a:r>
          </a:p>
          <a:p>
            <a:pPr marL="0" indent="0" algn="just">
              <a:buNone/>
            </a:pPr>
            <a:r>
              <a:rPr lang="en-US" dirty="0" err="1"/>
              <a:t>Mahasiswa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interaksi</a:t>
            </a:r>
            <a:r>
              <a:rPr lang="en-US" dirty="0"/>
              <a:t> yang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diterapkan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UI. </a:t>
            </a:r>
          </a:p>
        </p:txBody>
      </p:sp>
    </p:spTree>
    <p:extLst>
      <p:ext uri="{BB962C8B-B14F-4D97-AF65-F5344CB8AC3E}">
        <p14:creationId xmlns:p14="http://schemas.microsoft.com/office/powerpoint/2010/main" val="172846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Device</a:t>
            </a:r>
          </a:p>
        </p:txBody>
      </p:sp>
      <p:pic>
        <p:nvPicPr>
          <p:cNvPr id="4" name="Picture 2" descr="D:\Kuliah\IMK\091001\device\no-key-keyboard-future-touchboard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543550" y="1762125"/>
            <a:ext cx="3600450" cy="2286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748683" y="4213195"/>
            <a:ext cx="6172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Adalah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suatu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mekanisme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input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atau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device yang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digunakan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user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untuk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mengkomunikasikan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keinginan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kebutuhannya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kepada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komputer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/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atau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mekanisme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Output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atau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device yang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digunakan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komputer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untuk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memberikan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respond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kepada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user</a:t>
            </a:r>
          </a:p>
        </p:txBody>
      </p:sp>
    </p:spTree>
    <p:extLst>
      <p:ext uri="{BB962C8B-B14F-4D97-AF65-F5344CB8AC3E}">
        <p14:creationId xmlns:p14="http://schemas.microsoft.com/office/powerpoint/2010/main" val="2415736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PEMILIHAN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>
            <a:normAutofit/>
          </a:bodyPr>
          <a:lstStyle/>
          <a:p>
            <a:r>
              <a:rPr lang="en-US" sz="2400" dirty="0" err="1"/>
              <a:t>Pemilihan</a:t>
            </a:r>
            <a:r>
              <a:rPr lang="en-US" sz="2400" dirty="0"/>
              <a:t> Device yang </a:t>
            </a:r>
            <a:r>
              <a:rPr lang="en-US" sz="2400" dirty="0" err="1"/>
              <a:t>tepat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hal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5"/>
                </a:solidFill>
              </a:rPr>
              <a:t>PENTING</a:t>
            </a:r>
          </a:p>
          <a:p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tepat</a:t>
            </a:r>
            <a:r>
              <a:rPr lang="en-US" sz="2400" dirty="0"/>
              <a:t>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Performansi</a:t>
            </a:r>
            <a:r>
              <a:rPr lang="en-US" sz="2400" dirty="0"/>
              <a:t> </a:t>
            </a:r>
            <a:r>
              <a:rPr lang="en-US" sz="2400" dirty="0" err="1"/>
              <a:t>Cepat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akurat</a:t>
            </a:r>
            <a:r>
              <a:rPr lang="en-US" sz="2400" dirty="0"/>
              <a:t>.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tepat</a:t>
            </a:r>
            <a:r>
              <a:rPr lang="en-US" sz="2400" dirty="0"/>
              <a:t> </a:t>
            </a:r>
            <a:r>
              <a:rPr lang="en-US" sz="2400" dirty="0" err="1"/>
              <a:t>produktivitas</a:t>
            </a:r>
            <a:r>
              <a:rPr lang="en-US" sz="2400" dirty="0"/>
              <a:t> </a:t>
            </a:r>
            <a:r>
              <a:rPr lang="en-US" sz="2400" dirty="0" err="1"/>
              <a:t>turun</a:t>
            </a:r>
            <a:r>
              <a:rPr lang="en-US" sz="2400" dirty="0"/>
              <a:t> error </a:t>
            </a:r>
            <a:r>
              <a:rPr lang="en-US" sz="2400" dirty="0" err="1"/>
              <a:t>naik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5"/>
                </a:solidFill>
              </a:rPr>
              <a:t>STRESS</a:t>
            </a:r>
          </a:p>
        </p:txBody>
      </p:sp>
      <p:pic>
        <p:nvPicPr>
          <p:cNvPr id="4" name="Picture 2" descr="C:\Documents and Settings\DESIGNER-TODAY\My Documents\My Pictures\Game Wallpaper\key factor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18145" y="2590800"/>
            <a:ext cx="3773418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419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CHARACTERISTICS OF INPUT DEVICE</a:t>
            </a:r>
            <a:endParaRPr lang="en-US" sz="2400" dirty="0"/>
          </a:p>
        </p:txBody>
      </p:sp>
      <p:grpSp>
        <p:nvGrpSpPr>
          <p:cNvPr id="4" name="Group 3"/>
          <p:cNvGrpSpPr/>
          <p:nvPr/>
        </p:nvGrpSpPr>
        <p:grpSpPr>
          <a:xfrm>
            <a:off x="1666873" y="1905000"/>
            <a:ext cx="7153278" cy="4318285"/>
            <a:chOff x="609600" y="1828800"/>
            <a:chExt cx="5562600" cy="4267200"/>
          </a:xfrm>
        </p:grpSpPr>
        <p:sp>
          <p:nvSpPr>
            <p:cNvPr id="5" name="Hexagon 4"/>
            <p:cNvSpPr/>
            <p:nvPr/>
          </p:nvSpPr>
          <p:spPr>
            <a:xfrm>
              <a:off x="609600" y="4038600"/>
              <a:ext cx="2057400" cy="1371600"/>
            </a:xfrm>
            <a:prstGeom prst="hexagon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Rockwell" pitchFamily="18" charset="0"/>
                </a:rPr>
                <a:t>To point at an object on the screen</a:t>
              </a:r>
            </a:p>
          </p:txBody>
        </p:sp>
        <p:sp>
          <p:nvSpPr>
            <p:cNvPr id="6" name="Hexagon 5"/>
            <p:cNvSpPr/>
            <p:nvPr/>
          </p:nvSpPr>
          <p:spPr>
            <a:xfrm>
              <a:off x="2362200" y="3276600"/>
              <a:ext cx="2057400" cy="1371600"/>
            </a:xfrm>
            <a:prstGeom prst="hexagon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Rockwell" pitchFamily="18" charset="0"/>
                </a:rPr>
                <a:t>To select the object or identify it as the focus at attention</a:t>
              </a:r>
            </a:p>
          </p:txBody>
        </p:sp>
        <p:sp>
          <p:nvSpPr>
            <p:cNvPr id="7" name="Hexagon 6"/>
            <p:cNvSpPr/>
            <p:nvPr/>
          </p:nvSpPr>
          <p:spPr>
            <a:xfrm>
              <a:off x="4114800" y="4038600"/>
              <a:ext cx="2057400" cy="1371600"/>
            </a:xfrm>
            <a:prstGeom prst="hexagon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Rockwell" pitchFamily="18" charset="0"/>
                </a:rPr>
                <a:t>To drag an object across the screen</a:t>
              </a:r>
            </a:p>
          </p:txBody>
        </p:sp>
        <p:sp>
          <p:nvSpPr>
            <p:cNvPr id="8" name="Hexagon 7"/>
            <p:cNvSpPr/>
            <p:nvPr/>
          </p:nvSpPr>
          <p:spPr>
            <a:xfrm>
              <a:off x="4114800" y="2590800"/>
              <a:ext cx="2057400" cy="1371600"/>
            </a:xfrm>
            <a:prstGeom prst="hexagon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Rockwell" pitchFamily="18" charset="0"/>
                </a:rPr>
                <a:t>To draw something free-form on the screen</a:t>
              </a:r>
            </a:p>
          </p:txBody>
        </p:sp>
        <p:sp>
          <p:nvSpPr>
            <p:cNvPr id="9" name="Hexagon 8"/>
            <p:cNvSpPr/>
            <p:nvPr/>
          </p:nvSpPr>
          <p:spPr>
            <a:xfrm>
              <a:off x="2362200" y="4724400"/>
              <a:ext cx="2057400" cy="1371600"/>
            </a:xfrm>
            <a:prstGeom prst="hexagon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Rockwell" pitchFamily="18" charset="0"/>
                </a:rPr>
                <a:t>To track or follow a moving object</a:t>
              </a:r>
            </a:p>
          </p:txBody>
        </p:sp>
        <p:sp>
          <p:nvSpPr>
            <p:cNvPr id="10" name="Hexagon 9"/>
            <p:cNvSpPr/>
            <p:nvPr/>
          </p:nvSpPr>
          <p:spPr>
            <a:xfrm>
              <a:off x="2362200" y="1828800"/>
              <a:ext cx="2057400" cy="1371600"/>
            </a:xfrm>
            <a:prstGeom prst="hexagon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Rockwell" pitchFamily="18" charset="0"/>
                </a:rPr>
                <a:t>To orient or position an object</a:t>
              </a:r>
            </a:p>
          </p:txBody>
        </p:sp>
        <p:sp>
          <p:nvSpPr>
            <p:cNvPr id="11" name="Hexagon 10"/>
            <p:cNvSpPr/>
            <p:nvPr/>
          </p:nvSpPr>
          <p:spPr>
            <a:xfrm>
              <a:off x="609600" y="2590800"/>
              <a:ext cx="2057400" cy="1371600"/>
            </a:xfrm>
            <a:prstGeom prst="hexagon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Rockwell" pitchFamily="18" charset="0"/>
                </a:rPr>
                <a:t>To enter or manipulate data or information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6566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FACTOR OF CONSIDERATION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24000" y="1524000"/>
            <a:ext cx="6696692" cy="4720563"/>
            <a:chOff x="3048000" y="1066800"/>
            <a:chExt cx="6019800" cy="4876800"/>
          </a:xfrm>
        </p:grpSpPr>
        <p:sp>
          <p:nvSpPr>
            <p:cNvPr id="5" name="Isosceles Triangle 4"/>
            <p:cNvSpPr/>
            <p:nvPr/>
          </p:nvSpPr>
          <p:spPr>
            <a:xfrm>
              <a:off x="6096000" y="3581400"/>
              <a:ext cx="2971800" cy="2362200"/>
            </a:xfrm>
            <a:prstGeom prst="triangle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tIns="274320" bIns="1371600" rtlCol="0" anchor="ctr"/>
            <a:lstStyle/>
            <a:p>
              <a:pPr algn="ctr"/>
              <a:r>
                <a:rPr lang="en-US" sz="1400" dirty="0">
                  <a:latin typeface="Rockwell" pitchFamily="18" charset="0"/>
                </a:rPr>
                <a:t>direction, distance, and speed of movement hand and corresponding pointer</a:t>
              </a:r>
            </a:p>
          </p:txBody>
        </p:sp>
        <p:sp>
          <p:nvSpPr>
            <p:cNvPr id="6" name="Isosceles Triangle 5"/>
            <p:cNvSpPr/>
            <p:nvPr/>
          </p:nvSpPr>
          <p:spPr>
            <a:xfrm rot="10800000">
              <a:off x="4572001" y="3505201"/>
              <a:ext cx="2971800" cy="2362200"/>
            </a:xfrm>
            <a:prstGeom prst="triangl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tIns="274320" bIns="1371600" rtlCol="0" anchor="ctr">
              <a:scene3d>
                <a:camera prst="orthographicFront">
                  <a:rot lat="0" lon="0" rev="10800000"/>
                </a:camera>
                <a:lightRig rig="threePt" dir="t"/>
              </a:scene3d>
            </a:bodyPr>
            <a:lstStyle/>
            <a:p>
              <a:pPr algn="ctr"/>
              <a:r>
                <a:rPr lang="en-US" sz="1400" dirty="0">
                  <a:latin typeface="Rockwell" pitchFamily="18" charset="0"/>
                </a:rPr>
                <a:t>Factor Of Consideration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>
              <a:off x="4572000" y="1066800"/>
              <a:ext cx="2971800" cy="2362200"/>
            </a:xfrm>
            <a:prstGeom prst="triangle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tIns="274320" bIns="1371600" rtlCol="0" anchor="ctr"/>
            <a:lstStyle/>
            <a:p>
              <a:pPr algn="ctr"/>
              <a:r>
                <a:rPr lang="en-US" sz="1400" dirty="0">
                  <a:latin typeface="Rockwell" pitchFamily="18" charset="0"/>
                </a:rPr>
                <a:t>Discrete VS </a:t>
              </a:r>
              <a:r>
                <a:rPr lang="en-US" sz="1400" dirty="0" err="1">
                  <a:latin typeface="Rockwell" pitchFamily="18" charset="0"/>
                </a:rPr>
                <a:t>Continous</a:t>
              </a:r>
              <a:endParaRPr lang="en-US" sz="1400" dirty="0">
                <a:latin typeface="Rockwell" pitchFamily="18" charset="0"/>
              </a:endParaRPr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3048000" y="3581400"/>
              <a:ext cx="2971800" cy="2362200"/>
            </a:xfrm>
            <a:prstGeom prst="triangl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tIns="274320" bIns="1371600" rtlCol="0" anchor="ctr"/>
            <a:lstStyle/>
            <a:p>
              <a:pPr algn="ctr"/>
              <a:r>
                <a:rPr lang="en-US" sz="1400" dirty="0">
                  <a:latin typeface="Rockwell" pitchFamily="18" charset="0"/>
                </a:rPr>
                <a:t>Direct VS Indirect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3548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 numCol="2"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Mouse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Trackball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Joystick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Touch screen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Graphic Tablet or Trackpad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Keyboard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Voice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Gesture Recognition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Facial Expression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Eye Tracking device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Fingerprint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/>
              <a:t>Handwriting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16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85800"/>
            <a:ext cx="5721930" cy="7735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+mn-lt"/>
              </a:rPr>
              <a:t>SELECTING THE PROPER  INPUT DEVICE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7" name="Picture 6" descr="D:\Kuliah\IMK\091001\device\2781722342_c342129cd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2004350"/>
            <a:ext cx="1983737" cy="15716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Picture 5" descr="D:\Kuliah\IMK\091001\device\logitech-trackball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8000" y="3352800"/>
            <a:ext cx="1828800" cy="1828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Picture 7" descr="D:\Kuliah\IMK\091001\device\keyboard-trackball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84995" y="3556925"/>
            <a:ext cx="2032000" cy="1524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566639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914400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tx1"/>
                </a:solidFill>
                <a:latin typeface="+mn-lt"/>
              </a:rPr>
              <a:t>Panduan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dalam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memilih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Input device yang </a:t>
            </a:r>
            <a:r>
              <a:rPr lang="en-US" dirty="0" err="1">
                <a:solidFill>
                  <a:schemeClr val="tx1"/>
                </a:solidFill>
                <a:latin typeface="+mn-lt"/>
              </a:rPr>
              <a:t>sesuai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2895599"/>
            <a:ext cx="8707437" cy="333851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000" dirty="0" err="1"/>
              <a:t>Karakteristik</a:t>
            </a:r>
            <a:r>
              <a:rPr lang="en-US" sz="2000" dirty="0"/>
              <a:t> Task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err="1"/>
              <a:t>Karakteristik</a:t>
            </a:r>
            <a:r>
              <a:rPr lang="en-US" sz="2000" dirty="0"/>
              <a:t> User </a:t>
            </a:r>
            <a:r>
              <a:rPr lang="en-US" sz="2000" dirty="0" err="1"/>
              <a:t>dan</a:t>
            </a:r>
            <a:r>
              <a:rPr lang="en-US" sz="2000" dirty="0"/>
              <a:t> preferences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err="1"/>
              <a:t>Karakteristik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environment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err="1"/>
              <a:t>Karakteristik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Hardware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err="1"/>
              <a:t>Karakteristik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device </a:t>
            </a:r>
            <a:r>
              <a:rPr lang="en-US" sz="2000" dirty="0" err="1"/>
              <a:t>dipandang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aplikasi</a:t>
            </a:r>
            <a:r>
              <a:rPr lang="en-US" sz="2000" dirty="0"/>
              <a:t> yang </a:t>
            </a:r>
            <a:r>
              <a:rPr lang="en-US" sz="2000" dirty="0" err="1"/>
              <a:t>dibuat</a:t>
            </a:r>
            <a:r>
              <a:rPr lang="en-US" sz="2000" dirty="0"/>
              <a:t>/</a:t>
            </a:r>
            <a:r>
              <a:rPr lang="en-US" sz="2000" dirty="0" err="1"/>
              <a:t>digunakan</a:t>
            </a:r>
            <a:endParaRPr lang="en-US" sz="2000" dirty="0"/>
          </a:p>
          <a:p>
            <a:pPr>
              <a:buFont typeface="Wingdings" pitchFamily="2" charset="2"/>
              <a:buChar char="q"/>
            </a:pPr>
            <a:r>
              <a:rPr lang="en-US" sz="2000" dirty="0" err="1"/>
              <a:t>Fleksibilitas</a:t>
            </a:r>
            <a:endParaRPr lang="en-US" sz="2000" dirty="0"/>
          </a:p>
          <a:p>
            <a:pPr>
              <a:buFont typeface="Wingdings" pitchFamily="2" charset="2"/>
              <a:buChar char="q"/>
            </a:pPr>
            <a:r>
              <a:rPr lang="en-US" sz="2000" dirty="0" err="1"/>
              <a:t>Minimalisir</a:t>
            </a:r>
            <a:r>
              <a:rPr lang="en-US" sz="2000" dirty="0"/>
              <a:t> </a:t>
            </a:r>
            <a:r>
              <a:rPr lang="en-US" sz="2000" dirty="0" err="1"/>
              <a:t>pergerakan</a:t>
            </a:r>
            <a:r>
              <a:rPr lang="en-US" sz="2000" dirty="0"/>
              <a:t> </a:t>
            </a:r>
            <a:r>
              <a:rPr lang="en-US" sz="2000" dirty="0" err="1"/>
              <a:t>tangan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</a:t>
            </a:r>
            <a:r>
              <a:rPr lang="en-US" sz="2000" dirty="0" err="1"/>
              <a:t>mata</a:t>
            </a:r>
            <a:r>
              <a:rPr lang="en-US" sz="2000" dirty="0"/>
              <a:t>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286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Pointer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>
            <a:normAutofit fontScale="40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sz="4800" dirty="0"/>
              <a:t>Pointer :</a:t>
            </a:r>
          </a:p>
          <a:p>
            <a:pPr>
              <a:buNone/>
            </a:pPr>
            <a:r>
              <a:rPr lang="en-US" sz="4800" dirty="0"/>
              <a:t>     </a:t>
            </a:r>
            <a:r>
              <a:rPr lang="en-US" sz="4800" dirty="0">
                <a:sym typeface="Wingdings" pitchFamily="2" charset="2"/>
              </a:rPr>
              <a:t> </a:t>
            </a:r>
            <a:r>
              <a:rPr lang="en-US" sz="4800" dirty="0" err="1">
                <a:sym typeface="Wingdings" pitchFamily="2" charset="2"/>
              </a:rPr>
              <a:t>Harus</a:t>
            </a:r>
            <a:r>
              <a:rPr lang="en-US" sz="4800" dirty="0">
                <a:sym typeface="Wingdings" pitchFamily="2" charset="2"/>
              </a:rPr>
              <a:t> </a:t>
            </a:r>
            <a:r>
              <a:rPr lang="en-US" sz="4800" dirty="0" err="1">
                <a:sym typeface="Wingdings" pitchFamily="2" charset="2"/>
              </a:rPr>
              <a:t>selalu</a:t>
            </a:r>
            <a:r>
              <a:rPr lang="en-US" sz="4800" dirty="0">
                <a:sym typeface="Wingdings" pitchFamily="2" charset="2"/>
              </a:rPr>
              <a:t> </a:t>
            </a:r>
            <a:r>
              <a:rPr lang="en-US" sz="4800" dirty="0" err="1">
                <a:sym typeface="Wingdings" pitchFamily="2" charset="2"/>
              </a:rPr>
              <a:t>terlihat</a:t>
            </a:r>
            <a:endParaRPr lang="en-US" sz="4800" dirty="0">
              <a:sym typeface="Wingdings" pitchFamily="2" charset="2"/>
            </a:endParaRPr>
          </a:p>
          <a:p>
            <a:pPr>
              <a:buNone/>
            </a:pPr>
            <a:r>
              <a:rPr lang="en-US" sz="4800" dirty="0">
                <a:sym typeface="Wingdings" pitchFamily="2" charset="2"/>
              </a:rPr>
              <a:t>      </a:t>
            </a:r>
            <a:r>
              <a:rPr lang="en-US" sz="4800" dirty="0" err="1">
                <a:sym typeface="Wingdings" pitchFamily="2" charset="2"/>
              </a:rPr>
              <a:t>Harus</a:t>
            </a:r>
            <a:r>
              <a:rPr lang="en-US" sz="4800" dirty="0">
                <a:sym typeface="Wingdings" pitchFamily="2" charset="2"/>
              </a:rPr>
              <a:t> </a:t>
            </a:r>
            <a:r>
              <a:rPr lang="en-US" sz="4800" dirty="0" err="1">
                <a:sym typeface="Wingdings" pitchFamily="2" charset="2"/>
              </a:rPr>
              <a:t>kontras</a:t>
            </a:r>
            <a:r>
              <a:rPr lang="en-US" sz="4800" dirty="0">
                <a:sym typeface="Wingdings" pitchFamily="2" charset="2"/>
              </a:rPr>
              <a:t> </a:t>
            </a:r>
            <a:r>
              <a:rPr lang="en-US" sz="4800" dirty="0" err="1">
                <a:sym typeface="Wingdings" pitchFamily="2" charset="2"/>
              </a:rPr>
              <a:t>dengan</a:t>
            </a:r>
            <a:r>
              <a:rPr lang="en-US" sz="4800" dirty="0">
                <a:sym typeface="Wingdings" pitchFamily="2" charset="2"/>
              </a:rPr>
              <a:t> background</a:t>
            </a:r>
          </a:p>
          <a:p>
            <a:pPr>
              <a:buNone/>
            </a:pPr>
            <a:r>
              <a:rPr lang="en-US" sz="4800" dirty="0">
                <a:sym typeface="Wingdings" pitchFamily="2" charset="2"/>
              </a:rPr>
              <a:t>      </a:t>
            </a:r>
            <a:r>
              <a:rPr lang="en-US" sz="4800" dirty="0" err="1">
                <a:sym typeface="Wingdings" pitchFamily="2" charset="2"/>
              </a:rPr>
              <a:t>Harus</a:t>
            </a:r>
            <a:r>
              <a:rPr lang="en-US" sz="4800" dirty="0">
                <a:sym typeface="Wingdings" pitchFamily="2" charset="2"/>
              </a:rPr>
              <a:t> </a:t>
            </a:r>
            <a:r>
              <a:rPr lang="en-US" sz="4800" dirty="0" err="1">
                <a:sym typeface="Wingdings" pitchFamily="2" charset="2"/>
              </a:rPr>
              <a:t>memiliki</a:t>
            </a:r>
            <a:r>
              <a:rPr lang="en-US" sz="4800" dirty="0">
                <a:sym typeface="Wingdings" pitchFamily="2" charset="2"/>
              </a:rPr>
              <a:t> </a:t>
            </a:r>
            <a:r>
              <a:rPr lang="en-US" sz="4800" dirty="0" err="1">
                <a:sym typeface="Wingdings" pitchFamily="2" charset="2"/>
              </a:rPr>
              <a:t>ukuran</a:t>
            </a:r>
            <a:r>
              <a:rPr lang="en-US" sz="4800" dirty="0">
                <a:sym typeface="Wingdings" pitchFamily="2" charset="2"/>
              </a:rPr>
              <a:t> yang </a:t>
            </a:r>
            <a:r>
              <a:rPr lang="en-US" sz="4800" dirty="0" err="1">
                <a:sym typeface="Wingdings" pitchFamily="2" charset="2"/>
              </a:rPr>
              <a:t>konsisten</a:t>
            </a:r>
            <a:r>
              <a:rPr lang="en-US" sz="4800" dirty="0">
                <a:sym typeface="Wingdings" pitchFamily="2" charset="2"/>
              </a:rPr>
              <a:t> </a:t>
            </a:r>
            <a:r>
              <a:rPr lang="en-US" sz="4800" dirty="0" err="1">
                <a:sym typeface="Wingdings" pitchFamily="2" charset="2"/>
              </a:rPr>
              <a:t>ketika</a:t>
            </a:r>
            <a:r>
              <a:rPr lang="en-US" sz="4800" dirty="0">
                <a:sym typeface="Wingdings" pitchFamily="2" charset="2"/>
              </a:rPr>
              <a:t> </a:t>
            </a:r>
            <a:r>
              <a:rPr lang="en-US" sz="4800" dirty="0" err="1">
                <a:sym typeface="Wingdings" pitchFamily="2" charset="2"/>
              </a:rPr>
              <a:t>bergerak</a:t>
            </a:r>
            <a:endParaRPr lang="en-US" sz="4800" dirty="0">
              <a:sym typeface="Wingdings" pitchFamily="2" charset="2"/>
            </a:endParaRPr>
          </a:p>
          <a:p>
            <a:pPr>
              <a:buNone/>
            </a:pPr>
            <a:r>
              <a:rPr lang="en-US" sz="4800" dirty="0">
                <a:sym typeface="Wingdings" pitchFamily="2" charset="2"/>
              </a:rPr>
              <a:t>      Area Hotspot </a:t>
            </a:r>
            <a:r>
              <a:rPr lang="en-US" sz="4800" dirty="0" err="1">
                <a:sym typeface="Wingdings" pitchFamily="2" charset="2"/>
              </a:rPr>
              <a:t>harus</a:t>
            </a:r>
            <a:r>
              <a:rPr lang="en-US" sz="4800" dirty="0">
                <a:sym typeface="Wingdings" pitchFamily="2" charset="2"/>
              </a:rPr>
              <a:t> </a:t>
            </a:r>
            <a:r>
              <a:rPr lang="en-US" sz="4800" dirty="0" err="1">
                <a:sym typeface="Wingdings" pitchFamily="2" charset="2"/>
              </a:rPr>
              <a:t>mudah</a:t>
            </a:r>
            <a:r>
              <a:rPr lang="en-US" sz="4800" dirty="0">
                <a:sym typeface="Wingdings" pitchFamily="2" charset="2"/>
              </a:rPr>
              <a:t> </a:t>
            </a:r>
            <a:r>
              <a:rPr lang="en-US" sz="4800" dirty="0" err="1">
                <a:sym typeface="Wingdings" pitchFamily="2" charset="2"/>
              </a:rPr>
              <a:t>dikenali</a:t>
            </a:r>
            <a:r>
              <a:rPr lang="en-US" sz="4800" dirty="0">
                <a:sym typeface="Wingdings" pitchFamily="2" charset="2"/>
              </a:rPr>
              <a:t> </a:t>
            </a:r>
            <a:r>
              <a:rPr lang="en-US" sz="4800" dirty="0" err="1">
                <a:sym typeface="Wingdings" pitchFamily="2" charset="2"/>
              </a:rPr>
              <a:t>posisinya</a:t>
            </a:r>
            <a:endParaRPr lang="en-US" sz="4800" dirty="0"/>
          </a:p>
          <a:p>
            <a:pPr>
              <a:buFont typeface="Wingdings" pitchFamily="2" charset="2"/>
              <a:buChar char="q"/>
            </a:pPr>
            <a:r>
              <a:rPr lang="en-US" sz="4800" dirty="0"/>
              <a:t>User </a:t>
            </a:r>
            <a:r>
              <a:rPr lang="en-US" sz="4800" dirty="0" err="1"/>
              <a:t>harus</a:t>
            </a:r>
            <a:r>
              <a:rPr lang="en-US" sz="4800" dirty="0"/>
              <a:t> </a:t>
            </a:r>
            <a:r>
              <a:rPr lang="en-US" sz="4800" dirty="0" err="1"/>
              <a:t>selalu</a:t>
            </a:r>
            <a:r>
              <a:rPr lang="en-US" sz="4800" dirty="0"/>
              <a:t> </a:t>
            </a:r>
            <a:r>
              <a:rPr lang="en-US" sz="4800" dirty="0" err="1"/>
              <a:t>bisa</a:t>
            </a:r>
            <a:r>
              <a:rPr lang="en-US" sz="4800" dirty="0"/>
              <a:t> </a:t>
            </a:r>
            <a:r>
              <a:rPr lang="en-US" sz="4800" dirty="0" err="1"/>
              <a:t>menentukan</a:t>
            </a:r>
            <a:r>
              <a:rPr lang="en-US" sz="4800" dirty="0"/>
              <a:t> </a:t>
            </a:r>
            <a:r>
              <a:rPr lang="en-US" sz="4800" dirty="0" err="1"/>
              <a:t>posisi</a:t>
            </a:r>
            <a:r>
              <a:rPr lang="en-US" sz="4800" dirty="0"/>
              <a:t> pointer</a:t>
            </a:r>
          </a:p>
          <a:p>
            <a:pPr>
              <a:buFont typeface="Wingdings" pitchFamily="2" charset="2"/>
              <a:buChar char="q"/>
            </a:pPr>
            <a:r>
              <a:rPr lang="en-US" sz="4800" dirty="0" err="1"/>
              <a:t>Bentuk</a:t>
            </a:r>
            <a:r>
              <a:rPr lang="en-US" sz="4800" dirty="0"/>
              <a:t> pointer</a:t>
            </a:r>
          </a:p>
          <a:p>
            <a:pPr>
              <a:buFont typeface="Wingdings" pitchFamily="2" charset="2"/>
              <a:buChar char="q"/>
            </a:pPr>
            <a:r>
              <a:rPr lang="en-US" sz="4800" dirty="0" err="1"/>
              <a:t>Pergunakan</a:t>
            </a:r>
            <a:r>
              <a:rPr lang="en-US" sz="4800" dirty="0"/>
              <a:t> </a:t>
            </a:r>
            <a:r>
              <a:rPr lang="en-US" sz="4800" dirty="0" err="1"/>
              <a:t>bentuk</a:t>
            </a:r>
            <a:r>
              <a:rPr lang="en-US" sz="4800" dirty="0"/>
              <a:t>/</a:t>
            </a:r>
            <a:r>
              <a:rPr lang="en-US" sz="4800" dirty="0" err="1"/>
              <a:t>variasi</a:t>
            </a:r>
            <a:r>
              <a:rPr lang="en-US" sz="4800" dirty="0"/>
              <a:t> </a:t>
            </a:r>
            <a:r>
              <a:rPr lang="en-US" sz="4800" dirty="0" err="1"/>
              <a:t>bentuk</a:t>
            </a:r>
            <a:r>
              <a:rPr lang="en-US" sz="4800" dirty="0"/>
              <a:t> </a:t>
            </a:r>
            <a:r>
              <a:rPr lang="en-US" sz="4800" dirty="0" err="1"/>
              <a:t>dari</a:t>
            </a:r>
            <a:r>
              <a:rPr lang="en-US" sz="4800" dirty="0"/>
              <a:t> pointer </a:t>
            </a:r>
            <a:r>
              <a:rPr lang="en-US" sz="4800" dirty="0" err="1"/>
              <a:t>secukupnya</a:t>
            </a:r>
            <a:endParaRPr lang="en-US" sz="4800" dirty="0"/>
          </a:p>
          <a:p>
            <a:pPr>
              <a:buFont typeface="Wingdings" pitchFamily="2" charset="2"/>
              <a:buChar char="q"/>
            </a:pPr>
            <a:r>
              <a:rPr lang="en-US" sz="4800" dirty="0" err="1"/>
              <a:t>Berikan</a:t>
            </a:r>
            <a:r>
              <a:rPr lang="en-US" sz="4800" dirty="0"/>
              <a:t> </a:t>
            </a:r>
            <a:r>
              <a:rPr lang="en-US" sz="4800" dirty="0" err="1"/>
              <a:t>kebebasan</a:t>
            </a:r>
            <a:r>
              <a:rPr lang="en-US" sz="4800" dirty="0"/>
              <a:t> </a:t>
            </a:r>
            <a:r>
              <a:rPr lang="en-US" sz="4800" dirty="0" err="1"/>
              <a:t>kepada</a:t>
            </a:r>
            <a:r>
              <a:rPr lang="en-US" sz="4800" dirty="0"/>
              <a:t> user </a:t>
            </a:r>
            <a:r>
              <a:rPr lang="en-US" sz="4800" dirty="0" err="1"/>
              <a:t>saat</a:t>
            </a:r>
            <a:r>
              <a:rPr lang="en-US" sz="4800" dirty="0"/>
              <a:t> </a:t>
            </a:r>
            <a:r>
              <a:rPr lang="en-US" sz="4800" dirty="0" err="1"/>
              <a:t>menggerakkan</a:t>
            </a:r>
            <a:r>
              <a:rPr lang="en-US" sz="4800" dirty="0"/>
              <a:t> pointer di </a:t>
            </a:r>
            <a:r>
              <a:rPr lang="en-US" sz="4800" dirty="0" err="1"/>
              <a:t>dalam</a:t>
            </a:r>
            <a:r>
              <a:rPr lang="en-US" sz="4800" dirty="0"/>
              <a:t> </a:t>
            </a:r>
            <a:r>
              <a:rPr lang="en-US" sz="4800" dirty="0" err="1"/>
              <a:t>layar</a:t>
            </a:r>
            <a:endParaRPr lang="en-US" sz="4800" dirty="0"/>
          </a:p>
          <a:p>
            <a:pPr>
              <a:buFont typeface="Wingdings" pitchFamily="2" charset="2"/>
              <a:buChar char="q"/>
            </a:pPr>
            <a:r>
              <a:rPr lang="en-US" sz="4800" dirty="0" err="1"/>
              <a:t>Animasi</a:t>
            </a:r>
            <a:r>
              <a:rPr lang="en-US" sz="4800" dirty="0"/>
              <a:t> </a:t>
            </a:r>
            <a:r>
              <a:rPr lang="en-US" sz="4800" dirty="0" err="1"/>
              <a:t>seharusnya</a:t>
            </a:r>
            <a:r>
              <a:rPr lang="en-US" sz="4800" dirty="0"/>
              <a:t> </a:t>
            </a:r>
            <a:r>
              <a:rPr lang="en-US" sz="4800" dirty="0" err="1"/>
              <a:t>tidak</a:t>
            </a:r>
            <a:r>
              <a:rPr lang="en-US" sz="4800" dirty="0"/>
              <a:t>:</a:t>
            </a:r>
          </a:p>
          <a:p>
            <a:pPr>
              <a:buNone/>
            </a:pPr>
            <a:r>
              <a:rPr lang="en-US" sz="4800" dirty="0"/>
              <a:t>    </a:t>
            </a:r>
            <a:r>
              <a:rPr lang="en-US" sz="4800" dirty="0">
                <a:sym typeface="Wingdings" pitchFamily="2" charset="2"/>
              </a:rPr>
              <a:t> </a:t>
            </a:r>
            <a:r>
              <a:rPr lang="en-US" sz="4800" dirty="0" err="1">
                <a:sym typeface="Wingdings" pitchFamily="2" charset="2"/>
              </a:rPr>
              <a:t>membingungkan</a:t>
            </a:r>
            <a:endParaRPr lang="en-US" sz="4800" dirty="0">
              <a:sym typeface="Wingdings" pitchFamily="2" charset="2"/>
            </a:endParaRPr>
          </a:p>
          <a:p>
            <a:pPr>
              <a:buNone/>
            </a:pPr>
            <a:r>
              <a:rPr lang="en-US" sz="4800" dirty="0">
                <a:sym typeface="Wingdings" pitchFamily="2" charset="2"/>
              </a:rPr>
              <a:t>     </a:t>
            </a:r>
            <a:r>
              <a:rPr lang="en-US" sz="4800" dirty="0" err="1">
                <a:sym typeface="Wingdings" pitchFamily="2" charset="2"/>
              </a:rPr>
              <a:t>Mengurangi</a:t>
            </a:r>
            <a:r>
              <a:rPr lang="en-US" sz="4800" dirty="0">
                <a:sym typeface="Wingdings" pitchFamily="2" charset="2"/>
              </a:rPr>
              <a:t> </a:t>
            </a:r>
            <a:r>
              <a:rPr lang="en-US" sz="4800" dirty="0" err="1">
                <a:sym typeface="Wingdings" pitchFamily="2" charset="2"/>
              </a:rPr>
              <a:t>kemampuan</a:t>
            </a:r>
            <a:r>
              <a:rPr lang="en-US" sz="4800" dirty="0">
                <a:sym typeface="Wingdings" pitchFamily="2" charset="2"/>
              </a:rPr>
              <a:t> </a:t>
            </a:r>
            <a:r>
              <a:rPr lang="en-US" sz="4800" dirty="0" err="1">
                <a:sym typeface="Wingdings" pitchFamily="2" charset="2"/>
              </a:rPr>
              <a:t>untuk</a:t>
            </a:r>
            <a:r>
              <a:rPr lang="en-US" sz="4800" dirty="0">
                <a:sym typeface="Wingdings" pitchFamily="2" charset="2"/>
              </a:rPr>
              <a:t> </a:t>
            </a:r>
            <a:r>
              <a:rPr lang="en-US" sz="4800" dirty="0" err="1">
                <a:sym typeface="Wingdings" pitchFamily="2" charset="2"/>
              </a:rPr>
              <a:t>berinteraksi</a:t>
            </a:r>
            <a:endParaRPr lang="en-US" sz="4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128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Output Device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sz="2400" dirty="0"/>
              <a:t>Screen</a:t>
            </a:r>
          </a:p>
          <a:p>
            <a:pPr>
              <a:buNone/>
            </a:pPr>
            <a:r>
              <a:rPr lang="en-US" sz="2400" dirty="0"/>
              <a:t>    </a:t>
            </a:r>
            <a:r>
              <a:rPr lang="en-US" sz="2400" dirty="0">
                <a:sym typeface="Wingdings" pitchFamily="2" charset="2"/>
              </a:rPr>
              <a:t> Image</a:t>
            </a:r>
          </a:p>
          <a:p>
            <a:pPr>
              <a:buNone/>
            </a:pPr>
            <a:r>
              <a:rPr lang="en-US" sz="2400" dirty="0">
                <a:sym typeface="Wingdings" pitchFamily="2" charset="2"/>
              </a:rPr>
              <a:t>     Color</a:t>
            </a:r>
          </a:p>
          <a:p>
            <a:pPr>
              <a:buNone/>
            </a:pPr>
            <a:r>
              <a:rPr lang="en-US" sz="2400" dirty="0">
                <a:sym typeface="Wingdings" pitchFamily="2" charset="2"/>
              </a:rPr>
              <a:t>     Size</a:t>
            </a:r>
            <a:endParaRPr lang="en-US" sz="2400" dirty="0"/>
          </a:p>
          <a:p>
            <a:pPr>
              <a:buFont typeface="Wingdings" pitchFamily="2" charset="2"/>
              <a:buChar char="q"/>
            </a:pPr>
            <a:r>
              <a:rPr lang="en-US" sz="2400" dirty="0"/>
              <a:t>Speaker</a:t>
            </a:r>
          </a:p>
          <a:p>
            <a:pPr>
              <a:buNone/>
            </a:pPr>
            <a:r>
              <a:rPr lang="en-US" sz="2400" dirty="0"/>
              <a:t>    </a:t>
            </a:r>
            <a:r>
              <a:rPr lang="en-US" sz="2400" dirty="0" err="1"/>
              <a:t>Penggunaan</a:t>
            </a:r>
            <a:r>
              <a:rPr lang="en-US" sz="2400" dirty="0"/>
              <a:t> Sound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berupa</a:t>
            </a:r>
            <a:r>
              <a:rPr lang="en-US" sz="2400" dirty="0"/>
              <a:t> simple beep, speech, music </a:t>
            </a:r>
            <a:r>
              <a:rPr lang="en-US" sz="2400" dirty="0" err="1"/>
              <a:t>dan</a:t>
            </a:r>
            <a:r>
              <a:rPr lang="en-US" sz="2400" dirty="0"/>
              <a:t> sound effect.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329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/>
          <a:lstStyle/>
          <a:p>
            <a:r>
              <a:rPr lang="en-US" dirty="0" err="1"/>
              <a:t>Analis</a:t>
            </a:r>
            <a:r>
              <a:rPr lang="id-ID" dirty="0"/>
              <a:t>is</a:t>
            </a:r>
            <a:r>
              <a:rPr lang="en-US" dirty="0"/>
              <a:t> </a:t>
            </a:r>
            <a:r>
              <a:rPr lang="en-US" dirty="0" err="1"/>
              <a:t>kelebihan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kekurangan</a:t>
            </a:r>
            <a:r>
              <a:rPr lang="en-US" dirty="0"/>
              <a:t> </a:t>
            </a:r>
            <a:r>
              <a:rPr lang="en-US" dirty="0" err="1"/>
              <a:t>masing-masing</a:t>
            </a:r>
            <a:r>
              <a:rPr lang="en-US" dirty="0"/>
              <a:t> device di</a:t>
            </a:r>
            <a:r>
              <a:rPr lang="id-ID"/>
              <a:t> </a:t>
            </a:r>
            <a:r>
              <a:rPr lang="en-US"/>
              <a:t>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:</a:t>
            </a:r>
          </a:p>
          <a:p>
            <a:pPr lvl="1"/>
            <a:r>
              <a:rPr lang="en-US" sz="2400" dirty="0" err="1"/>
              <a:t>Trackpad</a:t>
            </a:r>
            <a:r>
              <a:rPr lang="en-US" sz="2400" dirty="0"/>
              <a:t> </a:t>
            </a:r>
            <a:r>
              <a:rPr lang="en-US" sz="2400" dirty="0" err="1"/>
              <a:t>Macbook</a:t>
            </a:r>
            <a:endParaRPr lang="en-US" sz="2400" dirty="0"/>
          </a:p>
          <a:p>
            <a:pPr lvl="1"/>
            <a:r>
              <a:rPr lang="en-US" sz="2400" dirty="0" err="1"/>
              <a:t>Trackpad</a:t>
            </a:r>
            <a:r>
              <a:rPr lang="en-US" sz="2400" dirty="0"/>
              <a:t> Windows</a:t>
            </a:r>
          </a:p>
          <a:p>
            <a:pPr lvl="1"/>
            <a:r>
              <a:rPr lang="en-US" sz="2400" dirty="0"/>
              <a:t>Trackball Blackberry</a:t>
            </a:r>
          </a:p>
          <a:p>
            <a:pPr lvl="1"/>
            <a:r>
              <a:rPr lang="en-US" sz="2400" dirty="0" err="1"/>
              <a:t>Trackpoint</a:t>
            </a:r>
            <a:r>
              <a:rPr lang="en-US" sz="2400" dirty="0"/>
              <a:t> </a:t>
            </a:r>
            <a:r>
              <a:rPr lang="en-US" sz="2400" dirty="0" err="1"/>
              <a:t>Thinkpad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23321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6919" y="3276600"/>
            <a:ext cx="4343400" cy="1754326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THE USER INTERFACE  (UI)</a:t>
            </a:r>
            <a:br>
              <a:rPr lang="en-US" sz="2400" b="1" dirty="0"/>
            </a:br>
            <a:r>
              <a:rPr lang="en-US" sz="2400" b="1" dirty="0"/>
              <a:t>DESIGN PROCESS</a:t>
            </a:r>
          </a:p>
          <a:p>
            <a:pPr algn="just"/>
            <a:endParaRPr lang="en-US" sz="2800" b="1" dirty="0">
              <a:latin typeface="+mj-lt"/>
            </a:endParaRPr>
          </a:p>
          <a:p>
            <a:r>
              <a:rPr lang="en-US" sz="1600" b="1" dirty="0">
                <a:latin typeface="+mj-lt"/>
              </a:rPr>
              <a:t>Step – 7 :</a:t>
            </a:r>
            <a:br>
              <a:rPr lang="en-US" sz="1600" b="1" dirty="0">
                <a:latin typeface="+mj-lt"/>
              </a:rPr>
            </a:br>
            <a:r>
              <a:rPr lang="en-US" sz="1600" b="1" dirty="0">
                <a:latin typeface="+mj-lt"/>
              </a:rPr>
              <a:t>Screen-Based Control</a:t>
            </a:r>
          </a:p>
        </p:txBody>
      </p:sp>
    </p:spTree>
    <p:extLst>
      <p:ext uri="{BB962C8B-B14F-4D97-AF65-F5344CB8AC3E}">
        <p14:creationId xmlns:p14="http://schemas.microsoft.com/office/powerpoint/2010/main" val="3201142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/>
          <a:lstStyle/>
          <a:p>
            <a:r>
              <a:rPr lang="en-US" noProof="1"/>
              <a:t>Setelah mengikuti materi ini mahasiswa dapat:</a:t>
            </a:r>
          </a:p>
          <a:p>
            <a:pPr marL="0" indent="0">
              <a:buNone/>
            </a:pP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menerapkan</a:t>
            </a:r>
            <a:r>
              <a:rPr lang="en-US" dirty="0"/>
              <a:t> </a:t>
            </a:r>
            <a:r>
              <a:rPr lang="en-US" i="1" dirty="0"/>
              <a:t>screen-based controls</a:t>
            </a:r>
            <a:r>
              <a:rPr lang="en-US" dirty="0"/>
              <a:t> yang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740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Sometimes called ‘widgets’</a:t>
            </a:r>
          </a:p>
          <a:p>
            <a:r>
              <a:rPr lang="en-US" dirty="0"/>
              <a:t>Widgets: the elements of a screen that constitute its body.</a:t>
            </a:r>
          </a:p>
          <a:p>
            <a:r>
              <a:rPr lang="en-US" dirty="0"/>
              <a:t>Definition: graphic objects that represent the properties or operations of other objects</a:t>
            </a:r>
          </a:p>
          <a:p>
            <a:r>
              <a:rPr lang="en-US" dirty="0"/>
              <a:t>Functions:</a:t>
            </a:r>
          </a:p>
          <a:p>
            <a:pPr lvl="1"/>
            <a:r>
              <a:rPr lang="en-US" dirty="0"/>
              <a:t>Permit the entry or selection of a particular value</a:t>
            </a:r>
          </a:p>
          <a:p>
            <a:pPr lvl="1"/>
            <a:r>
              <a:rPr lang="en-US" dirty="0"/>
              <a:t>Permit the changing or editing of a particular value</a:t>
            </a:r>
          </a:p>
          <a:p>
            <a:pPr lvl="1"/>
            <a:r>
              <a:rPr lang="en-US" dirty="0"/>
              <a:t>Display only a particular piece of text, value, or graphic</a:t>
            </a:r>
          </a:p>
          <a:p>
            <a:pPr lvl="1"/>
            <a:r>
              <a:rPr lang="en-US" dirty="0"/>
              <a:t>Cause a command to be performed</a:t>
            </a:r>
          </a:p>
          <a:p>
            <a:pPr lvl="1"/>
            <a:r>
              <a:rPr lang="en-US" dirty="0"/>
              <a:t>Possess a contextual pop-up window</a:t>
            </a:r>
          </a:p>
        </p:txBody>
      </p:sp>
    </p:spTree>
    <p:extLst>
      <p:ext uri="{BB962C8B-B14F-4D97-AF65-F5344CB8AC3E}">
        <p14:creationId xmlns:p14="http://schemas.microsoft.com/office/powerpoint/2010/main" val="1927099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294243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Three </a:t>
            </a:r>
            <a:r>
              <a:rPr lang="en-US" b="1" dirty="0"/>
              <a:t>Extremely</a:t>
            </a:r>
            <a:r>
              <a:rPr lang="en-US" dirty="0"/>
              <a:t> Important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>
            <a:noAutofit/>
          </a:bodyPr>
          <a:lstStyle/>
          <a:p>
            <a:r>
              <a:rPr lang="en-US" sz="1600" dirty="0"/>
              <a:t>A control must:</a:t>
            </a:r>
          </a:p>
          <a:p>
            <a:pPr lvl="1"/>
            <a:r>
              <a:rPr lang="en-US" sz="1400" dirty="0"/>
              <a:t>Look the way it works</a:t>
            </a:r>
          </a:p>
          <a:p>
            <a:pPr lvl="1"/>
            <a:r>
              <a:rPr lang="en-US" sz="1400" dirty="0"/>
              <a:t>Work the way it looks</a:t>
            </a:r>
          </a:p>
          <a:p>
            <a:pPr lvl="1">
              <a:buNone/>
            </a:pPr>
            <a:r>
              <a:rPr lang="en-US" sz="1400" dirty="0"/>
              <a:t>“Look” </a:t>
            </a:r>
            <a:r>
              <a:rPr lang="en-US" sz="1400" dirty="0">
                <a:sym typeface="Wingdings" pitchFamily="2" charset="2"/>
              </a:rPr>
              <a:t> “</a:t>
            </a:r>
            <a:r>
              <a:rPr lang="en-US" sz="1400" dirty="0" err="1">
                <a:sym typeface="Wingdings" pitchFamily="2" charset="2"/>
              </a:rPr>
              <a:t>enterability</a:t>
            </a:r>
            <a:r>
              <a:rPr lang="en-US" sz="1400" dirty="0">
                <a:sym typeface="Wingdings" pitchFamily="2" charset="2"/>
              </a:rPr>
              <a:t>” or “</a:t>
            </a:r>
            <a:r>
              <a:rPr lang="en-US" sz="1400" dirty="0" err="1">
                <a:sym typeface="Wingdings" pitchFamily="2" charset="2"/>
              </a:rPr>
              <a:t>clickability</a:t>
            </a:r>
            <a:r>
              <a:rPr lang="en-US" sz="1400" dirty="0">
                <a:sym typeface="Wingdings" pitchFamily="2" charset="2"/>
              </a:rPr>
              <a:t>”</a:t>
            </a:r>
            <a:endParaRPr lang="en-US" sz="1400" dirty="0"/>
          </a:p>
          <a:p>
            <a:r>
              <a:rPr lang="en-US" sz="1600" dirty="0"/>
              <a:t>Used exactly as its design intended</a:t>
            </a:r>
          </a:p>
          <a:p>
            <a:r>
              <a:rPr lang="en-US" sz="1600" dirty="0"/>
              <a:t>Presented in a standard manner</a:t>
            </a:r>
          </a:p>
          <a:p>
            <a:pPr>
              <a:buNone/>
            </a:pPr>
            <a:r>
              <a:rPr lang="en-US" sz="1600" dirty="0"/>
              <a:t>Example:</a:t>
            </a:r>
          </a:p>
          <a:p>
            <a:r>
              <a:rPr lang="en-US" sz="1600" dirty="0"/>
              <a:t>Windows XP:</a:t>
            </a:r>
          </a:p>
          <a:p>
            <a:pPr lvl="1"/>
            <a:r>
              <a:rPr lang="en-US" sz="1400" dirty="0"/>
              <a:t>Raised elements can be pressed</a:t>
            </a:r>
          </a:p>
          <a:p>
            <a:pPr lvl="1"/>
            <a:r>
              <a:rPr lang="en-US" sz="1400" dirty="0"/>
              <a:t>Recessed elements can not be pressed</a:t>
            </a:r>
          </a:p>
          <a:p>
            <a:pPr lvl="1"/>
            <a:r>
              <a:rPr lang="en-US" sz="1400" dirty="0"/>
              <a:t>Elements on a flat white background can be opened, edited, or moved.</a:t>
            </a:r>
          </a:p>
        </p:txBody>
      </p:sp>
      <p:pic>
        <p:nvPicPr>
          <p:cNvPr id="8" name="Picture 7" descr="Screen Shot 2017-09-23 at 8.28.0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911" y="2057400"/>
            <a:ext cx="4075289" cy="366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56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Fact about Web page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/>
          <a:lstStyle/>
          <a:p>
            <a:r>
              <a:rPr lang="en-US" dirty="0"/>
              <a:t>Unleashed and exposed thousands of instances </a:t>
            </a:r>
          </a:p>
          <a:p>
            <a:r>
              <a:rPr lang="en-US" dirty="0"/>
              <a:t>Basic principles have been violated</a:t>
            </a:r>
          </a:p>
          <a:p>
            <a:r>
              <a:rPr lang="en-US" dirty="0"/>
              <a:t>Placing greater value on personal creativity than on interface usability</a:t>
            </a:r>
          </a:p>
        </p:txBody>
      </p:sp>
      <p:pic>
        <p:nvPicPr>
          <p:cNvPr id="7" name="Picture 6" descr="Screen Shot 2017-09-23 at 8.43.0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042015"/>
            <a:ext cx="5334000" cy="235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77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Operable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/>
          <a:lstStyle/>
          <a:p>
            <a:r>
              <a:rPr lang="en-US" dirty="0"/>
              <a:t>… are those that permit:</a:t>
            </a:r>
          </a:p>
          <a:p>
            <a:pPr lvl="1"/>
            <a:r>
              <a:rPr lang="en-US" dirty="0"/>
              <a:t>Entry</a:t>
            </a:r>
          </a:p>
          <a:p>
            <a:pPr lvl="1"/>
            <a:r>
              <a:rPr lang="en-US" dirty="0"/>
              <a:t>Selection</a:t>
            </a:r>
          </a:p>
          <a:p>
            <a:pPr lvl="1"/>
            <a:r>
              <a:rPr lang="en-US" dirty="0"/>
              <a:t>Changing</a:t>
            </a:r>
          </a:p>
          <a:p>
            <a:pPr lvl="1"/>
            <a:r>
              <a:rPr lang="en-US" dirty="0"/>
              <a:t>Editing</a:t>
            </a:r>
          </a:p>
          <a:p>
            <a:pPr lvl="1"/>
            <a:r>
              <a:rPr lang="en-US" dirty="0"/>
              <a:t>Cause a command to be performed</a:t>
            </a:r>
          </a:p>
          <a:p>
            <a:r>
              <a:rPr lang="en-US" dirty="0"/>
              <a:t>Here are the classes… (next slide)</a:t>
            </a:r>
          </a:p>
        </p:txBody>
      </p:sp>
    </p:spTree>
    <p:extLst>
      <p:ext uri="{BB962C8B-B14F-4D97-AF65-F5344CB8AC3E}">
        <p14:creationId xmlns:p14="http://schemas.microsoft.com/office/powerpoint/2010/main" val="3817500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– Operable Buttons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>
            <a:normAutofit/>
          </a:bodyPr>
          <a:lstStyle/>
          <a:p>
            <a:r>
              <a:rPr lang="en-US" sz="1600" dirty="0"/>
              <a:t>Description</a:t>
            </a:r>
          </a:p>
          <a:p>
            <a:pPr lvl="1"/>
            <a:r>
              <a:rPr lang="en-US" sz="1600" dirty="0"/>
              <a:t>A square or rectangular-shaped control with a label inside that indicates action to be accomplished</a:t>
            </a:r>
          </a:p>
          <a:p>
            <a:pPr lvl="1"/>
            <a:r>
              <a:rPr lang="en-US" sz="1600" dirty="0"/>
              <a:t>The label may consist of text, graphics, or both</a:t>
            </a:r>
          </a:p>
          <a:p>
            <a:r>
              <a:rPr lang="en-US" sz="1600" dirty="0"/>
              <a:t>Purpose</a:t>
            </a:r>
          </a:p>
          <a:p>
            <a:pPr lvl="1"/>
            <a:r>
              <a:rPr lang="en-US" sz="1600" dirty="0"/>
              <a:t>To start actions</a:t>
            </a:r>
          </a:p>
          <a:p>
            <a:pPr lvl="1"/>
            <a:r>
              <a:rPr lang="en-US" sz="1600" dirty="0"/>
              <a:t>To change properties</a:t>
            </a:r>
          </a:p>
          <a:p>
            <a:pPr lvl="1"/>
            <a:r>
              <a:rPr lang="en-US" sz="1600" dirty="0"/>
              <a:t>To display a pop-up menu</a:t>
            </a:r>
          </a:p>
          <a:p>
            <a:r>
              <a:rPr lang="en-US" sz="1600" dirty="0"/>
              <a:t>There are two kinds: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83613" y="5255180"/>
            <a:ext cx="325755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19650" y="5317093"/>
            <a:ext cx="371475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447800" y="5650468"/>
            <a:ext cx="1931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Command buttons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27547" y="5650468"/>
            <a:ext cx="1663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Toolbar buttons</a:t>
            </a:r>
          </a:p>
        </p:txBody>
      </p:sp>
    </p:spTree>
    <p:extLst>
      <p:ext uri="{BB962C8B-B14F-4D97-AF65-F5344CB8AC3E}">
        <p14:creationId xmlns:p14="http://schemas.microsoft.com/office/powerpoint/2010/main" val="716461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 – Operable Buttons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4" y="1139825"/>
            <a:ext cx="4800600" cy="5094288"/>
          </a:xfrm>
        </p:spPr>
        <p:txBody>
          <a:bodyPr>
            <a:noAutofit/>
          </a:bodyPr>
          <a:lstStyle/>
          <a:p>
            <a:r>
              <a:rPr lang="en-US" sz="1800" b="1" dirty="0"/>
              <a:t>Advantages</a:t>
            </a:r>
          </a:p>
          <a:p>
            <a:pPr lvl="1"/>
            <a:r>
              <a:rPr lang="en-US" sz="1400" dirty="0"/>
              <a:t>Always visible, reminding one of the choices available</a:t>
            </a:r>
          </a:p>
          <a:p>
            <a:pPr lvl="1"/>
            <a:r>
              <a:rPr lang="en-US" sz="1400" dirty="0"/>
              <a:t>Convenient</a:t>
            </a:r>
          </a:p>
          <a:p>
            <a:pPr lvl="1"/>
            <a:r>
              <a:rPr lang="en-US" sz="1400" dirty="0"/>
              <a:t>Can be logically organized in the work area</a:t>
            </a:r>
          </a:p>
          <a:p>
            <a:pPr lvl="1"/>
            <a:r>
              <a:rPr lang="en-US" sz="1400" dirty="0"/>
              <a:t>Can provide meaningful descriptions of the actions that will be performed</a:t>
            </a:r>
          </a:p>
          <a:p>
            <a:pPr lvl="1"/>
            <a:r>
              <a:rPr lang="en-US" sz="1400" dirty="0"/>
              <a:t>Larger size generally provides faster selection target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5105400" y="1752600"/>
            <a:ext cx="4038600" cy="2667000"/>
          </a:xfrm>
        </p:spPr>
        <p:txBody>
          <a:bodyPr>
            <a:noAutofit/>
          </a:bodyPr>
          <a:lstStyle/>
          <a:p>
            <a:pPr lvl="1"/>
            <a:endParaRPr lang="en-US" sz="1600" dirty="0"/>
          </a:p>
          <a:p>
            <a:pPr lvl="1"/>
            <a:r>
              <a:rPr lang="en-US" sz="1400" dirty="0"/>
              <a:t>Can possess 3-D appearance</a:t>
            </a:r>
          </a:p>
          <a:p>
            <a:pPr lvl="2"/>
            <a:r>
              <a:rPr lang="en-US" dirty="0"/>
              <a:t>Adds an aesthetically pleasing style to the screen</a:t>
            </a:r>
          </a:p>
          <a:p>
            <a:pPr lvl="2"/>
            <a:r>
              <a:rPr lang="en-US" dirty="0"/>
              <a:t>Provides visual feedback through button movement when activated</a:t>
            </a:r>
          </a:p>
          <a:p>
            <a:pPr lvl="1"/>
            <a:r>
              <a:rPr lang="en-US" sz="1400" dirty="0"/>
              <a:t>May permit use of keyboard equivalents and accelerators</a:t>
            </a:r>
          </a:p>
          <a:p>
            <a:pPr lvl="1"/>
            <a:r>
              <a:rPr lang="en-US" sz="1400" dirty="0"/>
              <a:t>Faster than using a two-step menu bar/pull-down sequence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4572000"/>
            <a:ext cx="4800600" cy="19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Disadvantages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</a:pPr>
            <a:r>
              <a:rPr lang="en-US" sz="1400" dirty="0"/>
              <a:t>Consumes screen space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</a:pPr>
            <a:r>
              <a:rPr lang="en-US" sz="1400" dirty="0"/>
              <a:t>Size limits the number that may be displayed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</a:pPr>
            <a:r>
              <a:rPr lang="en-US" sz="1400" dirty="0"/>
              <a:t>Requires looking away from main working area to activate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</a:pPr>
            <a:r>
              <a:rPr lang="en-US" sz="1400" dirty="0"/>
              <a:t>Requires moving the pointer to select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380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 – Operable Buttons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4745037" cy="5094288"/>
          </a:xfrm>
        </p:spPr>
        <p:txBody>
          <a:bodyPr>
            <a:normAutofit/>
          </a:bodyPr>
          <a:lstStyle/>
          <a:p>
            <a:r>
              <a:rPr lang="en-US" sz="2400" dirty="0"/>
              <a:t>To a window:</a:t>
            </a:r>
          </a:p>
          <a:p>
            <a:pPr lvl="1"/>
            <a:r>
              <a:rPr lang="en-US" sz="2000" dirty="0"/>
              <a:t>To cause something to happen immediately</a:t>
            </a:r>
          </a:p>
          <a:p>
            <a:pPr lvl="1"/>
            <a:r>
              <a:rPr lang="en-US" sz="2000" dirty="0"/>
              <a:t>To display another window</a:t>
            </a:r>
          </a:p>
          <a:p>
            <a:pPr lvl="1"/>
            <a:r>
              <a:rPr lang="en-US" sz="2000" dirty="0"/>
              <a:t>To display a menu of options</a:t>
            </a:r>
          </a:p>
          <a:p>
            <a:pPr lvl="1"/>
            <a:r>
              <a:rPr lang="en-US" sz="2000" dirty="0"/>
              <a:t>To set a mode or property value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5105400" y="1692275"/>
            <a:ext cx="4038600" cy="2514600"/>
          </a:xfrm>
        </p:spPr>
        <p:txBody>
          <a:bodyPr>
            <a:normAutofit/>
          </a:bodyPr>
          <a:lstStyle/>
          <a:p>
            <a:r>
              <a:rPr lang="en-US" sz="2400" dirty="0"/>
              <a:t>In a web</a:t>
            </a:r>
          </a:p>
          <a:p>
            <a:pPr lvl="1"/>
            <a:r>
              <a:rPr lang="en-US" sz="2000" dirty="0"/>
              <a:t>Use links to show information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325192" y="3991464"/>
            <a:ext cx="38100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Things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consider: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Usage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sz="2000" dirty="0"/>
              <a:t>Structure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Labels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sz="2000" dirty="0"/>
              <a:t>Size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Number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sz="2000" dirty="0"/>
              <a:t>Location &amp; layout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973511" y="4106550"/>
            <a:ext cx="38100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Organization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sz="2000" dirty="0"/>
              <a:t>Intent indicators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Expansion buttons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sz="2000" dirty="0"/>
              <a:t>Default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sz="2000" dirty="0"/>
              <a:t>Keyboard equivalent / accelerators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sz="2000" dirty="0"/>
              <a:t>Button activation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1375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creen Shot 2017-09-23 at 8.52.00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9" r="1090"/>
          <a:stretch/>
        </p:blipFill>
        <p:spPr>
          <a:xfrm>
            <a:off x="1205802" y="1752600"/>
            <a:ext cx="6346327" cy="457200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 bwMode="auto">
          <a:xfrm>
            <a:off x="20392" y="1236712"/>
            <a:ext cx="8229600" cy="430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/>
              <a:t>1 – Operable Buttons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522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237092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2 – Text Entry / Read only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Usually referred as “</a:t>
            </a:r>
            <a:r>
              <a:rPr lang="en-US" i="1" dirty="0"/>
              <a:t>field” </a:t>
            </a:r>
            <a:r>
              <a:rPr lang="en-US" dirty="0"/>
              <a:t>or</a:t>
            </a:r>
            <a:r>
              <a:rPr lang="en-US" i="1" dirty="0"/>
              <a:t> “text-box”</a:t>
            </a:r>
          </a:p>
          <a:p>
            <a:pPr lvl="1"/>
            <a:r>
              <a:rPr lang="en-US" i="1" dirty="0"/>
              <a:t>Unprotected</a:t>
            </a:r>
            <a:r>
              <a:rPr lang="en-US" dirty="0"/>
              <a:t>: a text box into which information can be keyed</a:t>
            </a:r>
          </a:p>
          <a:p>
            <a:pPr lvl="1"/>
            <a:r>
              <a:rPr lang="en-US" i="1" dirty="0"/>
              <a:t>Protected</a:t>
            </a:r>
            <a:r>
              <a:rPr lang="en-US" dirty="0"/>
              <a:t>: A text box used for display purposes only</a:t>
            </a:r>
          </a:p>
          <a:p>
            <a:r>
              <a:rPr lang="en-US" dirty="0"/>
              <a:t>Description</a:t>
            </a:r>
          </a:p>
          <a:p>
            <a:pPr lvl="1"/>
            <a:r>
              <a:rPr lang="en-US" dirty="0"/>
              <a:t>Usually rectangular in shape</a:t>
            </a:r>
          </a:p>
          <a:p>
            <a:pPr lvl="1"/>
            <a:r>
              <a:rPr lang="en-US" dirty="0"/>
              <a:t>Usually possesses a caption or label describing the kind of information contained within it</a:t>
            </a:r>
          </a:p>
          <a:p>
            <a:pPr lvl="1"/>
            <a:r>
              <a:rPr lang="en-US" dirty="0"/>
              <a:t>Two types exist</a:t>
            </a:r>
          </a:p>
          <a:p>
            <a:pPr lvl="2"/>
            <a:r>
              <a:rPr lang="en-US" dirty="0"/>
              <a:t>Single-line</a:t>
            </a:r>
          </a:p>
          <a:p>
            <a:pPr lvl="2"/>
            <a:r>
              <a:rPr lang="en-US" dirty="0"/>
              <a:t>Multiple-line</a:t>
            </a:r>
          </a:p>
          <a:p>
            <a:pPr lvl="1"/>
            <a:r>
              <a:rPr lang="en-US" dirty="0"/>
              <a:t>When first displayed, the box may be blank or contain an initial value</a:t>
            </a:r>
          </a:p>
          <a:p>
            <a:r>
              <a:rPr lang="en-US" dirty="0"/>
              <a:t>Purpose</a:t>
            </a:r>
          </a:p>
          <a:p>
            <a:pPr lvl="1"/>
            <a:r>
              <a:rPr lang="en-US" dirty="0"/>
              <a:t>To permit the display, entering, or editing of textual information</a:t>
            </a:r>
          </a:p>
          <a:p>
            <a:pPr lvl="1"/>
            <a:r>
              <a:rPr lang="en-US" dirty="0"/>
              <a:t>To display read-only information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163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85800" y="1451774"/>
            <a:ext cx="7919411" cy="4720426"/>
            <a:chOff x="-152400" y="1295400"/>
            <a:chExt cx="8382943" cy="5029200"/>
          </a:xfrm>
        </p:grpSpPr>
        <p:sp>
          <p:nvSpPr>
            <p:cNvPr id="12" name="TextBox 11"/>
            <p:cNvSpPr txBox="1"/>
            <p:nvPr/>
          </p:nvSpPr>
          <p:spPr>
            <a:xfrm>
              <a:off x="609600" y="1371600"/>
              <a:ext cx="2220292" cy="3276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Single occurrence</a:t>
              </a:r>
            </a:p>
          </p:txBody>
        </p:sp>
        <p:pic>
          <p:nvPicPr>
            <p:cNvPr id="2055" name="Picture 7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292848" y="4166925"/>
              <a:ext cx="2715963" cy="8040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6" name="Picture 8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123655" y="5325758"/>
              <a:ext cx="3041878" cy="7727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07593" y="1796612"/>
              <a:ext cx="2745591" cy="3445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94239" y="2548429"/>
              <a:ext cx="1718464" cy="5847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3" name="TextBox 12"/>
            <p:cNvSpPr txBox="1"/>
            <p:nvPr/>
          </p:nvSpPr>
          <p:spPr>
            <a:xfrm>
              <a:off x="1434721" y="2143544"/>
              <a:ext cx="478112" cy="3276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Or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8583" y="1295400"/>
              <a:ext cx="3239403" cy="20048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805015" y="1942798"/>
              <a:ext cx="3130764" cy="1190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4" name="TextBox 13"/>
            <p:cNvSpPr txBox="1"/>
            <p:nvPr/>
          </p:nvSpPr>
          <p:spPr>
            <a:xfrm>
              <a:off x="3726005" y="1462470"/>
              <a:ext cx="2426839" cy="3276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Multiple occurrence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726005" y="1295400"/>
              <a:ext cx="3239403" cy="20048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-152400" y="3538061"/>
              <a:ext cx="5199444" cy="2786539"/>
              <a:chOff x="4114800" y="1447800"/>
              <a:chExt cx="4419600" cy="3352800"/>
            </a:xfrm>
          </p:grpSpPr>
          <p:pic>
            <p:nvPicPr>
              <p:cNvPr id="2053" name="Picture 5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4191000" y="1962150"/>
                <a:ext cx="2038350" cy="14668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2054" name="Picture 6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4191000" y="3457575"/>
                <a:ext cx="1409700" cy="12668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5" name="TextBox 14"/>
              <p:cNvSpPr txBox="1"/>
              <p:nvPr/>
            </p:nvSpPr>
            <p:spPr>
              <a:xfrm>
                <a:off x="4191000" y="1524000"/>
                <a:ext cx="2062847" cy="3942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Read-only / display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324600" y="2133600"/>
                <a:ext cx="1719345" cy="17739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If alphanumeric then</a:t>
                </a:r>
              </a:p>
              <a:p>
                <a:r>
                  <a:rPr lang="en-US" sz="1200" dirty="0"/>
                  <a:t>left justify</a:t>
                </a:r>
              </a:p>
              <a:p>
                <a:endParaRPr lang="en-US" sz="1200" dirty="0"/>
              </a:p>
              <a:p>
                <a:endParaRPr lang="en-US" sz="1200" dirty="0"/>
              </a:p>
              <a:p>
                <a:endParaRPr lang="en-US" sz="1200" dirty="0"/>
              </a:p>
              <a:p>
                <a:r>
                  <a:rPr lang="en-US" sz="1200" dirty="0"/>
                  <a:t>If numeric then right</a:t>
                </a:r>
              </a:p>
              <a:p>
                <a:r>
                  <a:rPr lang="en-US" sz="1200" dirty="0"/>
                  <a:t>justify </a:t>
                </a: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114800" y="1447800"/>
                <a:ext cx="4419600" cy="3352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5149160" y="3564834"/>
              <a:ext cx="3081383" cy="25895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118888" y="3560003"/>
              <a:ext cx="1782053" cy="3276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Segmentation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14791" y="4962420"/>
              <a:ext cx="478112" cy="3276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0868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66235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2 – Text Entry / Read only</a:t>
            </a:r>
            <a:r>
              <a:rPr lang="id-ID" dirty="0"/>
              <a:t> </a:t>
            </a:r>
            <a:r>
              <a:rPr lang="en-US" dirty="0"/>
              <a:t>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Advantages</a:t>
            </a:r>
            <a:endParaRPr lang="en-US" i="1" dirty="0"/>
          </a:p>
          <a:p>
            <a:pPr lvl="1"/>
            <a:r>
              <a:rPr lang="en-US" dirty="0"/>
              <a:t>Very flexible</a:t>
            </a:r>
          </a:p>
          <a:p>
            <a:pPr lvl="1"/>
            <a:r>
              <a:rPr lang="en-US" dirty="0"/>
              <a:t>Familiar</a:t>
            </a:r>
          </a:p>
          <a:p>
            <a:pPr lvl="1"/>
            <a:r>
              <a:rPr lang="en-US" dirty="0"/>
              <a:t>Consumes little screen space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Requires use of typewriter keyboard.</a:t>
            </a:r>
          </a:p>
          <a:p>
            <a:pPr lvl="1"/>
            <a:r>
              <a:rPr lang="en-US" dirty="0"/>
              <a:t>Requires user to remember what must be keyed</a:t>
            </a:r>
          </a:p>
          <a:p>
            <a:r>
              <a:rPr lang="en-US" dirty="0"/>
              <a:t>Proper usage</a:t>
            </a:r>
          </a:p>
          <a:p>
            <a:pPr lvl="1"/>
            <a:r>
              <a:rPr lang="en-US" dirty="0"/>
              <a:t>Most useful for data that is</a:t>
            </a:r>
          </a:p>
          <a:p>
            <a:pPr lvl="2"/>
            <a:r>
              <a:rPr lang="en-US" dirty="0"/>
              <a:t>Unlimited in scope</a:t>
            </a:r>
          </a:p>
          <a:p>
            <a:pPr lvl="2"/>
            <a:r>
              <a:rPr lang="en-US" dirty="0"/>
              <a:t>Difficult to categorize</a:t>
            </a:r>
          </a:p>
          <a:p>
            <a:pPr lvl="2"/>
            <a:r>
              <a:rPr lang="en-US" dirty="0"/>
              <a:t>Of a variety of different lengths</a:t>
            </a:r>
          </a:p>
          <a:p>
            <a:pPr lvl="1"/>
            <a:r>
              <a:rPr lang="en-US" dirty="0"/>
              <a:t>When using a selection list is not possible</a:t>
            </a:r>
          </a:p>
        </p:txBody>
      </p:sp>
    </p:spTree>
    <p:extLst>
      <p:ext uri="{BB962C8B-B14F-4D97-AF65-F5344CB8AC3E}">
        <p14:creationId xmlns:p14="http://schemas.microsoft.com/office/powerpoint/2010/main" val="2171982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– Selection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>
            <a:normAutofit/>
          </a:bodyPr>
          <a:lstStyle/>
          <a:p>
            <a:r>
              <a:rPr lang="en-US" dirty="0"/>
              <a:t>Presents on the screen all the possible alternatives, conditions, or choices that may exist for an entity, property, or value</a:t>
            </a:r>
          </a:p>
          <a:p>
            <a:r>
              <a:rPr lang="en-US" dirty="0"/>
              <a:t>Types</a:t>
            </a:r>
          </a:p>
          <a:p>
            <a:pPr lvl="1"/>
            <a:r>
              <a:rPr lang="en-US" dirty="0"/>
              <a:t>Radio button</a:t>
            </a:r>
          </a:p>
          <a:p>
            <a:pPr lvl="1"/>
            <a:r>
              <a:rPr lang="en-US" dirty="0"/>
              <a:t>Check box</a:t>
            </a:r>
          </a:p>
          <a:p>
            <a:pPr lvl="1"/>
            <a:r>
              <a:rPr lang="en-US" dirty="0"/>
              <a:t>Palette</a:t>
            </a:r>
          </a:p>
          <a:p>
            <a:pPr lvl="1"/>
            <a:r>
              <a:rPr lang="en-US" dirty="0"/>
              <a:t>List box</a:t>
            </a:r>
          </a:p>
          <a:p>
            <a:pPr lvl="1"/>
            <a:r>
              <a:rPr lang="en-US" dirty="0"/>
              <a:t>List view control</a:t>
            </a:r>
          </a:p>
          <a:p>
            <a:pPr lvl="1"/>
            <a:r>
              <a:rPr lang="en-US" dirty="0"/>
              <a:t>Drop-down / Pop-up list box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1400" y="3962400"/>
            <a:ext cx="1228725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62525" y="4657063"/>
            <a:ext cx="36576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962525" y="4202668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993805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3 – Selection Controls: </a:t>
            </a:r>
            <a:r>
              <a:rPr lang="en-US" dirty="0"/>
              <a:t>Radio button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 l="5061" t="4762" r="9773" b="4762"/>
          <a:stretch>
            <a:fillRect/>
          </a:stretch>
        </p:blipFill>
        <p:spPr bwMode="auto">
          <a:xfrm>
            <a:off x="2590800" y="2209800"/>
            <a:ext cx="4648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98897" y="5349491"/>
            <a:ext cx="546735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524000" y="2362200"/>
            <a:ext cx="62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0" y="3048000"/>
            <a:ext cx="62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3962400"/>
            <a:ext cx="62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4621231"/>
            <a:ext cx="62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" y="5413303"/>
            <a:ext cx="767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988" y="1778901"/>
            <a:ext cx="4718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800" dirty="0"/>
              <a:t>“Only one selection permitted”</a:t>
            </a:r>
          </a:p>
        </p:txBody>
      </p:sp>
    </p:spTree>
    <p:extLst>
      <p:ext uri="{BB962C8B-B14F-4D97-AF65-F5344CB8AC3E}">
        <p14:creationId xmlns:p14="http://schemas.microsoft.com/office/powerpoint/2010/main" val="1710304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0397" y="1920020"/>
            <a:ext cx="5019675" cy="1964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 l="5556" t="18717" r="19444" b="8556"/>
          <a:stretch>
            <a:fillRect/>
          </a:stretch>
        </p:blipFill>
        <p:spPr bwMode="auto">
          <a:xfrm>
            <a:off x="2362200" y="4038600"/>
            <a:ext cx="4114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56613" y="2265402"/>
            <a:ext cx="1158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Still better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267200"/>
            <a:ext cx="717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Best !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47925" y="5445789"/>
            <a:ext cx="3800475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3 – Selection Controls: </a:t>
            </a:r>
            <a:r>
              <a:rPr lang="en-US" dirty="0"/>
              <a:t>Radio button</a:t>
            </a:r>
          </a:p>
        </p:txBody>
      </p:sp>
    </p:spTree>
    <p:extLst>
      <p:ext uri="{BB962C8B-B14F-4D97-AF65-F5344CB8AC3E}">
        <p14:creationId xmlns:p14="http://schemas.microsoft.com/office/powerpoint/2010/main" val="3161453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3 – Selection Controls: </a:t>
            </a:r>
            <a:r>
              <a:rPr lang="en-US" dirty="0"/>
              <a:t>Check box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5836" y="2533650"/>
            <a:ext cx="1252039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80914" y="2185702"/>
            <a:ext cx="2457450" cy="1827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13427" y="2722914"/>
            <a:ext cx="2828925" cy="269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64815" y="4046268"/>
            <a:ext cx="4240443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1600200" y="1636681"/>
            <a:ext cx="4210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800" dirty="0"/>
              <a:t>“Use for multiple selection”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9137" y="5469470"/>
            <a:ext cx="717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Best !</a:t>
            </a:r>
          </a:p>
        </p:txBody>
      </p:sp>
    </p:spTree>
    <p:extLst>
      <p:ext uri="{BB962C8B-B14F-4D97-AF65-F5344CB8AC3E}">
        <p14:creationId xmlns:p14="http://schemas.microsoft.com/office/powerpoint/2010/main" val="4006949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3 – Selection Controls: </a:t>
            </a:r>
            <a:r>
              <a:rPr lang="en-US" dirty="0"/>
              <a:t>Palette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 l="58750" t="5000" r="26250" b="76000"/>
          <a:stretch>
            <a:fillRect/>
          </a:stretch>
        </p:blipFill>
        <p:spPr bwMode="auto">
          <a:xfrm>
            <a:off x="3429000" y="4292812"/>
            <a:ext cx="2590800" cy="205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 l="32500" t="24000" r="32500" b="28000"/>
          <a:stretch>
            <a:fillRect/>
          </a:stretch>
        </p:blipFill>
        <p:spPr bwMode="auto">
          <a:xfrm>
            <a:off x="271642" y="2012398"/>
            <a:ext cx="2971800" cy="254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/>
          <a:srcRect l="41875" t="21000" r="25000" b="20000"/>
          <a:stretch>
            <a:fillRect/>
          </a:stretch>
        </p:blipFill>
        <p:spPr bwMode="auto">
          <a:xfrm>
            <a:off x="6347554" y="1905000"/>
            <a:ext cx="2413172" cy="2686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52159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3 – Selection Controls: </a:t>
            </a:r>
            <a:r>
              <a:rPr lang="en-US" dirty="0"/>
              <a:t>List box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7597" y="1714399"/>
            <a:ext cx="4726546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91200" y="3394225"/>
            <a:ext cx="3048000" cy="2797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969431" y="4223150"/>
            <a:ext cx="3090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 box with multiple selection</a:t>
            </a:r>
          </a:p>
        </p:txBody>
      </p:sp>
    </p:spTree>
    <p:extLst>
      <p:ext uri="{BB962C8B-B14F-4D97-AF65-F5344CB8AC3E}">
        <p14:creationId xmlns:p14="http://schemas.microsoft.com/office/powerpoint/2010/main" val="3014651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711035" y="276402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3 – Selection Controls: </a:t>
            </a:r>
            <a:r>
              <a:rPr lang="en-US" dirty="0"/>
              <a:t>Drop Down/Pull-down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4267200"/>
            <a:ext cx="33909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37149" y="1927555"/>
            <a:ext cx="338137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3962400" y="4267200"/>
            <a:ext cx="3048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 rot="18815661">
            <a:off x="2576931" y="3629623"/>
            <a:ext cx="1097033" cy="316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176843" y="4151801"/>
            <a:ext cx="12392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Clicked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513696" y="2333768"/>
            <a:ext cx="381000" cy="533400"/>
          </a:xfrm>
          <a:prstGeom prst="downArrow">
            <a:avLst>
              <a:gd name="adj1" fmla="val 43239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933700" y="1820839"/>
            <a:ext cx="26670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963710" y="2049816"/>
            <a:ext cx="8846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Then</a:t>
            </a:r>
          </a:p>
          <a:p>
            <a:r>
              <a:rPr lang="en-US" dirty="0" err="1">
                <a:solidFill>
                  <a:srgbClr val="FF0000"/>
                </a:solidFill>
              </a:rPr>
              <a:t>Droped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Or</a:t>
            </a:r>
          </a:p>
          <a:p>
            <a:r>
              <a:rPr lang="en-US" dirty="0">
                <a:solidFill>
                  <a:srgbClr val="FF0000"/>
                </a:solidFill>
              </a:rPr>
              <a:t>Pulled</a:t>
            </a:r>
          </a:p>
          <a:p>
            <a:r>
              <a:rPr lang="en-US" dirty="0">
                <a:solidFill>
                  <a:srgbClr val="FF0000"/>
                </a:solidFill>
              </a:rPr>
              <a:t>down</a:t>
            </a:r>
          </a:p>
        </p:txBody>
      </p:sp>
    </p:spTree>
    <p:extLst>
      <p:ext uri="{BB962C8B-B14F-4D97-AF65-F5344CB8AC3E}">
        <p14:creationId xmlns:p14="http://schemas.microsoft.com/office/powerpoint/2010/main" val="42639092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304800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Combination Entry/Selection Controls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362200"/>
            <a:ext cx="268605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00662" y="2356366"/>
            <a:ext cx="19716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09800" y="4191000"/>
            <a:ext cx="182880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95800" y="4191000"/>
            <a:ext cx="179070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335971" y="3732049"/>
            <a:ext cx="2050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Combo box - 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9804" y="3821668"/>
            <a:ext cx="217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Combo box - Opened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0662" y="1908677"/>
            <a:ext cx="144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Combo boxes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1916668"/>
            <a:ext cx="117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Spin boxes</a:t>
            </a:r>
          </a:p>
        </p:txBody>
      </p:sp>
    </p:spTree>
    <p:extLst>
      <p:ext uri="{BB962C8B-B14F-4D97-AF65-F5344CB8AC3E}">
        <p14:creationId xmlns:p14="http://schemas.microsoft.com/office/powerpoint/2010/main" val="1424518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Operable Controls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840701"/>
            <a:ext cx="4557217" cy="2033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 b="43215"/>
          <a:stretch>
            <a:fillRect/>
          </a:stretch>
        </p:blipFill>
        <p:spPr bwMode="auto">
          <a:xfrm>
            <a:off x="1335136" y="3913496"/>
            <a:ext cx="3340935" cy="2294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2027181"/>
            <a:ext cx="2590800" cy="175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78605" y="4140532"/>
            <a:ext cx="2819400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308394" y="3801613"/>
            <a:ext cx="1079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Tree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0262" y="1552575"/>
            <a:ext cx="1243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Date picker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343" y="2199703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Slider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50268"/>
            <a:ext cx="599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Tabs</a:t>
            </a:r>
          </a:p>
        </p:txBody>
      </p:sp>
    </p:spTree>
    <p:extLst>
      <p:ext uri="{BB962C8B-B14F-4D97-AF65-F5344CB8AC3E}">
        <p14:creationId xmlns:p14="http://schemas.microsoft.com/office/powerpoint/2010/main" val="18652170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>
            <a:normAutofit/>
          </a:bodyPr>
          <a:lstStyle/>
          <a:p>
            <a:r>
              <a:rPr lang="en-US" sz="1600" dirty="0"/>
              <a:t>Implement custom controls with caution</a:t>
            </a:r>
          </a:p>
          <a:p>
            <a:r>
              <a:rPr lang="en-US" sz="1600" dirty="0"/>
              <a:t>The addition of custom controls adds to this learning and increases system complexity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/>
          <a:srcRect l="40625" t="20000" r="25000" b="24000"/>
          <a:stretch>
            <a:fillRect/>
          </a:stretch>
        </p:blipFill>
        <p:spPr bwMode="auto">
          <a:xfrm>
            <a:off x="2971800" y="2743200"/>
            <a:ext cx="3124200" cy="3181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Oval 5"/>
          <p:cNvSpPr/>
          <p:nvPr/>
        </p:nvSpPr>
        <p:spPr>
          <a:xfrm>
            <a:off x="4953000" y="5410200"/>
            <a:ext cx="14478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92530" y="5334000"/>
            <a:ext cx="2749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I’m sure this are buttons,</a:t>
            </a:r>
          </a:p>
          <a:p>
            <a:r>
              <a:rPr lang="en-US" sz="1400" dirty="0">
                <a:solidFill>
                  <a:srgbClr val="FF0000"/>
                </a:solidFill>
              </a:rPr>
              <a:t>Because they looks clickable</a:t>
            </a:r>
          </a:p>
        </p:txBody>
      </p:sp>
      <p:sp>
        <p:nvSpPr>
          <p:cNvPr id="8" name="Oval 7"/>
          <p:cNvSpPr/>
          <p:nvPr/>
        </p:nvSpPr>
        <p:spPr>
          <a:xfrm>
            <a:off x="2667000" y="3048000"/>
            <a:ext cx="38100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400800" y="3048000"/>
            <a:ext cx="1848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Images?? Buttons??</a:t>
            </a:r>
          </a:p>
          <a:p>
            <a:r>
              <a:rPr lang="en-US" sz="1600" dirty="0">
                <a:solidFill>
                  <a:srgbClr val="FF0000"/>
                </a:solidFill>
              </a:rPr>
              <a:t>Are they clickable?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3581400"/>
            <a:ext cx="457200" cy="1219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8200" y="3733800"/>
            <a:ext cx="18049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solidFill>
                  <a:srgbClr val="FF0000"/>
                </a:solidFill>
              </a:rPr>
              <a:t>What is this??</a:t>
            </a:r>
          </a:p>
          <a:p>
            <a:pPr algn="r"/>
            <a:r>
              <a:rPr lang="en-US" sz="1600" dirty="0">
                <a:solidFill>
                  <a:srgbClr val="FF0000"/>
                </a:solidFill>
              </a:rPr>
              <a:t>What will happen if</a:t>
            </a:r>
          </a:p>
          <a:p>
            <a:pPr algn="r"/>
            <a:r>
              <a:rPr lang="en-US" sz="1600" dirty="0">
                <a:solidFill>
                  <a:srgbClr val="FF0000"/>
                </a:solidFill>
              </a:rPr>
              <a:t>I’m clicking it?</a:t>
            </a:r>
          </a:p>
        </p:txBody>
      </p:sp>
      <p:sp>
        <p:nvSpPr>
          <p:cNvPr id="12" name="Oval 11"/>
          <p:cNvSpPr/>
          <p:nvPr/>
        </p:nvSpPr>
        <p:spPr>
          <a:xfrm>
            <a:off x="3124200" y="4800600"/>
            <a:ext cx="14478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12" idx="7"/>
          </p:cNvCxnSpPr>
          <p:nvPr/>
        </p:nvCxnSpPr>
        <p:spPr>
          <a:xfrm rot="5400000" flipH="1" flipV="1">
            <a:off x="5358069" y="3573906"/>
            <a:ext cx="273237" cy="226942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05600" y="4343400"/>
            <a:ext cx="14463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What task?</a:t>
            </a:r>
          </a:p>
          <a:p>
            <a:r>
              <a:rPr lang="en-US" sz="1600" dirty="0">
                <a:solidFill>
                  <a:srgbClr val="FF0000"/>
                </a:solidFill>
              </a:rPr>
              <a:t>Where to pick?</a:t>
            </a:r>
          </a:p>
        </p:txBody>
      </p:sp>
    </p:spTree>
    <p:extLst>
      <p:ext uri="{BB962C8B-B14F-4D97-AF65-F5344CB8AC3E}">
        <p14:creationId xmlns:p14="http://schemas.microsoft.com/office/powerpoint/2010/main" val="18833197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>
            <a:normAutofit/>
          </a:bodyPr>
          <a:lstStyle/>
          <a:p>
            <a:r>
              <a:rPr lang="en-US" sz="2000" dirty="0"/>
              <a:t>Static text fields: read-only textual information</a:t>
            </a:r>
          </a:p>
          <a:p>
            <a:r>
              <a:rPr lang="en-US" sz="2000" dirty="0"/>
              <a:t>Group box: a rectangular frame that surrounds a control or group of controls;  optional caption may included.</a:t>
            </a:r>
          </a:p>
          <a:p>
            <a:r>
              <a:rPr lang="en-US" sz="2000" dirty="0"/>
              <a:t>Column headings: read-only textual information that serves as a heading above columns of text or numbers</a:t>
            </a:r>
          </a:p>
          <a:p>
            <a:r>
              <a:rPr lang="en-US" sz="2000" dirty="0"/>
              <a:t>Tool tip/balloon tip: a small pop-up window that contains information;  could be placed in balloon.</a:t>
            </a:r>
          </a:p>
        </p:txBody>
      </p:sp>
    </p:spTree>
    <p:extLst>
      <p:ext uri="{BB962C8B-B14F-4D97-AF65-F5344CB8AC3E}">
        <p14:creationId xmlns:p14="http://schemas.microsoft.com/office/powerpoint/2010/main" val="17772379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4572000"/>
            <a:ext cx="3243261" cy="1506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8979" y="2514600"/>
            <a:ext cx="62484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02459" y="1613008"/>
            <a:ext cx="2445834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8620" y="1323975"/>
            <a:ext cx="2428875" cy="1076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3059139" y="1492805"/>
            <a:ext cx="1117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Static text</a:t>
            </a:r>
          </a:p>
        </p:txBody>
      </p:sp>
      <p:sp>
        <p:nvSpPr>
          <p:cNvPr id="9" name="Oval 8"/>
          <p:cNvSpPr/>
          <p:nvPr/>
        </p:nvSpPr>
        <p:spPr>
          <a:xfrm>
            <a:off x="5246513" y="1568275"/>
            <a:ext cx="14478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930378" y="1323975"/>
            <a:ext cx="14031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Optional caption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67200"/>
            <a:ext cx="208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 tip / balloon tip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66800" y="4648200"/>
            <a:ext cx="932516" cy="76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019800" y="4724400"/>
            <a:ext cx="2667000" cy="1262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5715000" y="4267200"/>
            <a:ext cx="1951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Progress indicators</a:t>
            </a:r>
          </a:p>
        </p:txBody>
      </p:sp>
    </p:spTree>
    <p:extLst>
      <p:ext uri="{BB962C8B-B14F-4D97-AF65-F5344CB8AC3E}">
        <p14:creationId xmlns:p14="http://schemas.microsoft.com/office/powerpoint/2010/main" val="28293588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237092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Selecting the Proper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Choose familiar controls</a:t>
            </a:r>
          </a:p>
          <a:p>
            <a:r>
              <a:rPr lang="en-US" dirty="0"/>
              <a:t>Consider the task</a:t>
            </a:r>
          </a:p>
          <a:p>
            <a:r>
              <a:rPr lang="en-US" dirty="0"/>
              <a:t>Reduce the number of “clicks”</a:t>
            </a:r>
          </a:p>
          <a:p>
            <a:r>
              <a:rPr lang="en-US" dirty="0"/>
              <a:t>Display as many control choices as possible</a:t>
            </a:r>
          </a:p>
          <a:p>
            <a:r>
              <a:rPr lang="en-US" dirty="0"/>
              <a:t>When to permit text entry?</a:t>
            </a:r>
          </a:p>
          <a:p>
            <a:pPr lvl="1"/>
            <a:r>
              <a:rPr lang="en-US" dirty="0"/>
              <a:t>Permit text entry if any of the following questions can be answered </a:t>
            </a:r>
            <a:r>
              <a:rPr lang="en-US" b="1" dirty="0"/>
              <a:t>“Yes”</a:t>
            </a:r>
          </a:p>
          <a:p>
            <a:pPr lvl="2"/>
            <a:r>
              <a:rPr lang="en-US" dirty="0"/>
              <a:t>Is the data unlimited in size and scope?</a:t>
            </a:r>
          </a:p>
          <a:p>
            <a:pPr lvl="2"/>
            <a:r>
              <a:rPr lang="en-US" dirty="0"/>
              <a:t>Is the data familiar?</a:t>
            </a:r>
          </a:p>
          <a:p>
            <a:pPr lvl="2"/>
            <a:r>
              <a:rPr lang="en-US" dirty="0"/>
              <a:t>Is the data not conducive to typing errors?</a:t>
            </a:r>
          </a:p>
          <a:p>
            <a:pPr lvl="2"/>
            <a:r>
              <a:rPr lang="en-US" dirty="0"/>
              <a:t>Will typing be faster than choice selection?</a:t>
            </a:r>
          </a:p>
          <a:p>
            <a:pPr lvl="2"/>
            <a:r>
              <a:rPr lang="en-US" dirty="0"/>
              <a:t>Is the user an experienced typist?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6103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366235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Selecting the Proper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4294967295"/>
          </p:nvPr>
        </p:nvSpPr>
        <p:spPr>
          <a:xfrm>
            <a:off x="436563" y="1139825"/>
            <a:ext cx="8707437" cy="5094288"/>
          </a:xfrm>
        </p:spPr>
        <p:txBody>
          <a:bodyPr>
            <a:normAutofit/>
          </a:bodyPr>
          <a:lstStyle/>
          <a:p>
            <a:r>
              <a:rPr lang="en-US" dirty="0"/>
              <a:t>Buttons or Menus for commands?</a:t>
            </a:r>
          </a:p>
          <a:p>
            <a:pPr lvl="1"/>
            <a:r>
              <a:rPr lang="en-US" dirty="0"/>
              <a:t>Consider the following:</a:t>
            </a:r>
          </a:p>
          <a:p>
            <a:pPr lvl="2"/>
            <a:r>
              <a:rPr lang="en-US" dirty="0"/>
              <a:t>Whether or not the command is part of a </a:t>
            </a:r>
            <a:r>
              <a:rPr lang="en-US" i="1" u="sng" dirty="0"/>
              <a:t>standard tool set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The total </a:t>
            </a:r>
            <a:r>
              <a:rPr lang="en-US" i="1" u="sng" dirty="0"/>
              <a:t>number</a:t>
            </a:r>
            <a:r>
              <a:rPr lang="en-US" i="1" dirty="0"/>
              <a:t> </a:t>
            </a:r>
            <a:r>
              <a:rPr lang="en-US" dirty="0"/>
              <a:t>of commands in the application.</a:t>
            </a:r>
          </a:p>
          <a:p>
            <a:pPr lvl="2"/>
            <a:r>
              <a:rPr lang="en-US" dirty="0"/>
              <a:t>The </a:t>
            </a:r>
            <a:r>
              <a:rPr lang="en-US" i="1" u="sng" dirty="0"/>
              <a:t>complexity</a:t>
            </a:r>
            <a:r>
              <a:rPr lang="en-US" i="1" dirty="0"/>
              <a:t> </a:t>
            </a:r>
            <a:r>
              <a:rPr lang="en-US" dirty="0"/>
              <a:t>of the commands.</a:t>
            </a:r>
          </a:p>
          <a:p>
            <a:pPr lvl="2"/>
            <a:r>
              <a:rPr lang="en-US" dirty="0"/>
              <a:t>The </a:t>
            </a:r>
            <a:r>
              <a:rPr lang="en-US" i="1" u="sng" dirty="0"/>
              <a:t>frequency</a:t>
            </a:r>
            <a:r>
              <a:rPr lang="en-US" i="1" dirty="0"/>
              <a:t> </a:t>
            </a:r>
            <a:r>
              <a:rPr lang="en-US" dirty="0"/>
              <a:t>with which commands are used.</a:t>
            </a:r>
          </a:p>
          <a:p>
            <a:pPr lvl="2"/>
            <a:r>
              <a:rPr lang="en-US" dirty="0"/>
              <a:t>Whether or not the command is used in </a:t>
            </a:r>
            <a:r>
              <a:rPr lang="en-US" i="1" u="sng" dirty="0"/>
              <a:t>association with another control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11953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40e431fc48c9469a187c0f830c45f439daf6f"/>
</p:tagLst>
</file>

<file path=ppt/theme/theme1.xml><?xml version="1.0" encoding="utf-8"?>
<a:theme xmlns:a="http://schemas.openxmlformats.org/drawingml/2006/main" name="Fif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f theme" id="{F87EA711-521A-4946-B019-DC3D372964CE}" vid="{B3398939-BCCF-43BB-B8C5-63A70CAAD60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3EAFF4A131874088A6625F3ADD53C4" ma:contentTypeVersion="0" ma:contentTypeDescription="Create a new document." ma:contentTypeScope="" ma:versionID="780deb29eeb7a5b1c709d6584340df7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9E55C1-4CB2-485F-BE5A-744D3771939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BCE9F0-5882-43C0-B5B4-2525ADF043D5}"/>
</file>

<file path=customXml/itemProps3.xml><?xml version="1.0" encoding="utf-8"?>
<ds:datastoreItem xmlns:ds="http://schemas.openxmlformats.org/officeDocument/2006/customXml" ds:itemID="{8DD92AE1-969C-4605-98AC-51E2BA36311C}">
  <ds:schemaRefs>
    <ds:schemaRef ds:uri="http://schemas.microsoft.com/office/2006/metadata/properties"/>
    <ds:schemaRef ds:uri="http://schemas.microsoft.com/office/infopath/2007/PartnerControls"/>
    <ds:schemaRef ds:uri="da944019-e0c0-4cbe-b9e1-79848028e4af"/>
    <ds:schemaRef ds:uri="4a4cec7d-c36e-444e-b338-a48af7a4be8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Fif theme</Template>
  <TotalTime>27398</TotalTime>
  <Words>1492</Words>
  <Application>Microsoft Office PowerPoint</Application>
  <PresentationFormat>On-screen Show (4:3)</PresentationFormat>
  <Paragraphs>300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Barlow</vt:lpstr>
      <vt:lpstr>Calibri</vt:lpstr>
      <vt:lpstr>Carlito</vt:lpstr>
      <vt:lpstr>Fjalla One</vt:lpstr>
      <vt:lpstr>Rockwell</vt:lpstr>
      <vt:lpstr>Verdana</vt:lpstr>
      <vt:lpstr>Wingdings</vt:lpstr>
      <vt:lpstr>Fif theme</vt:lpstr>
      <vt:lpstr>Interaksi Manusia dan Komputer (IMK)</vt:lpstr>
      <vt:lpstr>Interaksi Manusia dan Komputer (IMK)</vt:lpstr>
      <vt:lpstr>Tujuan</vt:lpstr>
      <vt:lpstr>Interaction Device</vt:lpstr>
      <vt:lpstr>PEMILIHAN DEVICE</vt:lpstr>
      <vt:lpstr>CHARACTERISTICS OF INPUT DEVICE</vt:lpstr>
      <vt:lpstr>FACTOR OF CONSIDERATION</vt:lpstr>
      <vt:lpstr>Input Device</vt:lpstr>
      <vt:lpstr>SELECTING THE PROPER  INPUT DEVICE</vt:lpstr>
      <vt:lpstr>Panduan dalam memilih Input device yang sesuai</vt:lpstr>
      <vt:lpstr>Pointer Guidelines</vt:lpstr>
      <vt:lpstr>Output Device</vt:lpstr>
      <vt:lpstr>CHALLENGES</vt:lpstr>
      <vt:lpstr>Interaksi Manusia dan Komputer (IMK)</vt:lpstr>
      <vt:lpstr>Tujuan</vt:lpstr>
      <vt:lpstr>Screen Control</vt:lpstr>
      <vt:lpstr>Three Extremely Important Principles</vt:lpstr>
      <vt:lpstr>Fact about Web page design</vt:lpstr>
      <vt:lpstr>Operable Controls</vt:lpstr>
      <vt:lpstr>1 – Operable Buttons</vt:lpstr>
      <vt:lpstr>1 – Operable Buttons</vt:lpstr>
      <vt:lpstr>1 – Operable Buttons</vt:lpstr>
      <vt:lpstr>PowerPoint Presentation</vt:lpstr>
      <vt:lpstr>2 – Text Entry / Read only controls</vt:lpstr>
      <vt:lpstr>PowerPoint Presentation</vt:lpstr>
      <vt:lpstr>2 – Text Entry / Read only controls</vt:lpstr>
      <vt:lpstr>3 – Selection Controls</vt:lpstr>
      <vt:lpstr>3 – Selection Controls: Radio button</vt:lpstr>
      <vt:lpstr>3 – Selection Controls: Radio button</vt:lpstr>
      <vt:lpstr>3 – Selection Controls: Check box</vt:lpstr>
      <vt:lpstr>3 – Selection Controls: Palette</vt:lpstr>
      <vt:lpstr>3 – Selection Controls: List box</vt:lpstr>
      <vt:lpstr>3 – Selection Controls: Drop Down/Pull-down</vt:lpstr>
      <vt:lpstr>Combination Entry/Selection Controls</vt:lpstr>
      <vt:lpstr>Other Operable Controls</vt:lpstr>
      <vt:lpstr>Custom Controls</vt:lpstr>
      <vt:lpstr>Presentation Controls</vt:lpstr>
      <vt:lpstr>PowerPoint Presentation</vt:lpstr>
      <vt:lpstr>Selecting the Proper Controls</vt:lpstr>
      <vt:lpstr>Selecting the Proper Controls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Pemilihan Tipe Windows</dc:title>
  <dc:creator>Mira Kania Sabariah</dc:creator>
  <cp:lastModifiedBy>GEDE AGUNG ARY WISUDIAWAN</cp:lastModifiedBy>
  <cp:revision>85</cp:revision>
  <dcterms:created xsi:type="dcterms:W3CDTF">2009-07-18T02:29:31Z</dcterms:created>
  <dcterms:modified xsi:type="dcterms:W3CDTF">2026-02-02T04:39:02Z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0x010100283EAFF4A131874088A6625F3ADD53C4</vt:lpwstr>
  </property>
  <property fmtid="{D5CDD505-2E9C-101B-9397-08002B2CF9AE}" pid="3" name="MediaServiceImageTags">
    <vt:lpwstr/>
  </property>
</Properties>
</file>