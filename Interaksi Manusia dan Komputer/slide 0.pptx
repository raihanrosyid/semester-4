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521415D9-36F7-43E2-AB2F-B90AF26B5E84}">
      <p14:sectionLst xmlns:p14="http://schemas.microsoft.com/office/powerpoint/2010/main">
        <p14:section name="Default Section" id="{F5FFD2DE-50C2-4970-B0A0-981517F8E9DA}">
          <p14:sldIdLst>
            <p14:sldId id="256"/>
            <p14:sldId id="26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 descr="A building with a sign on it&#10;&#10;AI-generated content may be incorrect."/>
          <p:cNvPicPr preferRelativeResize="0"/>
          <p:nvPr/>
        </p:nvPicPr>
        <p:blipFill rotWithShape="1">
          <a:blip r:embed="rId2"/>
          <a:srcRect l="4762"/>
          <a:stretch>
            <a:fillRect/>
          </a:stretch>
        </p:blipFill>
        <p:spPr>
          <a:xfrm>
            <a:off x="0" y="2006600"/>
            <a:ext cx="4421299" cy="485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 rot="10800000" flipH="1">
            <a:off x="0" y="5074921"/>
            <a:ext cx="12192000" cy="1783073"/>
          </a:xfrm>
          <a:prstGeom prst="rect">
            <a:avLst/>
          </a:prstGeom>
          <a:gradFill>
            <a:gsLst>
              <a:gs pos="0">
                <a:schemeClr val="lt1"/>
              </a:gs>
              <a:gs pos="25000">
                <a:schemeClr val="lt1"/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350" b="0" i="0" u="none" strike="noStrike" cap="none">
              <a:solidFill>
                <a:schemeClr val="l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grpSp>
        <p:nvGrpSpPr>
          <p:cNvPr id="13" name="Google Shape;13;p2"/>
          <p:cNvGrpSpPr/>
          <p:nvPr/>
        </p:nvGrpSpPr>
        <p:grpSpPr>
          <a:xfrm>
            <a:off x="6096000" y="6528817"/>
            <a:ext cx="6126480" cy="658366"/>
            <a:chOff x="6566098" y="6529395"/>
            <a:chExt cx="5625902" cy="658365"/>
          </a:xfrm>
        </p:grpSpPr>
        <p:sp>
          <p:nvSpPr>
            <p:cNvPr id="14" name="Google Shape;14;p2"/>
            <p:cNvSpPr/>
            <p:nvPr/>
          </p:nvSpPr>
          <p:spPr>
            <a:xfrm>
              <a:off x="6566098" y="6530553"/>
              <a:ext cx="627328" cy="657207"/>
            </a:xfrm>
            <a:prstGeom prst="pie">
              <a:avLst>
                <a:gd name="adj1" fmla="val 10800000"/>
                <a:gd name="adj2" fmla="val 16200000"/>
              </a:avLst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6870700" y="6529395"/>
              <a:ext cx="5321300" cy="32859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</p:grpSp>
      <p:grpSp>
        <p:nvGrpSpPr>
          <p:cNvPr id="16" name="Google Shape;16;p2"/>
          <p:cNvGrpSpPr/>
          <p:nvPr/>
        </p:nvGrpSpPr>
        <p:grpSpPr>
          <a:xfrm flipH="1">
            <a:off x="0" y="6527465"/>
            <a:ext cx="6126480" cy="658366"/>
            <a:chOff x="6566098" y="6529395"/>
            <a:chExt cx="5625902" cy="658365"/>
          </a:xfrm>
        </p:grpSpPr>
        <p:sp>
          <p:nvSpPr>
            <p:cNvPr id="17" name="Google Shape;17;p2"/>
            <p:cNvSpPr/>
            <p:nvPr/>
          </p:nvSpPr>
          <p:spPr>
            <a:xfrm>
              <a:off x="6566098" y="6530553"/>
              <a:ext cx="627328" cy="657207"/>
            </a:xfrm>
            <a:prstGeom prst="pie">
              <a:avLst>
                <a:gd name="adj1" fmla="val 10800000"/>
                <a:gd name="adj2" fmla="val 16200000"/>
              </a:avLst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6870700" y="6529395"/>
              <a:ext cx="5321300" cy="32859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</p:grpSp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4710545" y="1702118"/>
            <a:ext cx="6997585" cy="172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jalla One"/>
              <a:buNone/>
              <a:defRPr>
                <a:latin typeface="Fjalla One"/>
                <a:ea typeface="Fjalla One"/>
                <a:cs typeface="Fjalla One"/>
                <a:sym typeface="Fjalla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4710545" y="3468456"/>
            <a:ext cx="6997585" cy="1197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>
                <a:latin typeface="Fjalla One"/>
                <a:ea typeface="Fjalla One"/>
                <a:cs typeface="Fjalla One"/>
                <a:sym typeface="Fjalla One"/>
              </a:defRPr>
            </a:lvl1pPr>
            <a:lvl2pPr lvl="1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pic>
        <p:nvPicPr>
          <p:cNvPr id="21" name="Google Shape;21;p2" descr="A black text on a black background&#10;&#10;AI-generated content may be incorrect.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86973" y="223037"/>
            <a:ext cx="1009523" cy="3455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" name="Google Shape;22;p2"/>
          <p:cNvGrpSpPr/>
          <p:nvPr/>
        </p:nvGrpSpPr>
        <p:grpSpPr>
          <a:xfrm>
            <a:off x="9095085" y="113327"/>
            <a:ext cx="2709943" cy="503420"/>
            <a:chOff x="9320766" y="88308"/>
            <a:chExt cx="2709943" cy="503420"/>
          </a:xfrm>
        </p:grpSpPr>
        <p:pic>
          <p:nvPicPr>
            <p:cNvPr id="23" name="Google Shape;23;p2" descr="A yellow text on a black background&#10;&#10;AI-generated content may be incorrect.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10795000" y="158222"/>
              <a:ext cx="1235709" cy="3714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oogle Shape;24;p2" descr="A person holding a microphone&#10;&#10;AI-generated content may be incorrect."/>
            <p:cNvPicPr preferRelativeResize="0"/>
            <p:nvPr/>
          </p:nvPicPr>
          <p:blipFill rotWithShape="1">
            <a:blip r:embed="rId5"/>
            <a:srcRect/>
            <a:stretch>
              <a:fillRect/>
            </a:stretch>
          </p:blipFill>
          <p:spPr>
            <a:xfrm>
              <a:off x="9320766" y="88308"/>
              <a:ext cx="1404190" cy="50342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5" name="Google Shape;25;p2" descr="A black background with yellow and grey text&#10;&#10;AI-generated content may be incorrect.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1522717" y="154187"/>
            <a:ext cx="1930400" cy="4832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2"/>
          <p:cNvGrpSpPr/>
          <p:nvPr/>
        </p:nvGrpSpPr>
        <p:grpSpPr>
          <a:xfrm>
            <a:off x="4421300" y="126998"/>
            <a:ext cx="3416617" cy="498680"/>
            <a:chOff x="4421298" y="126998"/>
            <a:chExt cx="3416617" cy="498680"/>
          </a:xfrm>
        </p:grpSpPr>
        <p:sp>
          <p:nvSpPr>
            <p:cNvPr id="27" name="Google Shape;27;p2"/>
            <p:cNvSpPr txBox="1"/>
            <p:nvPr/>
          </p:nvSpPr>
          <p:spPr>
            <a:xfrm>
              <a:off x="5766211" y="222450"/>
              <a:ext cx="2071704" cy="253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r>
                <a:rPr lang="en-US" sz="1050" b="1" i="0" u="none" strike="noStrike" cap="none">
                  <a:solidFill>
                    <a:srgbClr val="9966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#InformatikaBerkarakter</a:t>
              </a:r>
              <a:endParaRPr sz="105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pic>
          <p:nvPicPr>
            <p:cNvPr id="28" name="Google Shape;28;p2" descr="A logo with a black background&#10;&#10;AI-generated content may be incorrect."/>
            <p:cNvPicPr preferRelativeResize="0"/>
            <p:nvPr/>
          </p:nvPicPr>
          <p:blipFill rotWithShape="1">
            <a:blip r:embed="rId7"/>
            <a:srcRect l="7304" t="24481" r="5732" b="29999"/>
            <a:stretch>
              <a:fillRect/>
            </a:stretch>
          </p:blipFill>
          <p:spPr>
            <a:xfrm>
              <a:off x="4421298" y="126998"/>
              <a:ext cx="1347134" cy="49868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9" name="Google Shape;29;p2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5595061" y="6116054"/>
            <a:ext cx="6468417" cy="3231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"/>
          <p:cNvSpPr/>
          <p:nvPr userDrawn="1"/>
        </p:nvSpPr>
        <p:spPr>
          <a:xfrm>
            <a:off x="0" y="6465866"/>
            <a:ext cx="11608875" cy="39213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35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2" name="Google Shape;32;p3"/>
          <p:cNvSpPr/>
          <p:nvPr userDrawn="1"/>
        </p:nvSpPr>
        <p:spPr>
          <a:xfrm>
            <a:off x="11550147" y="6465527"/>
            <a:ext cx="640079" cy="39247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35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33" name="Google Shape;33;p3" descr="A black background with yellow and grey text&#10;&#10;AI-generated content may be incorrect."/>
          <p:cNvPicPr preferRelativeResize="0"/>
          <p:nvPr userDrawn="1"/>
        </p:nvPicPr>
        <p:blipFill rotWithShape="1">
          <a:blip r:embed="rId2"/>
          <a:srcRect/>
          <a:stretch>
            <a:fillRect/>
          </a:stretch>
        </p:blipFill>
        <p:spPr>
          <a:xfrm>
            <a:off x="100329" y="102872"/>
            <a:ext cx="2072555" cy="518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3" descr="A logo with a black background&#10;&#10;AI-generated content may be incorrect."/>
          <p:cNvPicPr preferRelativeResize="0"/>
          <p:nvPr userDrawn="1"/>
        </p:nvPicPr>
        <p:blipFill rotWithShape="1">
          <a:blip r:embed="rId3"/>
          <a:srcRect l="7304" t="24481" r="5732" b="29999"/>
          <a:stretch>
            <a:fillRect/>
          </a:stretch>
        </p:blipFill>
        <p:spPr>
          <a:xfrm>
            <a:off x="10717985" y="104158"/>
            <a:ext cx="1347135" cy="49868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3"/>
          <p:cNvSpPr txBox="1">
            <a:spLocks noGrp="1"/>
          </p:cNvSpPr>
          <p:nvPr>
            <p:ph type="title"/>
          </p:nvPr>
        </p:nvSpPr>
        <p:spPr>
          <a:xfrm>
            <a:off x="2281379" y="119924"/>
            <a:ext cx="7629240" cy="77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jalla One"/>
              <a:buNone/>
              <a:defRPr>
                <a:latin typeface="Fjalla One"/>
                <a:ea typeface="Fjalla One"/>
                <a:cs typeface="Fjalla One"/>
                <a:sym typeface="Fjalla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6" name="Google Shape;36;p3"/>
          <p:cNvSpPr txBox="1">
            <a:spLocks noGrp="1"/>
          </p:cNvSpPr>
          <p:nvPr>
            <p:ph type="body" idx="1"/>
          </p:nvPr>
        </p:nvSpPr>
        <p:spPr>
          <a:xfrm>
            <a:off x="294489" y="1140498"/>
            <a:ext cx="5619127" cy="5094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304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Barlow"/>
                <a:ea typeface="Barlow"/>
                <a:cs typeface="Barlow"/>
                <a:sym typeface="Barlow"/>
              </a:defRPr>
            </a:lvl1pPr>
            <a:lvl2pPr marL="685800" lvl="1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pic>
        <p:nvPicPr>
          <p:cNvPr id="37" name="Google Shape;37;p3" descr="A logo with a red and black letter u&#10;&#10;AI-generated content may be incorrect."/>
          <p:cNvPicPr preferRelativeResize="0"/>
          <p:nvPr userDrawn="1"/>
        </p:nvPicPr>
        <p:blipFill rotWithShape="1">
          <a:blip r:embed="rId4">
            <a:alphaModFix amt="10000"/>
          </a:blip>
          <a:srcRect/>
          <a:stretch>
            <a:fillRect/>
          </a:stretch>
        </p:blipFill>
        <p:spPr>
          <a:xfrm>
            <a:off x="4677743" y="1427758"/>
            <a:ext cx="2836515" cy="4002484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3"/>
          <p:cNvSpPr txBox="1"/>
          <p:nvPr userDrawn="1"/>
        </p:nvSpPr>
        <p:spPr>
          <a:xfrm>
            <a:off x="11550147" y="6541115"/>
            <a:ext cx="503171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fld id="{00000000-1234-1234-1234-123412341234}" type="slidenum">
              <a:rPr lang="en-US" sz="1500" b="0" i="0" u="none" strike="noStrike" cap="none">
                <a:solidFill>
                  <a:schemeClr val="lt1"/>
                </a:solidFill>
                <a:latin typeface="Carlito"/>
                <a:ea typeface="Carlito"/>
                <a:cs typeface="Carlito"/>
                <a:sym typeface="Carlito"/>
              </a:rPr>
            </a:fld>
            <a:endParaRPr sz="1500" b="0" i="0" u="none" strike="noStrike" cap="none">
              <a:solidFill>
                <a:schemeClr val="lt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39" name="Google Shape;39;p3"/>
          <p:cNvSpPr txBox="1"/>
          <p:nvPr userDrawn="1"/>
        </p:nvSpPr>
        <p:spPr>
          <a:xfrm>
            <a:off x="10612581" y="580608"/>
            <a:ext cx="1524003" cy="184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</a:pPr>
            <a:r>
              <a:rPr lang="en-US" sz="750" b="1" i="0" u="none" strike="noStrike" cap="none">
                <a:solidFill>
                  <a:srgbClr val="9966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#InformatikaBerkarakter</a:t>
            </a:r>
            <a:endParaRPr sz="105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0" name="Google Shape;40;p3"/>
          <p:cNvSpPr txBox="1">
            <a:spLocks noGrp="1"/>
          </p:cNvSpPr>
          <p:nvPr>
            <p:ph type="body" idx="2"/>
          </p:nvPr>
        </p:nvSpPr>
        <p:spPr>
          <a:xfrm>
            <a:off x="6241442" y="1132253"/>
            <a:ext cx="5619127" cy="5094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304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Barlow"/>
                <a:ea typeface="Barlow"/>
                <a:cs typeface="Barlow"/>
                <a:sym typeface="Barlow"/>
              </a:defRPr>
            </a:lvl1pPr>
            <a:lvl2pPr marL="685800" lvl="1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pic>
        <p:nvPicPr>
          <p:cNvPr id="41" name="Google Shape;41;p3"/>
          <p:cNvPicPr preferRelativeResize="0"/>
          <p:nvPr userDrawn="1"/>
        </p:nvPicPr>
        <p:blipFill rotWithShape="1">
          <a:blip r:embed="rId5"/>
          <a:srcRect/>
          <a:stretch>
            <a:fillRect/>
          </a:stretch>
        </p:blipFill>
        <p:spPr>
          <a:xfrm>
            <a:off x="223603" y="6509218"/>
            <a:ext cx="6467820" cy="3256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"/>
          <p:cNvSpPr/>
          <p:nvPr/>
        </p:nvSpPr>
        <p:spPr>
          <a:xfrm>
            <a:off x="0" y="6465866"/>
            <a:ext cx="11608875" cy="39213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35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11550147" y="6465527"/>
            <a:ext cx="640079" cy="39247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35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65" name="Google Shape;65;p5" descr="A black background with yellow and grey text&#10;&#10;AI-generated content may be incorrect.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329" y="102872"/>
            <a:ext cx="2072555" cy="518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5" descr="A logo with a black background&#10;&#10;AI-generated content may be incorrect."/>
          <p:cNvPicPr preferRelativeResize="0"/>
          <p:nvPr/>
        </p:nvPicPr>
        <p:blipFill rotWithShape="1">
          <a:blip r:embed="rId3"/>
          <a:srcRect l="7304" t="24481" r="5732" b="29999"/>
          <a:stretch>
            <a:fillRect/>
          </a:stretch>
        </p:blipFill>
        <p:spPr>
          <a:xfrm>
            <a:off x="10717985" y="104158"/>
            <a:ext cx="1347135" cy="49868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5"/>
          <p:cNvSpPr txBox="1">
            <a:spLocks noGrp="1"/>
          </p:cNvSpPr>
          <p:nvPr>
            <p:ph type="title"/>
          </p:nvPr>
        </p:nvSpPr>
        <p:spPr>
          <a:xfrm>
            <a:off x="2281379" y="119924"/>
            <a:ext cx="7629240" cy="77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jalla One"/>
              <a:buNone/>
              <a:defRPr>
                <a:latin typeface="Fjalla One"/>
                <a:ea typeface="Fjalla One"/>
                <a:cs typeface="Fjalla One"/>
                <a:sym typeface="Fjalla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8" name="Google Shape;68;p5"/>
          <p:cNvSpPr txBox="1">
            <a:spLocks noGrp="1"/>
          </p:cNvSpPr>
          <p:nvPr>
            <p:ph type="body" idx="1"/>
          </p:nvPr>
        </p:nvSpPr>
        <p:spPr>
          <a:xfrm>
            <a:off x="294488" y="1140498"/>
            <a:ext cx="11608875" cy="5094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304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Barlow"/>
                <a:ea typeface="Barlow"/>
                <a:cs typeface="Barlow"/>
                <a:sym typeface="Barlow"/>
              </a:defRPr>
            </a:lvl1pPr>
            <a:lvl2pPr marL="685800" lvl="1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pic>
        <p:nvPicPr>
          <p:cNvPr id="69" name="Google Shape;69;p5" descr="A logo with a red and black letter u&#10;&#10;AI-generated content may be incorrect."/>
          <p:cNvPicPr preferRelativeResize="0"/>
          <p:nvPr/>
        </p:nvPicPr>
        <p:blipFill rotWithShape="1">
          <a:blip r:embed="rId4">
            <a:alphaModFix amt="10000"/>
          </a:blip>
          <a:srcRect/>
          <a:stretch>
            <a:fillRect/>
          </a:stretch>
        </p:blipFill>
        <p:spPr>
          <a:xfrm>
            <a:off x="4677743" y="1427758"/>
            <a:ext cx="2836515" cy="4002484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5"/>
          <p:cNvSpPr txBox="1"/>
          <p:nvPr/>
        </p:nvSpPr>
        <p:spPr>
          <a:xfrm>
            <a:off x="11550147" y="6541115"/>
            <a:ext cx="503171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fld id="{00000000-1234-1234-1234-123412341234}" type="slidenum">
              <a:rPr lang="en-US" sz="1500" b="0" i="0" u="none" strike="noStrike" cap="none">
                <a:solidFill>
                  <a:schemeClr val="lt1"/>
                </a:solidFill>
                <a:latin typeface="Carlito"/>
                <a:ea typeface="Carlito"/>
                <a:cs typeface="Carlito"/>
                <a:sym typeface="Carlito"/>
              </a:rPr>
            </a:fld>
            <a:endParaRPr sz="1500" b="0" i="0" u="none" strike="noStrike" cap="none">
              <a:solidFill>
                <a:schemeClr val="lt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71" name="Google Shape;71;p5"/>
          <p:cNvSpPr txBox="1"/>
          <p:nvPr/>
        </p:nvSpPr>
        <p:spPr>
          <a:xfrm>
            <a:off x="10612581" y="580608"/>
            <a:ext cx="1524003" cy="184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</a:pPr>
            <a:r>
              <a:rPr lang="en-US" sz="750" b="1" i="0" u="none" strike="noStrike" cap="none">
                <a:solidFill>
                  <a:srgbClr val="9966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#InformatikaBerkarakter</a:t>
            </a:r>
            <a:endParaRPr sz="105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72" name="Google Shape;72;p5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223603" y="6509218"/>
            <a:ext cx="6467820" cy="3256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"/>
          <p:cNvSpPr/>
          <p:nvPr/>
        </p:nvSpPr>
        <p:spPr>
          <a:xfrm>
            <a:off x="0" y="6465866"/>
            <a:ext cx="11608875" cy="39213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35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11550147" y="6465527"/>
            <a:ext cx="640079" cy="39247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35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76" name="Google Shape;76;p6" descr="A black background with yellow and grey text&#10;&#10;AI-generated content may be incorrect.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329" y="102872"/>
            <a:ext cx="2072555" cy="518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6" descr="A logo with a black background&#10;&#10;AI-generated content may be incorrect."/>
          <p:cNvPicPr preferRelativeResize="0"/>
          <p:nvPr/>
        </p:nvPicPr>
        <p:blipFill rotWithShape="1">
          <a:blip r:embed="rId3"/>
          <a:srcRect l="7304" t="24481" r="5732" b="29999"/>
          <a:stretch>
            <a:fillRect/>
          </a:stretch>
        </p:blipFill>
        <p:spPr>
          <a:xfrm>
            <a:off x="10717985" y="104158"/>
            <a:ext cx="1347135" cy="49868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6"/>
          <p:cNvSpPr txBox="1">
            <a:spLocks noGrp="1"/>
          </p:cNvSpPr>
          <p:nvPr>
            <p:ph type="title"/>
          </p:nvPr>
        </p:nvSpPr>
        <p:spPr>
          <a:xfrm>
            <a:off x="2281379" y="119924"/>
            <a:ext cx="7629240" cy="77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jalla One"/>
              <a:buNone/>
              <a:defRPr>
                <a:latin typeface="Fjalla One"/>
                <a:ea typeface="Fjalla One"/>
                <a:cs typeface="Fjalla One"/>
                <a:sym typeface="Fjalla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pic>
        <p:nvPicPr>
          <p:cNvPr id="79" name="Google Shape;79;p6" descr="A logo with a red and black letter u&#10;&#10;AI-generated content may be incorrect."/>
          <p:cNvPicPr preferRelativeResize="0"/>
          <p:nvPr/>
        </p:nvPicPr>
        <p:blipFill rotWithShape="1">
          <a:blip r:embed="rId4">
            <a:alphaModFix amt="10000"/>
          </a:blip>
          <a:srcRect/>
          <a:stretch>
            <a:fillRect/>
          </a:stretch>
        </p:blipFill>
        <p:spPr>
          <a:xfrm>
            <a:off x="4696215" y="1427758"/>
            <a:ext cx="2836515" cy="4002484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6"/>
          <p:cNvSpPr txBox="1"/>
          <p:nvPr/>
        </p:nvSpPr>
        <p:spPr>
          <a:xfrm>
            <a:off x="11550147" y="6541115"/>
            <a:ext cx="503171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fld id="{00000000-1234-1234-1234-123412341234}" type="slidenum">
              <a:rPr lang="en-US" sz="1500" b="0" i="0" u="none" strike="noStrike" cap="none">
                <a:solidFill>
                  <a:schemeClr val="lt1"/>
                </a:solidFill>
                <a:latin typeface="Carlito"/>
                <a:ea typeface="Carlito"/>
                <a:cs typeface="Carlito"/>
                <a:sym typeface="Carlito"/>
              </a:rPr>
            </a:fld>
            <a:endParaRPr sz="1500" b="0" i="0" u="none" strike="noStrike" cap="none">
              <a:solidFill>
                <a:schemeClr val="lt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10612581" y="580608"/>
            <a:ext cx="1524003" cy="184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</a:pPr>
            <a:r>
              <a:rPr lang="en-US" sz="750" b="1" i="0" u="none" strike="noStrike" cap="none">
                <a:solidFill>
                  <a:srgbClr val="9966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#InformatikaBerkarakter</a:t>
            </a:r>
            <a:endParaRPr sz="105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2" name="Google Shape;82;p6"/>
          <p:cNvSpPr txBox="1">
            <a:spLocks noGrp="1"/>
          </p:cNvSpPr>
          <p:nvPr>
            <p:ph type="body" idx="1"/>
          </p:nvPr>
        </p:nvSpPr>
        <p:spPr>
          <a:xfrm>
            <a:off x="297914" y="1060993"/>
            <a:ext cx="3658135" cy="5182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900" lvl="0" indent="-257175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cxnSp>
        <p:nvCxnSpPr>
          <p:cNvPr id="83" name="Google Shape;83;p6"/>
          <p:cNvCxnSpPr/>
          <p:nvPr/>
        </p:nvCxnSpPr>
        <p:spPr>
          <a:xfrm>
            <a:off x="4096844" y="1039103"/>
            <a:ext cx="0" cy="520438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4" name="Google Shape;84;p6"/>
          <p:cNvCxnSpPr/>
          <p:nvPr/>
        </p:nvCxnSpPr>
        <p:spPr>
          <a:xfrm>
            <a:off x="8032852" y="1039103"/>
            <a:ext cx="0" cy="520438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5" name="Google Shape;85;p6"/>
          <p:cNvSpPr txBox="1">
            <a:spLocks noGrp="1"/>
          </p:cNvSpPr>
          <p:nvPr>
            <p:ph type="body" idx="2"/>
          </p:nvPr>
        </p:nvSpPr>
        <p:spPr>
          <a:xfrm>
            <a:off x="4235782" y="1050049"/>
            <a:ext cx="3658135" cy="5182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900" lvl="0" indent="-257175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86" name="Google Shape;86;p6"/>
          <p:cNvSpPr txBox="1">
            <a:spLocks noGrp="1"/>
          </p:cNvSpPr>
          <p:nvPr>
            <p:ph type="body" idx="3"/>
          </p:nvPr>
        </p:nvSpPr>
        <p:spPr>
          <a:xfrm>
            <a:off x="8173650" y="1039103"/>
            <a:ext cx="3658135" cy="5182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900" lvl="0" indent="-257175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pic>
        <p:nvPicPr>
          <p:cNvPr id="87" name="Google Shape;87;p6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223603" y="6509218"/>
            <a:ext cx="6467820" cy="3256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and Content">
  <p:cSld name="4_Title and Conten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"/>
          <p:cNvSpPr/>
          <p:nvPr/>
        </p:nvSpPr>
        <p:spPr>
          <a:xfrm>
            <a:off x="0" y="6465866"/>
            <a:ext cx="11608875" cy="39213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35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11550147" y="6465527"/>
            <a:ext cx="640079" cy="39247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35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91" name="Google Shape;91;p7" descr="A black background with yellow and grey text&#10;&#10;AI-generated content may be incorrect.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329" y="102872"/>
            <a:ext cx="2072555" cy="518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7" descr="A logo with a black background&#10;&#10;AI-generated content may be incorrect."/>
          <p:cNvPicPr preferRelativeResize="0"/>
          <p:nvPr/>
        </p:nvPicPr>
        <p:blipFill rotWithShape="1">
          <a:blip r:embed="rId3"/>
          <a:srcRect l="7304" t="24481" r="5732" b="29999"/>
          <a:stretch>
            <a:fillRect/>
          </a:stretch>
        </p:blipFill>
        <p:spPr>
          <a:xfrm>
            <a:off x="10717985" y="104158"/>
            <a:ext cx="1347135" cy="49868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7"/>
          <p:cNvSpPr txBox="1">
            <a:spLocks noGrp="1"/>
          </p:cNvSpPr>
          <p:nvPr>
            <p:ph type="title"/>
          </p:nvPr>
        </p:nvSpPr>
        <p:spPr>
          <a:xfrm>
            <a:off x="2281379" y="119924"/>
            <a:ext cx="7629240" cy="77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jalla One"/>
              <a:buNone/>
              <a:defRPr>
                <a:latin typeface="Fjalla One"/>
                <a:ea typeface="Fjalla One"/>
                <a:cs typeface="Fjalla One"/>
                <a:sym typeface="Fjalla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pic>
        <p:nvPicPr>
          <p:cNvPr id="94" name="Google Shape;94;p7" descr="A logo with a red and black letter u&#10;&#10;AI-generated content may be incorrect."/>
          <p:cNvPicPr preferRelativeResize="0"/>
          <p:nvPr/>
        </p:nvPicPr>
        <p:blipFill rotWithShape="1">
          <a:blip r:embed="rId4">
            <a:alphaModFix amt="10000"/>
          </a:blip>
          <a:srcRect/>
          <a:stretch>
            <a:fillRect/>
          </a:stretch>
        </p:blipFill>
        <p:spPr>
          <a:xfrm>
            <a:off x="4677743" y="1427758"/>
            <a:ext cx="2836515" cy="4002484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7"/>
          <p:cNvSpPr txBox="1"/>
          <p:nvPr/>
        </p:nvSpPr>
        <p:spPr>
          <a:xfrm>
            <a:off x="11550147" y="6541115"/>
            <a:ext cx="503171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fld id="{00000000-1234-1234-1234-123412341234}" type="slidenum">
              <a:rPr lang="en-US" sz="1500" b="0" i="0" u="none" strike="noStrike" cap="none">
                <a:solidFill>
                  <a:schemeClr val="lt1"/>
                </a:solidFill>
                <a:latin typeface="Carlito"/>
                <a:ea typeface="Carlito"/>
                <a:cs typeface="Carlito"/>
                <a:sym typeface="Carlito"/>
              </a:rPr>
            </a:fld>
            <a:endParaRPr sz="1500" b="0" i="0" u="none" strike="noStrike" cap="none">
              <a:solidFill>
                <a:schemeClr val="lt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96" name="Google Shape;96;p7"/>
          <p:cNvSpPr txBox="1"/>
          <p:nvPr/>
        </p:nvSpPr>
        <p:spPr>
          <a:xfrm>
            <a:off x="10612581" y="580608"/>
            <a:ext cx="1524003" cy="184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</a:pPr>
            <a:r>
              <a:rPr lang="en-US" sz="750" b="1" i="0" u="none" strike="noStrike" cap="none">
                <a:solidFill>
                  <a:srgbClr val="9966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#InformatikaBerkarakter</a:t>
            </a:r>
            <a:endParaRPr sz="105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97" name="Google Shape;97;p7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223603" y="6498585"/>
            <a:ext cx="6467820" cy="3256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5F4B6-D98B-45A8-9436-94E139D2B914}" type="datetimeFigureOut">
              <a:rPr lang="en-ID" smtClean="0"/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AA19C-DC2A-4AB4-82DB-E5550D59E9D0}" type="slidenum">
              <a:rPr lang="en-ID" smtClean="0"/>
            </a:fld>
            <a:endParaRPr lang="en-ID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jalla One"/>
              <a:buNone/>
              <a:defRPr sz="44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35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35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35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35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35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35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35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35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fld id="{8C65F4B6-D98B-45A8-9436-94E139D2B914}" type="datetimeFigureOut">
              <a:rPr lang="en-ID" smtClean="0"/>
            </a:fld>
            <a:endParaRPr lang="en-ID"/>
          </a:p>
        </p:txBody>
      </p:sp>
      <p:sp>
        <p:nvSpPr>
          <p:cNvPr id="9" name="Google Shape;9;p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fld id="{A9CAA19C-DC2A-4AB4-82DB-E5550D59E9D0}" type="slidenum">
              <a:rPr lang="en-ID" smtClean="0"/>
            </a:fld>
            <a:endParaRPr lang="en-ID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1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3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5056909" y="2133838"/>
            <a:ext cx="5248189" cy="1295162"/>
          </a:xfrm>
        </p:spPr>
        <p:txBody>
          <a:bodyPr>
            <a:normAutofit fontScale="90000"/>
          </a:bodyPr>
          <a:lstStyle/>
          <a:p>
            <a:br>
              <a:rPr lang="en-ID"/>
            </a:br>
            <a:r>
              <a:rPr lang="en-ID"/>
              <a:t>InteraksiManusiadanKomputer</a:t>
            </a:r>
            <a:endParaRPr lang="en-US"/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5056909" y="3458592"/>
            <a:ext cx="5248189" cy="898174"/>
          </a:xfrm>
        </p:spPr>
        <p:txBody>
          <a:bodyPr/>
          <a:lstStyle/>
          <a:p>
            <a:endParaRPr lang="en-ID"/>
          </a:p>
          <a:p>
            <a:r>
              <a:rPr lang="en-ID"/>
              <a:t> </a:t>
            </a:r>
            <a:r>
              <a:rPr lang="en-ID" b="1"/>
              <a:t>PERTEMUAN 0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Dosen Kelas</a:t>
            </a:r>
            <a:endParaRPr lang="en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44867" y="1712622"/>
            <a:ext cx="6622847" cy="3820648"/>
          </a:xfrm>
        </p:spPr>
        <p:txBody>
          <a:bodyPr/>
          <a:lstStyle/>
          <a:p>
            <a:r>
              <a:rPr lang="en-US"/>
              <a:t>Nama : Iwan Abadi (IBD)</a:t>
            </a:r>
            <a:endParaRPr lang="en-US"/>
          </a:p>
          <a:p>
            <a:r>
              <a:rPr lang="en-US"/>
              <a:t>No WA: 081320555669</a:t>
            </a:r>
            <a:endParaRPr lang="en-US"/>
          </a:p>
          <a:p>
            <a:r>
              <a:rPr lang="en-US"/>
              <a:t>Ruangan :  </a:t>
            </a:r>
            <a:endParaRPr lang="en-US"/>
          </a:p>
          <a:p>
            <a:r>
              <a:rPr lang="en-US"/>
              <a:t>Bidang Riset :</a:t>
            </a:r>
            <a:endParaRPr lang="en-US"/>
          </a:p>
          <a:p>
            <a:pPr lvl="1"/>
            <a:r>
              <a:rPr lang="en-US"/>
              <a:t>Data Management</a:t>
            </a:r>
            <a:endParaRPr lang="en-US"/>
          </a:p>
          <a:p>
            <a:pPr lvl="1"/>
            <a:r>
              <a:rPr lang="en-US"/>
              <a:t>Software Engineering</a:t>
            </a:r>
            <a:endParaRPr lang="en-ID"/>
          </a:p>
        </p:txBody>
      </p:sp>
      <p:pic>
        <p:nvPicPr>
          <p:cNvPr id="4" name="Picture 3" descr="Foto Iwa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6380" y="2028825"/>
            <a:ext cx="1947545" cy="25279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700"/>
              <a:t>Sub Course Learning Program (Sub CLO) </a:t>
            </a:r>
            <a:endParaRPr lang="en-ID" sz="270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742671" y="1875116"/>
          <a:ext cx="8706656" cy="2194560"/>
        </p:xfrm>
        <a:graphic>
          <a:graphicData uri="http://schemas.openxmlformats.org/drawingml/2006/table">
            <a:tbl>
              <a:tblPr/>
              <a:tblGrid>
                <a:gridCol w="1854068"/>
                <a:gridCol w="164262"/>
                <a:gridCol w="6345024"/>
                <a:gridCol w="343302"/>
              </a:tblGrid>
              <a:tr h="8229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800">
                          <a:effectLst/>
                        </a:rPr>
                        <a:t>Sub-CLO-05-2-1</a:t>
                      </a:r>
                      <a:endParaRPr lang="en-ID" sz="1800">
                        <a:effectLst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ID" sz="1800">
                        <a:effectLst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D" sz="1800">
                          <a:effectLst/>
                        </a:rPr>
                        <a:t>Mahasiswa mampu menjelaskan konsep-konsep dalam tahapan proses perancangan UI dan prinsip desain UI</a:t>
                      </a:r>
                      <a:endParaRPr lang="en-ID" sz="1800">
                        <a:effectLst/>
                      </a:endParaRPr>
                    </a:p>
                    <a:p>
                      <a:pPr algn="just">
                        <a:buNone/>
                      </a:pPr>
                      <a:endParaRPr lang="en-ID" sz="1800">
                        <a:effectLst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ID" sz="1800">
                        <a:effectLst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800">
                          <a:effectLst/>
                        </a:rPr>
                        <a:t>Sub-CLO-05-2-2</a:t>
                      </a:r>
                      <a:endParaRPr lang="en-ID" sz="1800">
                        <a:effectLst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ID" sz="1800">
                        <a:effectLst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D" sz="1800">
                          <a:effectLst/>
                        </a:rPr>
                        <a:t>Mahasiswa mampu membuat perancangan UI sesuai prinsip desain UI yang baik </a:t>
                      </a:r>
                      <a:endParaRPr lang="en-ID" sz="1800">
                        <a:effectLst/>
                      </a:endParaRPr>
                    </a:p>
                    <a:p>
                      <a:pPr algn="just">
                        <a:buNone/>
                      </a:pPr>
                      <a:endParaRPr lang="en-ID" sz="1800">
                        <a:effectLst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ID" sz="1800">
                        <a:effectLst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800">
                          <a:effectLst/>
                        </a:rPr>
                        <a:t>Sub-CLO-05-2-3</a:t>
                      </a:r>
                      <a:endParaRPr lang="en-ID" sz="1800">
                        <a:effectLst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sv-SE" sz="1800">
                        <a:effectLst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sv-SE" sz="1800">
                          <a:effectLst/>
                        </a:rPr>
                        <a:t>Mahasiswa mampu membuat prototype aplikasi dan melakukan uji usability sederhana</a:t>
                      </a:r>
                      <a:endParaRPr lang="sv-SE" sz="1800">
                        <a:effectLst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sv-SE" sz="1800">
                        <a:effectLst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SILABUS</a:t>
            </a:r>
            <a:endParaRPr lang="en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  <a:p>
            <a:r>
              <a:rPr lang="en-ID"/>
              <a:t>Pengantar IMK</a:t>
            </a:r>
            <a:endParaRPr lang="en-ID"/>
          </a:p>
          <a:p>
            <a:r>
              <a:rPr lang="en-ID"/>
              <a:t>Overview metode perancangan UI : User Center Design (UCD)</a:t>
            </a:r>
            <a:endParaRPr lang="en-ID"/>
          </a:p>
          <a:p>
            <a:r>
              <a:rPr lang="en-ID"/>
              <a:t>Tahapan perancangan antarmuka &amp; Pengujian Usability (14 Step)</a:t>
            </a:r>
            <a:endParaRPr lang="en-ID"/>
          </a:p>
          <a:p>
            <a:r>
              <a:rPr lang="en-ID"/>
              <a:t>Trend desain antarmuka Web, Mobile, Game </a:t>
            </a:r>
            <a:endParaRPr lang="en-ID"/>
          </a:p>
          <a:p>
            <a:endParaRPr lang="en-ID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REFERENSI</a:t>
            </a:r>
            <a:endParaRPr lang="en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endParaRPr lang="en-ID"/>
          </a:p>
          <a:p>
            <a:pPr marL="38100" indent="0">
              <a:buNone/>
            </a:pPr>
            <a:r>
              <a:rPr lang="en-US" b="1"/>
              <a:t>1.Galitz,WilbertO.2007.</a:t>
            </a:r>
            <a:r>
              <a:rPr lang="en-US" b="1" i="1"/>
              <a:t>TheEssentialGuidetoUIDesign</a:t>
            </a:r>
            <a:r>
              <a:rPr lang="en-US" b="1"/>
              <a:t>.ThirdEdition.</a:t>
            </a:r>
            <a:endParaRPr lang="en-US"/>
          </a:p>
          <a:p>
            <a:pPr marL="38100" indent="0">
              <a:buNone/>
            </a:pPr>
            <a:r>
              <a:rPr lang="en-ID" b="1"/>
              <a:t>2.JennyPreece,YvonneRogers,HelenSharp.2002.</a:t>
            </a:r>
            <a:r>
              <a:rPr lang="en-ID" b="1" i="1"/>
              <a:t>InteractionDesign_beyondHuman-Computer–Interaction,</a:t>
            </a:r>
            <a:r>
              <a:rPr lang="en-ID" b="1"/>
              <a:t>J.Wiley&amp;Sons</a:t>
            </a:r>
            <a:endParaRPr lang="en-ID"/>
          </a:p>
          <a:p>
            <a:pPr marL="38100" indent="0">
              <a:buNone/>
            </a:pPr>
            <a:r>
              <a:rPr lang="en-ID" b="1"/>
              <a:t>3.ValverdeR,2011.</a:t>
            </a:r>
            <a:r>
              <a:rPr lang="en-ID" b="1" i="1"/>
              <a:t>PrinciplesOfHumanComputerInteraction,</a:t>
            </a:r>
            <a:r>
              <a:rPr lang="en-ID" b="1"/>
              <a:t>LambertAcademicPublishing.</a:t>
            </a:r>
            <a:endParaRPr lang="en-ID"/>
          </a:p>
          <a:p>
            <a:pPr marL="38100" indent="0">
              <a:buNone/>
            </a:pPr>
            <a:r>
              <a:rPr lang="en-ID" b="1"/>
              <a:t>4.Cooper,Alan,RobertReimann,DavidCronin.2007.AboutFace3.TheEssentialofIntractionDesign,WileyPublishing,Inc.</a:t>
            </a:r>
            <a:endParaRPr lang="en-ID"/>
          </a:p>
          <a:p>
            <a:pPr marL="38100" indent="0">
              <a:buNone/>
            </a:pPr>
            <a:r>
              <a:rPr lang="en-ID"/>
              <a:t>5.Welie,martijnvan.2001.</a:t>
            </a:r>
            <a:r>
              <a:rPr lang="en-ID" i="1"/>
              <a:t>Task-basedUIDesign</a:t>
            </a:r>
            <a:r>
              <a:rPr lang="en-ID"/>
              <a:t>.SIKSDisertationSeriesNo.2001-6.</a:t>
            </a:r>
            <a:endParaRPr lang="en-ID"/>
          </a:p>
          <a:p>
            <a:pPr marL="38100" indent="0">
              <a:buNone/>
            </a:pPr>
            <a:r>
              <a:rPr lang="en-ID"/>
              <a:t>6.Ballard,Barbara.2007.</a:t>
            </a:r>
            <a:r>
              <a:rPr lang="en-ID" i="1"/>
              <a:t>DesigningtheMobileUserExperience</a:t>
            </a:r>
            <a:r>
              <a:rPr lang="en-ID"/>
              <a:t>.LittleSpringsDesign,Inc.,USA.</a:t>
            </a:r>
            <a:endParaRPr lang="en-ID"/>
          </a:p>
          <a:p>
            <a:pPr marL="38100" indent="0">
              <a:buNone/>
            </a:pPr>
            <a:r>
              <a:rPr lang="en-US"/>
              <a:t>7.Fox,Brent.2005.</a:t>
            </a:r>
            <a:r>
              <a:rPr lang="en-US" i="1"/>
              <a:t>GameInterfaceDesign</a:t>
            </a:r>
            <a:r>
              <a:rPr lang="en-US"/>
              <a:t>.ThompsonCourseTechnology.</a:t>
            </a:r>
            <a:endParaRPr lang="en-US"/>
          </a:p>
          <a:p>
            <a:pPr marL="38100" indent="0">
              <a:buNone/>
            </a:pPr>
            <a:r>
              <a:rPr lang="en-ID"/>
              <a:t>8.Kalbach,James.2007.</a:t>
            </a:r>
            <a:r>
              <a:rPr lang="en-ID" i="1"/>
              <a:t>DesigningWebNavigation</a:t>
            </a:r>
            <a:r>
              <a:rPr lang="en-ID"/>
              <a:t>.O'Reilly.</a:t>
            </a:r>
            <a:endParaRPr lang="en-ID"/>
          </a:p>
          <a:p>
            <a:pPr marL="38100" indent="0">
              <a:buNone/>
            </a:pPr>
            <a:r>
              <a:rPr lang="en-US"/>
              <a:t>9.Cohen,MichaelH.,etal.2004.</a:t>
            </a:r>
            <a:r>
              <a:rPr lang="en-US" i="1"/>
              <a:t>VoiceUIDesign</a:t>
            </a:r>
            <a:r>
              <a:rPr lang="en-US"/>
              <a:t>.AddisonWesley.</a:t>
            </a:r>
            <a:endParaRPr lang="en-US"/>
          </a:p>
          <a:p>
            <a:pPr marL="38100" indent="0">
              <a:buNone/>
            </a:pPr>
            <a:r>
              <a:rPr lang="en-ID"/>
              <a:t>10.Coninx,Karin.,etal.2006.</a:t>
            </a:r>
            <a:r>
              <a:rPr lang="en-ID" i="1"/>
              <a:t>TaskModelsandDiagramsforUIDesign</a:t>
            </a:r>
            <a:r>
              <a:rPr lang="en-ID"/>
              <a:t>.Springer. </a:t>
            </a:r>
            <a:endParaRPr lang="en-ID"/>
          </a:p>
          <a:p>
            <a:endParaRPr lang="en-ID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RUBRIKASI NILAI </a:t>
            </a:r>
            <a:endParaRPr lang="en-ID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0879" y="893514"/>
            <a:ext cx="8330240" cy="298643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9650" y="4810125"/>
            <a:ext cx="558358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Sub CLO 1 : rata-rata </a:t>
            </a:r>
            <a:r>
              <a:rPr lang="en-US" b="1"/>
              <a:t>quiz LMS</a:t>
            </a:r>
            <a:r>
              <a:rPr lang="en-US"/>
              <a:t> = 30%</a:t>
            </a:r>
            <a:endParaRPr lang="en-US"/>
          </a:p>
          <a:p>
            <a:r>
              <a:rPr lang="en-US"/>
              <a:t>Sub CLO 2 : (rata-rata </a:t>
            </a:r>
            <a:r>
              <a:rPr lang="en-US" b="1"/>
              <a:t>tugas LMS </a:t>
            </a:r>
            <a:r>
              <a:rPr lang="en-US"/>
              <a:t>+ </a:t>
            </a:r>
            <a:r>
              <a:rPr lang="en-ID" b="1"/>
              <a:t>Tugas Kelompok 1</a:t>
            </a:r>
            <a:r>
              <a:rPr lang="en-US"/>
              <a:t>) / 2 = 50%</a:t>
            </a:r>
            <a:endParaRPr lang="en-US"/>
          </a:p>
          <a:p>
            <a:r>
              <a:rPr lang="en-US"/>
              <a:t>Sub CLO 3 : </a:t>
            </a:r>
            <a:r>
              <a:rPr lang="en-US" b="1"/>
              <a:t>Project Final Review </a:t>
            </a:r>
            <a:r>
              <a:rPr lang="en-US"/>
              <a:t>= 20%</a:t>
            </a:r>
            <a:endParaRPr lang="en-ID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StandarGrading </a:t>
            </a:r>
            <a:endParaRPr lang="en-ID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2631" y="1876794"/>
            <a:ext cx="7194600" cy="259519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D" sz="4000"/>
              <a:t>ATURAN PEMBELAJARAN</a:t>
            </a:r>
            <a:endParaRPr lang="en-ID" sz="40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i="1"/>
              <a:t>Kehadiran mahasiswa ditentukan dari:</a:t>
            </a:r>
            <a:endParaRPr lang="en-ID"/>
          </a:p>
          <a:p>
            <a:pPr lvl="1"/>
            <a:r>
              <a:rPr lang="en-ID"/>
              <a:t>Menghadiri aktifitas onsite atau DARING Synchronous (Video Conferencing) jika ada</a:t>
            </a:r>
            <a:endParaRPr lang="en-ID"/>
          </a:p>
          <a:p>
            <a:pPr lvl="1"/>
            <a:r>
              <a:rPr lang="en-ID"/>
              <a:t>Mengakses materi Lecture Note</a:t>
            </a:r>
            <a:endParaRPr lang="en-ID"/>
          </a:p>
          <a:p>
            <a:pPr lvl="1"/>
            <a:r>
              <a:rPr lang="en-ID"/>
              <a:t>Mengerjakan Quiz Per Pekan sesuai jadwal yang ditentukan</a:t>
            </a:r>
            <a:endParaRPr lang="en-ID"/>
          </a:p>
          <a:p>
            <a:pPr lvl="1"/>
            <a:r>
              <a:rPr lang="en-ID"/>
              <a:t>Posting di Forum LMS</a:t>
            </a:r>
            <a:endParaRPr lang="en-ID"/>
          </a:p>
          <a:p>
            <a:r>
              <a:rPr lang="en-ID" i="1"/>
              <a:t>Mahasiswa wajib mengerjakan tugas sesuai jadwal yang ditentukan</a:t>
            </a:r>
            <a:endParaRPr lang="en-ID"/>
          </a:p>
          <a:p>
            <a:r>
              <a:rPr lang="en-ID" i="1"/>
              <a:t>Tidak ada pengumpulan Quiz danTugas susulan </a:t>
            </a:r>
            <a:endParaRPr lang="en-ID" i="1"/>
          </a:p>
          <a:p>
            <a:r>
              <a:rPr lang="en-ID" i="1"/>
              <a:t>IMK mengikuti aturan ketat terhadap plagiarisme.</a:t>
            </a:r>
            <a:endParaRPr lang="en-ID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Fasilitas</a:t>
            </a:r>
            <a:endParaRPr lang="en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  <a:p>
            <a:r>
              <a:rPr lang="en-ID"/>
              <a:t>Materi dapat diakses kapan saja</a:t>
            </a:r>
            <a:endParaRPr lang="en-ID"/>
          </a:p>
          <a:p>
            <a:r>
              <a:rPr lang="en-ID"/>
              <a:t>Forum diskusi/ Online Meet dilakukan sesuai jadwal kelas</a:t>
            </a:r>
            <a:endParaRPr lang="en-ID"/>
          </a:p>
          <a:p>
            <a:r>
              <a:rPr lang="en-ID"/>
              <a:t>Online Meet dilakukan minimal sebanyak 8x dalam 1 semester</a:t>
            </a:r>
            <a:endParaRPr lang="en-ID"/>
          </a:p>
          <a:p>
            <a:r>
              <a:rPr lang="en-ID"/>
              <a:t>Quiz dapat diakses setiap pekan dalam kurun waktu tertentu</a:t>
            </a:r>
            <a:endParaRPr lang="en-ID"/>
          </a:p>
          <a:p>
            <a:r>
              <a:rPr lang="en-ID"/>
              <a:t>Tugas dapat diakses setiap pekan dalam kurun waktu tertentu </a:t>
            </a:r>
            <a:endParaRPr lang="en-ID"/>
          </a:p>
          <a:p>
            <a:endParaRPr lang="en-ID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/>
              <a:t>WARNING!!</a:t>
            </a:r>
            <a:endParaRPr lang="en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4488" y="1150658"/>
            <a:ext cx="11608875" cy="5094197"/>
          </a:xfrm>
        </p:spPr>
        <p:txBody>
          <a:bodyPr>
            <a:normAutofit fontScale="75000" lnSpcReduction="10000"/>
          </a:bodyPr>
          <a:lstStyle/>
          <a:p>
            <a:r>
              <a:rPr lang="en-ID"/>
              <a:t>Selalu </a:t>
            </a:r>
            <a:r>
              <a:rPr lang="en-ID" b="1"/>
              <a:t>cekinformasi </a:t>
            </a:r>
            <a:r>
              <a:rPr lang="en-ID"/>
              <a:t>baik via </a:t>
            </a:r>
            <a:r>
              <a:rPr lang="en-ID" b="1"/>
              <a:t>LMS, email, group kelas, online meet tool (akunSSO)</a:t>
            </a:r>
            <a:endParaRPr lang="en-ID"/>
          </a:p>
          <a:p>
            <a:r>
              <a:rPr lang="en-ID"/>
              <a:t>Perhatikan </a:t>
            </a:r>
            <a:r>
              <a:rPr lang="en-ID" b="1"/>
              <a:t>waktu jadwal / deadline</a:t>
            </a:r>
            <a:r>
              <a:rPr lang="en-ID"/>
              <a:t>! (Kuis, tugas, Diskusi forum / pertemuan online)</a:t>
            </a:r>
            <a:endParaRPr lang="en-ID"/>
          </a:p>
          <a:p>
            <a:r>
              <a:rPr lang="en-ID" b="1"/>
              <a:t>Pelajari </a:t>
            </a:r>
            <a:r>
              <a:rPr lang="en-ID"/>
              <a:t>materi pada </a:t>
            </a:r>
            <a:r>
              <a:rPr lang="en-ID" b="1"/>
              <a:t>Lecture Note </a:t>
            </a:r>
            <a:r>
              <a:rPr lang="en-ID"/>
              <a:t>dan perluas wawasan Anda dengan belajar dari </a:t>
            </a:r>
            <a:r>
              <a:rPr lang="en-ID" b="1"/>
              <a:t>buku referensi </a:t>
            </a:r>
            <a:r>
              <a:rPr lang="en-ID"/>
              <a:t>yang disarankan, </a:t>
            </a:r>
            <a:r>
              <a:rPr lang="en-ID" b="1"/>
              <a:t>tautan eksternal </a:t>
            </a:r>
            <a:r>
              <a:rPr lang="en-ID"/>
              <a:t>dan /atau </a:t>
            </a:r>
            <a:r>
              <a:rPr lang="en-ID" b="1"/>
              <a:t>sumber terkait lainnya sebelum mengerjakan kuis dan tugas</a:t>
            </a:r>
            <a:endParaRPr lang="en-ID"/>
          </a:p>
          <a:p>
            <a:r>
              <a:rPr lang="en-ID"/>
              <a:t>Memanfaatkan </a:t>
            </a:r>
            <a:r>
              <a:rPr lang="en-ID" b="1"/>
              <a:t>pengerjaan QUIZ </a:t>
            </a:r>
            <a:r>
              <a:rPr lang="en-ID"/>
              <a:t>dengan baik sesuai rentang waktu yang ditentukan</a:t>
            </a:r>
            <a:endParaRPr lang="en-ID"/>
          </a:p>
          <a:p>
            <a:r>
              <a:rPr lang="en-ID"/>
              <a:t>Kerjakan </a:t>
            </a:r>
            <a:r>
              <a:rPr lang="en-ID" b="1"/>
              <a:t>draft tugas sebelum jadwal kelas </a:t>
            </a:r>
            <a:r>
              <a:rPr lang="en-ID"/>
              <a:t>dan </a:t>
            </a:r>
            <a:r>
              <a:rPr lang="en-ID" b="1"/>
              <a:t>perbaiki tugas </a:t>
            </a:r>
            <a:r>
              <a:rPr lang="en-ID"/>
              <a:t>serta submit tugas setelah jadwal kelas dengan tujuan mendapatkan arahan dari forum Diskusi maupun online meet</a:t>
            </a:r>
            <a:endParaRPr lang="en-ID"/>
          </a:p>
          <a:p>
            <a:r>
              <a:rPr lang="en-ID" b="1"/>
              <a:t>HINDARI submit tugas terlalu mepet diujung waktu deadline </a:t>
            </a:r>
            <a:r>
              <a:rPr lang="en-ID"/>
              <a:t>untuk menghindari gangguan system/jaringan. </a:t>
            </a:r>
            <a:endParaRPr lang="en-ID"/>
          </a:p>
          <a:p>
            <a:endParaRPr lang="en-ID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1521619"/>
            <a:ext cx="9144000" cy="41862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77847" y="5084802"/>
            <a:ext cx="5721930" cy="580193"/>
          </a:xfrm>
        </p:spPr>
        <p:txBody>
          <a:bodyPr>
            <a:normAutofit fontScale="90000"/>
          </a:bodyPr>
          <a:lstStyle/>
          <a:p>
            <a:r>
              <a:rPr lang="en-US">
                <a:solidFill>
                  <a:schemeClr val="bg1"/>
                </a:solidFill>
              </a:rPr>
              <a:t>Thank You</a:t>
            </a:r>
            <a:endParaRPr lang="en-ID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f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Fif theme</Template>
  <TotalTime>0</TotalTime>
  <Words>2996</Words>
  <Application>WPS Presentation</Application>
  <PresentationFormat>Widescreen</PresentationFormat>
  <Paragraphs>91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Arial</vt:lpstr>
      <vt:lpstr>SimSun</vt:lpstr>
      <vt:lpstr>Wingdings</vt:lpstr>
      <vt:lpstr>Arial</vt:lpstr>
      <vt:lpstr>Fjalla One</vt:lpstr>
      <vt:lpstr>Segoe Print</vt:lpstr>
      <vt:lpstr>Barlow</vt:lpstr>
      <vt:lpstr>Calibri</vt:lpstr>
      <vt:lpstr>Carlito</vt:lpstr>
      <vt:lpstr>Microsoft YaHei</vt:lpstr>
      <vt:lpstr>Arial Unicode MS</vt:lpstr>
      <vt:lpstr>Fif theme</vt:lpstr>
      <vt:lpstr> InteraksiManusiadanKomputer</vt:lpstr>
      <vt:lpstr>Dosen Kelas</vt:lpstr>
      <vt:lpstr>Sub Course Learning Program (Sub CLO) </vt:lpstr>
      <vt:lpstr>SILABUS</vt:lpstr>
      <vt:lpstr>REFERENSI</vt:lpstr>
      <vt:lpstr>RUBRIKASI NILAI </vt:lpstr>
      <vt:lpstr>StandarGrading </vt:lpstr>
      <vt:lpstr>ATURAN PEMBELAJARAN</vt:lpstr>
      <vt:lpstr>Fasilitas</vt:lpstr>
      <vt:lpstr>WARNING!!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GEDE AGUNG ARY WISUDIAWAN</dc:creator>
  <cp:lastModifiedBy>Iwan Abadi</cp:lastModifiedBy>
  <cp:revision>9</cp:revision>
  <dcterms:created xsi:type="dcterms:W3CDTF">2026-02-02T02:22:00Z</dcterms:created>
  <dcterms:modified xsi:type="dcterms:W3CDTF">2026-02-18T04:09:54Z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49CC847B8CF94631962E4B2D12059FA0_12</vt:lpwstr>
  </property>
  <property fmtid="{D5CDD505-2E9C-101B-9397-08002B2CF9AE}" pid="3" name="KSOProductBuildVer">
    <vt:lpwstr>1033-12.2.0.23196</vt:lpwstr>
  </property>
</Properties>
</file>