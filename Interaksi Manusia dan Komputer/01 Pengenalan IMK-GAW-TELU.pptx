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9" r:id="rId4"/>
  </p:sldMasterIdLst>
  <p:notesMasterIdLst>
    <p:notesMasterId r:id="rId47"/>
  </p:notesMasterIdLst>
  <p:handoutMasterIdLst>
    <p:handoutMasterId r:id="rId48"/>
  </p:handoutMasterIdLst>
  <p:sldIdLst>
    <p:sldId id="256" r:id="rId5"/>
    <p:sldId id="261" r:id="rId6"/>
    <p:sldId id="316" r:id="rId7"/>
    <p:sldId id="318" r:id="rId8"/>
    <p:sldId id="265" r:id="rId9"/>
    <p:sldId id="266" r:id="rId10"/>
    <p:sldId id="275" r:id="rId11"/>
    <p:sldId id="276" r:id="rId12"/>
    <p:sldId id="277" r:id="rId13"/>
    <p:sldId id="273" r:id="rId14"/>
    <p:sldId id="319" r:id="rId15"/>
    <p:sldId id="267" r:id="rId16"/>
    <p:sldId id="327" r:id="rId17"/>
    <p:sldId id="268" r:id="rId18"/>
    <p:sldId id="270" r:id="rId19"/>
    <p:sldId id="272" r:id="rId20"/>
    <p:sldId id="320" r:id="rId21"/>
    <p:sldId id="328" r:id="rId22"/>
    <p:sldId id="321" r:id="rId23"/>
    <p:sldId id="326" r:id="rId24"/>
    <p:sldId id="331" r:id="rId25"/>
    <p:sldId id="332" r:id="rId26"/>
    <p:sldId id="322" r:id="rId27"/>
    <p:sldId id="282" r:id="rId28"/>
    <p:sldId id="323" r:id="rId29"/>
    <p:sldId id="283" r:id="rId30"/>
    <p:sldId id="284" r:id="rId31"/>
    <p:sldId id="285" r:id="rId32"/>
    <p:sldId id="286" r:id="rId33"/>
    <p:sldId id="287" r:id="rId34"/>
    <p:sldId id="288" r:id="rId35"/>
    <p:sldId id="289" r:id="rId36"/>
    <p:sldId id="324" r:id="rId37"/>
    <p:sldId id="329" r:id="rId38"/>
    <p:sldId id="290" r:id="rId39"/>
    <p:sldId id="291" r:id="rId40"/>
    <p:sldId id="292" r:id="rId41"/>
    <p:sldId id="293" r:id="rId42"/>
    <p:sldId id="295" r:id="rId43"/>
    <p:sldId id="294" r:id="rId44"/>
    <p:sldId id="296" r:id="rId45"/>
    <p:sldId id="330" r:id="rId46"/>
  </p:sldIdLst>
  <p:sldSz cx="9144000" cy="6858000" type="screen4x3"/>
  <p:notesSz cx="6858000" cy="9144000"/>
  <p:custDataLst>
    <p:tags r:id="rId4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836" y="9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DE AGUNG ARY WISUDIAWAN" userId="S::degunk@365.telkomuniversity.ac.id::516368b2-9632-4ef2-83c6-8bee314f899f" providerId="AD" clId="Web-{64517FA8-6B45-17D2-4149-9DF4F4B08BF8}"/>
    <pc:docChg chg="modSld">
      <pc:chgData name="GEDE AGUNG ARY WISUDIAWAN" userId="S::degunk@365.telkomuniversity.ac.id::516368b2-9632-4ef2-83c6-8bee314f899f" providerId="AD" clId="Web-{64517FA8-6B45-17D2-4149-9DF4F4B08BF8}" dt="2019-08-22T03:03:03.730" v="0"/>
      <pc:docMkLst>
        <pc:docMk/>
      </pc:docMkLst>
      <pc:sldChg chg="addSp">
        <pc:chgData name="GEDE AGUNG ARY WISUDIAWAN" userId="S::degunk@365.telkomuniversity.ac.id::516368b2-9632-4ef2-83c6-8bee314f899f" providerId="AD" clId="Web-{64517FA8-6B45-17D2-4149-9DF4F4B08BF8}" dt="2019-08-22T03:03:03.730" v="0"/>
        <pc:sldMkLst>
          <pc:docMk/>
          <pc:sldMk cId="1191294591" sldId="256"/>
        </pc:sldMkLst>
        <pc:graphicFrameChg chg="add">
          <ac:chgData name="GEDE AGUNG ARY WISUDIAWAN" userId="S::degunk@365.telkomuniversity.ac.id::516368b2-9632-4ef2-83c6-8bee314f899f" providerId="AD" clId="Web-{64517FA8-6B45-17D2-4149-9DF4F4B08BF8}" dt="2019-08-22T03:03:03.730" v="0"/>
          <ac:graphicFrameMkLst>
            <pc:docMk/>
            <pc:sldMk cId="1191294591" sldId="256"/>
            <ac:graphicFrameMk id="3" creationId="{57811635-0471-4EF6-B43B-ED2D65DAD3AA}"/>
          </ac:graphicFrameMkLst>
        </pc:graphicFrameChg>
      </pc:sldChg>
    </pc:docChg>
  </pc:docChgLst>
  <pc:docChgLst>
    <pc:chgData name="MUHAMAD BAMBANG HIDAYANTO" userId="S::hidayanto@365.telkomuniversity.ac.id::57844406-e6ca-49c1-8435-57892b91fd25" providerId="AD" clId="Web-{1A43BCB3-A426-4A1D-D321-1F7E410A9485}"/>
    <pc:docChg chg="modSld">
      <pc:chgData name="MUHAMAD BAMBANG HIDAYANTO" userId="S::hidayanto@365.telkomuniversity.ac.id::57844406-e6ca-49c1-8435-57892b91fd25" providerId="AD" clId="Web-{1A43BCB3-A426-4A1D-D321-1F7E410A9485}" dt="2019-08-22T03:04:59.963" v="1"/>
      <pc:docMkLst>
        <pc:docMk/>
      </pc:docMkLst>
      <pc:sldChg chg="delSp">
        <pc:chgData name="MUHAMAD BAMBANG HIDAYANTO" userId="S::hidayanto@365.telkomuniversity.ac.id::57844406-e6ca-49c1-8435-57892b91fd25" providerId="AD" clId="Web-{1A43BCB3-A426-4A1D-D321-1F7E410A9485}" dt="2019-08-22T03:04:59.963" v="1"/>
        <pc:sldMkLst>
          <pc:docMk/>
          <pc:sldMk cId="1191294591" sldId="256"/>
        </pc:sldMkLst>
        <pc:graphicFrameChg chg="del">
          <ac:chgData name="MUHAMAD BAMBANG HIDAYANTO" userId="S::hidayanto@365.telkomuniversity.ac.id::57844406-e6ca-49c1-8435-57892b91fd25" providerId="AD" clId="Web-{1A43BCB3-A426-4A1D-D321-1F7E410A9485}" dt="2019-08-22T03:04:59.963" v="1"/>
          <ac:graphicFrameMkLst>
            <pc:docMk/>
            <pc:sldMk cId="1191294591" sldId="256"/>
            <ac:graphicFrameMk id="3" creationId="{2F305BFD-5BE9-442A-9B4D-281AA77664D4}"/>
          </ac:graphicFrameMkLst>
        </pc:graphicFrameChg>
        <pc:graphicFrameChg chg="del">
          <ac:chgData name="MUHAMAD BAMBANG HIDAYANTO" userId="S::hidayanto@365.telkomuniversity.ac.id::57844406-e6ca-49c1-8435-57892b91fd25" providerId="AD" clId="Web-{1A43BCB3-A426-4A1D-D321-1F7E410A9485}" dt="2019-08-22T03:04:54.557" v="0"/>
          <ac:graphicFrameMkLst>
            <pc:docMk/>
            <pc:sldMk cId="1191294591" sldId="256"/>
            <ac:graphicFrameMk id="4" creationId="{FBF3C448-D575-42CF-8031-6003ED2554F2}"/>
          </ac:graphicFrameMkLst>
        </pc:graphicFrameChg>
      </pc:sldChg>
    </pc:docChg>
  </pc:docChgLst>
  <pc:docChgLst>
    <pc:chgData name="GEDE AGUNG ARY WISUDIAWAN" userId="S::degunk@365.telkomuniversity.ac.id::516368b2-9632-4ef2-83c6-8bee314f899f" providerId="AD" clId="Web-{F5EE4D73-5C4A-B9D4-2B00-F49DF0FA1C46}"/>
    <pc:docChg chg="modSld">
      <pc:chgData name="GEDE AGUNG ARY WISUDIAWAN" userId="S::degunk@365.telkomuniversity.ac.id::516368b2-9632-4ef2-83c6-8bee314f899f" providerId="AD" clId="Web-{F5EE4D73-5C4A-B9D4-2B00-F49DF0FA1C46}" dt="2019-08-22T03:04:53.586" v="0"/>
      <pc:docMkLst>
        <pc:docMk/>
      </pc:docMkLst>
      <pc:sldChg chg="addSp">
        <pc:chgData name="GEDE AGUNG ARY WISUDIAWAN" userId="S::degunk@365.telkomuniversity.ac.id::516368b2-9632-4ef2-83c6-8bee314f899f" providerId="AD" clId="Web-{F5EE4D73-5C4A-B9D4-2B00-F49DF0FA1C46}" dt="2019-08-22T03:04:53.586" v="0"/>
        <pc:sldMkLst>
          <pc:docMk/>
          <pc:sldMk cId="1191294591" sldId="256"/>
        </pc:sldMkLst>
        <pc:graphicFrameChg chg="add">
          <ac:chgData name="GEDE AGUNG ARY WISUDIAWAN" userId="S::degunk@365.telkomuniversity.ac.id::516368b2-9632-4ef2-83c6-8bee314f899f" providerId="AD" clId="Web-{F5EE4D73-5C4A-B9D4-2B00-F49DF0FA1C46}" dt="2019-08-22T03:04:53.586" v="0"/>
          <ac:graphicFrameMkLst>
            <pc:docMk/>
            <pc:sldMk cId="1191294591" sldId="256"/>
            <ac:graphicFrameMk id="3" creationId="{2F305BFD-5BE9-442A-9B4D-281AA77664D4}"/>
          </ac:graphicFrameMkLst>
        </pc:graphicFrameChg>
      </pc:sldChg>
    </pc:docChg>
  </pc:docChgLst>
  <pc:docChgLst>
    <pc:chgData name="GEDE AGUNG ARY WISUDIAWAN" userId="S::degunk@365.telkomuniversity.ac.id::516368b2-9632-4ef2-83c6-8bee314f899f" providerId="AD" clId="Web-{70D042EB-06B5-FDBF-1444-411ED60726A1}"/>
    <pc:docChg chg="modSld">
      <pc:chgData name="GEDE AGUNG ARY WISUDIAWAN" userId="S::degunk@365.telkomuniversity.ac.id::516368b2-9632-4ef2-83c6-8bee314f899f" providerId="AD" clId="Web-{70D042EB-06B5-FDBF-1444-411ED60726A1}" dt="2019-08-22T03:04:34.422" v="1"/>
      <pc:docMkLst>
        <pc:docMk/>
      </pc:docMkLst>
      <pc:sldChg chg="addSp delSp">
        <pc:chgData name="GEDE AGUNG ARY WISUDIAWAN" userId="S::degunk@365.telkomuniversity.ac.id::516368b2-9632-4ef2-83c6-8bee314f899f" providerId="AD" clId="Web-{70D042EB-06B5-FDBF-1444-411ED60726A1}" dt="2019-08-22T03:04:34.422" v="1"/>
        <pc:sldMkLst>
          <pc:docMk/>
          <pc:sldMk cId="1191294591" sldId="256"/>
        </pc:sldMkLst>
        <pc:graphicFrameChg chg="del">
          <ac:chgData name="GEDE AGUNG ARY WISUDIAWAN" userId="S::degunk@365.telkomuniversity.ac.id::516368b2-9632-4ef2-83c6-8bee314f899f" providerId="AD" clId="Web-{70D042EB-06B5-FDBF-1444-411ED60726A1}" dt="2019-08-22T03:03:47.125" v="0"/>
          <ac:graphicFrameMkLst>
            <pc:docMk/>
            <pc:sldMk cId="1191294591" sldId="256"/>
            <ac:graphicFrameMk id="3" creationId="{57811635-0471-4EF6-B43B-ED2D65DAD3AA}"/>
          </ac:graphicFrameMkLst>
        </pc:graphicFrameChg>
        <pc:graphicFrameChg chg="add">
          <ac:chgData name="GEDE AGUNG ARY WISUDIAWAN" userId="S::degunk@365.telkomuniversity.ac.id::516368b2-9632-4ef2-83c6-8bee314f899f" providerId="AD" clId="Web-{70D042EB-06B5-FDBF-1444-411ED60726A1}" dt="2019-08-22T03:04:34.422" v="1"/>
          <ac:graphicFrameMkLst>
            <pc:docMk/>
            <pc:sldMk cId="1191294591" sldId="256"/>
            <ac:graphicFrameMk id="4" creationId="{FBF3C448-D575-42CF-8031-6003ED2554F2}"/>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0DB9219-4A66-4B41-AFAD-B4DCC55121D3}" type="datetimeFigureOut">
              <a:rPr lang="en-US" smtClean="0"/>
              <a:t>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7A99D96-90C2-44B4-8DCF-3216EB4C3627}" type="slidenum">
              <a:rPr lang="en-US" smtClean="0"/>
              <a:t>‹#›</a:t>
            </a:fld>
            <a:endParaRPr lang="en-US"/>
          </a:p>
        </p:txBody>
      </p:sp>
    </p:spTree>
    <p:extLst>
      <p:ext uri="{BB962C8B-B14F-4D97-AF65-F5344CB8AC3E}">
        <p14:creationId xmlns:p14="http://schemas.microsoft.com/office/powerpoint/2010/main" val="3374085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796F5A-DA36-4202-8F3F-DA89D0431918}" type="datetimeFigureOut">
              <a:rPr lang="en-US" smtClean="0"/>
              <a:t>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4BABC4-D3F8-4FEC-A081-17F891AA9F9F}" type="slidenum">
              <a:rPr lang="en-US" smtClean="0"/>
              <a:t>‹#›</a:t>
            </a:fld>
            <a:endParaRPr lang="en-US"/>
          </a:p>
        </p:txBody>
      </p:sp>
    </p:spTree>
    <p:extLst>
      <p:ext uri="{BB962C8B-B14F-4D97-AF65-F5344CB8AC3E}">
        <p14:creationId xmlns:p14="http://schemas.microsoft.com/office/powerpoint/2010/main" val="216784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timetoast.com/timelines/history-of-human-computer-interaction"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1</a:t>
            </a:fld>
            <a:endParaRPr lang="en-US"/>
          </a:p>
        </p:txBody>
      </p:sp>
    </p:spTree>
    <p:extLst>
      <p:ext uri="{BB962C8B-B14F-4D97-AF65-F5344CB8AC3E}">
        <p14:creationId xmlns:p14="http://schemas.microsoft.com/office/powerpoint/2010/main" val="2048409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2</a:t>
            </a:fld>
            <a:endParaRPr lang="en-US"/>
          </a:p>
        </p:txBody>
      </p:sp>
    </p:spTree>
    <p:extLst>
      <p:ext uri="{BB962C8B-B14F-4D97-AF65-F5344CB8AC3E}">
        <p14:creationId xmlns:p14="http://schemas.microsoft.com/office/powerpoint/2010/main" val="1457123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5</a:t>
            </a:fld>
            <a:endParaRPr lang="en-US"/>
          </a:p>
        </p:txBody>
      </p:sp>
    </p:spTree>
    <p:extLst>
      <p:ext uri="{BB962C8B-B14F-4D97-AF65-F5344CB8AC3E}">
        <p14:creationId xmlns:p14="http://schemas.microsoft.com/office/powerpoint/2010/main" val="749998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6</a:t>
            </a:fld>
            <a:endParaRPr lang="en-US"/>
          </a:p>
        </p:txBody>
      </p:sp>
    </p:spTree>
    <p:extLst>
      <p:ext uri="{BB962C8B-B14F-4D97-AF65-F5344CB8AC3E}">
        <p14:creationId xmlns:p14="http://schemas.microsoft.com/office/powerpoint/2010/main" val="1918661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7</a:t>
            </a:fld>
            <a:endParaRPr lang="en-US"/>
          </a:p>
        </p:txBody>
      </p:sp>
    </p:spTree>
    <p:extLst>
      <p:ext uri="{BB962C8B-B14F-4D97-AF65-F5344CB8AC3E}">
        <p14:creationId xmlns:p14="http://schemas.microsoft.com/office/powerpoint/2010/main" val="704482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8</a:t>
            </a:fld>
            <a:endParaRPr lang="en-US"/>
          </a:p>
        </p:txBody>
      </p:sp>
    </p:spTree>
    <p:extLst>
      <p:ext uri="{BB962C8B-B14F-4D97-AF65-F5344CB8AC3E}">
        <p14:creationId xmlns:p14="http://schemas.microsoft.com/office/powerpoint/2010/main" val="2623129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9</a:t>
            </a:fld>
            <a:endParaRPr lang="en-US"/>
          </a:p>
        </p:txBody>
      </p:sp>
    </p:spTree>
    <p:extLst>
      <p:ext uri="{BB962C8B-B14F-4D97-AF65-F5344CB8AC3E}">
        <p14:creationId xmlns:p14="http://schemas.microsoft.com/office/powerpoint/2010/main" val="1799430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10</a:t>
            </a:fld>
            <a:endParaRPr lang="en-US"/>
          </a:p>
        </p:txBody>
      </p:sp>
    </p:spTree>
    <p:extLst>
      <p:ext uri="{BB962C8B-B14F-4D97-AF65-F5344CB8AC3E}">
        <p14:creationId xmlns:p14="http://schemas.microsoft.com/office/powerpoint/2010/main" val="1068098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12</a:t>
            </a:fld>
            <a:endParaRPr lang="en-US"/>
          </a:p>
        </p:txBody>
      </p:sp>
    </p:spTree>
    <p:extLst>
      <p:ext uri="{BB962C8B-B14F-4D97-AF65-F5344CB8AC3E}">
        <p14:creationId xmlns:p14="http://schemas.microsoft.com/office/powerpoint/2010/main" val="1634680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36D993-1560-48D1-AF5A-656104FD0FC1}" type="slidenum">
              <a:rPr lang="en-US" altLang="id-ID"/>
              <a:pPr/>
              <a:t>13</a:t>
            </a:fld>
            <a:endParaRPr lang="en-US" altLang="id-ID"/>
          </a:p>
        </p:txBody>
      </p:sp>
      <p:sp>
        <p:nvSpPr>
          <p:cNvPr id="171010" name="Rectangle 2"/>
          <p:cNvSpPr>
            <a:spLocks noGrp="1" noRot="1" noChangeAspect="1" noChangeArrowheads="1" noTextEdit="1"/>
          </p:cNvSpPr>
          <p:nvPr>
            <p:ph type="sldImg"/>
          </p:nvPr>
        </p:nvSpPr>
        <p:spPr>
          <a:xfrm>
            <a:off x="819150" y="447675"/>
            <a:ext cx="5219700" cy="3914775"/>
          </a:xfrm>
          <a:ln/>
        </p:spPr>
      </p:sp>
      <p:sp>
        <p:nvSpPr>
          <p:cNvPr id="171011" name="Rectangle 3"/>
          <p:cNvSpPr>
            <a:spLocks noGrp="1" noChangeArrowheads="1"/>
          </p:cNvSpPr>
          <p:nvPr>
            <p:ph type="body" idx="1"/>
          </p:nvPr>
        </p:nvSpPr>
        <p:spPr>
          <a:xfrm>
            <a:off x="657225" y="4800600"/>
            <a:ext cx="5718175" cy="3419475"/>
          </a:xfrm>
        </p:spPr>
        <p:txBody>
          <a:bodyPr/>
          <a:lstStyle/>
          <a:p>
            <a:endParaRPr lang="id-ID" altLang="id-ID" sz="1100"/>
          </a:p>
        </p:txBody>
      </p:sp>
    </p:spTree>
    <p:extLst>
      <p:ext uri="{BB962C8B-B14F-4D97-AF65-F5344CB8AC3E}">
        <p14:creationId xmlns:p14="http://schemas.microsoft.com/office/powerpoint/2010/main" val="3251304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14</a:t>
            </a:fld>
            <a:endParaRPr lang="en-US"/>
          </a:p>
        </p:txBody>
      </p:sp>
    </p:spTree>
    <p:extLst>
      <p:ext uri="{BB962C8B-B14F-4D97-AF65-F5344CB8AC3E}">
        <p14:creationId xmlns:p14="http://schemas.microsoft.com/office/powerpoint/2010/main" val="3549984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15</a:t>
            </a:fld>
            <a:endParaRPr lang="en-US"/>
          </a:p>
        </p:txBody>
      </p:sp>
    </p:spTree>
    <p:extLst>
      <p:ext uri="{BB962C8B-B14F-4D97-AF65-F5344CB8AC3E}">
        <p14:creationId xmlns:p14="http://schemas.microsoft.com/office/powerpoint/2010/main" val="20730597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16</a:t>
            </a:fld>
            <a:endParaRPr lang="en-US"/>
          </a:p>
        </p:txBody>
      </p:sp>
    </p:spTree>
    <p:extLst>
      <p:ext uri="{BB962C8B-B14F-4D97-AF65-F5344CB8AC3E}">
        <p14:creationId xmlns:p14="http://schemas.microsoft.com/office/powerpoint/2010/main" val="1743052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a:hlinkClick r:id="rId3"/>
              </a:rPr>
              <a:t>https://www.timetoast.com/timelines/history-of-human-computer-interaction</a:t>
            </a:r>
            <a:endParaRPr lang="en-US"/>
          </a:p>
          <a:p>
            <a:endParaRPr lang="en-ID"/>
          </a:p>
          <a:p>
            <a:r>
              <a:rPr lang="en-ID"/>
              <a:t>Punch card</a:t>
            </a:r>
          </a:p>
          <a:p>
            <a:r>
              <a:rPr lang="en-GB" sz="1200" b="0" i="0" kern="1200">
                <a:solidFill>
                  <a:schemeClr val="tx1"/>
                </a:solidFill>
                <a:effectLst/>
                <a:latin typeface="+mn-lt"/>
                <a:ea typeface="+mn-ea"/>
                <a:cs typeface="+mn-cs"/>
              </a:rPr>
              <a:t>Invented in the early 1800s, punch cards were originally used to control looms and then in the early 20th century IBM streamlined their usage on their own machines. The reason for the demise of this human computer interface (HCI) was the affordability of better and more efficient methods.</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QWERTY</a:t>
            </a:r>
          </a:p>
          <a:p>
            <a:r>
              <a:rPr lang="en-GB" sz="1200" b="0" i="0" kern="1200">
                <a:solidFill>
                  <a:schemeClr val="tx1"/>
                </a:solidFill>
                <a:effectLst/>
                <a:latin typeface="+mn-lt"/>
                <a:ea typeface="+mn-ea"/>
                <a:cs typeface="+mn-cs"/>
              </a:rPr>
              <a:t>After creating a successful typewriter, Christopher Scholes continued upon his work. One such improvement was the QWERTY key layout. At first this layout was created to prevent the excessive sticking of keys that users experience while using his typewriter. Needless to say that this was a success and computer keyboards world wide use the layout that Scholes created over 100 years ago.</a:t>
            </a:r>
          </a:p>
          <a:p>
            <a:endParaRPr lang="en-GB" sz="1200" b="0" i="0" kern="1200">
              <a:solidFill>
                <a:schemeClr val="tx1"/>
              </a:solidFill>
              <a:effectLst/>
              <a:latin typeface="+mn-lt"/>
              <a:ea typeface="+mn-ea"/>
              <a:cs typeface="+mn-cs"/>
            </a:endParaRPr>
          </a:p>
          <a:p>
            <a:r>
              <a:rPr lang="en-ID"/>
              <a:t>DVORAK keyboard format</a:t>
            </a:r>
          </a:p>
          <a:p>
            <a:r>
              <a:rPr lang="en-GB" sz="1200" b="0" i="0" kern="1200">
                <a:solidFill>
                  <a:schemeClr val="tx1"/>
                </a:solidFill>
                <a:effectLst/>
                <a:latin typeface="+mn-lt"/>
                <a:ea typeface="+mn-ea"/>
                <a:cs typeface="+mn-cs"/>
              </a:rPr>
              <a:t>An alternative to the QWERTY keyboard layout, the Dvorak Simplified Keyboard was created to increase typing efficiency and speed as to combat the issues with the QWERTY layout. The layout was designed around the most used letters in the English language as to place those letters in closest proximity to decrease strain upon the typist. During experiments, typists using the DVORAK layout made fewer mistakes and less prone to fatigue. Although evidence shows the Dvorak layout to be better there</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Trackball</a:t>
            </a:r>
          </a:p>
          <a:p>
            <a:r>
              <a:rPr lang="en-GB" sz="1200" b="0" i="0" kern="1200">
                <a:solidFill>
                  <a:schemeClr val="tx1"/>
                </a:solidFill>
                <a:effectLst/>
                <a:latin typeface="+mn-lt"/>
                <a:ea typeface="+mn-ea"/>
                <a:cs typeface="+mn-cs"/>
              </a:rPr>
              <a:t>The invention of the trackball that the first computer mice used for location tracking was actually done during a secret military project by Tom Cranston, Fred </a:t>
            </a:r>
            <a:r>
              <a:rPr lang="en-GB" sz="1200" b="0" i="0" kern="1200" err="1">
                <a:solidFill>
                  <a:schemeClr val="tx1"/>
                </a:solidFill>
                <a:effectLst/>
                <a:latin typeface="+mn-lt"/>
                <a:ea typeface="+mn-ea"/>
                <a:cs typeface="+mn-cs"/>
              </a:rPr>
              <a:t>Longstaff</a:t>
            </a:r>
            <a:r>
              <a:rPr lang="en-GB" sz="1200" b="0" i="0" kern="1200">
                <a:solidFill>
                  <a:schemeClr val="tx1"/>
                </a:solidFill>
                <a:effectLst/>
                <a:latin typeface="+mn-lt"/>
                <a:ea typeface="+mn-ea"/>
                <a:cs typeface="+mn-cs"/>
              </a:rPr>
              <a:t> and Kenyon Taylor who were all part of the Canadian Royal Navy. Due to the fact that the invention came about during a secret military project it was never patented. The first system built by the trio used a hard rubber ball like those found in the Canadian 5 pin bowling game.</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Joystick</a:t>
            </a:r>
          </a:p>
          <a:p>
            <a:r>
              <a:rPr lang="en-GB" sz="1200" b="0" i="0" kern="1200">
                <a:solidFill>
                  <a:schemeClr val="tx1"/>
                </a:solidFill>
                <a:effectLst/>
                <a:latin typeface="+mn-lt"/>
                <a:ea typeface="+mn-ea"/>
                <a:cs typeface="+mn-cs"/>
              </a:rPr>
              <a:t>Invented to be used in conjunction with a video game console, electronic joysticks opened up a new era in human interaction with computers.</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Release ATARI</a:t>
            </a:r>
            <a:r>
              <a:rPr lang="en-GB" sz="1200" b="0" i="0" kern="1200" baseline="0">
                <a:solidFill>
                  <a:schemeClr val="tx1"/>
                </a:solidFill>
                <a:effectLst/>
                <a:latin typeface="+mn-lt"/>
                <a:ea typeface="+mn-ea"/>
                <a:cs typeface="+mn-cs"/>
              </a:rPr>
              <a:t> joystick</a:t>
            </a:r>
          </a:p>
          <a:p>
            <a:r>
              <a:rPr lang="en-GB" sz="1200" b="0" i="0" kern="1200">
                <a:solidFill>
                  <a:schemeClr val="tx1"/>
                </a:solidFill>
                <a:effectLst/>
                <a:latin typeface="+mn-lt"/>
                <a:ea typeface="+mn-ea"/>
                <a:cs typeface="+mn-cs"/>
              </a:rPr>
              <a:t>The Atari 2600 joystick was released with single button and a DE-9 connector.</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Computer keyboard</a:t>
            </a:r>
          </a:p>
          <a:p>
            <a:r>
              <a:rPr lang="en-GB" sz="1200" b="0" i="0" kern="1200">
                <a:solidFill>
                  <a:schemeClr val="tx1"/>
                </a:solidFill>
                <a:effectLst/>
                <a:latin typeface="+mn-lt"/>
                <a:ea typeface="+mn-ea"/>
                <a:cs typeface="+mn-cs"/>
              </a:rPr>
              <a:t>Keyboards saw their first usage as an interface to text only terminals controlling large computer systems. Widespread and easy creation of keyboards first appeared with the creation of the personal computer by the already familiar IBM. IBM had streamlined the creation of the keyboard allowing for easy access to purchasing and usage.</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Apple</a:t>
            </a:r>
            <a:r>
              <a:rPr lang="en-GB" sz="1200" b="0" i="0" kern="1200" baseline="0">
                <a:solidFill>
                  <a:schemeClr val="tx1"/>
                </a:solidFill>
                <a:effectLst/>
                <a:latin typeface="+mn-lt"/>
                <a:ea typeface="+mn-ea"/>
                <a:cs typeface="+mn-cs"/>
              </a:rPr>
              <a:t> Lisa</a:t>
            </a:r>
          </a:p>
          <a:p>
            <a:r>
              <a:rPr lang="en-GB" sz="1200" b="0" i="0" kern="1200">
                <a:solidFill>
                  <a:schemeClr val="tx1"/>
                </a:solidFill>
                <a:effectLst/>
                <a:latin typeface="+mn-lt"/>
                <a:ea typeface="+mn-ea"/>
                <a:cs typeface="+mn-cs"/>
              </a:rPr>
              <a:t>Although widely used now, the mouse took nearly 20 years to see fully fledged adoption due to a lack of system support. It wasn’t until Apple Inc. debuted its system titled “Apple Lisa” that the mouse was first widely used as an interface device. Although Xerox was the first to create a system that used the mouse, it was Apple that popularized it since Xerox never released a system that used it.</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NES Zapper</a:t>
            </a:r>
          </a:p>
          <a:p>
            <a:r>
              <a:rPr lang="en-GB" sz="1200" b="0" i="0" kern="1200">
                <a:solidFill>
                  <a:schemeClr val="tx1"/>
                </a:solidFill>
                <a:effectLst/>
                <a:latin typeface="+mn-lt"/>
                <a:ea typeface="+mn-ea"/>
                <a:cs typeface="+mn-cs"/>
              </a:rPr>
              <a:t>The NES Zapper was an </a:t>
            </a:r>
            <a:r>
              <a:rPr lang="en-GB" sz="1200" b="0" i="0" kern="1200" err="1">
                <a:solidFill>
                  <a:schemeClr val="tx1"/>
                </a:solidFill>
                <a:effectLst/>
                <a:latin typeface="+mn-lt"/>
                <a:ea typeface="+mn-ea"/>
                <a:cs typeface="+mn-cs"/>
              </a:rPr>
              <a:t>accesory</a:t>
            </a:r>
            <a:r>
              <a:rPr lang="en-GB" sz="1200" b="0" i="0" kern="1200">
                <a:solidFill>
                  <a:schemeClr val="tx1"/>
                </a:solidFill>
                <a:effectLst/>
                <a:latin typeface="+mn-lt"/>
                <a:ea typeface="+mn-ea"/>
                <a:cs typeface="+mn-cs"/>
              </a:rPr>
              <a:t> designed for the Nintendo Entertainment System. The Zapper used light gun technology that detected light sources on the screen to determine if a user hit a target.</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Wii Remote debut</a:t>
            </a:r>
          </a:p>
          <a:p>
            <a:r>
              <a:rPr lang="en-GB" sz="1200" b="0" i="0" kern="1200">
                <a:solidFill>
                  <a:schemeClr val="tx1"/>
                </a:solidFill>
                <a:effectLst/>
                <a:latin typeface="+mn-lt"/>
                <a:ea typeface="+mn-ea"/>
                <a:cs typeface="+mn-cs"/>
              </a:rPr>
              <a:t>To go along with their release of their next generation gaming console, Nintendo created the Wii Remote as opposed to a traditional gaming control pad. The Wii Remote using motion sensing technology to track player gestures.</a:t>
            </a: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Microsoft Kinect</a:t>
            </a:r>
          </a:p>
          <a:p>
            <a:r>
              <a:rPr lang="en-GB" sz="1200" b="0" i="0" kern="1200">
                <a:solidFill>
                  <a:schemeClr val="tx1"/>
                </a:solidFill>
                <a:effectLst/>
                <a:latin typeface="+mn-lt"/>
                <a:ea typeface="+mn-ea"/>
                <a:cs typeface="+mn-cs"/>
              </a:rPr>
              <a:t>Microsoft’s Kinect is a tool that provides motion sensing capabilities to its Xbox 360 gaming platform. Being a motion sensing tool, it allows for users to interact with their gaming consoles without the need for controllers. The Xbox 360 provides a user interface created specially for the Kinect that allows users to use gestures and spoken commands to navigate through menus and play games.</a:t>
            </a:r>
            <a:endParaRPr lang="en-US"/>
          </a:p>
        </p:txBody>
      </p:sp>
      <p:sp>
        <p:nvSpPr>
          <p:cNvPr id="4" name="Slide Number Placeholder 3"/>
          <p:cNvSpPr>
            <a:spLocks noGrp="1"/>
          </p:cNvSpPr>
          <p:nvPr>
            <p:ph type="sldNum" sz="quarter" idx="10"/>
          </p:nvPr>
        </p:nvSpPr>
        <p:spPr/>
        <p:txBody>
          <a:bodyPr/>
          <a:lstStyle/>
          <a:p>
            <a:fld id="{D34BABC4-D3F8-4FEC-A081-17F891AA9F9F}" type="slidenum">
              <a:rPr lang="en-US" smtClean="0"/>
              <a:t>18</a:t>
            </a:fld>
            <a:endParaRPr lang="en-US"/>
          </a:p>
        </p:txBody>
      </p:sp>
    </p:spTree>
    <p:extLst>
      <p:ext uri="{BB962C8B-B14F-4D97-AF65-F5344CB8AC3E}">
        <p14:creationId xmlns:p14="http://schemas.microsoft.com/office/powerpoint/2010/main" val="694513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D"/>
              <a:t>Smart Restaurant</a:t>
            </a:r>
            <a:endParaRPr lang="en-US"/>
          </a:p>
        </p:txBody>
      </p:sp>
      <p:sp>
        <p:nvSpPr>
          <p:cNvPr id="4" name="Slide Number Placeholder 3"/>
          <p:cNvSpPr>
            <a:spLocks noGrp="1"/>
          </p:cNvSpPr>
          <p:nvPr>
            <p:ph type="sldNum" sz="quarter" idx="10"/>
          </p:nvPr>
        </p:nvSpPr>
        <p:spPr/>
        <p:txBody>
          <a:bodyPr/>
          <a:lstStyle/>
          <a:p>
            <a:fld id="{D34BABC4-D3F8-4FEC-A081-17F891AA9F9F}" type="slidenum">
              <a:rPr lang="en-US" smtClean="0"/>
              <a:t>20</a:t>
            </a:fld>
            <a:endParaRPr lang="en-US"/>
          </a:p>
        </p:txBody>
      </p:sp>
    </p:spTree>
    <p:extLst>
      <p:ext uri="{BB962C8B-B14F-4D97-AF65-F5344CB8AC3E}">
        <p14:creationId xmlns:p14="http://schemas.microsoft.com/office/powerpoint/2010/main" val="3216931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24</a:t>
            </a:fld>
            <a:endParaRPr lang="en-US"/>
          </a:p>
        </p:txBody>
      </p:sp>
    </p:spTree>
    <p:extLst>
      <p:ext uri="{BB962C8B-B14F-4D97-AF65-F5344CB8AC3E}">
        <p14:creationId xmlns:p14="http://schemas.microsoft.com/office/powerpoint/2010/main" val="21149574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26</a:t>
            </a:fld>
            <a:endParaRPr lang="en-US"/>
          </a:p>
        </p:txBody>
      </p:sp>
    </p:spTree>
    <p:extLst>
      <p:ext uri="{BB962C8B-B14F-4D97-AF65-F5344CB8AC3E}">
        <p14:creationId xmlns:p14="http://schemas.microsoft.com/office/powerpoint/2010/main" val="2282431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27</a:t>
            </a:fld>
            <a:endParaRPr lang="en-US"/>
          </a:p>
        </p:txBody>
      </p:sp>
    </p:spTree>
    <p:extLst>
      <p:ext uri="{BB962C8B-B14F-4D97-AF65-F5344CB8AC3E}">
        <p14:creationId xmlns:p14="http://schemas.microsoft.com/office/powerpoint/2010/main" val="1706843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28</a:t>
            </a:fld>
            <a:endParaRPr lang="en-US"/>
          </a:p>
        </p:txBody>
      </p:sp>
    </p:spTree>
    <p:extLst>
      <p:ext uri="{BB962C8B-B14F-4D97-AF65-F5344CB8AC3E}">
        <p14:creationId xmlns:p14="http://schemas.microsoft.com/office/powerpoint/2010/main" val="2230489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29</a:t>
            </a:fld>
            <a:endParaRPr lang="en-US"/>
          </a:p>
        </p:txBody>
      </p:sp>
    </p:spTree>
    <p:extLst>
      <p:ext uri="{BB962C8B-B14F-4D97-AF65-F5344CB8AC3E}">
        <p14:creationId xmlns:p14="http://schemas.microsoft.com/office/powerpoint/2010/main" val="3730025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30</a:t>
            </a:fld>
            <a:endParaRPr lang="en-US"/>
          </a:p>
        </p:txBody>
      </p:sp>
    </p:spTree>
    <p:extLst>
      <p:ext uri="{BB962C8B-B14F-4D97-AF65-F5344CB8AC3E}">
        <p14:creationId xmlns:p14="http://schemas.microsoft.com/office/powerpoint/2010/main" val="3545621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31</a:t>
            </a:fld>
            <a:endParaRPr lang="en-US"/>
          </a:p>
        </p:txBody>
      </p:sp>
    </p:spTree>
    <p:extLst>
      <p:ext uri="{BB962C8B-B14F-4D97-AF65-F5344CB8AC3E}">
        <p14:creationId xmlns:p14="http://schemas.microsoft.com/office/powerpoint/2010/main" val="2514220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32</a:t>
            </a:fld>
            <a:endParaRPr lang="en-US"/>
          </a:p>
        </p:txBody>
      </p:sp>
    </p:spTree>
    <p:extLst>
      <p:ext uri="{BB962C8B-B14F-4D97-AF65-F5344CB8AC3E}">
        <p14:creationId xmlns:p14="http://schemas.microsoft.com/office/powerpoint/2010/main" val="3000950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33</a:t>
            </a:fld>
            <a:endParaRPr lang="en-US"/>
          </a:p>
        </p:txBody>
      </p:sp>
    </p:spTree>
    <p:extLst>
      <p:ext uri="{BB962C8B-B14F-4D97-AF65-F5344CB8AC3E}">
        <p14:creationId xmlns:p14="http://schemas.microsoft.com/office/powerpoint/2010/main" val="3538634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34</a:t>
            </a:fld>
            <a:endParaRPr lang="en-US"/>
          </a:p>
        </p:txBody>
      </p:sp>
    </p:spTree>
    <p:extLst>
      <p:ext uri="{BB962C8B-B14F-4D97-AF65-F5344CB8AC3E}">
        <p14:creationId xmlns:p14="http://schemas.microsoft.com/office/powerpoint/2010/main" val="2413804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35</a:t>
            </a:fld>
            <a:endParaRPr lang="en-US"/>
          </a:p>
        </p:txBody>
      </p:sp>
    </p:spTree>
    <p:extLst>
      <p:ext uri="{BB962C8B-B14F-4D97-AF65-F5344CB8AC3E}">
        <p14:creationId xmlns:p14="http://schemas.microsoft.com/office/powerpoint/2010/main" val="35494295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36</a:t>
            </a:fld>
            <a:endParaRPr lang="en-US"/>
          </a:p>
        </p:txBody>
      </p:sp>
    </p:spTree>
    <p:extLst>
      <p:ext uri="{BB962C8B-B14F-4D97-AF65-F5344CB8AC3E}">
        <p14:creationId xmlns:p14="http://schemas.microsoft.com/office/powerpoint/2010/main" val="2230713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37</a:t>
            </a:fld>
            <a:endParaRPr lang="en-US"/>
          </a:p>
        </p:txBody>
      </p:sp>
    </p:spTree>
    <p:extLst>
      <p:ext uri="{BB962C8B-B14F-4D97-AF65-F5344CB8AC3E}">
        <p14:creationId xmlns:p14="http://schemas.microsoft.com/office/powerpoint/2010/main" val="15092184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34BABC4-D3F8-4FEC-A081-17F891AA9F9F}" type="slidenum">
              <a:rPr lang="en-US" smtClean="0"/>
              <a:t>38</a:t>
            </a:fld>
            <a:endParaRPr lang="en-US"/>
          </a:p>
        </p:txBody>
      </p:sp>
    </p:spTree>
    <p:extLst>
      <p:ext uri="{BB962C8B-B14F-4D97-AF65-F5344CB8AC3E}">
        <p14:creationId xmlns:p14="http://schemas.microsoft.com/office/powerpoint/2010/main" val="1280939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39</a:t>
            </a:fld>
            <a:endParaRPr lang="en-US"/>
          </a:p>
        </p:txBody>
      </p:sp>
    </p:spTree>
    <p:extLst>
      <p:ext uri="{BB962C8B-B14F-4D97-AF65-F5344CB8AC3E}">
        <p14:creationId xmlns:p14="http://schemas.microsoft.com/office/powerpoint/2010/main" val="30704311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40</a:t>
            </a:fld>
            <a:endParaRPr lang="en-US"/>
          </a:p>
        </p:txBody>
      </p:sp>
    </p:spTree>
    <p:extLst>
      <p:ext uri="{BB962C8B-B14F-4D97-AF65-F5344CB8AC3E}">
        <p14:creationId xmlns:p14="http://schemas.microsoft.com/office/powerpoint/2010/main" val="35108404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D34BABC4-D3F8-4FEC-A081-17F891AA9F9F}" type="slidenum">
              <a:rPr lang="en-US" smtClean="0"/>
              <a:t>41</a:t>
            </a:fld>
            <a:endParaRPr lang="en-US"/>
          </a:p>
        </p:txBody>
      </p:sp>
    </p:spTree>
    <p:extLst>
      <p:ext uri="{BB962C8B-B14F-4D97-AF65-F5344CB8AC3E}">
        <p14:creationId xmlns:p14="http://schemas.microsoft.com/office/powerpoint/2010/main" val="58975504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pic>
        <p:nvPicPr>
          <p:cNvPr id="11" name="Google Shape;11;p2" descr="A building with a sign on it&#10;&#10;AI-generated content may be incorrect."/>
          <p:cNvPicPr preferRelativeResize="0"/>
          <p:nvPr/>
        </p:nvPicPr>
        <p:blipFill rotWithShape="1">
          <a:blip r:embed="rId2">
            <a:alphaModFix/>
          </a:blip>
          <a:srcRect l="4762"/>
          <a:stretch/>
        </p:blipFill>
        <p:spPr>
          <a:xfrm>
            <a:off x="0" y="2006600"/>
            <a:ext cx="3315974" cy="4851400"/>
          </a:xfrm>
          <a:prstGeom prst="rect">
            <a:avLst/>
          </a:prstGeom>
          <a:noFill/>
          <a:ln>
            <a:noFill/>
          </a:ln>
        </p:spPr>
      </p:pic>
      <p:sp>
        <p:nvSpPr>
          <p:cNvPr id="12" name="Google Shape;12;p2"/>
          <p:cNvSpPr/>
          <p:nvPr/>
        </p:nvSpPr>
        <p:spPr>
          <a:xfrm rot="10800000" flipH="1">
            <a:off x="0" y="5074920"/>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nvGrpSpPr>
          <p:cNvPr id="13" name="Google Shape;13;p2"/>
          <p:cNvGrpSpPr/>
          <p:nvPr/>
        </p:nvGrpSpPr>
        <p:grpSpPr>
          <a:xfrm>
            <a:off x="4572000" y="6528817"/>
            <a:ext cx="4594860" cy="658366"/>
            <a:chOff x="6566098" y="6529395"/>
            <a:chExt cx="5625902" cy="658365"/>
          </a:xfrm>
        </p:grpSpPr>
        <p:sp>
          <p:nvSpPr>
            <p:cNvPr id="14" name="Google Shape;14;p2"/>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15" name="Google Shape;15;p2"/>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grpSp>
        <p:nvGrpSpPr>
          <p:cNvPr id="16" name="Google Shape;16;p2"/>
          <p:cNvGrpSpPr/>
          <p:nvPr/>
        </p:nvGrpSpPr>
        <p:grpSpPr>
          <a:xfrm flipH="1">
            <a:off x="0" y="6527465"/>
            <a:ext cx="4594860" cy="658366"/>
            <a:chOff x="6566098" y="6529395"/>
            <a:chExt cx="5625902" cy="658365"/>
          </a:xfrm>
        </p:grpSpPr>
        <p:sp>
          <p:nvSpPr>
            <p:cNvPr id="17" name="Google Shape;17;p2"/>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18" name="Google Shape;18;p2"/>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sp>
        <p:nvSpPr>
          <p:cNvPr id="19" name="Google Shape;19;p2"/>
          <p:cNvSpPr txBox="1">
            <a:spLocks noGrp="1"/>
          </p:cNvSpPr>
          <p:nvPr>
            <p:ph type="ctrTitle"/>
          </p:nvPr>
        </p:nvSpPr>
        <p:spPr>
          <a:xfrm>
            <a:off x="3532908"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0" name="Google Shape;20;p2"/>
          <p:cNvSpPr txBox="1">
            <a:spLocks noGrp="1"/>
          </p:cNvSpPr>
          <p:nvPr>
            <p:ph type="subTitle" idx="1"/>
          </p:nvPr>
        </p:nvSpPr>
        <p:spPr>
          <a:xfrm>
            <a:off x="3532908"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750"/>
              </a:spcBef>
              <a:spcAft>
                <a:spcPts val="0"/>
              </a:spcAft>
              <a:buClr>
                <a:schemeClr val="dk1"/>
              </a:buClr>
              <a:buSzPts val="2400"/>
              <a:buNone/>
              <a:defRPr sz="1800">
                <a:latin typeface="Fjalla One"/>
                <a:ea typeface="Fjalla One"/>
                <a:cs typeface="Fjalla One"/>
                <a:sym typeface="Fjalla One"/>
              </a:defRPr>
            </a:lvl1pPr>
            <a:lvl2pPr lvl="1" algn="l">
              <a:lnSpc>
                <a:spcPct val="100000"/>
              </a:lnSpc>
              <a:spcBef>
                <a:spcPts val="375"/>
              </a:spcBef>
              <a:spcAft>
                <a:spcPts val="0"/>
              </a:spcAft>
              <a:buClr>
                <a:schemeClr val="dk1"/>
              </a:buClr>
              <a:buSzPts val="1800"/>
              <a:buChar char="•"/>
              <a:defRPr/>
            </a:lvl2pPr>
            <a:lvl3pPr lvl="2" algn="l">
              <a:lnSpc>
                <a:spcPct val="100000"/>
              </a:lnSpc>
              <a:spcBef>
                <a:spcPts val="375"/>
              </a:spcBef>
              <a:spcAft>
                <a:spcPts val="0"/>
              </a:spcAft>
              <a:buClr>
                <a:schemeClr val="dk1"/>
              </a:buClr>
              <a:buSzPts val="1800"/>
              <a:buChar char="•"/>
              <a:defRPr/>
            </a:lvl3pPr>
            <a:lvl4pPr lvl="3" algn="l">
              <a:lnSpc>
                <a:spcPct val="100000"/>
              </a:lnSpc>
              <a:spcBef>
                <a:spcPts val="375"/>
              </a:spcBef>
              <a:spcAft>
                <a:spcPts val="0"/>
              </a:spcAft>
              <a:buClr>
                <a:schemeClr val="dk1"/>
              </a:buClr>
              <a:buSzPts val="1800"/>
              <a:buChar char="•"/>
              <a:defRPr/>
            </a:lvl4pPr>
            <a:lvl5pPr lvl="4" algn="l">
              <a:lnSpc>
                <a:spcPct val="10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a:r>
              <a:rPr lang="en-US"/>
              <a:t>Click to edit Master subtitle style</a:t>
            </a:r>
            <a:endParaRPr/>
          </a:p>
        </p:txBody>
      </p:sp>
      <p:pic>
        <p:nvPicPr>
          <p:cNvPr id="21" name="Google Shape;21;p2" descr="A black text on a black background&#10;&#10;AI-generated content may be incorrect."/>
          <p:cNvPicPr preferRelativeResize="0"/>
          <p:nvPr/>
        </p:nvPicPr>
        <p:blipFill rotWithShape="1">
          <a:blip r:embed="rId3">
            <a:alphaModFix/>
          </a:blip>
          <a:srcRect/>
          <a:stretch/>
        </p:blipFill>
        <p:spPr>
          <a:xfrm>
            <a:off x="290230" y="223036"/>
            <a:ext cx="757142" cy="345533"/>
          </a:xfrm>
          <a:prstGeom prst="rect">
            <a:avLst/>
          </a:prstGeom>
          <a:noFill/>
          <a:ln>
            <a:noFill/>
          </a:ln>
        </p:spPr>
      </p:pic>
      <p:grpSp>
        <p:nvGrpSpPr>
          <p:cNvPr id="22" name="Google Shape;22;p2"/>
          <p:cNvGrpSpPr/>
          <p:nvPr/>
        </p:nvGrpSpPr>
        <p:grpSpPr>
          <a:xfrm>
            <a:off x="6821313" y="113327"/>
            <a:ext cx="2032457" cy="503420"/>
            <a:chOff x="9320766" y="88308"/>
            <a:chExt cx="2709943" cy="503420"/>
          </a:xfrm>
        </p:grpSpPr>
        <p:pic>
          <p:nvPicPr>
            <p:cNvPr id="23" name="Google Shape;23;p2" descr="A yellow text on a black background&#10;&#10;AI-generated content may be incorrect."/>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24" name="Google Shape;24;p2" descr="A person holding a microphone&#10;&#10;AI-generated content may be incorrect."/>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25" name="Google Shape;25;p2" descr="A black background with yellow and grey text&#10;&#10;AI-generated content may be incorrect."/>
          <p:cNvPicPr preferRelativeResize="0"/>
          <p:nvPr/>
        </p:nvPicPr>
        <p:blipFill rotWithShape="1">
          <a:blip r:embed="rId6">
            <a:alphaModFix/>
          </a:blip>
          <a:srcRect/>
          <a:stretch/>
        </p:blipFill>
        <p:spPr>
          <a:xfrm>
            <a:off x="1142038" y="154187"/>
            <a:ext cx="1447800" cy="483228"/>
          </a:xfrm>
          <a:prstGeom prst="rect">
            <a:avLst/>
          </a:prstGeom>
          <a:noFill/>
          <a:ln>
            <a:noFill/>
          </a:ln>
        </p:spPr>
      </p:pic>
      <p:grpSp>
        <p:nvGrpSpPr>
          <p:cNvPr id="26" name="Google Shape;26;p2"/>
          <p:cNvGrpSpPr/>
          <p:nvPr/>
        </p:nvGrpSpPr>
        <p:grpSpPr>
          <a:xfrm>
            <a:off x="3315974" y="126998"/>
            <a:ext cx="2562463" cy="498680"/>
            <a:chOff x="4421298" y="126998"/>
            <a:chExt cx="3416617" cy="498680"/>
          </a:xfrm>
        </p:grpSpPr>
        <p:sp>
          <p:nvSpPr>
            <p:cNvPr id="27" name="Google Shape;27;p2"/>
            <p:cNvSpPr txBox="1"/>
            <p:nvPr/>
          </p:nvSpPr>
          <p:spPr>
            <a:xfrm>
              <a:off x="5766211" y="222450"/>
              <a:ext cx="2071704" cy="25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0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28" name="Google Shape;28;p2" descr="A logo with a black background&#10;&#10;AI-generated content may be incorrect."/>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29" name="Google Shape;29;p2"/>
          <p:cNvPicPr preferRelativeResize="0"/>
          <p:nvPr/>
        </p:nvPicPr>
        <p:blipFill rotWithShape="1">
          <a:blip r:embed="rId8">
            <a:alphaModFix/>
          </a:blip>
          <a:srcRect/>
          <a:stretch/>
        </p:blipFill>
        <p:spPr>
          <a:xfrm>
            <a:off x="4196295" y="6116054"/>
            <a:ext cx="4851313" cy="323116"/>
          </a:xfrm>
          <a:prstGeom prst="rect">
            <a:avLst/>
          </a:prstGeom>
          <a:noFill/>
          <a:ln>
            <a:noFill/>
          </a:ln>
        </p:spPr>
      </p:pic>
      <p:pic>
        <p:nvPicPr>
          <p:cNvPr id="2" name="Google Shape;11;p2" descr="A building with a sign on it&#10;&#10;AI-generated content may be incorrect.">
            <a:extLst>
              <a:ext uri="{FF2B5EF4-FFF2-40B4-BE49-F238E27FC236}">
                <a16:creationId xmlns:a16="http://schemas.microsoft.com/office/drawing/2014/main" id="{10285D5E-7E58-06FD-3DB6-26B922DE4AA1}"/>
              </a:ext>
            </a:extLst>
          </p:cNvPr>
          <p:cNvPicPr preferRelativeResize="0"/>
          <p:nvPr userDrawn="1"/>
        </p:nvPicPr>
        <p:blipFill rotWithShape="1">
          <a:blip r:embed="rId2">
            <a:alphaModFix/>
          </a:blip>
          <a:srcRect l="4762"/>
          <a:stretch/>
        </p:blipFill>
        <p:spPr>
          <a:xfrm>
            <a:off x="1" y="2006600"/>
            <a:ext cx="3315974" cy="4851400"/>
          </a:xfrm>
          <a:prstGeom prst="rect">
            <a:avLst/>
          </a:prstGeom>
          <a:noFill/>
          <a:ln>
            <a:noFill/>
          </a:ln>
        </p:spPr>
      </p:pic>
      <p:sp>
        <p:nvSpPr>
          <p:cNvPr id="3" name="Google Shape;12;p2">
            <a:extLst>
              <a:ext uri="{FF2B5EF4-FFF2-40B4-BE49-F238E27FC236}">
                <a16:creationId xmlns:a16="http://schemas.microsoft.com/office/drawing/2014/main" id="{6FC02603-C680-CE6E-2757-79F41B8EBA8A}"/>
              </a:ext>
            </a:extLst>
          </p:cNvPr>
          <p:cNvSpPr/>
          <p:nvPr userDrawn="1"/>
        </p:nvSpPr>
        <p:spPr>
          <a:xfrm rot="10800000" flipH="1">
            <a:off x="0" y="5074922"/>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51427" tIns="25706" rIns="51427" bIns="25706"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Fjalla One"/>
              <a:ea typeface="Fjalla One"/>
              <a:cs typeface="Fjalla One"/>
              <a:sym typeface="Fjalla One"/>
            </a:endParaRPr>
          </a:p>
        </p:txBody>
      </p:sp>
      <p:grpSp>
        <p:nvGrpSpPr>
          <p:cNvPr id="4" name="Google Shape;13;p2">
            <a:extLst>
              <a:ext uri="{FF2B5EF4-FFF2-40B4-BE49-F238E27FC236}">
                <a16:creationId xmlns:a16="http://schemas.microsoft.com/office/drawing/2014/main" id="{6C27CD41-20BE-038B-4EA9-49CC6CE10029}"/>
              </a:ext>
            </a:extLst>
          </p:cNvPr>
          <p:cNvGrpSpPr/>
          <p:nvPr userDrawn="1"/>
        </p:nvGrpSpPr>
        <p:grpSpPr>
          <a:xfrm>
            <a:off x="4572000" y="6528817"/>
            <a:ext cx="4594860" cy="658366"/>
            <a:chOff x="6566098" y="6529395"/>
            <a:chExt cx="5625902" cy="658365"/>
          </a:xfrm>
        </p:grpSpPr>
        <p:sp>
          <p:nvSpPr>
            <p:cNvPr id="5" name="Google Shape;14;p2">
              <a:extLst>
                <a:ext uri="{FF2B5EF4-FFF2-40B4-BE49-F238E27FC236}">
                  <a16:creationId xmlns:a16="http://schemas.microsoft.com/office/drawing/2014/main" id="{1EE051AD-57F6-05E8-402B-4DA91927D13F}"/>
                </a:ext>
              </a:extLst>
            </p:cNvPr>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dk1"/>
                </a:solidFill>
                <a:latin typeface="Fjalla One"/>
                <a:ea typeface="Fjalla One"/>
                <a:cs typeface="Fjalla One"/>
                <a:sym typeface="Fjalla One"/>
              </a:endParaRPr>
            </a:p>
          </p:txBody>
        </p:sp>
        <p:sp>
          <p:nvSpPr>
            <p:cNvPr id="6" name="Google Shape;15;p2">
              <a:extLst>
                <a:ext uri="{FF2B5EF4-FFF2-40B4-BE49-F238E27FC236}">
                  <a16:creationId xmlns:a16="http://schemas.microsoft.com/office/drawing/2014/main" id="{BA3972D9-906D-620F-F7CE-6F507AB82204}"/>
                </a:ext>
              </a:extLst>
            </p:cNvPr>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Fjalla One"/>
                <a:ea typeface="Fjalla One"/>
                <a:cs typeface="Fjalla One"/>
                <a:sym typeface="Fjalla One"/>
              </a:endParaRPr>
            </a:p>
          </p:txBody>
        </p:sp>
      </p:grpSp>
      <p:grpSp>
        <p:nvGrpSpPr>
          <p:cNvPr id="7" name="Google Shape;16;p2">
            <a:extLst>
              <a:ext uri="{FF2B5EF4-FFF2-40B4-BE49-F238E27FC236}">
                <a16:creationId xmlns:a16="http://schemas.microsoft.com/office/drawing/2014/main" id="{2CCC9414-6955-5974-7D55-BA7D16C10041}"/>
              </a:ext>
            </a:extLst>
          </p:cNvPr>
          <p:cNvGrpSpPr/>
          <p:nvPr userDrawn="1"/>
        </p:nvGrpSpPr>
        <p:grpSpPr>
          <a:xfrm flipH="1">
            <a:off x="0" y="6527465"/>
            <a:ext cx="4594860" cy="658366"/>
            <a:chOff x="6566098" y="6529395"/>
            <a:chExt cx="5625902" cy="658365"/>
          </a:xfrm>
        </p:grpSpPr>
        <p:sp>
          <p:nvSpPr>
            <p:cNvPr id="8" name="Google Shape;17;p2">
              <a:extLst>
                <a:ext uri="{FF2B5EF4-FFF2-40B4-BE49-F238E27FC236}">
                  <a16:creationId xmlns:a16="http://schemas.microsoft.com/office/drawing/2014/main" id="{F2E6BC95-C5F2-04E0-1E2D-2095B6BDB9F5}"/>
                </a:ext>
              </a:extLst>
            </p:cNvPr>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dk1"/>
                </a:solidFill>
                <a:latin typeface="Fjalla One"/>
                <a:ea typeface="Fjalla One"/>
                <a:cs typeface="Fjalla One"/>
                <a:sym typeface="Fjalla One"/>
              </a:endParaRPr>
            </a:p>
          </p:txBody>
        </p:sp>
        <p:sp>
          <p:nvSpPr>
            <p:cNvPr id="9" name="Google Shape;18;p2">
              <a:extLst>
                <a:ext uri="{FF2B5EF4-FFF2-40B4-BE49-F238E27FC236}">
                  <a16:creationId xmlns:a16="http://schemas.microsoft.com/office/drawing/2014/main" id="{4B530B92-9CBC-0D14-319B-E65C36170E2A}"/>
                </a:ext>
              </a:extLst>
            </p:cNvPr>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Fjalla One"/>
                <a:ea typeface="Fjalla One"/>
                <a:cs typeface="Fjalla One"/>
                <a:sym typeface="Fjalla One"/>
              </a:endParaRPr>
            </a:p>
          </p:txBody>
        </p:sp>
      </p:grpSp>
      <p:pic>
        <p:nvPicPr>
          <p:cNvPr id="10" name="Google Shape;21;p2" descr="A black text on a black background&#10;&#10;AI-generated content may be incorrect.">
            <a:extLst>
              <a:ext uri="{FF2B5EF4-FFF2-40B4-BE49-F238E27FC236}">
                <a16:creationId xmlns:a16="http://schemas.microsoft.com/office/drawing/2014/main" id="{917EB606-8ADE-F9A5-8EA7-AC850B5D051B}"/>
              </a:ext>
            </a:extLst>
          </p:cNvPr>
          <p:cNvPicPr preferRelativeResize="0"/>
          <p:nvPr userDrawn="1"/>
        </p:nvPicPr>
        <p:blipFill rotWithShape="1">
          <a:blip r:embed="rId3">
            <a:alphaModFix/>
          </a:blip>
          <a:srcRect/>
          <a:stretch/>
        </p:blipFill>
        <p:spPr>
          <a:xfrm>
            <a:off x="290230" y="223038"/>
            <a:ext cx="757142" cy="345533"/>
          </a:xfrm>
          <a:prstGeom prst="rect">
            <a:avLst/>
          </a:prstGeom>
          <a:noFill/>
          <a:ln>
            <a:noFill/>
          </a:ln>
        </p:spPr>
      </p:pic>
      <p:grpSp>
        <p:nvGrpSpPr>
          <p:cNvPr id="30" name="Google Shape;22;p2">
            <a:extLst>
              <a:ext uri="{FF2B5EF4-FFF2-40B4-BE49-F238E27FC236}">
                <a16:creationId xmlns:a16="http://schemas.microsoft.com/office/drawing/2014/main" id="{EE037031-F206-FD8A-5859-A8C795824847}"/>
              </a:ext>
            </a:extLst>
          </p:cNvPr>
          <p:cNvGrpSpPr/>
          <p:nvPr userDrawn="1"/>
        </p:nvGrpSpPr>
        <p:grpSpPr>
          <a:xfrm>
            <a:off x="6821314" y="113327"/>
            <a:ext cx="2032457" cy="503420"/>
            <a:chOff x="9320766" y="88308"/>
            <a:chExt cx="2709943" cy="503420"/>
          </a:xfrm>
        </p:grpSpPr>
        <p:pic>
          <p:nvPicPr>
            <p:cNvPr id="31" name="Google Shape;23;p2" descr="A yellow text on a black background&#10;&#10;AI-generated content may be incorrect.">
              <a:extLst>
                <a:ext uri="{FF2B5EF4-FFF2-40B4-BE49-F238E27FC236}">
                  <a16:creationId xmlns:a16="http://schemas.microsoft.com/office/drawing/2014/main" id="{09950C9D-B024-0FF8-5A5B-E591A66AF7F0}"/>
                </a:ext>
              </a:extLst>
            </p:cNvPr>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32" name="Google Shape;24;p2" descr="A person holding a microphone&#10;&#10;AI-generated content may be incorrect.">
              <a:extLst>
                <a:ext uri="{FF2B5EF4-FFF2-40B4-BE49-F238E27FC236}">
                  <a16:creationId xmlns:a16="http://schemas.microsoft.com/office/drawing/2014/main" id="{4E1F055C-22F0-4F86-5BF2-1A41FC157E20}"/>
                </a:ext>
              </a:extLst>
            </p:cNvPr>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33" name="Google Shape;25;p2" descr="A black background with yellow and grey text&#10;&#10;AI-generated content may be incorrect.">
            <a:extLst>
              <a:ext uri="{FF2B5EF4-FFF2-40B4-BE49-F238E27FC236}">
                <a16:creationId xmlns:a16="http://schemas.microsoft.com/office/drawing/2014/main" id="{B6262C70-2EE4-F110-8208-411117FEE155}"/>
              </a:ext>
            </a:extLst>
          </p:cNvPr>
          <p:cNvPicPr preferRelativeResize="0"/>
          <p:nvPr userDrawn="1"/>
        </p:nvPicPr>
        <p:blipFill rotWithShape="1">
          <a:blip r:embed="rId6">
            <a:alphaModFix/>
          </a:blip>
          <a:srcRect/>
          <a:stretch/>
        </p:blipFill>
        <p:spPr>
          <a:xfrm>
            <a:off x="1142038" y="154187"/>
            <a:ext cx="1447800" cy="483228"/>
          </a:xfrm>
          <a:prstGeom prst="rect">
            <a:avLst/>
          </a:prstGeom>
          <a:noFill/>
          <a:ln>
            <a:noFill/>
          </a:ln>
        </p:spPr>
      </p:pic>
      <p:grpSp>
        <p:nvGrpSpPr>
          <p:cNvPr id="34" name="Google Shape;26;p2">
            <a:extLst>
              <a:ext uri="{FF2B5EF4-FFF2-40B4-BE49-F238E27FC236}">
                <a16:creationId xmlns:a16="http://schemas.microsoft.com/office/drawing/2014/main" id="{FC266039-322C-861D-4500-236C3468C3B0}"/>
              </a:ext>
            </a:extLst>
          </p:cNvPr>
          <p:cNvGrpSpPr/>
          <p:nvPr userDrawn="1"/>
        </p:nvGrpSpPr>
        <p:grpSpPr>
          <a:xfrm>
            <a:off x="3315975" y="126998"/>
            <a:ext cx="2562463" cy="498680"/>
            <a:chOff x="4421298" y="126998"/>
            <a:chExt cx="3416617" cy="498680"/>
          </a:xfrm>
        </p:grpSpPr>
        <p:sp>
          <p:nvSpPr>
            <p:cNvPr id="35" name="Google Shape;27;p2">
              <a:extLst>
                <a:ext uri="{FF2B5EF4-FFF2-40B4-BE49-F238E27FC236}">
                  <a16:creationId xmlns:a16="http://schemas.microsoft.com/office/drawing/2014/main" id="{B664CAB3-6169-274E-8818-BBF498D74130}"/>
                </a:ext>
              </a:extLst>
            </p:cNvPr>
            <p:cNvSpPr txBox="1"/>
            <p:nvPr/>
          </p:nvSpPr>
          <p:spPr>
            <a:xfrm>
              <a:off x="5766211" y="222450"/>
              <a:ext cx="2071704" cy="2135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788" b="1" i="0" u="none" strike="noStrike" cap="none">
                  <a:solidFill>
                    <a:srgbClr val="996600"/>
                  </a:solidFill>
                  <a:latin typeface="Calibri"/>
                  <a:ea typeface="Calibri"/>
                  <a:cs typeface="Calibri"/>
                  <a:sym typeface="Calibri"/>
                </a:rPr>
                <a:t>#InformatikaBerkarakter</a:t>
              </a:r>
              <a:endParaRPr sz="788" b="0" i="0" u="none" strike="noStrike" cap="none">
                <a:solidFill>
                  <a:srgbClr val="000000"/>
                </a:solidFill>
                <a:latin typeface="Calibri"/>
                <a:ea typeface="Calibri"/>
                <a:cs typeface="Calibri"/>
                <a:sym typeface="Calibri"/>
              </a:endParaRPr>
            </a:p>
          </p:txBody>
        </p:sp>
        <p:pic>
          <p:nvPicPr>
            <p:cNvPr id="36" name="Google Shape;28;p2" descr="A logo with a black background&#10;&#10;AI-generated content may be incorrect.">
              <a:extLst>
                <a:ext uri="{FF2B5EF4-FFF2-40B4-BE49-F238E27FC236}">
                  <a16:creationId xmlns:a16="http://schemas.microsoft.com/office/drawing/2014/main" id="{85E98C23-D732-A285-C4B5-EE7917296810}"/>
                </a:ext>
              </a:extLst>
            </p:cNvPr>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37" name="Google Shape;29;p2">
            <a:extLst>
              <a:ext uri="{FF2B5EF4-FFF2-40B4-BE49-F238E27FC236}">
                <a16:creationId xmlns:a16="http://schemas.microsoft.com/office/drawing/2014/main" id="{A0997D1D-FBDD-FEA6-344E-AA9E91AE5659}"/>
              </a:ext>
            </a:extLst>
          </p:cNvPr>
          <p:cNvPicPr preferRelativeResize="0"/>
          <p:nvPr userDrawn="1"/>
        </p:nvPicPr>
        <p:blipFill rotWithShape="1">
          <a:blip r:embed="rId8">
            <a:alphaModFix/>
          </a:blip>
          <a:srcRect/>
          <a:stretch/>
        </p:blipFill>
        <p:spPr>
          <a:xfrm>
            <a:off x="4196296" y="6116054"/>
            <a:ext cx="4851313" cy="323116"/>
          </a:xfrm>
          <a:prstGeom prst="rect">
            <a:avLst/>
          </a:prstGeom>
          <a:noFill/>
          <a:ln>
            <a:noFill/>
          </a:ln>
        </p:spPr>
      </p:pic>
    </p:spTree>
    <p:extLst>
      <p:ext uri="{BB962C8B-B14F-4D97-AF65-F5344CB8AC3E}">
        <p14:creationId xmlns:p14="http://schemas.microsoft.com/office/powerpoint/2010/main" val="3545781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0"/>
        <p:cNvGrpSpPr/>
        <p:nvPr/>
      </p:nvGrpSpPr>
      <p:grpSpPr>
        <a:xfrm>
          <a:off x="0" y="0"/>
          <a:ext cx="0" cy="0"/>
          <a:chOff x="0" y="0"/>
          <a:chExt cx="0" cy="0"/>
        </a:xfrm>
      </p:grpSpPr>
      <p:sp>
        <p:nvSpPr>
          <p:cNvPr id="31" name="Google Shape;31;p3"/>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32" name="Google Shape;32;p3"/>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33" name="Google Shape;33;p3"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34" name="Google Shape;34;p3"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35" name="Google Shape;35;p3"/>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6" name="Google Shape;36;p3"/>
          <p:cNvSpPr txBox="1">
            <a:spLocks noGrp="1"/>
          </p:cNvSpPr>
          <p:nvPr>
            <p:ph type="body" idx="1"/>
          </p:nvPr>
        </p:nvSpPr>
        <p:spPr>
          <a:xfrm>
            <a:off x="220866" y="1140497"/>
            <a:ext cx="4214345"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37" name="Google Shape;37;p3"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38" name="Google Shape;38;p3"/>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39" name="Google Shape;39;p3"/>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sp>
        <p:nvSpPr>
          <p:cNvPr id="40" name="Google Shape;40;p3"/>
          <p:cNvSpPr txBox="1">
            <a:spLocks noGrp="1"/>
          </p:cNvSpPr>
          <p:nvPr>
            <p:ph type="body" idx="2"/>
          </p:nvPr>
        </p:nvSpPr>
        <p:spPr>
          <a:xfrm>
            <a:off x="4681081" y="1132252"/>
            <a:ext cx="4214345"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41" name="Google Shape;41;p3"/>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10439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2"/>
        <p:cNvGrpSpPr/>
        <p:nvPr/>
      </p:nvGrpSpPr>
      <p:grpSpPr>
        <a:xfrm>
          <a:off x="0" y="0"/>
          <a:ext cx="0" cy="0"/>
          <a:chOff x="0" y="0"/>
          <a:chExt cx="0" cy="0"/>
        </a:xfrm>
      </p:grpSpPr>
      <p:pic>
        <p:nvPicPr>
          <p:cNvPr id="43" name="Google Shape;43;p4" descr="A building with a sign on it&#10;&#10;AI-generated content may be incorrect."/>
          <p:cNvPicPr preferRelativeResize="0"/>
          <p:nvPr/>
        </p:nvPicPr>
        <p:blipFill rotWithShape="1">
          <a:blip r:embed="rId2">
            <a:alphaModFix/>
          </a:blip>
          <a:srcRect l="4762"/>
          <a:stretch/>
        </p:blipFill>
        <p:spPr>
          <a:xfrm>
            <a:off x="0" y="2006600"/>
            <a:ext cx="3315974" cy="4851400"/>
          </a:xfrm>
          <a:prstGeom prst="rect">
            <a:avLst/>
          </a:prstGeom>
          <a:noFill/>
          <a:ln>
            <a:noFill/>
          </a:ln>
        </p:spPr>
      </p:pic>
      <p:sp>
        <p:nvSpPr>
          <p:cNvPr id="44" name="Google Shape;44;p4"/>
          <p:cNvSpPr/>
          <p:nvPr/>
        </p:nvSpPr>
        <p:spPr>
          <a:xfrm rot="10800000" flipH="1">
            <a:off x="0" y="5074920"/>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nvGrpSpPr>
          <p:cNvPr id="45" name="Google Shape;45;p4"/>
          <p:cNvGrpSpPr/>
          <p:nvPr/>
        </p:nvGrpSpPr>
        <p:grpSpPr>
          <a:xfrm>
            <a:off x="4572001" y="6528817"/>
            <a:ext cx="4594859" cy="658366"/>
            <a:chOff x="6566098" y="6529395"/>
            <a:chExt cx="5625901" cy="658365"/>
          </a:xfrm>
        </p:grpSpPr>
        <p:sp>
          <p:nvSpPr>
            <p:cNvPr id="46" name="Google Shape;46;p4"/>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47" name="Google Shape;47;p4"/>
            <p:cNvSpPr/>
            <p:nvPr/>
          </p:nvSpPr>
          <p:spPr>
            <a:xfrm>
              <a:off x="6870700" y="6529395"/>
              <a:ext cx="5321299"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grpSp>
        <p:nvGrpSpPr>
          <p:cNvPr id="48" name="Google Shape;48;p4"/>
          <p:cNvGrpSpPr/>
          <p:nvPr/>
        </p:nvGrpSpPr>
        <p:grpSpPr>
          <a:xfrm flipH="1">
            <a:off x="0" y="6527465"/>
            <a:ext cx="4594860" cy="658366"/>
            <a:chOff x="6566098" y="6529395"/>
            <a:chExt cx="5625902" cy="658365"/>
          </a:xfrm>
        </p:grpSpPr>
        <p:sp>
          <p:nvSpPr>
            <p:cNvPr id="49" name="Google Shape;49;p4"/>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dk1"/>
                </a:solidFill>
                <a:latin typeface="Fjalla One"/>
                <a:ea typeface="Fjalla One"/>
                <a:cs typeface="Fjalla One"/>
                <a:sym typeface="Fjalla One"/>
              </a:endParaRPr>
            </a:p>
          </p:txBody>
        </p:sp>
        <p:sp>
          <p:nvSpPr>
            <p:cNvPr id="50" name="Google Shape;50;p4"/>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Fjalla One"/>
                <a:ea typeface="Fjalla One"/>
                <a:cs typeface="Fjalla One"/>
                <a:sym typeface="Fjalla One"/>
              </a:endParaRPr>
            </a:p>
          </p:txBody>
        </p:sp>
      </p:grpSp>
      <p:sp>
        <p:nvSpPr>
          <p:cNvPr id="51" name="Google Shape;51;p4"/>
          <p:cNvSpPr txBox="1">
            <a:spLocks noGrp="1"/>
          </p:cNvSpPr>
          <p:nvPr>
            <p:ph type="ctrTitle"/>
          </p:nvPr>
        </p:nvSpPr>
        <p:spPr>
          <a:xfrm>
            <a:off x="3532908"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2" name="Google Shape;52;p4"/>
          <p:cNvSpPr txBox="1">
            <a:spLocks noGrp="1"/>
          </p:cNvSpPr>
          <p:nvPr>
            <p:ph type="subTitle" idx="1"/>
          </p:nvPr>
        </p:nvSpPr>
        <p:spPr>
          <a:xfrm>
            <a:off x="3532908"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750"/>
              </a:spcBef>
              <a:spcAft>
                <a:spcPts val="0"/>
              </a:spcAft>
              <a:buClr>
                <a:schemeClr val="dk1"/>
              </a:buClr>
              <a:buSzPts val="2400"/>
              <a:buNone/>
              <a:defRPr sz="1800">
                <a:latin typeface="Fjalla One"/>
                <a:ea typeface="Fjalla One"/>
                <a:cs typeface="Fjalla One"/>
                <a:sym typeface="Fjalla One"/>
              </a:defRPr>
            </a:lvl1pPr>
            <a:lvl2pPr lvl="1" algn="l">
              <a:lnSpc>
                <a:spcPct val="100000"/>
              </a:lnSpc>
              <a:spcBef>
                <a:spcPts val="375"/>
              </a:spcBef>
              <a:spcAft>
                <a:spcPts val="0"/>
              </a:spcAft>
              <a:buClr>
                <a:schemeClr val="dk1"/>
              </a:buClr>
              <a:buSzPts val="1800"/>
              <a:buChar char="•"/>
              <a:defRPr/>
            </a:lvl2pPr>
            <a:lvl3pPr lvl="2" algn="l">
              <a:lnSpc>
                <a:spcPct val="100000"/>
              </a:lnSpc>
              <a:spcBef>
                <a:spcPts val="375"/>
              </a:spcBef>
              <a:spcAft>
                <a:spcPts val="0"/>
              </a:spcAft>
              <a:buClr>
                <a:schemeClr val="dk1"/>
              </a:buClr>
              <a:buSzPts val="1800"/>
              <a:buChar char="•"/>
              <a:defRPr/>
            </a:lvl3pPr>
            <a:lvl4pPr lvl="3" algn="l">
              <a:lnSpc>
                <a:spcPct val="100000"/>
              </a:lnSpc>
              <a:spcBef>
                <a:spcPts val="375"/>
              </a:spcBef>
              <a:spcAft>
                <a:spcPts val="0"/>
              </a:spcAft>
              <a:buClr>
                <a:schemeClr val="dk1"/>
              </a:buClr>
              <a:buSzPts val="1800"/>
              <a:buChar char="•"/>
              <a:defRPr/>
            </a:lvl4pPr>
            <a:lvl5pPr lvl="4" algn="l">
              <a:lnSpc>
                <a:spcPct val="10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a:r>
              <a:rPr lang="en-US"/>
              <a:t>Click to edit Master subtitle style</a:t>
            </a:r>
            <a:endParaRPr/>
          </a:p>
        </p:txBody>
      </p:sp>
      <p:pic>
        <p:nvPicPr>
          <p:cNvPr id="53" name="Google Shape;53;p4" descr="A black text on a black background&#10;&#10;AI-generated content may be incorrect."/>
          <p:cNvPicPr preferRelativeResize="0"/>
          <p:nvPr/>
        </p:nvPicPr>
        <p:blipFill rotWithShape="1">
          <a:blip r:embed="rId3">
            <a:alphaModFix/>
          </a:blip>
          <a:srcRect/>
          <a:stretch/>
        </p:blipFill>
        <p:spPr>
          <a:xfrm>
            <a:off x="290230" y="223036"/>
            <a:ext cx="757142" cy="345533"/>
          </a:xfrm>
          <a:prstGeom prst="rect">
            <a:avLst/>
          </a:prstGeom>
          <a:noFill/>
          <a:ln>
            <a:noFill/>
          </a:ln>
        </p:spPr>
      </p:pic>
      <p:grpSp>
        <p:nvGrpSpPr>
          <p:cNvPr id="54" name="Google Shape;54;p4"/>
          <p:cNvGrpSpPr/>
          <p:nvPr/>
        </p:nvGrpSpPr>
        <p:grpSpPr>
          <a:xfrm>
            <a:off x="6821313" y="113327"/>
            <a:ext cx="2032457" cy="503420"/>
            <a:chOff x="9320766" y="88308"/>
            <a:chExt cx="2709943" cy="503420"/>
          </a:xfrm>
        </p:grpSpPr>
        <p:pic>
          <p:nvPicPr>
            <p:cNvPr id="55" name="Google Shape;55;p4" descr="A yellow text on a black background&#10;&#10;AI-generated content may be incorrect."/>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56" name="Google Shape;56;p4" descr="A person holding a microphone&#10;&#10;AI-generated content may be incorrect."/>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57" name="Google Shape;57;p4" descr="A black background with yellow and grey text&#10;&#10;AI-generated content may be incorrect."/>
          <p:cNvPicPr preferRelativeResize="0"/>
          <p:nvPr/>
        </p:nvPicPr>
        <p:blipFill rotWithShape="1">
          <a:blip r:embed="rId6">
            <a:alphaModFix/>
          </a:blip>
          <a:srcRect/>
          <a:stretch/>
        </p:blipFill>
        <p:spPr>
          <a:xfrm>
            <a:off x="1142038" y="154187"/>
            <a:ext cx="1447800" cy="483228"/>
          </a:xfrm>
          <a:prstGeom prst="rect">
            <a:avLst/>
          </a:prstGeom>
          <a:noFill/>
          <a:ln>
            <a:noFill/>
          </a:ln>
        </p:spPr>
      </p:pic>
      <p:grpSp>
        <p:nvGrpSpPr>
          <p:cNvPr id="58" name="Google Shape;58;p4"/>
          <p:cNvGrpSpPr/>
          <p:nvPr/>
        </p:nvGrpSpPr>
        <p:grpSpPr>
          <a:xfrm>
            <a:off x="3315974" y="126998"/>
            <a:ext cx="2562463" cy="498680"/>
            <a:chOff x="4421298" y="126998"/>
            <a:chExt cx="3416617" cy="498680"/>
          </a:xfrm>
        </p:grpSpPr>
        <p:sp>
          <p:nvSpPr>
            <p:cNvPr id="59" name="Google Shape;59;p4"/>
            <p:cNvSpPr txBox="1"/>
            <p:nvPr/>
          </p:nvSpPr>
          <p:spPr>
            <a:xfrm>
              <a:off x="5766211" y="222450"/>
              <a:ext cx="2071704" cy="25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0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60" name="Google Shape;60;p4" descr="A logo with a black background&#10;&#10;AI-generated content may be incorrect."/>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61" name="Google Shape;61;p4"/>
          <p:cNvPicPr preferRelativeResize="0"/>
          <p:nvPr/>
        </p:nvPicPr>
        <p:blipFill rotWithShape="1">
          <a:blip r:embed="rId8">
            <a:alphaModFix/>
          </a:blip>
          <a:srcRect/>
          <a:stretch/>
        </p:blipFill>
        <p:spPr>
          <a:xfrm>
            <a:off x="4228418" y="6149139"/>
            <a:ext cx="4850865" cy="325602"/>
          </a:xfrm>
          <a:prstGeom prst="rect">
            <a:avLst/>
          </a:prstGeom>
          <a:noFill/>
          <a:ln>
            <a:noFill/>
          </a:ln>
        </p:spPr>
      </p:pic>
    </p:spTree>
    <p:extLst>
      <p:ext uri="{BB962C8B-B14F-4D97-AF65-F5344CB8AC3E}">
        <p14:creationId xmlns:p14="http://schemas.microsoft.com/office/powerpoint/2010/main" val="4061905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2"/>
        <p:cNvGrpSpPr/>
        <p:nvPr/>
      </p:nvGrpSpPr>
      <p:grpSpPr>
        <a:xfrm>
          <a:off x="0" y="0"/>
          <a:ext cx="0" cy="0"/>
          <a:chOff x="0" y="0"/>
          <a:chExt cx="0" cy="0"/>
        </a:xfrm>
      </p:grpSpPr>
      <p:sp>
        <p:nvSpPr>
          <p:cNvPr id="63" name="Google Shape;63;p5"/>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64" name="Google Shape;64;p5"/>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65" name="Google Shape;65;p5"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66" name="Google Shape;66;p5"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67" name="Google Shape;67;p5"/>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68" name="Google Shape;68;p5"/>
          <p:cNvSpPr txBox="1">
            <a:spLocks noGrp="1"/>
          </p:cNvSpPr>
          <p:nvPr>
            <p:ph type="body" idx="1"/>
          </p:nvPr>
        </p:nvSpPr>
        <p:spPr>
          <a:xfrm>
            <a:off x="220866" y="1140497"/>
            <a:ext cx="8706656" cy="5094197"/>
          </a:xfrm>
          <a:prstGeom prst="rect">
            <a:avLst/>
          </a:prstGeom>
          <a:noFill/>
          <a:ln>
            <a:noFill/>
          </a:ln>
        </p:spPr>
        <p:txBody>
          <a:bodyPr spcFirstLastPara="1" wrap="square" lIns="91425" tIns="45700" rIns="91425" bIns="45700" anchor="t" anchorCtr="0">
            <a:normAutofit/>
          </a:bodyPr>
          <a:lstStyle>
            <a:lvl1pPr marL="342900" lvl="0" indent="-304800" algn="l">
              <a:lnSpc>
                <a:spcPct val="100000"/>
              </a:lnSpc>
              <a:spcBef>
                <a:spcPts val="750"/>
              </a:spcBef>
              <a:spcAft>
                <a:spcPts val="0"/>
              </a:spcAft>
              <a:buClr>
                <a:schemeClr val="dk1"/>
              </a:buClr>
              <a:buSzPts val="2800"/>
              <a:buChar char="•"/>
              <a:defRPr>
                <a:latin typeface="Barlow"/>
                <a:ea typeface="Barlow"/>
                <a:cs typeface="Barlow"/>
                <a:sym typeface="Barlow"/>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69" name="Google Shape;69;p5"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70" name="Google Shape;70;p5"/>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71" name="Google Shape;71;p5"/>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72" name="Google Shape;72;p5"/>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3183809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73"/>
        <p:cNvGrpSpPr/>
        <p:nvPr/>
      </p:nvGrpSpPr>
      <p:grpSpPr>
        <a:xfrm>
          <a:off x="0" y="0"/>
          <a:ext cx="0" cy="0"/>
          <a:chOff x="0" y="0"/>
          <a:chExt cx="0" cy="0"/>
        </a:xfrm>
      </p:grpSpPr>
      <p:sp>
        <p:nvSpPr>
          <p:cNvPr id="74" name="Google Shape;74;p6"/>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75" name="Google Shape;75;p6"/>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76" name="Google Shape;76;p6"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77" name="Google Shape;77;p6"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78" name="Google Shape;78;p6"/>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pic>
        <p:nvPicPr>
          <p:cNvPr id="79" name="Google Shape;79;p6" descr="A logo with a red and black letter u&#10;&#10;AI-generated content may be incorrect."/>
          <p:cNvPicPr preferRelativeResize="0"/>
          <p:nvPr/>
        </p:nvPicPr>
        <p:blipFill rotWithShape="1">
          <a:blip r:embed="rId4">
            <a:alphaModFix amt="10000"/>
          </a:blip>
          <a:srcRect/>
          <a:stretch/>
        </p:blipFill>
        <p:spPr>
          <a:xfrm>
            <a:off x="3522161" y="1427758"/>
            <a:ext cx="2127386" cy="4002484"/>
          </a:xfrm>
          <a:prstGeom prst="rect">
            <a:avLst/>
          </a:prstGeom>
          <a:noFill/>
          <a:ln>
            <a:noFill/>
          </a:ln>
        </p:spPr>
      </p:pic>
      <p:sp>
        <p:nvSpPr>
          <p:cNvPr id="80" name="Google Shape;80;p6"/>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81" name="Google Shape;81;p6"/>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sp>
        <p:nvSpPr>
          <p:cNvPr id="82" name="Google Shape;82;p6"/>
          <p:cNvSpPr txBox="1">
            <a:spLocks noGrp="1"/>
          </p:cNvSpPr>
          <p:nvPr>
            <p:ph type="body" idx="1"/>
          </p:nvPr>
        </p:nvSpPr>
        <p:spPr>
          <a:xfrm>
            <a:off x="223435" y="1060992"/>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cxnSp>
        <p:nvCxnSpPr>
          <p:cNvPr id="83" name="Google Shape;83;p6"/>
          <p:cNvCxnSpPr/>
          <p:nvPr/>
        </p:nvCxnSpPr>
        <p:spPr>
          <a:xfrm>
            <a:off x="3072633" y="1039103"/>
            <a:ext cx="0" cy="5204380"/>
          </a:xfrm>
          <a:prstGeom prst="straightConnector1">
            <a:avLst/>
          </a:prstGeom>
          <a:noFill/>
          <a:ln w="19050" cap="flat" cmpd="sng">
            <a:solidFill>
              <a:srgbClr val="D8D8D8"/>
            </a:solidFill>
            <a:prstDash val="solid"/>
            <a:miter lim="800000"/>
            <a:headEnd type="none" w="sm" len="sm"/>
            <a:tailEnd type="none" w="sm" len="sm"/>
          </a:ln>
        </p:spPr>
      </p:cxnSp>
      <p:cxnSp>
        <p:nvCxnSpPr>
          <p:cNvPr id="84" name="Google Shape;84;p6"/>
          <p:cNvCxnSpPr/>
          <p:nvPr/>
        </p:nvCxnSpPr>
        <p:spPr>
          <a:xfrm>
            <a:off x="6024639" y="1039103"/>
            <a:ext cx="0" cy="5204380"/>
          </a:xfrm>
          <a:prstGeom prst="straightConnector1">
            <a:avLst/>
          </a:prstGeom>
          <a:noFill/>
          <a:ln w="19050" cap="flat" cmpd="sng">
            <a:solidFill>
              <a:srgbClr val="D8D8D8"/>
            </a:solidFill>
            <a:prstDash val="solid"/>
            <a:miter lim="800000"/>
            <a:headEnd type="none" w="sm" len="sm"/>
            <a:tailEnd type="none" w="sm" len="sm"/>
          </a:ln>
        </p:spPr>
      </p:cxnSp>
      <p:sp>
        <p:nvSpPr>
          <p:cNvPr id="85" name="Google Shape;85;p6"/>
          <p:cNvSpPr txBox="1">
            <a:spLocks noGrp="1"/>
          </p:cNvSpPr>
          <p:nvPr>
            <p:ph type="body" idx="2"/>
          </p:nvPr>
        </p:nvSpPr>
        <p:spPr>
          <a:xfrm>
            <a:off x="3176836" y="1050048"/>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6"/>
          <p:cNvSpPr txBox="1">
            <a:spLocks noGrp="1"/>
          </p:cNvSpPr>
          <p:nvPr>
            <p:ph type="body" idx="3"/>
          </p:nvPr>
        </p:nvSpPr>
        <p:spPr>
          <a:xfrm>
            <a:off x="6130237" y="1039103"/>
            <a:ext cx="2743601" cy="5182491"/>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Clr>
                <a:schemeClr val="dk1"/>
              </a:buClr>
              <a:buSzPts val="1800"/>
              <a:buChar char="•"/>
              <a:defRPr/>
            </a:lvl1pPr>
            <a:lvl2pPr marL="685800" lvl="1" indent="-257175" algn="l">
              <a:lnSpc>
                <a:spcPct val="100000"/>
              </a:lnSpc>
              <a:spcBef>
                <a:spcPts val="375"/>
              </a:spcBef>
              <a:spcAft>
                <a:spcPts val="0"/>
              </a:spcAft>
              <a:buClr>
                <a:schemeClr val="dk1"/>
              </a:buClr>
              <a:buSzPts val="1800"/>
              <a:buChar char="•"/>
              <a:defRPr/>
            </a:lvl2pPr>
            <a:lvl3pPr marL="1028700" lvl="2" indent="-257175" algn="l">
              <a:lnSpc>
                <a:spcPct val="100000"/>
              </a:lnSpc>
              <a:spcBef>
                <a:spcPts val="375"/>
              </a:spcBef>
              <a:spcAft>
                <a:spcPts val="0"/>
              </a:spcAft>
              <a:buClr>
                <a:schemeClr val="dk1"/>
              </a:buClr>
              <a:buSzPts val="1800"/>
              <a:buChar char="•"/>
              <a:defRPr/>
            </a:lvl3pPr>
            <a:lvl4pPr marL="1371600" lvl="3" indent="-257175" algn="l">
              <a:lnSpc>
                <a:spcPct val="100000"/>
              </a:lnSpc>
              <a:spcBef>
                <a:spcPts val="375"/>
              </a:spcBef>
              <a:spcAft>
                <a:spcPts val="0"/>
              </a:spcAft>
              <a:buClr>
                <a:schemeClr val="dk1"/>
              </a:buClr>
              <a:buSzPts val="1800"/>
              <a:buChar char="•"/>
              <a:defRPr/>
            </a:lvl4pPr>
            <a:lvl5pPr marL="1714500" lvl="4" indent="-257175" algn="l">
              <a:lnSpc>
                <a:spcPct val="10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pic>
        <p:nvPicPr>
          <p:cNvPr id="87" name="Google Shape;87;p6"/>
          <p:cNvPicPr preferRelativeResize="0"/>
          <p:nvPr/>
        </p:nvPicPr>
        <p:blipFill rotWithShape="1">
          <a:blip r:embed="rId5">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496356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8"/>
        <p:cNvGrpSpPr/>
        <p:nvPr/>
      </p:nvGrpSpPr>
      <p:grpSpPr>
        <a:xfrm>
          <a:off x="0" y="0"/>
          <a:ext cx="0" cy="0"/>
          <a:chOff x="0" y="0"/>
          <a:chExt cx="0" cy="0"/>
        </a:xfrm>
      </p:grpSpPr>
      <p:sp>
        <p:nvSpPr>
          <p:cNvPr id="89" name="Google Shape;89;p7"/>
          <p:cNvSpPr/>
          <p:nvPr/>
        </p:nvSpPr>
        <p:spPr>
          <a:xfrm>
            <a:off x="0" y="6465866"/>
            <a:ext cx="8706656" cy="392134"/>
          </a:xfrm>
          <a:prstGeom prst="rect">
            <a:avLst/>
          </a:prstGeom>
          <a:solidFill>
            <a:srgbClr val="40404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sp>
        <p:nvSpPr>
          <p:cNvPr id="90" name="Google Shape;90;p7"/>
          <p:cNvSpPr/>
          <p:nvPr/>
        </p:nvSpPr>
        <p:spPr>
          <a:xfrm>
            <a:off x="8662610" y="6465526"/>
            <a:ext cx="480059" cy="392475"/>
          </a:xfrm>
          <a:prstGeom prst="rect">
            <a:avLst/>
          </a:prstGeom>
          <a:solidFill>
            <a:srgbClr val="C00000"/>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350" b="0" i="0" u="none" strike="noStrike" cap="none">
              <a:solidFill>
                <a:schemeClr val="lt1"/>
              </a:solidFill>
              <a:latin typeface="Arial"/>
              <a:ea typeface="Arial"/>
              <a:cs typeface="Arial"/>
              <a:sym typeface="Arial"/>
            </a:endParaRPr>
          </a:p>
        </p:txBody>
      </p:sp>
      <p:pic>
        <p:nvPicPr>
          <p:cNvPr id="91" name="Google Shape;91;p7" descr="A black background with yellow and grey text&#10;&#10;AI-generated content may be incorrect."/>
          <p:cNvPicPr preferRelativeResize="0"/>
          <p:nvPr/>
        </p:nvPicPr>
        <p:blipFill rotWithShape="1">
          <a:blip r:embed="rId2">
            <a:alphaModFix/>
          </a:blip>
          <a:srcRect/>
          <a:stretch/>
        </p:blipFill>
        <p:spPr>
          <a:xfrm>
            <a:off x="75247" y="102871"/>
            <a:ext cx="1554416" cy="518813"/>
          </a:xfrm>
          <a:prstGeom prst="rect">
            <a:avLst/>
          </a:prstGeom>
          <a:noFill/>
          <a:ln>
            <a:noFill/>
          </a:ln>
        </p:spPr>
      </p:pic>
      <p:pic>
        <p:nvPicPr>
          <p:cNvPr id="92" name="Google Shape;92;p7" descr="A logo with a black background&#10;&#10;AI-generated content may be incorrect."/>
          <p:cNvPicPr preferRelativeResize="0"/>
          <p:nvPr/>
        </p:nvPicPr>
        <p:blipFill rotWithShape="1">
          <a:blip r:embed="rId3">
            <a:alphaModFix/>
          </a:blip>
          <a:srcRect l="7304" t="24481" r="5732" b="29999"/>
          <a:stretch/>
        </p:blipFill>
        <p:spPr>
          <a:xfrm>
            <a:off x="8038488" y="104158"/>
            <a:ext cx="1010351" cy="498680"/>
          </a:xfrm>
          <a:prstGeom prst="rect">
            <a:avLst/>
          </a:prstGeom>
          <a:noFill/>
          <a:ln>
            <a:noFill/>
          </a:ln>
        </p:spPr>
      </p:pic>
      <p:sp>
        <p:nvSpPr>
          <p:cNvPr id="93" name="Google Shape;93;p7"/>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pic>
        <p:nvPicPr>
          <p:cNvPr id="94" name="Google Shape;94;p7" descr="A logo with a red and black letter u&#10;&#10;AI-generated content may be incorrect."/>
          <p:cNvPicPr preferRelativeResize="0"/>
          <p:nvPr/>
        </p:nvPicPr>
        <p:blipFill rotWithShape="1">
          <a:blip r:embed="rId4">
            <a:alphaModFix amt="10000"/>
          </a:blip>
          <a:srcRect/>
          <a:stretch/>
        </p:blipFill>
        <p:spPr>
          <a:xfrm>
            <a:off x="3508307" y="1427758"/>
            <a:ext cx="2127386" cy="4002484"/>
          </a:xfrm>
          <a:prstGeom prst="rect">
            <a:avLst/>
          </a:prstGeom>
          <a:noFill/>
          <a:ln>
            <a:noFill/>
          </a:ln>
        </p:spPr>
      </p:pic>
      <p:sp>
        <p:nvSpPr>
          <p:cNvPr id="95" name="Google Shape;95;p7"/>
          <p:cNvSpPr txBox="1"/>
          <p:nvPr/>
        </p:nvSpPr>
        <p:spPr>
          <a:xfrm>
            <a:off x="8662610" y="6541115"/>
            <a:ext cx="377378" cy="230832"/>
          </a:xfrm>
          <a:prstGeom prst="rect">
            <a:avLst/>
          </a:prstGeom>
          <a:noFill/>
          <a:ln>
            <a:noFill/>
          </a:ln>
        </p:spPr>
        <p:txBody>
          <a:bodyPr spcFirstLastPara="1" wrap="square" lIns="0" tIns="0" rIns="0" bIns="0" anchor="t" anchorCtr="0">
            <a:spAutoFit/>
          </a:bodyPr>
          <a:lstStyle/>
          <a:p>
            <a:pPr marL="28575" marR="0" lvl="0" indent="0" algn="r" rtl="0">
              <a:lnSpc>
                <a:spcPct val="100250"/>
              </a:lnSpc>
              <a:spcBef>
                <a:spcPts val="0"/>
              </a:spcBef>
              <a:spcAft>
                <a:spcPts val="0"/>
              </a:spcAft>
              <a:buClr>
                <a:srgbClr val="000000"/>
              </a:buClr>
              <a:buSzPts val="2000"/>
              <a:buFont typeface="Arial"/>
              <a:buNone/>
            </a:pPr>
            <a:fld id="{00000000-1234-1234-1234-123412341234}" type="slidenum">
              <a:rPr lang="en-US" sz="1500" b="0" i="0" u="none" strike="noStrike" cap="none">
                <a:solidFill>
                  <a:schemeClr val="lt1"/>
                </a:solidFill>
                <a:latin typeface="Carlito"/>
                <a:ea typeface="Carlito"/>
                <a:cs typeface="Carlito"/>
                <a:sym typeface="Carlito"/>
              </a:rPr>
              <a:pPr marL="28575" marR="0" lvl="0" indent="0" algn="r" rtl="0">
                <a:lnSpc>
                  <a:spcPct val="100250"/>
                </a:lnSpc>
                <a:spcBef>
                  <a:spcPts val="0"/>
                </a:spcBef>
                <a:spcAft>
                  <a:spcPts val="0"/>
                </a:spcAft>
                <a:buClr>
                  <a:srgbClr val="000000"/>
                </a:buClr>
                <a:buSzPts val="2000"/>
                <a:buFont typeface="Arial"/>
                <a:buNone/>
              </a:pPr>
              <a:t>‹#›</a:t>
            </a:fld>
            <a:endParaRPr sz="1500" b="0" i="0" u="none" strike="noStrike" cap="none">
              <a:solidFill>
                <a:schemeClr val="lt1"/>
              </a:solidFill>
              <a:latin typeface="Carlito"/>
              <a:ea typeface="Carlito"/>
              <a:cs typeface="Carlito"/>
              <a:sym typeface="Carlito"/>
            </a:endParaRPr>
          </a:p>
        </p:txBody>
      </p:sp>
      <p:sp>
        <p:nvSpPr>
          <p:cNvPr id="96" name="Google Shape;96;p7"/>
          <p:cNvSpPr txBox="1"/>
          <p:nvPr/>
        </p:nvSpPr>
        <p:spPr>
          <a:xfrm>
            <a:off x="7959436" y="580608"/>
            <a:ext cx="1143002" cy="184636"/>
          </a:xfrm>
          <a:prstGeom prst="rect">
            <a:avLst/>
          </a:prstGeom>
          <a:noFill/>
          <a:ln>
            <a:noFill/>
          </a:ln>
        </p:spPr>
        <p:txBody>
          <a:bodyPr spcFirstLastPara="1" wrap="square" lIns="68569" tIns="34275" rIns="68569" bIns="3427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750" b="1" i="0" u="none" strike="noStrike" cap="none">
                <a:solidFill>
                  <a:srgbClr val="996600"/>
                </a:solidFill>
                <a:latin typeface="Calibri"/>
                <a:ea typeface="Calibri"/>
                <a:cs typeface="Calibri"/>
                <a:sym typeface="Calibri"/>
              </a:rPr>
              <a:t>#InformatikaBerkarakter</a:t>
            </a:r>
            <a:endParaRPr sz="1050" b="0" i="0" u="none" strike="noStrike" cap="none">
              <a:solidFill>
                <a:srgbClr val="000000"/>
              </a:solidFill>
              <a:latin typeface="Calibri"/>
              <a:ea typeface="Calibri"/>
              <a:cs typeface="Calibri"/>
              <a:sym typeface="Calibri"/>
            </a:endParaRPr>
          </a:p>
        </p:txBody>
      </p:sp>
      <p:pic>
        <p:nvPicPr>
          <p:cNvPr id="97" name="Google Shape;97;p7"/>
          <p:cNvPicPr preferRelativeResize="0"/>
          <p:nvPr/>
        </p:nvPicPr>
        <p:blipFill rotWithShape="1">
          <a:blip r:embed="rId5">
            <a:alphaModFix/>
          </a:blip>
          <a:srcRect/>
          <a:stretch/>
        </p:blipFill>
        <p:spPr>
          <a:xfrm>
            <a:off x="167702" y="6498585"/>
            <a:ext cx="4850865" cy="325602"/>
          </a:xfrm>
          <a:prstGeom prst="rect">
            <a:avLst/>
          </a:prstGeom>
          <a:noFill/>
          <a:ln>
            <a:noFill/>
          </a:ln>
        </p:spPr>
      </p:pic>
    </p:spTree>
    <p:extLst>
      <p:ext uri="{BB962C8B-B14F-4D97-AF65-F5344CB8AC3E}">
        <p14:creationId xmlns:p14="http://schemas.microsoft.com/office/powerpoint/2010/main" val="2514351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7" name="Google Shape;32;p3">
            <a:extLst>
              <a:ext uri="{FF2B5EF4-FFF2-40B4-BE49-F238E27FC236}">
                <a16:creationId xmlns:a16="http://schemas.microsoft.com/office/drawing/2014/main" id="{2A6155B7-01BA-574A-8C6F-63E3E85CE00B}"/>
              </a:ext>
            </a:extLst>
          </p:cNvPr>
          <p:cNvSpPr/>
          <p:nvPr userDrawn="1"/>
        </p:nvSpPr>
        <p:spPr>
          <a:xfrm>
            <a:off x="8662611" y="6465528"/>
            <a:ext cx="480059" cy="392475"/>
          </a:xfrm>
          <a:prstGeom prst="rect">
            <a:avLst/>
          </a:prstGeom>
          <a:solidFill>
            <a:srgbClr val="C00000"/>
          </a:solidFill>
          <a:ln>
            <a:noFill/>
          </a:ln>
        </p:spPr>
        <p:txBody>
          <a:bodyPr spcFirstLastPara="1" wrap="square" lIns="51427" tIns="25706" rIns="51427" bIns="25706"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Arial"/>
              <a:ea typeface="Arial"/>
              <a:cs typeface="Arial"/>
              <a:sym typeface="Arial"/>
            </a:endParaRPr>
          </a:p>
        </p:txBody>
      </p:sp>
      <p:sp>
        <p:nvSpPr>
          <p:cNvPr id="8" name="Google Shape;38;p3">
            <a:extLst>
              <a:ext uri="{FF2B5EF4-FFF2-40B4-BE49-F238E27FC236}">
                <a16:creationId xmlns:a16="http://schemas.microsoft.com/office/drawing/2014/main" id="{8E54F35A-9514-896C-ECC5-014936363B2B}"/>
              </a:ext>
            </a:extLst>
          </p:cNvPr>
          <p:cNvSpPr txBox="1"/>
          <p:nvPr userDrawn="1"/>
        </p:nvSpPr>
        <p:spPr>
          <a:xfrm>
            <a:off x="8662611" y="6541115"/>
            <a:ext cx="377378" cy="173124"/>
          </a:xfrm>
          <a:prstGeom prst="rect">
            <a:avLst/>
          </a:prstGeom>
          <a:noFill/>
          <a:ln>
            <a:noFill/>
          </a:ln>
        </p:spPr>
        <p:txBody>
          <a:bodyPr spcFirstLastPara="1" wrap="square" lIns="0" tIns="0" rIns="0" bIns="0" anchor="t" anchorCtr="0">
            <a:spAutoFit/>
          </a:bodyPr>
          <a:lstStyle/>
          <a:p>
            <a:pPr marL="21431" marR="0" lvl="0" indent="0" algn="r" rtl="0">
              <a:lnSpc>
                <a:spcPct val="100250"/>
              </a:lnSpc>
              <a:spcBef>
                <a:spcPts val="0"/>
              </a:spcBef>
              <a:spcAft>
                <a:spcPts val="0"/>
              </a:spcAft>
              <a:buClr>
                <a:srgbClr val="000000"/>
              </a:buClr>
              <a:buSzPts val="2000"/>
              <a:buFont typeface="Arial"/>
              <a:buNone/>
            </a:pPr>
            <a:fld id="{00000000-1234-1234-1234-123412341234}" type="slidenum">
              <a:rPr lang="en-US" sz="1125" b="0" i="0" u="none" strike="noStrike" cap="none">
                <a:solidFill>
                  <a:schemeClr val="lt1"/>
                </a:solidFill>
                <a:latin typeface="Carlito"/>
                <a:ea typeface="Carlito"/>
                <a:cs typeface="Carlito"/>
                <a:sym typeface="Carlito"/>
              </a:rPr>
              <a:pPr marL="21431" marR="0" lvl="0" indent="0" algn="r" rtl="0">
                <a:lnSpc>
                  <a:spcPct val="100250"/>
                </a:lnSpc>
                <a:spcBef>
                  <a:spcPts val="0"/>
                </a:spcBef>
                <a:spcAft>
                  <a:spcPts val="0"/>
                </a:spcAft>
                <a:buClr>
                  <a:srgbClr val="000000"/>
                </a:buClr>
                <a:buSzPts val="2000"/>
                <a:buFont typeface="Arial"/>
                <a:buNone/>
              </a:pPr>
              <a:t>‹#›</a:t>
            </a:fld>
            <a:endParaRPr sz="1125" b="0" i="0" u="none" strike="noStrike" cap="none">
              <a:solidFill>
                <a:schemeClr val="lt1"/>
              </a:solidFill>
              <a:latin typeface="Carlito"/>
              <a:ea typeface="Carlito"/>
              <a:cs typeface="Carlito"/>
              <a:sym typeface="Carlito"/>
            </a:endParaRPr>
          </a:p>
        </p:txBody>
      </p:sp>
      <p:sp>
        <p:nvSpPr>
          <p:cNvPr id="3" name="Google Shape;31;p3">
            <a:extLst>
              <a:ext uri="{FF2B5EF4-FFF2-40B4-BE49-F238E27FC236}">
                <a16:creationId xmlns:a16="http://schemas.microsoft.com/office/drawing/2014/main" id="{7DE82A6B-C20A-AE96-406D-9BF0935A85D1}"/>
              </a:ext>
            </a:extLst>
          </p:cNvPr>
          <p:cNvSpPr/>
          <p:nvPr userDrawn="1"/>
        </p:nvSpPr>
        <p:spPr>
          <a:xfrm>
            <a:off x="1" y="6465866"/>
            <a:ext cx="8706656" cy="392134"/>
          </a:xfrm>
          <a:prstGeom prst="rect">
            <a:avLst/>
          </a:prstGeom>
          <a:solidFill>
            <a:srgbClr val="404040"/>
          </a:solidFill>
          <a:ln>
            <a:noFill/>
          </a:ln>
        </p:spPr>
        <p:txBody>
          <a:bodyPr spcFirstLastPara="1" wrap="square" lIns="51427" tIns="25706" rIns="51427" bIns="25706"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Arial"/>
              <a:ea typeface="Arial"/>
              <a:cs typeface="Arial"/>
              <a:sym typeface="Arial"/>
            </a:endParaRPr>
          </a:p>
        </p:txBody>
      </p:sp>
      <p:pic>
        <p:nvPicPr>
          <p:cNvPr id="9" name="Google Shape;41;p3">
            <a:extLst>
              <a:ext uri="{FF2B5EF4-FFF2-40B4-BE49-F238E27FC236}">
                <a16:creationId xmlns:a16="http://schemas.microsoft.com/office/drawing/2014/main" id="{7947F672-6C49-F0B1-CE28-1962A6799049}"/>
              </a:ext>
            </a:extLst>
          </p:cNvPr>
          <p:cNvPicPr preferRelativeResize="0"/>
          <p:nvPr userDrawn="1"/>
        </p:nvPicPr>
        <p:blipFill rotWithShape="1">
          <a:blip r:embed="rId2">
            <a:alphaModFix/>
          </a:blip>
          <a:srcRect/>
          <a:stretch/>
        </p:blipFill>
        <p:spPr>
          <a:xfrm>
            <a:off x="167702" y="6509218"/>
            <a:ext cx="4850865" cy="325602"/>
          </a:xfrm>
          <a:prstGeom prst="rect">
            <a:avLst/>
          </a:prstGeom>
          <a:noFill/>
          <a:ln>
            <a:noFill/>
          </a:ln>
        </p:spPr>
      </p:pic>
      <p:pic>
        <p:nvPicPr>
          <p:cNvPr id="10" name="Google Shape;65;p5" descr="A black background with yellow and grey text&#10;&#10;AI-generated content may be incorrect.">
            <a:extLst>
              <a:ext uri="{FF2B5EF4-FFF2-40B4-BE49-F238E27FC236}">
                <a16:creationId xmlns:a16="http://schemas.microsoft.com/office/drawing/2014/main" id="{333ABEAD-D455-3FF1-FBF8-8344E7821209}"/>
              </a:ext>
            </a:extLst>
          </p:cNvPr>
          <p:cNvPicPr preferRelativeResize="0"/>
          <p:nvPr userDrawn="1"/>
        </p:nvPicPr>
        <p:blipFill rotWithShape="1">
          <a:blip r:embed="rId3">
            <a:alphaModFix/>
          </a:blip>
          <a:srcRect/>
          <a:stretch/>
        </p:blipFill>
        <p:spPr>
          <a:xfrm>
            <a:off x="75247" y="102873"/>
            <a:ext cx="1554416" cy="518813"/>
          </a:xfrm>
          <a:prstGeom prst="rect">
            <a:avLst/>
          </a:prstGeom>
          <a:noFill/>
          <a:ln>
            <a:noFill/>
          </a:ln>
        </p:spPr>
      </p:pic>
      <p:pic>
        <p:nvPicPr>
          <p:cNvPr id="11" name="Google Shape;66;p5" descr="A logo with a black background&#10;&#10;AI-generated content may be incorrect.">
            <a:extLst>
              <a:ext uri="{FF2B5EF4-FFF2-40B4-BE49-F238E27FC236}">
                <a16:creationId xmlns:a16="http://schemas.microsoft.com/office/drawing/2014/main" id="{5EE4C8EA-1DAD-08E4-8266-49F9A914AF35}"/>
              </a:ext>
            </a:extLst>
          </p:cNvPr>
          <p:cNvPicPr preferRelativeResize="0"/>
          <p:nvPr userDrawn="1"/>
        </p:nvPicPr>
        <p:blipFill rotWithShape="1">
          <a:blip r:embed="rId4">
            <a:alphaModFix/>
          </a:blip>
          <a:srcRect l="7304" t="24481" r="5732" b="29999"/>
          <a:stretch/>
        </p:blipFill>
        <p:spPr>
          <a:xfrm>
            <a:off x="8038489" y="104158"/>
            <a:ext cx="1010351" cy="498680"/>
          </a:xfrm>
          <a:prstGeom prst="rect">
            <a:avLst/>
          </a:prstGeom>
          <a:noFill/>
          <a:ln>
            <a:noFill/>
          </a:ln>
        </p:spPr>
      </p:pic>
      <p:sp>
        <p:nvSpPr>
          <p:cNvPr id="12" name="Google Shape;67;p5">
            <a:extLst>
              <a:ext uri="{FF2B5EF4-FFF2-40B4-BE49-F238E27FC236}">
                <a16:creationId xmlns:a16="http://schemas.microsoft.com/office/drawing/2014/main" id="{A989FF81-7908-B9A8-C8C2-0146275005B0}"/>
              </a:ext>
            </a:extLst>
          </p:cNvPr>
          <p:cNvSpPr txBox="1">
            <a:spLocks noGrp="1"/>
          </p:cNvSpPr>
          <p:nvPr>
            <p:ph type="title"/>
          </p:nvPr>
        </p:nvSpPr>
        <p:spPr>
          <a:xfrm>
            <a:off x="1711034" y="119924"/>
            <a:ext cx="5721930" cy="77359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68;p5">
            <a:extLst>
              <a:ext uri="{FF2B5EF4-FFF2-40B4-BE49-F238E27FC236}">
                <a16:creationId xmlns:a16="http://schemas.microsoft.com/office/drawing/2014/main" id="{CE9A5A88-CEE2-C463-F86E-0B9B38378A68}"/>
              </a:ext>
            </a:extLst>
          </p:cNvPr>
          <p:cNvSpPr txBox="1">
            <a:spLocks noGrp="1"/>
          </p:cNvSpPr>
          <p:nvPr>
            <p:ph type="body" idx="1"/>
          </p:nvPr>
        </p:nvSpPr>
        <p:spPr>
          <a:xfrm>
            <a:off x="220867" y="1140499"/>
            <a:ext cx="8706656" cy="5094197"/>
          </a:xfrm>
          <a:prstGeom prst="rect">
            <a:avLst/>
          </a:prstGeom>
          <a:noFill/>
          <a:ln>
            <a:noFill/>
          </a:ln>
        </p:spPr>
        <p:txBody>
          <a:bodyPr spcFirstLastPara="1" wrap="square" lIns="91425" tIns="45700" rIns="91425" bIns="45700" anchor="t" anchorCtr="0">
            <a:normAutofit/>
          </a:bodyPr>
          <a:lstStyle>
            <a:lvl1pPr marL="257175" lvl="0" indent="-228600" algn="l">
              <a:lnSpc>
                <a:spcPct val="100000"/>
              </a:lnSpc>
              <a:spcBef>
                <a:spcPts val="563"/>
              </a:spcBef>
              <a:spcAft>
                <a:spcPts val="0"/>
              </a:spcAft>
              <a:buClr>
                <a:schemeClr val="dk1"/>
              </a:buClr>
              <a:buSzPts val="2800"/>
              <a:buChar char="•"/>
              <a:defRPr>
                <a:latin typeface="Barlow"/>
                <a:ea typeface="Barlow"/>
                <a:cs typeface="Barlow"/>
                <a:sym typeface="Barlow"/>
              </a:defRPr>
            </a:lvl1pPr>
            <a:lvl2pPr marL="514350" lvl="1" indent="-192881" algn="l">
              <a:lnSpc>
                <a:spcPct val="100000"/>
              </a:lnSpc>
              <a:spcBef>
                <a:spcPts val="281"/>
              </a:spcBef>
              <a:spcAft>
                <a:spcPts val="0"/>
              </a:spcAft>
              <a:buClr>
                <a:schemeClr val="dk1"/>
              </a:buClr>
              <a:buSzPts val="1800"/>
              <a:buChar char="•"/>
              <a:defRPr/>
            </a:lvl2pPr>
            <a:lvl3pPr marL="771525" lvl="2" indent="-192881" algn="l">
              <a:lnSpc>
                <a:spcPct val="100000"/>
              </a:lnSpc>
              <a:spcBef>
                <a:spcPts val="281"/>
              </a:spcBef>
              <a:spcAft>
                <a:spcPts val="0"/>
              </a:spcAft>
              <a:buClr>
                <a:schemeClr val="dk1"/>
              </a:buClr>
              <a:buSzPts val="1800"/>
              <a:buChar char="•"/>
              <a:defRPr/>
            </a:lvl3pPr>
            <a:lvl4pPr marL="1028700" lvl="3" indent="-192881" algn="l">
              <a:lnSpc>
                <a:spcPct val="100000"/>
              </a:lnSpc>
              <a:spcBef>
                <a:spcPts val="281"/>
              </a:spcBef>
              <a:spcAft>
                <a:spcPts val="0"/>
              </a:spcAft>
              <a:buClr>
                <a:schemeClr val="dk1"/>
              </a:buClr>
              <a:buSzPts val="1800"/>
              <a:buChar char="•"/>
              <a:defRPr/>
            </a:lvl4pPr>
            <a:lvl5pPr marL="1285875" lvl="4" indent="-192881" algn="l">
              <a:lnSpc>
                <a:spcPct val="10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2118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Only Blank Slide">
    <p:spTree>
      <p:nvGrpSpPr>
        <p:cNvPr id="1" name=""/>
        <p:cNvGrpSpPr/>
        <p:nvPr/>
      </p:nvGrpSpPr>
      <p:grpSpPr>
        <a:xfrm>
          <a:off x="0" y="0"/>
          <a:ext cx="0" cy="0"/>
          <a:chOff x="0" y="0"/>
          <a:chExt cx="0" cy="0"/>
        </a:xfrm>
      </p:grpSpPr>
      <p:sp>
        <p:nvSpPr>
          <p:cNvPr id="6" name="Rectangle 5"/>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2" name="Title 1"/>
          <p:cNvSpPr>
            <a:spLocks noGrp="1"/>
          </p:cNvSpPr>
          <p:nvPr>
            <p:ph type="title"/>
          </p:nvPr>
        </p:nvSpPr>
        <p:spPr/>
        <p:txBody>
          <a:bodyPr/>
          <a:lstStyle/>
          <a:p>
            <a:r>
              <a:rPr lang="en-US"/>
              <a:t>Click to edit Master title style</a:t>
            </a:r>
          </a:p>
        </p:txBody>
      </p:sp>
      <p:sp>
        <p:nvSpPr>
          <p:cNvPr id="12" name="Google Shape;32;p3">
            <a:extLst>
              <a:ext uri="{FF2B5EF4-FFF2-40B4-BE49-F238E27FC236}">
                <a16:creationId xmlns:a16="http://schemas.microsoft.com/office/drawing/2014/main" id="{E243B888-6EDB-29E5-E5AE-2C750F2657B8}"/>
              </a:ext>
            </a:extLst>
          </p:cNvPr>
          <p:cNvSpPr/>
          <p:nvPr userDrawn="1"/>
        </p:nvSpPr>
        <p:spPr>
          <a:xfrm>
            <a:off x="8662611" y="6465528"/>
            <a:ext cx="480059" cy="392475"/>
          </a:xfrm>
          <a:prstGeom prst="rect">
            <a:avLst/>
          </a:prstGeom>
          <a:solidFill>
            <a:srgbClr val="C00000"/>
          </a:solidFill>
          <a:ln>
            <a:noFill/>
          </a:ln>
        </p:spPr>
        <p:txBody>
          <a:bodyPr spcFirstLastPara="1" wrap="square" lIns="51427" tIns="25706" rIns="51427" bIns="25706"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Arial"/>
              <a:ea typeface="Arial"/>
              <a:cs typeface="Arial"/>
              <a:sym typeface="Arial"/>
            </a:endParaRPr>
          </a:p>
        </p:txBody>
      </p:sp>
      <p:sp>
        <p:nvSpPr>
          <p:cNvPr id="13" name="Google Shape;38;p3">
            <a:extLst>
              <a:ext uri="{FF2B5EF4-FFF2-40B4-BE49-F238E27FC236}">
                <a16:creationId xmlns:a16="http://schemas.microsoft.com/office/drawing/2014/main" id="{262AEAA9-C308-9432-B7A1-20172C10A29D}"/>
              </a:ext>
            </a:extLst>
          </p:cNvPr>
          <p:cNvSpPr txBox="1"/>
          <p:nvPr userDrawn="1"/>
        </p:nvSpPr>
        <p:spPr>
          <a:xfrm>
            <a:off x="8662611" y="6541115"/>
            <a:ext cx="377378" cy="173124"/>
          </a:xfrm>
          <a:prstGeom prst="rect">
            <a:avLst/>
          </a:prstGeom>
          <a:noFill/>
          <a:ln>
            <a:noFill/>
          </a:ln>
        </p:spPr>
        <p:txBody>
          <a:bodyPr spcFirstLastPara="1" wrap="square" lIns="0" tIns="0" rIns="0" bIns="0" anchor="t" anchorCtr="0">
            <a:spAutoFit/>
          </a:bodyPr>
          <a:lstStyle/>
          <a:p>
            <a:pPr marL="21431" marR="0" lvl="0" indent="0" algn="r" rtl="0">
              <a:lnSpc>
                <a:spcPct val="100250"/>
              </a:lnSpc>
              <a:spcBef>
                <a:spcPts val="0"/>
              </a:spcBef>
              <a:spcAft>
                <a:spcPts val="0"/>
              </a:spcAft>
              <a:buClr>
                <a:srgbClr val="000000"/>
              </a:buClr>
              <a:buSzPts val="2000"/>
              <a:buFont typeface="Arial"/>
              <a:buNone/>
            </a:pPr>
            <a:fld id="{00000000-1234-1234-1234-123412341234}" type="slidenum">
              <a:rPr lang="en-US" sz="1125" b="0" i="0" u="none" strike="noStrike" cap="none">
                <a:solidFill>
                  <a:schemeClr val="lt1"/>
                </a:solidFill>
                <a:latin typeface="Carlito"/>
                <a:ea typeface="Carlito"/>
                <a:cs typeface="Carlito"/>
                <a:sym typeface="Carlito"/>
              </a:rPr>
              <a:pPr marL="21431" marR="0" lvl="0" indent="0" algn="r" rtl="0">
                <a:lnSpc>
                  <a:spcPct val="100250"/>
                </a:lnSpc>
                <a:spcBef>
                  <a:spcPts val="0"/>
                </a:spcBef>
                <a:spcAft>
                  <a:spcPts val="0"/>
                </a:spcAft>
                <a:buClr>
                  <a:srgbClr val="000000"/>
                </a:buClr>
                <a:buSzPts val="2000"/>
                <a:buFont typeface="Arial"/>
                <a:buNone/>
              </a:pPr>
              <a:t>‹#›</a:t>
            </a:fld>
            <a:endParaRPr sz="1125" b="0" i="0" u="none" strike="noStrike" cap="none">
              <a:solidFill>
                <a:schemeClr val="lt1"/>
              </a:solidFill>
              <a:latin typeface="Carlito"/>
              <a:ea typeface="Carlito"/>
              <a:cs typeface="Carlito"/>
              <a:sym typeface="Carlito"/>
            </a:endParaRPr>
          </a:p>
        </p:txBody>
      </p:sp>
      <p:sp>
        <p:nvSpPr>
          <p:cNvPr id="11" name="Google Shape;31;p3">
            <a:extLst>
              <a:ext uri="{FF2B5EF4-FFF2-40B4-BE49-F238E27FC236}">
                <a16:creationId xmlns:a16="http://schemas.microsoft.com/office/drawing/2014/main" id="{64EA1FE3-6740-B857-BCDE-7CF372086254}"/>
              </a:ext>
            </a:extLst>
          </p:cNvPr>
          <p:cNvSpPr/>
          <p:nvPr userDrawn="1"/>
        </p:nvSpPr>
        <p:spPr>
          <a:xfrm>
            <a:off x="1" y="6465866"/>
            <a:ext cx="8706656" cy="392134"/>
          </a:xfrm>
          <a:prstGeom prst="rect">
            <a:avLst/>
          </a:prstGeom>
          <a:solidFill>
            <a:srgbClr val="404040"/>
          </a:solidFill>
          <a:ln>
            <a:noFill/>
          </a:ln>
        </p:spPr>
        <p:txBody>
          <a:bodyPr spcFirstLastPara="1" wrap="square" lIns="51427" tIns="25706" rIns="51427" bIns="25706"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Arial"/>
              <a:ea typeface="Arial"/>
              <a:cs typeface="Arial"/>
              <a:sym typeface="Arial"/>
            </a:endParaRPr>
          </a:p>
        </p:txBody>
      </p:sp>
      <p:pic>
        <p:nvPicPr>
          <p:cNvPr id="14" name="Google Shape;41;p3">
            <a:extLst>
              <a:ext uri="{FF2B5EF4-FFF2-40B4-BE49-F238E27FC236}">
                <a16:creationId xmlns:a16="http://schemas.microsoft.com/office/drawing/2014/main" id="{87E801CE-5289-36DD-CE46-293BE6C3AEF3}"/>
              </a:ext>
            </a:extLst>
          </p:cNvPr>
          <p:cNvPicPr preferRelativeResize="0"/>
          <p:nvPr userDrawn="1"/>
        </p:nvPicPr>
        <p:blipFill rotWithShape="1">
          <a:blip r:embed="rId2">
            <a:alphaModFix/>
          </a:blip>
          <a:srcRect/>
          <a:stretch/>
        </p:blipFill>
        <p:spPr>
          <a:xfrm>
            <a:off x="167702" y="6509218"/>
            <a:ext cx="4850865" cy="325602"/>
          </a:xfrm>
          <a:prstGeom prst="rect">
            <a:avLst/>
          </a:prstGeom>
          <a:noFill/>
          <a:ln>
            <a:noFill/>
          </a:ln>
        </p:spPr>
      </p:pic>
    </p:spTree>
    <p:extLst>
      <p:ext uri="{BB962C8B-B14F-4D97-AF65-F5344CB8AC3E}">
        <p14:creationId xmlns:p14="http://schemas.microsoft.com/office/powerpoint/2010/main" val="2292782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47203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2278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8158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7519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40318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6971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46513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9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3499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3B336190-DC37-484C-9F43-810B3C269E35}"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352619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3D0DE349-E3FE-455A-9B34-A34BCDE1569E}"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2332660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13A03863-80EC-4440-B608-576417954EC0}"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3489279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138C76C6-4E2B-4B27-8446-81A90D5E643D}"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7620126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EFCE9C9D-9B03-4309-923E-4585E8ABBB34}"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11396378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C4634D3E-D93C-4982-BA27-4D4F82B44D50}"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31647623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F88B2353-E5C1-455D-8D3D-F9DD6F142481}"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1374125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65760" y="2009550"/>
            <a:ext cx="8326438" cy="4025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p:cNvSpPr>
            <a:spLocks noGrp="1"/>
          </p:cNvSpPr>
          <p:nvPr>
            <p:ph type="sldNum" sz="quarter" idx="15"/>
          </p:nvPr>
        </p:nvSpPr>
        <p:spPr>
          <a:xfrm>
            <a:off x="389909" y="6451888"/>
            <a:ext cx="358775" cy="365125"/>
          </a:xfrm>
          <a:prstGeom prst="rect">
            <a:avLst/>
          </a:prstGeom>
        </p:spPr>
        <p:txBody>
          <a:bodyPr/>
          <a:lstStyle>
            <a:lvl1pPr>
              <a:defRPr/>
            </a:lvl1pPr>
          </a:lstStyle>
          <a:p>
            <a:pPr>
              <a:defRPr/>
            </a:pPr>
            <a:fld id="{1F2884EB-C6E3-684C-A39B-0E652C4E0E60}" type="slidenum">
              <a:rPr lang="en-US"/>
              <a:pPr>
                <a:defRPr/>
              </a:pPr>
              <a:t>‹#›</a:t>
            </a:fld>
            <a:endParaRPr lang="en-US"/>
          </a:p>
        </p:txBody>
      </p:sp>
      <p:sp>
        <p:nvSpPr>
          <p:cNvPr id="6" name="Date Placeholder 2"/>
          <p:cNvSpPr>
            <a:spLocks noGrp="1"/>
          </p:cNvSpPr>
          <p:nvPr>
            <p:ph type="dt" sz="half" idx="16"/>
          </p:nvPr>
        </p:nvSpPr>
        <p:spPr>
          <a:xfrm>
            <a:off x="810597" y="6451888"/>
            <a:ext cx="1643062" cy="365125"/>
          </a:xfrm>
          <a:prstGeom prst="rect">
            <a:avLst/>
          </a:prstGeom>
        </p:spPr>
        <p:txBody>
          <a:bodyPr/>
          <a:lstStyle>
            <a:lvl1pPr>
              <a:defRPr/>
            </a:lvl1pPr>
          </a:lstStyle>
          <a:p>
            <a:pPr>
              <a:defRPr/>
            </a:pPr>
            <a:fld id="{C3C34853-5176-47E5-842C-4B7D8EE254F0}" type="datetime1">
              <a:rPr lang="en-US" smtClean="0"/>
              <a:t>2/3/2026</a:t>
            </a:fld>
            <a:endParaRPr lang="en-US"/>
          </a:p>
        </p:txBody>
      </p:sp>
      <p:sp>
        <p:nvSpPr>
          <p:cNvPr id="2" name="Rectangle 1"/>
          <p:cNvSpPr/>
          <p:nvPr userDrawn="1"/>
        </p:nvSpPr>
        <p:spPr>
          <a:xfrm>
            <a:off x="0" y="1242942"/>
            <a:ext cx="9144000" cy="2530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itle 12"/>
          <p:cNvSpPr>
            <a:spLocks noGrp="1"/>
          </p:cNvSpPr>
          <p:nvPr>
            <p:ph type="title"/>
          </p:nvPr>
        </p:nvSpPr>
        <p:spPr/>
        <p:txBody>
          <a:bodyPr/>
          <a:lstStyle/>
          <a:p>
            <a:r>
              <a:rPr lang="en-US"/>
              <a:t>Click to edit Master title style</a:t>
            </a:r>
          </a:p>
        </p:txBody>
      </p:sp>
      <p:sp>
        <p:nvSpPr>
          <p:cNvPr id="7" name="Text Placeholder 20"/>
          <p:cNvSpPr>
            <a:spLocks noGrp="1"/>
          </p:cNvSpPr>
          <p:nvPr>
            <p:ph type="body" sz="quarter" idx="17" hasCustomPrompt="1"/>
          </p:nvPr>
        </p:nvSpPr>
        <p:spPr>
          <a:xfrm>
            <a:off x="5418164" y="6451602"/>
            <a:ext cx="3315778" cy="365125"/>
          </a:xfrm>
        </p:spPr>
        <p:txBody>
          <a:bodyPr anchor="ctr"/>
          <a:lstStyle>
            <a:lvl1pPr marL="0" indent="0" algn="r">
              <a:buFontTx/>
              <a:buNone/>
              <a:defRPr sz="788">
                <a:solidFill>
                  <a:schemeClr val="bg1"/>
                </a:solidFill>
              </a:defRPr>
            </a:lvl1pPr>
            <a:lvl2pPr>
              <a:defRPr sz="788">
                <a:solidFill>
                  <a:schemeClr val="bg1"/>
                </a:solidFill>
              </a:defRPr>
            </a:lvl2pPr>
            <a:lvl3pPr>
              <a:defRPr sz="788">
                <a:solidFill>
                  <a:schemeClr val="bg1"/>
                </a:solidFill>
              </a:defRPr>
            </a:lvl3pPr>
            <a:lvl4pPr>
              <a:defRPr sz="788">
                <a:solidFill>
                  <a:schemeClr val="bg1"/>
                </a:solidFill>
              </a:defRPr>
            </a:lvl4pPr>
            <a:lvl5pPr>
              <a:defRPr sz="788">
                <a:solidFill>
                  <a:schemeClr val="bg1"/>
                </a:solidFill>
              </a:defRPr>
            </a:lvl5pPr>
          </a:lstStyle>
          <a:p>
            <a:pPr lvl="0"/>
            <a:r>
              <a:rPr lang="en-US"/>
              <a:t>CSG2C3 – </a:t>
            </a:r>
            <a:r>
              <a:rPr lang="en-US" err="1"/>
              <a:t>Interaksi</a:t>
            </a:r>
            <a:r>
              <a:rPr lang="en-US"/>
              <a:t> </a:t>
            </a:r>
            <a:r>
              <a:rPr lang="en-US" err="1"/>
              <a:t>Manusia</a:t>
            </a:r>
            <a:r>
              <a:rPr lang="en-US"/>
              <a:t> Dan </a:t>
            </a:r>
            <a:r>
              <a:rPr lang="en-US" err="1"/>
              <a:t>Komputer</a:t>
            </a:r>
            <a:endParaRPr lang="en-US"/>
          </a:p>
        </p:txBody>
      </p:sp>
    </p:spTree>
    <p:extLst>
      <p:ext uri="{BB962C8B-B14F-4D97-AF65-F5344CB8AC3E}">
        <p14:creationId xmlns:p14="http://schemas.microsoft.com/office/powerpoint/2010/main" val="34379124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7" name="Google Shape;11;p2" descr="A building with a sign on it&#10;&#10;AI-generated content may be incorrect.">
            <a:extLst>
              <a:ext uri="{FF2B5EF4-FFF2-40B4-BE49-F238E27FC236}">
                <a16:creationId xmlns:a16="http://schemas.microsoft.com/office/drawing/2014/main" id="{E0537076-5C85-2C73-F761-E0886F0D9238}"/>
              </a:ext>
            </a:extLst>
          </p:cNvPr>
          <p:cNvPicPr preferRelativeResize="0"/>
          <p:nvPr userDrawn="1"/>
        </p:nvPicPr>
        <p:blipFill rotWithShape="1">
          <a:blip r:embed="rId2">
            <a:alphaModFix/>
          </a:blip>
          <a:srcRect l="4762"/>
          <a:stretch/>
        </p:blipFill>
        <p:spPr>
          <a:xfrm>
            <a:off x="1" y="2006600"/>
            <a:ext cx="3315974" cy="4851400"/>
          </a:xfrm>
          <a:prstGeom prst="rect">
            <a:avLst/>
          </a:prstGeom>
          <a:noFill/>
          <a:ln>
            <a:noFill/>
          </a:ln>
        </p:spPr>
      </p:pic>
      <p:sp>
        <p:nvSpPr>
          <p:cNvPr id="28" name="Google Shape;12;p2">
            <a:extLst>
              <a:ext uri="{FF2B5EF4-FFF2-40B4-BE49-F238E27FC236}">
                <a16:creationId xmlns:a16="http://schemas.microsoft.com/office/drawing/2014/main" id="{AEE0564A-E2C1-05A4-1A67-3D6F78C05B5A}"/>
              </a:ext>
            </a:extLst>
          </p:cNvPr>
          <p:cNvSpPr/>
          <p:nvPr userDrawn="1"/>
        </p:nvSpPr>
        <p:spPr>
          <a:xfrm rot="10800000" flipH="1">
            <a:off x="0" y="5074922"/>
            <a:ext cx="9144000" cy="1783073"/>
          </a:xfrm>
          <a:prstGeom prst="rect">
            <a:avLst/>
          </a:prstGeom>
          <a:gradFill>
            <a:gsLst>
              <a:gs pos="0">
                <a:schemeClr val="lt1"/>
              </a:gs>
              <a:gs pos="25000">
                <a:schemeClr val="lt1"/>
              </a:gs>
              <a:gs pos="100000">
                <a:srgbClr val="FFFFFF">
                  <a:alpha val="0"/>
                </a:srgbClr>
              </a:gs>
            </a:gsLst>
            <a:lin ang="5400000" scaled="0"/>
          </a:gradFill>
          <a:ln>
            <a:noFill/>
          </a:ln>
        </p:spPr>
        <p:txBody>
          <a:bodyPr spcFirstLastPara="1" wrap="square" lIns="51427" tIns="25706" rIns="51427" bIns="25706"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Fjalla One"/>
              <a:ea typeface="Fjalla One"/>
              <a:cs typeface="Fjalla One"/>
              <a:sym typeface="Fjalla One"/>
            </a:endParaRPr>
          </a:p>
        </p:txBody>
      </p:sp>
      <p:grpSp>
        <p:nvGrpSpPr>
          <p:cNvPr id="29" name="Google Shape;13;p2">
            <a:extLst>
              <a:ext uri="{FF2B5EF4-FFF2-40B4-BE49-F238E27FC236}">
                <a16:creationId xmlns:a16="http://schemas.microsoft.com/office/drawing/2014/main" id="{9498DB6D-99BA-F051-9A71-18594EA631CE}"/>
              </a:ext>
            </a:extLst>
          </p:cNvPr>
          <p:cNvGrpSpPr/>
          <p:nvPr userDrawn="1"/>
        </p:nvGrpSpPr>
        <p:grpSpPr>
          <a:xfrm>
            <a:off x="4572000" y="6528817"/>
            <a:ext cx="4594860" cy="658366"/>
            <a:chOff x="6566098" y="6529395"/>
            <a:chExt cx="5625902" cy="658365"/>
          </a:xfrm>
        </p:grpSpPr>
        <p:sp>
          <p:nvSpPr>
            <p:cNvPr id="30" name="Google Shape;14;p2">
              <a:extLst>
                <a:ext uri="{FF2B5EF4-FFF2-40B4-BE49-F238E27FC236}">
                  <a16:creationId xmlns:a16="http://schemas.microsoft.com/office/drawing/2014/main" id="{E89529E6-C0A5-1528-A508-4C819816DBCA}"/>
                </a:ext>
              </a:extLst>
            </p:cNvPr>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dk1"/>
                </a:solidFill>
                <a:latin typeface="Fjalla One"/>
                <a:ea typeface="Fjalla One"/>
                <a:cs typeface="Fjalla One"/>
                <a:sym typeface="Fjalla One"/>
              </a:endParaRPr>
            </a:p>
          </p:txBody>
        </p:sp>
        <p:sp>
          <p:nvSpPr>
            <p:cNvPr id="31" name="Google Shape;15;p2">
              <a:extLst>
                <a:ext uri="{FF2B5EF4-FFF2-40B4-BE49-F238E27FC236}">
                  <a16:creationId xmlns:a16="http://schemas.microsoft.com/office/drawing/2014/main" id="{88D357DC-70B7-9552-A302-673A20399253}"/>
                </a:ext>
              </a:extLst>
            </p:cNvPr>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Fjalla One"/>
                <a:ea typeface="Fjalla One"/>
                <a:cs typeface="Fjalla One"/>
                <a:sym typeface="Fjalla One"/>
              </a:endParaRPr>
            </a:p>
          </p:txBody>
        </p:sp>
      </p:grpSp>
      <p:grpSp>
        <p:nvGrpSpPr>
          <p:cNvPr id="32" name="Google Shape;16;p2">
            <a:extLst>
              <a:ext uri="{FF2B5EF4-FFF2-40B4-BE49-F238E27FC236}">
                <a16:creationId xmlns:a16="http://schemas.microsoft.com/office/drawing/2014/main" id="{132CA385-DE98-0CA9-CD41-E6FC7D01C7E0}"/>
              </a:ext>
            </a:extLst>
          </p:cNvPr>
          <p:cNvGrpSpPr/>
          <p:nvPr userDrawn="1"/>
        </p:nvGrpSpPr>
        <p:grpSpPr>
          <a:xfrm flipH="1">
            <a:off x="0" y="6527465"/>
            <a:ext cx="4594860" cy="658366"/>
            <a:chOff x="6566098" y="6529395"/>
            <a:chExt cx="5625902" cy="658365"/>
          </a:xfrm>
        </p:grpSpPr>
        <p:sp>
          <p:nvSpPr>
            <p:cNvPr id="33" name="Google Shape;17;p2">
              <a:extLst>
                <a:ext uri="{FF2B5EF4-FFF2-40B4-BE49-F238E27FC236}">
                  <a16:creationId xmlns:a16="http://schemas.microsoft.com/office/drawing/2014/main" id="{0D7DE197-65C7-5B78-59FA-8B2A058190FE}"/>
                </a:ext>
              </a:extLst>
            </p:cNvPr>
            <p:cNvSpPr/>
            <p:nvPr/>
          </p:nvSpPr>
          <p:spPr>
            <a:xfrm>
              <a:off x="6566098" y="6530553"/>
              <a:ext cx="627328" cy="657207"/>
            </a:xfrm>
            <a:prstGeom prst="pie">
              <a:avLst>
                <a:gd name="adj1" fmla="val 10800000"/>
                <a:gd name="adj2" fmla="val 16200000"/>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dk1"/>
                </a:solidFill>
                <a:latin typeface="Fjalla One"/>
                <a:ea typeface="Fjalla One"/>
                <a:cs typeface="Fjalla One"/>
                <a:sym typeface="Fjalla One"/>
              </a:endParaRPr>
            </a:p>
          </p:txBody>
        </p:sp>
        <p:sp>
          <p:nvSpPr>
            <p:cNvPr id="34" name="Google Shape;18;p2">
              <a:extLst>
                <a:ext uri="{FF2B5EF4-FFF2-40B4-BE49-F238E27FC236}">
                  <a16:creationId xmlns:a16="http://schemas.microsoft.com/office/drawing/2014/main" id="{B2452A4C-FC7F-D04E-6AA4-71A570C323F6}"/>
                </a:ext>
              </a:extLst>
            </p:cNvPr>
            <p:cNvSpPr/>
            <p:nvPr/>
          </p:nvSpPr>
          <p:spPr>
            <a:xfrm>
              <a:off x="6870700" y="6529395"/>
              <a:ext cx="5321300" cy="328596"/>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013" b="0" i="0" u="none" strike="noStrike" cap="none">
                <a:solidFill>
                  <a:schemeClr val="lt1"/>
                </a:solidFill>
                <a:latin typeface="Fjalla One"/>
                <a:ea typeface="Fjalla One"/>
                <a:cs typeface="Fjalla One"/>
                <a:sym typeface="Fjalla One"/>
              </a:endParaRPr>
            </a:p>
          </p:txBody>
        </p:sp>
      </p:grpSp>
      <p:sp>
        <p:nvSpPr>
          <p:cNvPr id="35" name="Google Shape;19;p2">
            <a:extLst>
              <a:ext uri="{FF2B5EF4-FFF2-40B4-BE49-F238E27FC236}">
                <a16:creationId xmlns:a16="http://schemas.microsoft.com/office/drawing/2014/main" id="{D84E64DF-AE7F-574A-D71F-2C1F87D8AB45}"/>
              </a:ext>
            </a:extLst>
          </p:cNvPr>
          <p:cNvSpPr txBox="1">
            <a:spLocks noGrp="1"/>
          </p:cNvSpPr>
          <p:nvPr>
            <p:ph type="ctrTitle"/>
          </p:nvPr>
        </p:nvSpPr>
        <p:spPr>
          <a:xfrm>
            <a:off x="3532909" y="1702118"/>
            <a:ext cx="5248189" cy="17268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Fjalla One"/>
              <a:buNone/>
              <a:defRPr>
                <a:latin typeface="Fjalla One"/>
                <a:ea typeface="Fjalla One"/>
                <a:cs typeface="Fjalla One"/>
                <a:sym typeface="Fjalla 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6" name="Google Shape;20;p2">
            <a:extLst>
              <a:ext uri="{FF2B5EF4-FFF2-40B4-BE49-F238E27FC236}">
                <a16:creationId xmlns:a16="http://schemas.microsoft.com/office/drawing/2014/main" id="{D169DF87-5CCF-A284-21D4-D61B5C288989}"/>
              </a:ext>
            </a:extLst>
          </p:cNvPr>
          <p:cNvSpPr txBox="1">
            <a:spLocks noGrp="1"/>
          </p:cNvSpPr>
          <p:nvPr>
            <p:ph type="subTitle" idx="1"/>
          </p:nvPr>
        </p:nvSpPr>
        <p:spPr>
          <a:xfrm>
            <a:off x="3532909" y="3468456"/>
            <a:ext cx="5248189" cy="119756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563"/>
              </a:spcBef>
              <a:spcAft>
                <a:spcPts val="0"/>
              </a:spcAft>
              <a:buClr>
                <a:schemeClr val="dk1"/>
              </a:buClr>
              <a:buSzPts val="2400"/>
              <a:buNone/>
              <a:defRPr sz="1350">
                <a:latin typeface="Fjalla One"/>
                <a:ea typeface="Fjalla One"/>
                <a:cs typeface="Fjalla One"/>
                <a:sym typeface="Fjalla One"/>
              </a:defRPr>
            </a:lvl1pPr>
            <a:lvl2pPr lvl="1" algn="l">
              <a:lnSpc>
                <a:spcPct val="100000"/>
              </a:lnSpc>
              <a:spcBef>
                <a:spcPts val="281"/>
              </a:spcBef>
              <a:spcAft>
                <a:spcPts val="0"/>
              </a:spcAft>
              <a:buClr>
                <a:schemeClr val="dk1"/>
              </a:buClr>
              <a:buSzPts val="1800"/>
              <a:buChar char="•"/>
              <a:defRPr/>
            </a:lvl2pPr>
            <a:lvl3pPr lvl="2" algn="l">
              <a:lnSpc>
                <a:spcPct val="100000"/>
              </a:lnSpc>
              <a:spcBef>
                <a:spcPts val="281"/>
              </a:spcBef>
              <a:spcAft>
                <a:spcPts val="0"/>
              </a:spcAft>
              <a:buClr>
                <a:schemeClr val="dk1"/>
              </a:buClr>
              <a:buSzPts val="1800"/>
              <a:buChar char="•"/>
              <a:defRPr/>
            </a:lvl3pPr>
            <a:lvl4pPr lvl="3" algn="l">
              <a:lnSpc>
                <a:spcPct val="100000"/>
              </a:lnSpc>
              <a:spcBef>
                <a:spcPts val="281"/>
              </a:spcBef>
              <a:spcAft>
                <a:spcPts val="0"/>
              </a:spcAft>
              <a:buClr>
                <a:schemeClr val="dk1"/>
              </a:buClr>
              <a:buSzPts val="1800"/>
              <a:buChar char="•"/>
              <a:defRPr/>
            </a:lvl4pPr>
            <a:lvl5pPr lvl="4" algn="l">
              <a:lnSpc>
                <a:spcPct val="100000"/>
              </a:lnSpc>
              <a:spcBef>
                <a:spcPts val="281"/>
              </a:spcBef>
              <a:spcAft>
                <a:spcPts val="0"/>
              </a:spcAft>
              <a:buClr>
                <a:schemeClr val="dk1"/>
              </a:buClr>
              <a:buSzPts val="1800"/>
              <a:buChar char="•"/>
              <a:defRPr/>
            </a:lvl5pPr>
            <a:lvl6pPr lvl="5" algn="l">
              <a:lnSpc>
                <a:spcPct val="90000"/>
              </a:lnSpc>
              <a:spcBef>
                <a:spcPts val="281"/>
              </a:spcBef>
              <a:spcAft>
                <a:spcPts val="0"/>
              </a:spcAft>
              <a:buClr>
                <a:schemeClr val="dk1"/>
              </a:buClr>
              <a:buSzPts val="1800"/>
              <a:buChar char="•"/>
              <a:defRPr/>
            </a:lvl6pPr>
            <a:lvl7pPr lvl="6" algn="l">
              <a:lnSpc>
                <a:spcPct val="90000"/>
              </a:lnSpc>
              <a:spcBef>
                <a:spcPts val="281"/>
              </a:spcBef>
              <a:spcAft>
                <a:spcPts val="0"/>
              </a:spcAft>
              <a:buClr>
                <a:schemeClr val="dk1"/>
              </a:buClr>
              <a:buSzPts val="1800"/>
              <a:buChar char="•"/>
              <a:defRPr/>
            </a:lvl7pPr>
            <a:lvl8pPr lvl="7" algn="l">
              <a:lnSpc>
                <a:spcPct val="90000"/>
              </a:lnSpc>
              <a:spcBef>
                <a:spcPts val="281"/>
              </a:spcBef>
              <a:spcAft>
                <a:spcPts val="0"/>
              </a:spcAft>
              <a:buClr>
                <a:schemeClr val="dk1"/>
              </a:buClr>
              <a:buSzPts val="1800"/>
              <a:buChar char="•"/>
              <a:defRPr/>
            </a:lvl8pPr>
            <a:lvl9pPr lvl="8" algn="l">
              <a:lnSpc>
                <a:spcPct val="90000"/>
              </a:lnSpc>
              <a:spcBef>
                <a:spcPts val="281"/>
              </a:spcBef>
              <a:spcAft>
                <a:spcPts val="0"/>
              </a:spcAft>
              <a:buClr>
                <a:schemeClr val="dk1"/>
              </a:buClr>
              <a:buSzPts val="1800"/>
              <a:buChar char="•"/>
              <a:defRPr/>
            </a:lvl9pPr>
          </a:lstStyle>
          <a:p>
            <a:r>
              <a:rPr lang="en-US"/>
              <a:t>Click to edit Master subtitle style</a:t>
            </a:r>
            <a:endParaRPr/>
          </a:p>
        </p:txBody>
      </p:sp>
      <p:pic>
        <p:nvPicPr>
          <p:cNvPr id="37" name="Google Shape;21;p2" descr="A black text on a black background&#10;&#10;AI-generated content may be incorrect.">
            <a:extLst>
              <a:ext uri="{FF2B5EF4-FFF2-40B4-BE49-F238E27FC236}">
                <a16:creationId xmlns:a16="http://schemas.microsoft.com/office/drawing/2014/main" id="{DF70545C-9F4F-4F83-318F-3453A33B7361}"/>
              </a:ext>
            </a:extLst>
          </p:cNvPr>
          <p:cNvPicPr preferRelativeResize="0"/>
          <p:nvPr userDrawn="1"/>
        </p:nvPicPr>
        <p:blipFill rotWithShape="1">
          <a:blip r:embed="rId3">
            <a:alphaModFix/>
          </a:blip>
          <a:srcRect/>
          <a:stretch/>
        </p:blipFill>
        <p:spPr>
          <a:xfrm>
            <a:off x="290230" y="223038"/>
            <a:ext cx="757142" cy="345533"/>
          </a:xfrm>
          <a:prstGeom prst="rect">
            <a:avLst/>
          </a:prstGeom>
          <a:noFill/>
          <a:ln>
            <a:noFill/>
          </a:ln>
        </p:spPr>
      </p:pic>
      <p:grpSp>
        <p:nvGrpSpPr>
          <p:cNvPr id="38" name="Google Shape;22;p2">
            <a:extLst>
              <a:ext uri="{FF2B5EF4-FFF2-40B4-BE49-F238E27FC236}">
                <a16:creationId xmlns:a16="http://schemas.microsoft.com/office/drawing/2014/main" id="{9663365D-16E5-B08A-CEFA-860346203D77}"/>
              </a:ext>
            </a:extLst>
          </p:cNvPr>
          <p:cNvGrpSpPr/>
          <p:nvPr userDrawn="1"/>
        </p:nvGrpSpPr>
        <p:grpSpPr>
          <a:xfrm>
            <a:off x="6821314" y="113327"/>
            <a:ext cx="2032457" cy="503420"/>
            <a:chOff x="9320766" y="88308"/>
            <a:chExt cx="2709943" cy="503420"/>
          </a:xfrm>
        </p:grpSpPr>
        <p:pic>
          <p:nvPicPr>
            <p:cNvPr id="39" name="Google Shape;23;p2" descr="A yellow text on a black background&#10;&#10;AI-generated content may be incorrect.">
              <a:extLst>
                <a:ext uri="{FF2B5EF4-FFF2-40B4-BE49-F238E27FC236}">
                  <a16:creationId xmlns:a16="http://schemas.microsoft.com/office/drawing/2014/main" id="{2924F0E4-B3A6-2106-ECFD-7B20C766FC9B}"/>
                </a:ext>
              </a:extLst>
            </p:cNvPr>
            <p:cNvPicPr preferRelativeResize="0"/>
            <p:nvPr/>
          </p:nvPicPr>
          <p:blipFill rotWithShape="1">
            <a:blip r:embed="rId4">
              <a:alphaModFix/>
            </a:blip>
            <a:srcRect/>
            <a:stretch/>
          </p:blipFill>
          <p:spPr>
            <a:xfrm>
              <a:off x="10795000" y="158222"/>
              <a:ext cx="1235709" cy="371490"/>
            </a:xfrm>
            <a:prstGeom prst="rect">
              <a:avLst/>
            </a:prstGeom>
            <a:noFill/>
            <a:ln>
              <a:noFill/>
            </a:ln>
          </p:spPr>
        </p:pic>
        <p:pic>
          <p:nvPicPr>
            <p:cNvPr id="40" name="Google Shape;24;p2" descr="A person holding a microphone&#10;&#10;AI-generated content may be incorrect.">
              <a:extLst>
                <a:ext uri="{FF2B5EF4-FFF2-40B4-BE49-F238E27FC236}">
                  <a16:creationId xmlns:a16="http://schemas.microsoft.com/office/drawing/2014/main" id="{8947DE6A-BF60-CC78-A84D-B4D5B86728CA}"/>
                </a:ext>
              </a:extLst>
            </p:cNvPr>
            <p:cNvPicPr preferRelativeResize="0"/>
            <p:nvPr/>
          </p:nvPicPr>
          <p:blipFill rotWithShape="1">
            <a:blip r:embed="rId5">
              <a:alphaModFix/>
            </a:blip>
            <a:srcRect/>
            <a:stretch/>
          </p:blipFill>
          <p:spPr>
            <a:xfrm>
              <a:off x="9320766" y="88308"/>
              <a:ext cx="1404190" cy="503420"/>
            </a:xfrm>
            <a:prstGeom prst="rect">
              <a:avLst/>
            </a:prstGeom>
            <a:noFill/>
            <a:ln>
              <a:noFill/>
            </a:ln>
          </p:spPr>
        </p:pic>
      </p:grpSp>
      <p:pic>
        <p:nvPicPr>
          <p:cNvPr id="41" name="Google Shape;25;p2" descr="A black background with yellow and grey text&#10;&#10;AI-generated content may be incorrect.">
            <a:extLst>
              <a:ext uri="{FF2B5EF4-FFF2-40B4-BE49-F238E27FC236}">
                <a16:creationId xmlns:a16="http://schemas.microsoft.com/office/drawing/2014/main" id="{0D90C1AF-3024-4860-7803-5E34BE6C44C8}"/>
              </a:ext>
            </a:extLst>
          </p:cNvPr>
          <p:cNvPicPr preferRelativeResize="0"/>
          <p:nvPr userDrawn="1"/>
        </p:nvPicPr>
        <p:blipFill rotWithShape="1">
          <a:blip r:embed="rId6">
            <a:alphaModFix/>
          </a:blip>
          <a:srcRect/>
          <a:stretch/>
        </p:blipFill>
        <p:spPr>
          <a:xfrm>
            <a:off x="1142038" y="154187"/>
            <a:ext cx="1447800" cy="483228"/>
          </a:xfrm>
          <a:prstGeom prst="rect">
            <a:avLst/>
          </a:prstGeom>
          <a:noFill/>
          <a:ln>
            <a:noFill/>
          </a:ln>
        </p:spPr>
      </p:pic>
      <p:grpSp>
        <p:nvGrpSpPr>
          <p:cNvPr id="42" name="Google Shape;26;p2">
            <a:extLst>
              <a:ext uri="{FF2B5EF4-FFF2-40B4-BE49-F238E27FC236}">
                <a16:creationId xmlns:a16="http://schemas.microsoft.com/office/drawing/2014/main" id="{609B1F3C-0AFA-C4A8-E79A-89A001AECBC1}"/>
              </a:ext>
            </a:extLst>
          </p:cNvPr>
          <p:cNvGrpSpPr/>
          <p:nvPr userDrawn="1"/>
        </p:nvGrpSpPr>
        <p:grpSpPr>
          <a:xfrm>
            <a:off x="3315975" y="126998"/>
            <a:ext cx="2562463" cy="498680"/>
            <a:chOff x="4421298" y="126998"/>
            <a:chExt cx="3416617" cy="498680"/>
          </a:xfrm>
        </p:grpSpPr>
        <p:sp>
          <p:nvSpPr>
            <p:cNvPr id="43" name="Google Shape;27;p2">
              <a:extLst>
                <a:ext uri="{FF2B5EF4-FFF2-40B4-BE49-F238E27FC236}">
                  <a16:creationId xmlns:a16="http://schemas.microsoft.com/office/drawing/2014/main" id="{052513E6-0DC3-3E7B-F514-B32D316569AA}"/>
                </a:ext>
              </a:extLst>
            </p:cNvPr>
            <p:cNvSpPr txBox="1"/>
            <p:nvPr/>
          </p:nvSpPr>
          <p:spPr>
            <a:xfrm>
              <a:off x="5766211" y="222450"/>
              <a:ext cx="2071704" cy="2135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788" b="1" i="0" u="none" strike="noStrike" cap="none">
                  <a:solidFill>
                    <a:srgbClr val="996600"/>
                  </a:solidFill>
                  <a:latin typeface="Calibri"/>
                  <a:ea typeface="Calibri"/>
                  <a:cs typeface="Calibri"/>
                  <a:sym typeface="Calibri"/>
                </a:rPr>
                <a:t>#InformatikaBerkarakter</a:t>
              </a:r>
              <a:endParaRPr sz="788" b="0" i="0" u="none" strike="noStrike" cap="none">
                <a:solidFill>
                  <a:srgbClr val="000000"/>
                </a:solidFill>
                <a:latin typeface="Calibri"/>
                <a:ea typeface="Calibri"/>
                <a:cs typeface="Calibri"/>
                <a:sym typeface="Calibri"/>
              </a:endParaRPr>
            </a:p>
          </p:txBody>
        </p:sp>
        <p:pic>
          <p:nvPicPr>
            <p:cNvPr id="44" name="Google Shape;28;p2" descr="A logo with a black background&#10;&#10;AI-generated content may be incorrect.">
              <a:extLst>
                <a:ext uri="{FF2B5EF4-FFF2-40B4-BE49-F238E27FC236}">
                  <a16:creationId xmlns:a16="http://schemas.microsoft.com/office/drawing/2014/main" id="{387C61C9-0E05-65B5-E498-07125E3A06B0}"/>
                </a:ext>
              </a:extLst>
            </p:cNvPr>
            <p:cNvPicPr preferRelativeResize="0"/>
            <p:nvPr/>
          </p:nvPicPr>
          <p:blipFill rotWithShape="1">
            <a:blip r:embed="rId7">
              <a:alphaModFix/>
            </a:blip>
            <a:srcRect l="7304" t="24481" r="5732" b="29999"/>
            <a:stretch/>
          </p:blipFill>
          <p:spPr>
            <a:xfrm>
              <a:off x="4421298" y="126998"/>
              <a:ext cx="1347134" cy="498680"/>
            </a:xfrm>
            <a:prstGeom prst="rect">
              <a:avLst/>
            </a:prstGeom>
            <a:noFill/>
            <a:ln>
              <a:noFill/>
            </a:ln>
          </p:spPr>
        </p:pic>
      </p:grpSp>
      <p:pic>
        <p:nvPicPr>
          <p:cNvPr id="45" name="Google Shape;29;p2">
            <a:extLst>
              <a:ext uri="{FF2B5EF4-FFF2-40B4-BE49-F238E27FC236}">
                <a16:creationId xmlns:a16="http://schemas.microsoft.com/office/drawing/2014/main" id="{876301C3-B7E8-510A-0E60-1B6D01BFE332}"/>
              </a:ext>
            </a:extLst>
          </p:cNvPr>
          <p:cNvPicPr preferRelativeResize="0"/>
          <p:nvPr userDrawn="1"/>
        </p:nvPicPr>
        <p:blipFill rotWithShape="1">
          <a:blip r:embed="rId8">
            <a:alphaModFix/>
          </a:blip>
          <a:srcRect/>
          <a:stretch/>
        </p:blipFill>
        <p:spPr>
          <a:xfrm>
            <a:off x="4196296" y="6116054"/>
            <a:ext cx="4851313" cy="323116"/>
          </a:xfrm>
          <a:prstGeom prst="rect">
            <a:avLst/>
          </a:prstGeom>
          <a:noFill/>
          <a:ln>
            <a:noFill/>
          </a:ln>
        </p:spPr>
      </p:pic>
    </p:spTree>
    <p:extLst>
      <p:ext uri="{BB962C8B-B14F-4D97-AF65-F5344CB8AC3E}">
        <p14:creationId xmlns:p14="http://schemas.microsoft.com/office/powerpoint/2010/main" val="3893624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jalla One"/>
              <a:buNone/>
              <a:defRPr sz="4400" b="0" i="0" u="none" strike="noStrike" cap="none">
                <a:solidFill>
                  <a:schemeClr val="dk1"/>
                </a:solidFill>
                <a:latin typeface="Fjalla One"/>
                <a:ea typeface="Fjalla One"/>
                <a:cs typeface="Fjalla One"/>
                <a:sym typeface="Fjalla On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Barlow"/>
                <a:ea typeface="Barlow"/>
                <a:cs typeface="Barlow"/>
                <a:sym typeface="Barlow"/>
              </a:defRPr>
            </a:lvl1pPr>
            <a:lvl2pPr marL="914400" marR="0" lvl="1"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Barlow"/>
                <a:ea typeface="Barlow"/>
                <a:cs typeface="Barlow"/>
                <a:sym typeface="Barlow"/>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Barlow"/>
                <a:ea typeface="Barlow"/>
                <a:cs typeface="Barlow"/>
                <a:sym typeface="Barlow"/>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Barlow"/>
                <a:ea typeface="Barlow"/>
                <a:cs typeface="Barlow"/>
                <a:sym typeface="Barlow"/>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Barlow"/>
                <a:ea typeface="Barlow"/>
                <a:cs typeface="Barlow"/>
                <a:sym typeface="Barlow"/>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757575"/>
                </a:solidFill>
                <a:latin typeface="Barlow"/>
                <a:ea typeface="Barlow"/>
                <a:cs typeface="Barlow"/>
                <a:sym typeface="Barlow"/>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Arial"/>
                <a:ea typeface="Arial"/>
                <a:cs typeface="Arial"/>
                <a:sym typeface="Arial"/>
              </a:defRPr>
            </a:lvl9pPr>
          </a:lstStyle>
          <a:p>
            <a:fld id="{EF2B7172-C291-4C55-9394-AADA44033365}" type="datetime1">
              <a:rPr lang="en-US" smtClean="0"/>
              <a:t>2/3/2026</a:t>
            </a:fld>
            <a:endParaRPr/>
          </a:p>
        </p:txBody>
      </p:sp>
      <p:sp>
        <p:nvSpPr>
          <p:cNvPr id="9" name="Google Shape;9;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1pPr>
            <a:lvl2pPr marL="0" marR="0" lvl="1"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2pPr>
            <a:lvl3pPr marL="0" marR="0" lvl="2"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3pPr>
            <a:lvl4pPr marL="0" marR="0" lvl="3"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4pPr>
            <a:lvl5pPr marL="0" marR="0" lvl="4"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5pPr>
            <a:lvl6pPr marL="0" marR="0" lvl="5"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6pPr>
            <a:lvl7pPr marL="0" marR="0" lvl="6"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7pPr>
            <a:lvl8pPr marL="0" marR="0" lvl="7"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8pPr>
            <a:lvl9pPr marL="0" marR="0" lvl="8" indent="0" algn="r" rtl="0">
              <a:lnSpc>
                <a:spcPct val="100000"/>
              </a:lnSpc>
              <a:spcBef>
                <a:spcPts val="0"/>
              </a:spcBef>
              <a:spcAft>
                <a:spcPts val="0"/>
              </a:spcAft>
              <a:buClr>
                <a:srgbClr val="000000"/>
              </a:buClr>
              <a:buSzPts val="1200"/>
              <a:buFont typeface="Arial"/>
              <a:buNone/>
              <a:defRPr sz="900" b="0" i="0" u="none" strike="noStrike" cap="none">
                <a:solidFill>
                  <a:srgbClr val="757575"/>
                </a:solidFill>
                <a:latin typeface="Barlow"/>
                <a:ea typeface="Barlow"/>
                <a:cs typeface="Barlow"/>
                <a:sym typeface="Barlow"/>
              </a:defRPr>
            </a:lvl9pPr>
          </a:lstStyle>
          <a:p>
            <a:fld id="{00000000-1234-1234-1234-123412341234}" type="slidenum">
              <a:rPr lang="en-US" smtClean="0"/>
              <a:pPr/>
              <a:t>‹#›</a:t>
            </a:fld>
            <a:endParaRPr lang="en-US"/>
          </a:p>
        </p:txBody>
      </p:sp>
      <p:sp>
        <p:nvSpPr>
          <p:cNvPr id="2" name="Rectangle 1">
            <a:extLst>
              <a:ext uri="{FF2B5EF4-FFF2-40B4-BE49-F238E27FC236}">
                <a16:creationId xmlns:a16="http://schemas.microsoft.com/office/drawing/2014/main" id="{CDA6E83D-AFB5-AB9E-97C4-D283D8A28D2E}"/>
              </a:ext>
            </a:extLst>
          </p:cNvPr>
          <p:cNvSpPr/>
          <p:nvPr userDrawn="1"/>
        </p:nvSpPr>
        <p:spPr>
          <a:xfrm>
            <a:off x="1" y="2"/>
            <a:ext cx="9143999" cy="685800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040043705"/>
      </p:ext>
    </p:extLst>
  </p:cSld>
  <p:clrMap bg1="lt1" tx1="dk1" bg2="dk2"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698" r:id="rId2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hyperlink" Target="https://www.timetoast.com/timelines/history-of-human-computer-interac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UZPwqImfBf0"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hyperlink" Target="https://collegeinfogeek.com/leap-gesture-computing/" TargetMode="External"/><Relationship Id="rId5" Type="http://schemas.openxmlformats.org/officeDocument/2006/relationships/hyperlink" Target="https://www.youtube.com/watch?v=uaLWylmrpCI" TargetMode="External"/><Relationship Id="rId4" Type="http://schemas.openxmlformats.org/officeDocument/2006/relationships/hyperlink" Target="https://itrestaurant.net/tabl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5.gif"/></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6.jp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0.jpeg"/><Relationship Id="rId5" Type="http://schemas.openxmlformats.org/officeDocument/2006/relationships/image" Target="../media/image29.png"/><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2.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https://www.youtube.com/watch?v=gsNQRcSoa9M" TargetMode="External"/><Relationship Id="rId2" Type="http://schemas.openxmlformats.org/officeDocument/2006/relationships/hyperlink" Target="https://www.youtube.com/watch?v=KtvwustmEDI"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4374064" y="1828233"/>
            <a:ext cx="4550862" cy="573790"/>
          </a:xfrm>
        </p:spPr>
        <p:txBody>
          <a:bodyPr>
            <a:normAutofit fontScale="90000"/>
          </a:bodyPr>
          <a:lstStyle/>
          <a:p>
            <a:r>
              <a:rPr lang="en-US" dirty="0" err="1"/>
              <a:t>Interaksi</a:t>
            </a:r>
            <a:r>
              <a:rPr lang="en-US" dirty="0"/>
              <a:t> </a:t>
            </a:r>
            <a:r>
              <a:rPr lang="en-US" dirty="0" err="1"/>
              <a:t>Manusia</a:t>
            </a:r>
            <a:r>
              <a:rPr lang="en-US" dirty="0"/>
              <a:t> </a:t>
            </a:r>
            <a:r>
              <a:rPr lang="en-US" dirty="0" err="1"/>
              <a:t>dan</a:t>
            </a:r>
            <a:r>
              <a:rPr lang="en-US" dirty="0"/>
              <a:t> </a:t>
            </a:r>
            <a:r>
              <a:rPr lang="en-US" dirty="0" err="1"/>
              <a:t>Komputer</a:t>
            </a:r>
            <a:r>
              <a:rPr lang="en-US" dirty="0"/>
              <a:t> (IMK)</a:t>
            </a:r>
          </a:p>
        </p:txBody>
      </p:sp>
      <p:sp>
        <p:nvSpPr>
          <p:cNvPr id="2" name="TextBox 1"/>
          <p:cNvSpPr txBox="1"/>
          <p:nvPr/>
        </p:nvSpPr>
        <p:spPr>
          <a:xfrm>
            <a:off x="4374064" y="2858102"/>
            <a:ext cx="3399611" cy="369332"/>
          </a:xfrm>
          <a:prstGeom prst="rect">
            <a:avLst/>
          </a:prstGeom>
          <a:ln>
            <a:noFill/>
          </a:ln>
        </p:spPr>
        <p:txBody>
          <a:bodyPr wrap="square" rtlCol="0">
            <a:spAutoFit/>
          </a:bodyPr>
          <a:lstStyle/>
          <a:p>
            <a:r>
              <a:rPr lang="en-US" sz="1800" b="1" dirty="0" err="1"/>
              <a:t>Pengantar</a:t>
            </a:r>
            <a:r>
              <a:rPr lang="en-US" sz="1800" b="1" dirty="0"/>
              <a:t> IMK</a:t>
            </a:r>
          </a:p>
        </p:txBody>
      </p:sp>
    </p:spTree>
    <p:extLst>
      <p:ext uri="{BB962C8B-B14F-4D97-AF65-F5344CB8AC3E}">
        <p14:creationId xmlns:p14="http://schemas.microsoft.com/office/powerpoint/2010/main" val="1191294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err="1"/>
              <a:t>Tujuan</a:t>
            </a:r>
            <a:r>
              <a:rPr lang="en-US"/>
              <a:t> Mata </a:t>
            </a:r>
            <a:r>
              <a:rPr lang="en-US" err="1"/>
              <a:t>Kuliah</a:t>
            </a:r>
            <a:r>
              <a:rPr lang="en-US"/>
              <a:t> IMK</a:t>
            </a:r>
          </a:p>
        </p:txBody>
      </p:sp>
      <p:sp>
        <p:nvSpPr>
          <p:cNvPr id="2" name="Content Placeholder 1"/>
          <p:cNvSpPr>
            <a:spLocks noGrp="1"/>
          </p:cNvSpPr>
          <p:nvPr>
            <p:ph type="body" idx="1"/>
          </p:nvPr>
        </p:nvSpPr>
        <p:spPr>
          <a:xfrm>
            <a:off x="1416844" y="2364412"/>
            <a:ext cx="6244829" cy="3019118"/>
          </a:xfrm>
        </p:spPr>
        <p:txBody>
          <a:bodyPr/>
          <a:lstStyle/>
          <a:p>
            <a:pPr indent="0" algn="just">
              <a:lnSpc>
                <a:spcPct val="150000"/>
              </a:lnSpc>
              <a:spcBef>
                <a:spcPct val="0"/>
              </a:spcBef>
              <a:buNone/>
            </a:pPr>
            <a:r>
              <a:rPr lang="en-US" noProof="1"/>
              <a:t>Setelah mengikuti mata kuliah ini mahasiswa dapat:</a:t>
            </a:r>
          </a:p>
          <a:p>
            <a:pPr marL="0" indent="0" algn="ctr">
              <a:buNone/>
            </a:pPr>
            <a:r>
              <a:rPr lang="en-US"/>
              <a:t>“</a:t>
            </a:r>
            <a:r>
              <a:rPr lang="en-US" b="1" err="1"/>
              <a:t>Merancang</a:t>
            </a:r>
            <a:r>
              <a:rPr lang="en-US"/>
              <a:t> </a:t>
            </a:r>
            <a:r>
              <a:rPr lang="en-US" err="1"/>
              <a:t>antarmuka</a:t>
            </a:r>
            <a:r>
              <a:rPr lang="en-US"/>
              <a:t> </a:t>
            </a:r>
            <a:r>
              <a:rPr lang="en-US" err="1"/>
              <a:t>perangkat</a:t>
            </a:r>
            <a:r>
              <a:rPr lang="en-US"/>
              <a:t> </a:t>
            </a:r>
            <a:r>
              <a:rPr lang="en-US" err="1"/>
              <a:t>lunak</a:t>
            </a:r>
            <a:r>
              <a:rPr lang="en-US"/>
              <a:t> yang </a:t>
            </a:r>
            <a:r>
              <a:rPr lang="en-US" err="1"/>
              <a:t>memenuhi</a:t>
            </a:r>
            <a:r>
              <a:rPr lang="en-US"/>
              <a:t> </a:t>
            </a:r>
            <a:r>
              <a:rPr lang="en-US" b="1" err="1"/>
              <a:t>prinsip</a:t>
            </a:r>
            <a:r>
              <a:rPr lang="en-US" b="1"/>
              <a:t> </a:t>
            </a:r>
            <a:r>
              <a:rPr lang="en-US" b="1" i="1"/>
              <a:t>User Interface </a:t>
            </a:r>
            <a:r>
              <a:rPr lang="en-US" b="1"/>
              <a:t>(UI) </a:t>
            </a:r>
            <a:r>
              <a:rPr lang="en-US"/>
              <a:t>yang </a:t>
            </a:r>
            <a:r>
              <a:rPr lang="en-US" err="1"/>
              <a:t>benar</a:t>
            </a:r>
            <a:r>
              <a:rPr lang="en-US"/>
              <a:t>”</a:t>
            </a:r>
          </a:p>
          <a:p>
            <a:pPr marL="0" indent="0">
              <a:buNone/>
            </a:pPr>
            <a:endParaRPr lang="en-US"/>
          </a:p>
        </p:txBody>
      </p:sp>
    </p:spTree>
    <p:extLst>
      <p:ext uri="{BB962C8B-B14F-4D97-AF65-F5344CB8AC3E}">
        <p14:creationId xmlns:p14="http://schemas.microsoft.com/office/powerpoint/2010/main" val="3115582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ID"/>
              <a:t>Outline</a:t>
            </a:r>
            <a:endParaRPr lang="en-US"/>
          </a:p>
        </p:txBody>
      </p:sp>
      <p:sp>
        <p:nvSpPr>
          <p:cNvPr id="2" name="Content Placeholder 1"/>
          <p:cNvSpPr>
            <a:spLocks noGrp="1"/>
          </p:cNvSpPr>
          <p:nvPr>
            <p:ph type="body" idx="1"/>
          </p:nvPr>
        </p:nvSpPr>
        <p:spPr>
          <a:xfrm>
            <a:off x="365760" y="2364412"/>
            <a:ext cx="8326438" cy="3019118"/>
          </a:xfrm>
        </p:spPr>
        <p:txBody>
          <a:bodyPr>
            <a:normAutofit fontScale="92500" lnSpcReduction="20000"/>
          </a:bodyPr>
          <a:lstStyle/>
          <a:p>
            <a:r>
              <a:rPr lang="en-ID" err="1"/>
              <a:t>Definisi</a:t>
            </a:r>
            <a:r>
              <a:rPr lang="en-ID"/>
              <a:t> IMK</a:t>
            </a:r>
          </a:p>
          <a:p>
            <a:r>
              <a:rPr lang="en-ID" err="1"/>
              <a:t>Pentingnya</a:t>
            </a:r>
            <a:r>
              <a:rPr lang="en-ID"/>
              <a:t> </a:t>
            </a:r>
            <a:r>
              <a:rPr lang="en-ID" err="1"/>
              <a:t>desain</a:t>
            </a:r>
            <a:r>
              <a:rPr lang="en-ID"/>
              <a:t> UI yang </a:t>
            </a:r>
            <a:r>
              <a:rPr lang="en-ID" err="1"/>
              <a:t>baik</a:t>
            </a:r>
            <a:endParaRPr lang="en-ID"/>
          </a:p>
          <a:p>
            <a:r>
              <a:rPr lang="en-ID" err="1"/>
              <a:t>Perkembangan</a:t>
            </a:r>
            <a:r>
              <a:rPr lang="en-ID"/>
              <a:t> IMK</a:t>
            </a:r>
          </a:p>
          <a:p>
            <a:r>
              <a:rPr lang="en-ID" err="1"/>
              <a:t>Tren</a:t>
            </a:r>
            <a:r>
              <a:rPr lang="en-ID"/>
              <a:t> UI/UX</a:t>
            </a:r>
          </a:p>
          <a:p>
            <a:r>
              <a:rPr lang="en-ID"/>
              <a:t>Interaction Framework</a:t>
            </a:r>
          </a:p>
          <a:p>
            <a:r>
              <a:rPr lang="en-ID"/>
              <a:t>Interaction Style</a:t>
            </a:r>
          </a:p>
          <a:p>
            <a:r>
              <a:rPr lang="en-ID" err="1"/>
              <a:t>Karakteristik</a:t>
            </a:r>
            <a:r>
              <a:rPr lang="en-ID"/>
              <a:t> GUI </a:t>
            </a:r>
            <a:r>
              <a:rPr lang="en-ID" err="1"/>
              <a:t>dan</a:t>
            </a:r>
            <a:r>
              <a:rPr lang="en-ID"/>
              <a:t> </a:t>
            </a:r>
            <a:r>
              <a:rPr lang="en-ID" err="1"/>
              <a:t>WebUI</a:t>
            </a:r>
            <a:endParaRPr lang="en-US"/>
          </a:p>
        </p:txBody>
      </p:sp>
    </p:spTree>
    <p:extLst>
      <p:ext uri="{BB962C8B-B14F-4D97-AF65-F5344CB8AC3E}">
        <p14:creationId xmlns:p14="http://schemas.microsoft.com/office/powerpoint/2010/main" val="833820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88838" y="3407011"/>
            <a:ext cx="6244829" cy="480929"/>
          </a:xfrm>
        </p:spPr>
        <p:txBody>
          <a:bodyPr>
            <a:normAutofit fontScale="90000"/>
          </a:bodyPr>
          <a:lstStyle/>
          <a:p>
            <a:r>
              <a:rPr lang="en-ID" err="1"/>
              <a:t>Definisi</a:t>
            </a:r>
            <a:r>
              <a:rPr lang="en-ID"/>
              <a:t> </a:t>
            </a:r>
            <a:r>
              <a:rPr lang="en-ID" err="1"/>
              <a:t>Interaksi</a:t>
            </a:r>
            <a:r>
              <a:rPr lang="en-ID"/>
              <a:t> </a:t>
            </a:r>
            <a:r>
              <a:rPr lang="en-ID" err="1"/>
              <a:t>Manusia</a:t>
            </a:r>
            <a:r>
              <a:rPr lang="en-ID"/>
              <a:t> </a:t>
            </a:r>
            <a:r>
              <a:rPr lang="en-ID" err="1"/>
              <a:t>Komputer</a:t>
            </a:r>
            <a:endParaRPr lang="en-US"/>
          </a:p>
        </p:txBody>
      </p:sp>
    </p:spTree>
    <p:extLst>
      <p:ext uri="{BB962C8B-B14F-4D97-AF65-F5344CB8AC3E}">
        <p14:creationId xmlns:p14="http://schemas.microsoft.com/office/powerpoint/2010/main" val="3093589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err="1"/>
              <a:t>Definisi</a:t>
            </a:r>
            <a:r>
              <a:rPr lang="en-US"/>
              <a:t> IMK/HCI </a:t>
            </a:r>
          </a:p>
        </p:txBody>
      </p:sp>
      <p:sp>
        <p:nvSpPr>
          <p:cNvPr id="2" name="Content Placeholder 1"/>
          <p:cNvSpPr>
            <a:spLocks noGrp="1"/>
          </p:cNvSpPr>
          <p:nvPr>
            <p:ph type="body" idx="1"/>
          </p:nvPr>
        </p:nvSpPr>
        <p:spPr>
          <a:xfrm>
            <a:off x="1417320" y="2364413"/>
            <a:ext cx="6244829" cy="3211551"/>
          </a:xfrm>
        </p:spPr>
        <p:txBody>
          <a:bodyPr/>
          <a:lstStyle/>
          <a:p>
            <a:pPr algn="just">
              <a:spcBef>
                <a:spcPct val="0"/>
              </a:spcBef>
            </a:pPr>
            <a:r>
              <a:rPr lang="en-US" sz="1500" i="1" noProof="1"/>
              <a:t>Human-computer interaction is the</a:t>
            </a:r>
            <a:r>
              <a:rPr lang="en-US" i="1" noProof="1"/>
              <a:t> </a:t>
            </a:r>
            <a:r>
              <a:rPr lang="en-US" sz="2100" b="1" i="1" noProof="1">
                <a:solidFill>
                  <a:srgbClr val="FF0000"/>
                </a:solidFill>
              </a:rPr>
              <a:t>study, planning</a:t>
            </a:r>
            <a:r>
              <a:rPr lang="en-US" sz="2100" i="1" noProof="1"/>
              <a:t>,</a:t>
            </a:r>
            <a:r>
              <a:rPr lang="en-US" sz="2400" i="1" noProof="1"/>
              <a:t> </a:t>
            </a:r>
            <a:r>
              <a:rPr lang="en-US" sz="1500" i="1" noProof="1"/>
              <a:t>and</a:t>
            </a:r>
            <a:r>
              <a:rPr lang="en-US" sz="2400" i="1" noProof="1"/>
              <a:t> </a:t>
            </a:r>
            <a:r>
              <a:rPr lang="en-US" sz="2100" b="1" i="1" noProof="1">
                <a:solidFill>
                  <a:srgbClr val="FF0000"/>
                </a:solidFill>
              </a:rPr>
              <a:t>design</a:t>
            </a:r>
            <a:r>
              <a:rPr lang="en-US" i="1" noProof="1"/>
              <a:t> </a:t>
            </a:r>
            <a:r>
              <a:rPr lang="en-US" sz="1500" i="1" noProof="1"/>
              <a:t>of how </a:t>
            </a:r>
            <a:r>
              <a:rPr lang="en-US" sz="2100" b="1" i="1" noProof="1">
                <a:solidFill>
                  <a:srgbClr val="FF0000"/>
                </a:solidFill>
              </a:rPr>
              <a:t>people and computers work together</a:t>
            </a:r>
            <a:r>
              <a:rPr lang="en-US" i="1" noProof="1"/>
              <a:t> </a:t>
            </a:r>
            <a:r>
              <a:rPr lang="en-US" sz="1500" i="1" noProof="1"/>
              <a:t>so that a person’s needs are</a:t>
            </a:r>
            <a:r>
              <a:rPr lang="en-US" i="1" noProof="1"/>
              <a:t> </a:t>
            </a:r>
            <a:r>
              <a:rPr lang="en-US" sz="2100" b="1" i="1" noProof="1">
                <a:solidFill>
                  <a:srgbClr val="00B050"/>
                </a:solidFill>
              </a:rPr>
              <a:t>satisfied</a:t>
            </a:r>
            <a:r>
              <a:rPr lang="en-US" i="1" noProof="1"/>
              <a:t> </a:t>
            </a:r>
            <a:r>
              <a:rPr lang="en-US" sz="1500" i="1" noProof="1"/>
              <a:t>in the most </a:t>
            </a:r>
            <a:r>
              <a:rPr lang="en-US" sz="2100" b="1" i="1" noProof="1">
                <a:solidFill>
                  <a:srgbClr val="00B050"/>
                </a:solidFill>
              </a:rPr>
              <a:t>effective</a:t>
            </a:r>
            <a:r>
              <a:rPr lang="en-US" i="1" noProof="1"/>
              <a:t> </a:t>
            </a:r>
            <a:r>
              <a:rPr lang="en-US" sz="1500" i="1" noProof="1"/>
              <a:t>way (Galitz, 2007)</a:t>
            </a:r>
          </a:p>
          <a:p>
            <a:pPr algn="just">
              <a:spcBef>
                <a:spcPct val="0"/>
              </a:spcBef>
            </a:pPr>
            <a:r>
              <a:rPr lang="en-US" sz="1500" i="1" noProof="1"/>
              <a:t>Human-computer interaction is a discipline concerned with the </a:t>
            </a:r>
            <a:r>
              <a:rPr lang="en-US" sz="2100" b="1" i="1" noProof="1">
                <a:solidFill>
                  <a:srgbClr val="0070C0"/>
                </a:solidFill>
              </a:rPr>
              <a:t>design, evaluation and implementation</a:t>
            </a:r>
            <a:r>
              <a:rPr lang="en-US" sz="2100" i="1" noProof="1"/>
              <a:t> </a:t>
            </a:r>
            <a:r>
              <a:rPr lang="en-US" i="1" noProof="1"/>
              <a:t>of </a:t>
            </a:r>
            <a:r>
              <a:rPr lang="en-US" sz="2100" b="1" i="1" noProof="1">
                <a:solidFill>
                  <a:srgbClr val="0070C0"/>
                </a:solidFill>
              </a:rPr>
              <a:t>interactive computing systems</a:t>
            </a:r>
            <a:r>
              <a:rPr lang="en-US" sz="1500" i="1" noProof="1"/>
              <a:t> for human use and with the study of major phenomena surrounding them (Hewett et al, 1996)</a:t>
            </a:r>
          </a:p>
          <a:p>
            <a:endParaRPr lang="en-US"/>
          </a:p>
        </p:txBody>
      </p:sp>
    </p:spTree>
    <p:extLst>
      <p:ext uri="{BB962C8B-B14F-4D97-AF65-F5344CB8AC3E}">
        <p14:creationId xmlns:p14="http://schemas.microsoft.com/office/powerpoint/2010/main" val="30343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a:t>HCI / IMK</a:t>
            </a:r>
          </a:p>
        </p:txBody>
      </p:sp>
      <p:sp>
        <p:nvSpPr>
          <p:cNvPr id="2" name="Content Placeholder 1"/>
          <p:cNvSpPr>
            <a:spLocks noGrp="1"/>
          </p:cNvSpPr>
          <p:nvPr>
            <p:ph type="body" idx="1"/>
          </p:nvPr>
        </p:nvSpPr>
        <p:spPr>
          <a:xfrm>
            <a:off x="1417320" y="2364413"/>
            <a:ext cx="6244829" cy="3252494"/>
          </a:xfrm>
        </p:spPr>
        <p:txBody>
          <a:bodyPr>
            <a:normAutofit fontScale="77500" lnSpcReduction="20000"/>
          </a:bodyPr>
          <a:lstStyle/>
          <a:p>
            <a:pPr algn="just">
              <a:spcBef>
                <a:spcPct val="0"/>
              </a:spcBef>
            </a:pPr>
            <a:r>
              <a:rPr lang="en-US" noProof="1"/>
              <a:t>Pada saat melakukan design antarmuka kita perlu memperhatikan beberapa hal: </a:t>
            </a:r>
          </a:p>
          <a:p>
            <a:pPr lvl="1" algn="just">
              <a:spcBef>
                <a:spcPct val="0"/>
              </a:spcBef>
            </a:pPr>
            <a:r>
              <a:rPr lang="en-US" noProof="1">
                <a:solidFill>
                  <a:srgbClr val="FF0000"/>
                </a:solidFill>
              </a:rPr>
              <a:t>apa keinginan dan harapan orang terhadap produk yang dibangun</a:t>
            </a:r>
            <a:r>
              <a:rPr lang="en-US" noProof="1"/>
              <a:t>, </a:t>
            </a:r>
          </a:p>
          <a:p>
            <a:pPr lvl="1" algn="just">
              <a:spcBef>
                <a:spcPct val="0"/>
              </a:spcBef>
            </a:pPr>
            <a:r>
              <a:rPr lang="en-US" noProof="1">
                <a:solidFill>
                  <a:srgbClr val="00B050"/>
                </a:solidFill>
              </a:rPr>
              <a:t>apa batasan dan kemampuan fisik para penggunanya</a:t>
            </a:r>
            <a:r>
              <a:rPr lang="en-US" noProof="1"/>
              <a:t>, </a:t>
            </a:r>
          </a:p>
          <a:p>
            <a:pPr lvl="1" algn="just">
              <a:spcBef>
                <a:spcPct val="0"/>
              </a:spcBef>
            </a:pPr>
            <a:r>
              <a:rPr lang="en-US" noProof="1">
                <a:solidFill>
                  <a:srgbClr val="0070C0"/>
                </a:solidFill>
              </a:rPr>
              <a:t>memperhatikan </a:t>
            </a:r>
            <a:r>
              <a:rPr lang="en-US" i="1" noProof="1">
                <a:solidFill>
                  <a:srgbClr val="0070C0"/>
                </a:solidFill>
              </a:rPr>
              <a:t>user experience </a:t>
            </a:r>
            <a:r>
              <a:rPr lang="en-US" noProof="1">
                <a:solidFill>
                  <a:srgbClr val="0070C0"/>
                </a:solidFill>
              </a:rPr>
              <a:t>dari pengguna produk, Pertimbangkan apa yang menurut pengguna baik dan buruk dari antarmuka yang dirancang</a:t>
            </a:r>
            <a:r>
              <a:rPr lang="en-US" noProof="1"/>
              <a:t>, dan </a:t>
            </a:r>
          </a:p>
          <a:p>
            <a:pPr lvl="1" algn="just">
              <a:spcBef>
                <a:spcPct val="0"/>
              </a:spcBef>
            </a:pPr>
            <a:r>
              <a:rPr lang="en-US" noProof="1">
                <a:solidFill>
                  <a:srgbClr val="7030A0"/>
                </a:solidFill>
              </a:rPr>
              <a:t>Lakukan selalu test dan retest agar mendapatkan design antarmuka yang sesuai dengan kebutuhan pengguna.</a:t>
            </a:r>
          </a:p>
          <a:p>
            <a:pPr algn="just">
              <a:spcBef>
                <a:spcPct val="0"/>
              </a:spcBef>
            </a:pPr>
            <a:r>
              <a:rPr lang="en-US" sz="1500" noProof="1"/>
              <a:t>Perancang juga harus memperhatikan </a:t>
            </a:r>
            <a:r>
              <a:rPr lang="en-US" sz="1500" b="1" noProof="1">
                <a:solidFill>
                  <a:srgbClr val="FF0000"/>
                </a:solidFill>
              </a:rPr>
              <a:t>karakteristik</a:t>
            </a:r>
            <a:r>
              <a:rPr lang="en-US" sz="1500" noProof="1"/>
              <a:t> dan </a:t>
            </a:r>
            <a:r>
              <a:rPr lang="en-US" sz="1500" b="1" noProof="1">
                <a:solidFill>
                  <a:srgbClr val="FF0000"/>
                </a:solidFill>
              </a:rPr>
              <a:t>batasan teknis</a:t>
            </a:r>
            <a:r>
              <a:rPr lang="en-US" sz="1500" noProof="1"/>
              <a:t> dari </a:t>
            </a:r>
            <a:r>
              <a:rPr lang="en-US" sz="1500" b="1" noProof="1">
                <a:solidFill>
                  <a:srgbClr val="FF0000"/>
                </a:solidFill>
              </a:rPr>
              <a:t>perangkat keras</a:t>
            </a:r>
            <a:r>
              <a:rPr lang="en-US" sz="1500" noProof="1"/>
              <a:t> dan </a:t>
            </a:r>
            <a:r>
              <a:rPr lang="en-US" sz="1500" b="1" noProof="1">
                <a:solidFill>
                  <a:srgbClr val="FF0000"/>
                </a:solidFill>
              </a:rPr>
              <a:t>perangkat lunak </a:t>
            </a:r>
            <a:r>
              <a:rPr lang="en-US" sz="1500" noProof="1"/>
              <a:t>komputer</a:t>
            </a:r>
            <a:endParaRPr lang="en-US" sz="1500" i="1" noProof="1"/>
          </a:p>
          <a:p>
            <a:endParaRPr lang="en-US"/>
          </a:p>
        </p:txBody>
      </p:sp>
    </p:spTree>
    <p:extLst>
      <p:ext uri="{BB962C8B-B14F-4D97-AF65-F5344CB8AC3E}">
        <p14:creationId xmlns:p14="http://schemas.microsoft.com/office/powerpoint/2010/main" val="255075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err="1"/>
              <a:t>Manusia</a:t>
            </a:r>
            <a:r>
              <a:rPr lang="en-US"/>
              <a:t> Vs </a:t>
            </a:r>
            <a:r>
              <a:rPr lang="en-US" err="1"/>
              <a:t>Komputer</a:t>
            </a:r>
            <a:endParaRPr lang="en-US"/>
          </a:p>
        </p:txBody>
      </p:sp>
      <p:pic>
        <p:nvPicPr>
          <p:cNvPr id="7" name="Content Placeholder 6"/>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1" y="2461023"/>
            <a:ext cx="2260997" cy="1272778"/>
          </a:xfr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6194" y="3825929"/>
            <a:ext cx="1760092" cy="1760092"/>
          </a:xfrm>
          <a:prstGeom prst="rect">
            <a:avLst/>
          </a:prstGeom>
        </p:spPr>
      </p:pic>
      <p:sp>
        <p:nvSpPr>
          <p:cNvPr id="9" name="Right Arrow 8"/>
          <p:cNvSpPr/>
          <p:nvPr/>
        </p:nvSpPr>
        <p:spPr>
          <a:xfrm rot="1479220">
            <a:off x="4155425" y="4088547"/>
            <a:ext cx="1340893" cy="17400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2" name="Right Arrow 11"/>
          <p:cNvSpPr/>
          <p:nvPr/>
        </p:nvSpPr>
        <p:spPr>
          <a:xfrm rot="12333946">
            <a:off x="4387755" y="3549269"/>
            <a:ext cx="1340893" cy="16735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a:p>
        </p:txBody>
      </p:sp>
      <p:sp>
        <p:nvSpPr>
          <p:cNvPr id="13" name="TextBox 12"/>
          <p:cNvSpPr txBox="1"/>
          <p:nvPr/>
        </p:nvSpPr>
        <p:spPr>
          <a:xfrm rot="1451586">
            <a:off x="4539258" y="3842236"/>
            <a:ext cx="1136177" cy="253916"/>
          </a:xfrm>
          <a:prstGeom prst="rect">
            <a:avLst/>
          </a:prstGeom>
          <a:ln>
            <a:noFill/>
          </a:ln>
        </p:spPr>
        <p:txBody>
          <a:bodyPr wrap="square" rtlCol="0">
            <a:spAutoFit/>
          </a:bodyPr>
          <a:lstStyle/>
          <a:p>
            <a:r>
              <a:rPr lang="en-US" sz="1050" err="1"/>
              <a:t>Interaksi</a:t>
            </a:r>
            <a:endParaRPr lang="en-US" sz="1050"/>
          </a:p>
        </p:txBody>
      </p:sp>
      <p:sp>
        <p:nvSpPr>
          <p:cNvPr id="14" name="TextBox 13"/>
          <p:cNvSpPr txBox="1"/>
          <p:nvPr/>
        </p:nvSpPr>
        <p:spPr>
          <a:xfrm>
            <a:off x="1510031" y="3989412"/>
            <a:ext cx="2261165" cy="1223412"/>
          </a:xfrm>
          <a:prstGeom prst="rect">
            <a:avLst/>
          </a:prstGeom>
          <a:ln>
            <a:noFill/>
          </a:ln>
        </p:spPr>
        <p:txBody>
          <a:bodyPr wrap="square" rtlCol="0">
            <a:spAutoFit/>
          </a:bodyPr>
          <a:lstStyle/>
          <a:p>
            <a:r>
              <a:rPr lang="en-US" sz="1050" noProof="1"/>
              <a:t>Manusia: </a:t>
            </a:r>
          </a:p>
          <a:p>
            <a:pPr marL="274320" lvl="1" indent="-214313">
              <a:buFont typeface="Arial" panose="020B0604020202020204" pitchFamily="34" charset="0"/>
              <a:buChar char="•"/>
            </a:pPr>
            <a:r>
              <a:rPr lang="en-US" sz="1050" noProof="1"/>
              <a:t>fleksibel &amp; mampu beradaptasi, </a:t>
            </a:r>
          </a:p>
          <a:p>
            <a:pPr marL="274320" lvl="1" indent="-214313">
              <a:buFont typeface="Arial" panose="020B0604020202020204" pitchFamily="34" charset="0"/>
              <a:buChar char="•"/>
            </a:pPr>
            <a:r>
              <a:rPr lang="en-US" sz="1050" noProof="1"/>
              <a:t>dapat belajar bagaimana bekerja di lingkungan yang baru</a:t>
            </a:r>
          </a:p>
          <a:p>
            <a:endParaRPr lang="en-US" sz="1050"/>
          </a:p>
        </p:txBody>
      </p:sp>
      <p:sp>
        <p:nvSpPr>
          <p:cNvPr id="15" name="TextBox 14"/>
          <p:cNvSpPr txBox="1"/>
          <p:nvPr/>
        </p:nvSpPr>
        <p:spPr>
          <a:xfrm>
            <a:off x="5586605" y="2142401"/>
            <a:ext cx="1979374" cy="1546577"/>
          </a:xfrm>
          <a:prstGeom prst="rect">
            <a:avLst/>
          </a:prstGeom>
          <a:ln>
            <a:noFill/>
          </a:ln>
        </p:spPr>
        <p:txBody>
          <a:bodyPr wrap="square" rtlCol="0">
            <a:spAutoFit/>
          </a:bodyPr>
          <a:lstStyle/>
          <a:p>
            <a:r>
              <a:rPr lang="en-US" sz="1050" noProof="1"/>
              <a:t>Komputer: </a:t>
            </a:r>
          </a:p>
          <a:p>
            <a:pPr marL="205740" lvl="1" indent="-214313">
              <a:buFont typeface="Arial" panose="020B0604020202020204" pitchFamily="34" charset="0"/>
              <a:buChar char="•"/>
            </a:pPr>
            <a:r>
              <a:rPr lang="en-US" sz="1050" noProof="1"/>
              <a:t>tidak fleksibel / tidak mampu beradaptasi, </a:t>
            </a:r>
          </a:p>
          <a:p>
            <a:pPr marL="205740" lvl="1" indent="-214313">
              <a:buFont typeface="Arial" panose="020B0604020202020204" pitchFamily="34" charset="0"/>
              <a:buChar char="•"/>
            </a:pPr>
            <a:r>
              <a:rPr lang="en-US" sz="1050" noProof="1"/>
              <a:t>input harus dalam format yang jelas &amp; output harus didefinisikan sebelumnya, </a:t>
            </a:r>
          </a:p>
          <a:p>
            <a:pPr marL="205740" lvl="1" indent="-214313">
              <a:buFont typeface="Arial" panose="020B0604020202020204" pitchFamily="34" charset="0"/>
              <a:buChar char="•"/>
            </a:pPr>
            <a:r>
              <a:rPr lang="en-US" sz="1050" noProof="1"/>
              <a:t>tidak dapat belajar, </a:t>
            </a:r>
          </a:p>
          <a:p>
            <a:pPr marL="205740" lvl="1" indent="-214313">
              <a:buFont typeface="Arial" panose="020B0604020202020204" pitchFamily="34" charset="0"/>
              <a:buChar char="•"/>
            </a:pPr>
            <a:r>
              <a:rPr lang="en-US" sz="1050" noProof="1"/>
              <a:t>dapat didesain ulang</a:t>
            </a:r>
          </a:p>
          <a:p>
            <a:endParaRPr lang="en-US" sz="1050"/>
          </a:p>
        </p:txBody>
      </p:sp>
    </p:spTree>
    <p:extLst>
      <p:ext uri="{BB962C8B-B14F-4D97-AF65-F5344CB8AC3E}">
        <p14:creationId xmlns:p14="http://schemas.microsoft.com/office/powerpoint/2010/main" val="2902063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err="1"/>
              <a:t>Paradigma</a:t>
            </a:r>
            <a:r>
              <a:rPr lang="en-US"/>
              <a:t> </a:t>
            </a:r>
            <a:r>
              <a:rPr lang="en-US" err="1"/>
              <a:t>Interaksi</a:t>
            </a:r>
            <a:endParaRPr lang="en-US"/>
          </a:p>
        </p:txBody>
      </p:sp>
      <p:sp>
        <p:nvSpPr>
          <p:cNvPr id="2" name="Content Placeholder 1"/>
          <p:cNvSpPr>
            <a:spLocks noGrp="1"/>
          </p:cNvSpPr>
          <p:nvPr>
            <p:ph type="body" idx="1"/>
          </p:nvPr>
        </p:nvSpPr>
        <p:spPr>
          <a:xfrm>
            <a:off x="365760" y="2364412"/>
            <a:ext cx="8326438" cy="3019118"/>
          </a:xfrm>
        </p:spPr>
        <p:txBody>
          <a:bodyPr/>
          <a:lstStyle/>
          <a:p>
            <a:pPr algn="just"/>
            <a:r>
              <a:rPr lang="en-US" sz="1500"/>
              <a:t>P</a:t>
            </a:r>
            <a:r>
              <a:rPr lang="id-ID" sz="1500"/>
              <a:t>aradigma interaksi adalah model atau pola interaksi manusia komputer yang mencakup semua aspek interaksi, termasuk fisik, virtual, persepsi, dan kognitif (Heim 2007)</a:t>
            </a:r>
            <a:r>
              <a:rPr lang="en-US" sz="1500"/>
              <a:t>.</a:t>
            </a:r>
          </a:p>
          <a:p>
            <a:pPr algn="just"/>
            <a:r>
              <a:rPr lang="en-US" sz="1500" err="1"/>
              <a:t>Paradigma</a:t>
            </a:r>
            <a:r>
              <a:rPr lang="en-US" sz="1500"/>
              <a:t> </a:t>
            </a:r>
            <a:r>
              <a:rPr lang="en-US" sz="1500" err="1"/>
              <a:t>interaksi</a:t>
            </a:r>
            <a:r>
              <a:rPr lang="en-US" sz="1500"/>
              <a:t> </a:t>
            </a:r>
            <a:r>
              <a:rPr lang="en-US" sz="1500" err="1"/>
              <a:t>diidentifikasikan</a:t>
            </a:r>
            <a:r>
              <a:rPr lang="en-US" sz="1500"/>
              <a:t> </a:t>
            </a:r>
            <a:r>
              <a:rPr lang="en-US" sz="1500" err="1"/>
              <a:t>oleh</a:t>
            </a:r>
            <a:r>
              <a:rPr lang="en-US" sz="1500"/>
              <a:t> Heim(20017) :</a:t>
            </a:r>
          </a:p>
          <a:p>
            <a:pPr lvl="1" algn="just"/>
            <a:r>
              <a:rPr lang="en-US" sz="1050"/>
              <a:t>Large Scale Computing</a:t>
            </a:r>
          </a:p>
          <a:p>
            <a:pPr lvl="1" algn="just"/>
            <a:r>
              <a:rPr lang="en-US" sz="1050"/>
              <a:t>Personal computing</a:t>
            </a:r>
          </a:p>
          <a:p>
            <a:pPr lvl="1" algn="just"/>
            <a:r>
              <a:rPr lang="en-US" sz="1050"/>
              <a:t>Networked computing</a:t>
            </a:r>
          </a:p>
          <a:p>
            <a:pPr lvl="1" algn="just"/>
            <a:r>
              <a:rPr lang="en-US" sz="1050"/>
              <a:t>Mobile Computing </a:t>
            </a:r>
          </a:p>
          <a:p>
            <a:pPr lvl="1" algn="just"/>
            <a:r>
              <a:rPr lang="en-US" sz="1050"/>
              <a:t>Collaborative Environment </a:t>
            </a:r>
          </a:p>
          <a:p>
            <a:pPr lvl="1" algn="just"/>
            <a:r>
              <a:rPr lang="en-US" sz="1050"/>
              <a:t>Virtual Reality</a:t>
            </a:r>
          </a:p>
          <a:p>
            <a:pPr lvl="1" algn="just"/>
            <a:r>
              <a:rPr lang="en-US" sz="1050"/>
              <a:t>Augmented Reality</a:t>
            </a:r>
          </a:p>
        </p:txBody>
      </p:sp>
    </p:spTree>
    <p:extLst>
      <p:ext uri="{BB962C8B-B14F-4D97-AF65-F5344CB8AC3E}">
        <p14:creationId xmlns:p14="http://schemas.microsoft.com/office/powerpoint/2010/main" val="46591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a:t>5 W + H</a:t>
            </a:r>
          </a:p>
        </p:txBody>
      </p:sp>
      <p:sp>
        <p:nvSpPr>
          <p:cNvPr id="2" name="Content Placeholder 1"/>
          <p:cNvSpPr>
            <a:spLocks noGrp="1"/>
          </p:cNvSpPr>
          <p:nvPr>
            <p:ph type="body" idx="1"/>
          </p:nvPr>
        </p:nvSpPr>
        <p:spPr>
          <a:xfrm>
            <a:off x="1417320" y="2364412"/>
            <a:ext cx="6244829" cy="3331538"/>
          </a:xfrm>
        </p:spPr>
        <p:txBody>
          <a:bodyPr/>
          <a:lstStyle/>
          <a:p>
            <a:r>
              <a:rPr lang="en-US" sz="1200"/>
              <a:t>Who, what, where, why, and how</a:t>
            </a:r>
          </a:p>
          <a:p>
            <a:pPr algn="just"/>
            <a:r>
              <a:rPr lang="en-US" sz="1200"/>
              <a:t>5 W + H heuristic </a:t>
            </a:r>
            <a:r>
              <a:rPr lang="en-US" sz="1200" err="1"/>
              <a:t>adalah</a:t>
            </a:r>
            <a:r>
              <a:rPr lang="en-US" sz="1200"/>
              <a:t> </a:t>
            </a:r>
            <a:r>
              <a:rPr lang="id-ID" sz="1200"/>
              <a:t>prosedur yang dapat digunakan untuk mendefinisikan dan menganalisa paradigma interaksi yang ada dan ruang </a:t>
            </a:r>
            <a:r>
              <a:rPr lang="en-US" sz="1200" err="1"/>
              <a:t>serta</a:t>
            </a:r>
            <a:r>
              <a:rPr lang="id-ID" sz="1200"/>
              <a:t> mengeksplorasi unsur-unsur dan objek dengan yang berinteraksi pengguna</a:t>
            </a:r>
            <a:r>
              <a:rPr lang="en-US" sz="1200"/>
              <a:t>.</a:t>
            </a:r>
          </a:p>
          <a:p>
            <a:pPr algn="just"/>
            <a:r>
              <a:rPr lang="en-US" sz="1200" err="1"/>
              <a:t>Heuristik</a:t>
            </a:r>
            <a:r>
              <a:rPr lang="en-US" sz="1200"/>
              <a:t> </a:t>
            </a:r>
            <a:r>
              <a:rPr lang="en-US" sz="1200" err="1"/>
              <a:t>itu</a:t>
            </a:r>
            <a:r>
              <a:rPr lang="en-US" sz="1200"/>
              <a:t> </a:t>
            </a:r>
            <a:r>
              <a:rPr lang="en-US" sz="1200" err="1"/>
              <a:t>terdiri</a:t>
            </a:r>
            <a:r>
              <a:rPr lang="en-US" sz="1200"/>
              <a:t> </a:t>
            </a:r>
            <a:r>
              <a:rPr lang="en-US" sz="1200" err="1"/>
              <a:t>dari</a:t>
            </a:r>
            <a:r>
              <a:rPr lang="en-US" sz="1200"/>
              <a:t> 3 </a:t>
            </a:r>
            <a:r>
              <a:rPr lang="en-US" sz="1200" err="1"/>
              <a:t>komponen</a:t>
            </a:r>
            <a:r>
              <a:rPr lang="en-US" sz="1200"/>
              <a:t> :</a:t>
            </a:r>
          </a:p>
          <a:p>
            <a:pPr lvl="1" algn="just"/>
            <a:r>
              <a:rPr lang="en-US" sz="1200"/>
              <a:t>What/How : </a:t>
            </a:r>
            <a:r>
              <a:rPr lang="id-ID" sz="1200"/>
              <a:t>digunakan untuk memahami komponen antarmuka fisik dan virtual</a:t>
            </a:r>
            <a:r>
              <a:rPr lang="en-US" sz="1200"/>
              <a:t>.</a:t>
            </a:r>
          </a:p>
          <a:p>
            <a:pPr lvl="1" algn="just"/>
            <a:r>
              <a:rPr lang="en-US" sz="1200"/>
              <a:t>Where/When : </a:t>
            </a:r>
            <a:r>
              <a:rPr lang="id-ID" sz="1200"/>
              <a:t>Hal ini terkait dengan lingkungan fisik</a:t>
            </a:r>
            <a:r>
              <a:rPr lang="en-US" sz="1200"/>
              <a:t>. </a:t>
            </a:r>
            <a:r>
              <a:rPr lang="id-ID" sz="1200"/>
              <a:t>terlihat perbedaan antara kantor, portabel, sistem dpt dipakai</a:t>
            </a:r>
            <a:r>
              <a:rPr lang="en-US" sz="1200"/>
              <a:t>.</a:t>
            </a:r>
          </a:p>
          <a:p>
            <a:pPr lvl="1" algn="just"/>
            <a:r>
              <a:rPr lang="en-US" sz="1200"/>
              <a:t>Who/Why : </a:t>
            </a:r>
            <a:r>
              <a:rPr lang="en-US" sz="1200" err="1"/>
              <a:t>ini</a:t>
            </a:r>
            <a:r>
              <a:rPr lang="en-US" sz="1200"/>
              <a:t> </a:t>
            </a:r>
            <a:r>
              <a:rPr lang="en-US" sz="1200" err="1"/>
              <a:t>terlihat</a:t>
            </a:r>
            <a:r>
              <a:rPr lang="en-US" sz="1200"/>
              <a:t> </a:t>
            </a:r>
            <a:r>
              <a:rPr lang="en-US" sz="1200" err="1"/>
              <a:t>pada</a:t>
            </a:r>
            <a:r>
              <a:rPr lang="en-US" sz="1200"/>
              <a:t> </a:t>
            </a:r>
            <a:r>
              <a:rPr lang="en-US" sz="1200" err="1"/>
              <a:t>jenis</a:t>
            </a:r>
            <a:r>
              <a:rPr lang="en-US" sz="1200"/>
              <a:t> </a:t>
            </a:r>
            <a:r>
              <a:rPr lang="en-US" sz="1200" err="1"/>
              <a:t>tugas</a:t>
            </a:r>
            <a:r>
              <a:rPr lang="en-US" sz="1200"/>
              <a:t> </a:t>
            </a:r>
            <a:r>
              <a:rPr lang="en-US" sz="1200" err="1"/>
              <a:t>dan</a:t>
            </a:r>
            <a:r>
              <a:rPr lang="en-US" sz="1200"/>
              <a:t> </a:t>
            </a:r>
            <a:r>
              <a:rPr lang="en-US" sz="1200" err="1"/>
              <a:t>keahlian</a:t>
            </a:r>
            <a:r>
              <a:rPr lang="en-US" sz="1200"/>
              <a:t> yang </a:t>
            </a:r>
            <a:r>
              <a:rPr lang="en-US" sz="1200" err="1"/>
              <a:t>dibutuhkan</a:t>
            </a:r>
            <a:r>
              <a:rPr lang="en-US" sz="1200"/>
              <a:t>.</a:t>
            </a:r>
          </a:p>
          <a:p>
            <a:pPr algn="just"/>
            <a:r>
              <a:rPr lang="en-US" sz="1200" b="1" err="1">
                <a:solidFill>
                  <a:srgbClr val="C00000"/>
                </a:solidFill>
              </a:rPr>
              <a:t>Petakan</a:t>
            </a:r>
            <a:r>
              <a:rPr lang="en-US" sz="1200" b="1">
                <a:solidFill>
                  <a:srgbClr val="C00000"/>
                </a:solidFill>
              </a:rPr>
              <a:t> 5 W + H </a:t>
            </a:r>
            <a:r>
              <a:rPr lang="en-US" sz="1200" b="1" err="1">
                <a:solidFill>
                  <a:srgbClr val="C00000"/>
                </a:solidFill>
              </a:rPr>
              <a:t>terhadap</a:t>
            </a:r>
            <a:r>
              <a:rPr lang="en-US" sz="1200" b="1">
                <a:solidFill>
                  <a:srgbClr val="C00000"/>
                </a:solidFill>
              </a:rPr>
              <a:t> </a:t>
            </a:r>
            <a:r>
              <a:rPr lang="en-US" sz="1200" b="1" err="1">
                <a:solidFill>
                  <a:srgbClr val="C00000"/>
                </a:solidFill>
              </a:rPr>
              <a:t>jenis</a:t>
            </a:r>
            <a:r>
              <a:rPr lang="en-US" sz="1200" b="1">
                <a:solidFill>
                  <a:srgbClr val="C00000"/>
                </a:solidFill>
              </a:rPr>
              <a:t> </a:t>
            </a:r>
            <a:r>
              <a:rPr lang="en-US" sz="1200" b="1" err="1">
                <a:solidFill>
                  <a:srgbClr val="C00000"/>
                </a:solidFill>
              </a:rPr>
              <a:t>paradigma</a:t>
            </a:r>
            <a:r>
              <a:rPr lang="en-US" sz="1200" b="1">
                <a:solidFill>
                  <a:srgbClr val="C00000"/>
                </a:solidFill>
              </a:rPr>
              <a:t> </a:t>
            </a:r>
            <a:r>
              <a:rPr lang="en-US" sz="1200" b="1" err="1">
                <a:solidFill>
                  <a:srgbClr val="C00000"/>
                </a:solidFill>
              </a:rPr>
              <a:t>interaksi</a:t>
            </a:r>
            <a:r>
              <a:rPr lang="en-US" sz="1200" b="1">
                <a:solidFill>
                  <a:srgbClr val="C00000"/>
                </a:solidFill>
              </a:rPr>
              <a:t> </a:t>
            </a:r>
            <a:r>
              <a:rPr lang="en-US" sz="1200" b="1" err="1">
                <a:solidFill>
                  <a:srgbClr val="C00000"/>
                </a:solidFill>
              </a:rPr>
              <a:t>menurut</a:t>
            </a:r>
            <a:r>
              <a:rPr lang="en-US" sz="1200" b="1">
                <a:solidFill>
                  <a:srgbClr val="C00000"/>
                </a:solidFill>
              </a:rPr>
              <a:t> Heim</a:t>
            </a:r>
          </a:p>
          <a:p>
            <a:endParaRPr lang="en-US" sz="1200"/>
          </a:p>
        </p:txBody>
      </p:sp>
    </p:spTree>
    <p:extLst>
      <p:ext uri="{BB962C8B-B14F-4D97-AF65-F5344CB8AC3E}">
        <p14:creationId xmlns:p14="http://schemas.microsoft.com/office/powerpoint/2010/main" val="22979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err="1"/>
              <a:t>Hubungan</a:t>
            </a:r>
            <a:r>
              <a:rPr lang="en-US"/>
              <a:t> HCI/IMK - Interaction Design </a:t>
            </a:r>
          </a:p>
        </p:txBody>
      </p:sp>
      <p:pic>
        <p:nvPicPr>
          <p:cNvPr id="8" name="Content Placeholder 7"/>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0" y="2340769"/>
            <a:ext cx="4611291" cy="3019425"/>
          </a:xfrm>
        </p:spPr>
      </p:pic>
      <p:sp>
        <p:nvSpPr>
          <p:cNvPr id="10" name="TextBox 9"/>
          <p:cNvSpPr txBox="1"/>
          <p:nvPr/>
        </p:nvSpPr>
        <p:spPr>
          <a:xfrm>
            <a:off x="5974308" y="2651703"/>
            <a:ext cx="1893627" cy="1516634"/>
          </a:xfrm>
          <a:prstGeom prst="rect">
            <a:avLst/>
          </a:prstGeom>
          <a:ln>
            <a:noFill/>
          </a:ln>
        </p:spPr>
        <p:txBody>
          <a:bodyPr wrap="square" rtlCol="0">
            <a:spAutoFit/>
          </a:bodyPr>
          <a:lstStyle/>
          <a:p>
            <a:pPr algn="just">
              <a:lnSpc>
                <a:spcPct val="150000"/>
              </a:lnSpc>
            </a:pPr>
            <a:r>
              <a:rPr lang="en-US" sz="1050"/>
              <a:t>HCI/IMK </a:t>
            </a:r>
            <a:r>
              <a:rPr lang="en-US" sz="1050" err="1"/>
              <a:t>merupakan</a:t>
            </a:r>
            <a:r>
              <a:rPr lang="en-US" sz="1050"/>
              <a:t> </a:t>
            </a:r>
            <a:r>
              <a:rPr lang="en-US" sz="1050" err="1"/>
              <a:t>disiplin</a:t>
            </a:r>
            <a:r>
              <a:rPr lang="en-US" sz="1050"/>
              <a:t> </a:t>
            </a:r>
            <a:r>
              <a:rPr lang="en-US" sz="1050" err="1"/>
              <a:t>ilmu</a:t>
            </a:r>
            <a:r>
              <a:rPr lang="en-US" sz="1050"/>
              <a:t> yang </a:t>
            </a:r>
            <a:r>
              <a:rPr lang="en-US" sz="1050" err="1"/>
              <a:t>dibutuhkan</a:t>
            </a:r>
            <a:r>
              <a:rPr lang="en-US" sz="1050"/>
              <a:t> </a:t>
            </a:r>
            <a:r>
              <a:rPr lang="en-US" sz="1050" err="1"/>
              <a:t>dalam</a:t>
            </a:r>
            <a:r>
              <a:rPr lang="en-US" sz="1050"/>
              <a:t> </a:t>
            </a:r>
            <a:r>
              <a:rPr lang="en-US" sz="1050" err="1"/>
              <a:t>merancang</a:t>
            </a:r>
            <a:r>
              <a:rPr lang="en-US" sz="1050"/>
              <a:t> </a:t>
            </a:r>
            <a:r>
              <a:rPr lang="en-US" sz="1050" err="1"/>
              <a:t>sebuah</a:t>
            </a:r>
            <a:r>
              <a:rPr lang="en-US" sz="1050"/>
              <a:t> </a:t>
            </a:r>
            <a:r>
              <a:rPr lang="en-US" sz="1050" err="1"/>
              <a:t>antarmuka</a:t>
            </a:r>
            <a:r>
              <a:rPr lang="en-US" sz="1050"/>
              <a:t> </a:t>
            </a:r>
            <a:r>
              <a:rPr lang="en-US" sz="1050" err="1"/>
              <a:t>sebuah</a:t>
            </a:r>
            <a:r>
              <a:rPr lang="en-US" sz="1050"/>
              <a:t> </a:t>
            </a:r>
            <a:r>
              <a:rPr lang="en-US" sz="1050" err="1"/>
              <a:t>produk</a:t>
            </a:r>
            <a:r>
              <a:rPr lang="en-US" sz="1050"/>
              <a:t> </a:t>
            </a:r>
            <a:r>
              <a:rPr lang="en-US" sz="1050" err="1"/>
              <a:t>dalam</a:t>
            </a:r>
            <a:r>
              <a:rPr lang="en-US" sz="1050"/>
              <a:t> </a:t>
            </a:r>
            <a:r>
              <a:rPr lang="en-US" sz="1050" err="1"/>
              <a:t>hal</a:t>
            </a:r>
            <a:r>
              <a:rPr lang="en-US" sz="1050"/>
              <a:t> </a:t>
            </a:r>
            <a:r>
              <a:rPr lang="en-US" sz="1050" err="1"/>
              <a:t>ini</a:t>
            </a:r>
            <a:r>
              <a:rPr lang="en-US" sz="1050"/>
              <a:t> </a:t>
            </a:r>
            <a:r>
              <a:rPr lang="en-US" sz="1050" err="1"/>
              <a:t>produk</a:t>
            </a:r>
            <a:r>
              <a:rPr lang="en-US" sz="1050"/>
              <a:t> </a:t>
            </a:r>
            <a:r>
              <a:rPr lang="en-US" sz="1050" i="1"/>
              <a:t>software</a:t>
            </a:r>
          </a:p>
        </p:txBody>
      </p:sp>
      <p:sp>
        <p:nvSpPr>
          <p:cNvPr id="11" name="TextBox 10"/>
          <p:cNvSpPr txBox="1"/>
          <p:nvPr/>
        </p:nvSpPr>
        <p:spPr>
          <a:xfrm>
            <a:off x="3327039" y="5322596"/>
            <a:ext cx="1925411" cy="461665"/>
          </a:xfrm>
          <a:prstGeom prst="rect">
            <a:avLst/>
          </a:prstGeom>
          <a:ln>
            <a:noFill/>
          </a:ln>
        </p:spPr>
        <p:txBody>
          <a:bodyPr wrap="square" rtlCol="0">
            <a:spAutoFit/>
          </a:bodyPr>
          <a:lstStyle/>
          <a:p>
            <a:r>
              <a:rPr lang="en-US" sz="600" noProof="1">
                <a:solidFill>
                  <a:schemeClr val="tx1">
                    <a:lumMod val="75000"/>
                    <a:lumOff val="25000"/>
                  </a:schemeClr>
                </a:solidFill>
              </a:rPr>
              <a:t>Jenny Preece, Yvonne Rogers, Helen Sharp. 2002. </a:t>
            </a:r>
            <a:r>
              <a:rPr lang="en-US" sz="600" i="1" noProof="1">
                <a:solidFill>
                  <a:schemeClr val="tx1">
                    <a:lumMod val="75000"/>
                    <a:lumOff val="25000"/>
                  </a:schemeClr>
                </a:solidFill>
              </a:rPr>
              <a:t>Interaction Design_beyond Human-Computer –Interaction, </a:t>
            </a:r>
            <a:r>
              <a:rPr lang="en-US" sz="600" noProof="1">
                <a:solidFill>
                  <a:schemeClr val="tx1">
                    <a:lumMod val="75000"/>
                    <a:lumOff val="25000"/>
                  </a:schemeClr>
                </a:solidFill>
              </a:rPr>
              <a:t>J. Wiley &amp; Sons </a:t>
            </a:r>
            <a:endParaRPr lang="en-US" sz="600" i="1">
              <a:solidFill>
                <a:schemeClr val="tx1">
                  <a:lumMod val="75000"/>
                  <a:lumOff val="25000"/>
                </a:schemeClr>
              </a:solidFill>
            </a:endParaRPr>
          </a:p>
          <a:p>
            <a:endParaRPr lang="en-US" sz="600"/>
          </a:p>
        </p:txBody>
      </p:sp>
    </p:spTree>
    <p:extLst>
      <p:ext uri="{BB962C8B-B14F-4D97-AF65-F5344CB8AC3E}">
        <p14:creationId xmlns:p14="http://schemas.microsoft.com/office/powerpoint/2010/main" val="935582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88838" y="3407011"/>
            <a:ext cx="6244829" cy="480929"/>
          </a:xfrm>
        </p:spPr>
        <p:txBody>
          <a:bodyPr>
            <a:normAutofit fontScale="90000"/>
          </a:bodyPr>
          <a:lstStyle/>
          <a:p>
            <a:r>
              <a:rPr lang="en-ID" err="1"/>
              <a:t>Pentingnya</a:t>
            </a:r>
            <a:r>
              <a:rPr lang="en-ID"/>
              <a:t> </a:t>
            </a:r>
            <a:r>
              <a:rPr lang="en-ID" err="1"/>
              <a:t>Desain</a:t>
            </a:r>
            <a:r>
              <a:rPr lang="en-ID"/>
              <a:t> UI yang </a:t>
            </a:r>
            <a:r>
              <a:rPr lang="en-ID" err="1"/>
              <a:t>Baik</a:t>
            </a:r>
            <a:endParaRPr lang="en-US"/>
          </a:p>
        </p:txBody>
      </p:sp>
    </p:spTree>
    <p:extLst>
      <p:ext uri="{BB962C8B-B14F-4D97-AF65-F5344CB8AC3E}">
        <p14:creationId xmlns:p14="http://schemas.microsoft.com/office/powerpoint/2010/main" val="38421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16844" y="1803427"/>
            <a:ext cx="6244829" cy="480929"/>
          </a:xfrm>
        </p:spPr>
        <p:txBody>
          <a:bodyPr>
            <a:normAutofit fontScale="90000"/>
          </a:bodyPr>
          <a:lstStyle/>
          <a:p>
            <a:r>
              <a:rPr lang="en-US" i="1" noProof="1"/>
              <a:t>User Interface</a:t>
            </a:r>
            <a:endParaRPr lang="en-US"/>
          </a:p>
        </p:txBody>
      </p:sp>
      <p:sp>
        <p:nvSpPr>
          <p:cNvPr id="2" name="Content Placeholder 1"/>
          <p:cNvSpPr>
            <a:spLocks noGrp="1"/>
          </p:cNvSpPr>
          <p:nvPr>
            <p:ph type="body" idx="1"/>
          </p:nvPr>
        </p:nvSpPr>
        <p:spPr>
          <a:xfrm>
            <a:off x="1416844" y="2284356"/>
            <a:ext cx="6244829" cy="3411595"/>
          </a:xfrm>
        </p:spPr>
        <p:txBody>
          <a:bodyPr/>
          <a:lstStyle/>
          <a:p>
            <a:pPr algn="just">
              <a:lnSpc>
                <a:spcPct val="150000"/>
              </a:lnSpc>
              <a:spcBef>
                <a:spcPct val="0"/>
              </a:spcBef>
            </a:pPr>
            <a:r>
              <a:rPr lang="en-US" sz="1350" noProof="1"/>
              <a:t>Antarmuka/ </a:t>
            </a:r>
            <a:r>
              <a:rPr lang="en-US" sz="1350" i="1" noProof="1"/>
              <a:t>user interface (UI) </a:t>
            </a:r>
            <a:r>
              <a:rPr lang="en-US" sz="1350" noProof="1"/>
              <a:t>merupakan bagian dari komputer dan perangkat lunaknya yang dapat </a:t>
            </a:r>
            <a:r>
              <a:rPr lang="en-US" sz="1500" noProof="1">
                <a:solidFill>
                  <a:srgbClr val="0070C0"/>
                </a:solidFill>
              </a:rPr>
              <a:t>dilihat</a:t>
            </a:r>
            <a:r>
              <a:rPr lang="en-US" sz="1350" noProof="1"/>
              <a:t>, </a:t>
            </a:r>
            <a:r>
              <a:rPr lang="en-US" sz="1500" noProof="1">
                <a:solidFill>
                  <a:srgbClr val="0070C0"/>
                </a:solidFill>
              </a:rPr>
              <a:t>didengar</a:t>
            </a:r>
            <a:r>
              <a:rPr lang="en-US" sz="1350" noProof="1"/>
              <a:t>, </a:t>
            </a:r>
            <a:r>
              <a:rPr lang="en-US" sz="1500" noProof="1">
                <a:solidFill>
                  <a:srgbClr val="0070C0"/>
                </a:solidFill>
              </a:rPr>
              <a:t>disentuh</a:t>
            </a:r>
            <a:r>
              <a:rPr lang="en-US" sz="1350" noProof="1"/>
              <a:t>, dan </a:t>
            </a:r>
            <a:r>
              <a:rPr lang="en-US" sz="1500" noProof="1">
                <a:solidFill>
                  <a:srgbClr val="0070C0"/>
                </a:solidFill>
              </a:rPr>
              <a:t>diajak bicara</a:t>
            </a:r>
            <a:r>
              <a:rPr lang="en-US" sz="1350" noProof="1"/>
              <a:t>, baik </a:t>
            </a:r>
            <a:r>
              <a:rPr lang="en-US" sz="1500" noProof="1">
                <a:solidFill>
                  <a:srgbClr val="0070C0"/>
                </a:solidFill>
              </a:rPr>
              <a:t>secara langsung</a:t>
            </a:r>
            <a:r>
              <a:rPr lang="en-US" sz="1350" noProof="1"/>
              <a:t> maupun dengan </a:t>
            </a:r>
            <a:r>
              <a:rPr lang="en-US" sz="1500" noProof="1">
                <a:solidFill>
                  <a:srgbClr val="0070C0"/>
                </a:solidFill>
              </a:rPr>
              <a:t>proses pemahaman tertentu</a:t>
            </a:r>
            <a:r>
              <a:rPr lang="en-US" sz="1350" noProof="1">
                <a:solidFill>
                  <a:srgbClr val="0070C0"/>
                </a:solidFill>
              </a:rPr>
              <a:t>.</a:t>
            </a:r>
          </a:p>
          <a:p>
            <a:pPr algn="just">
              <a:lnSpc>
                <a:spcPct val="150000"/>
              </a:lnSpc>
              <a:spcBef>
                <a:spcPct val="0"/>
              </a:spcBef>
            </a:pPr>
            <a:r>
              <a:rPr lang="en-US" sz="1350" noProof="1"/>
              <a:t>UI yang baik adalah UI yang </a:t>
            </a:r>
            <a:r>
              <a:rPr lang="en-US" sz="1350" noProof="1">
                <a:solidFill>
                  <a:srgbClr val="FF0000"/>
                </a:solidFill>
              </a:rPr>
              <a:t>tidak disadari</a:t>
            </a:r>
            <a:r>
              <a:rPr lang="en-US" sz="1350" noProof="1"/>
              <a:t>, dan UI yang memungkinkan pengguna </a:t>
            </a:r>
            <a:r>
              <a:rPr lang="en-US" sz="1350" noProof="1">
                <a:solidFill>
                  <a:srgbClr val="FF0000"/>
                </a:solidFill>
              </a:rPr>
              <a:t>fokus</a:t>
            </a:r>
            <a:r>
              <a:rPr lang="en-US" sz="1350" noProof="1"/>
              <a:t> pada </a:t>
            </a:r>
            <a:r>
              <a:rPr lang="en-US" sz="1350" noProof="1">
                <a:solidFill>
                  <a:srgbClr val="FF0000"/>
                </a:solidFill>
              </a:rPr>
              <a:t>informasi</a:t>
            </a:r>
            <a:r>
              <a:rPr lang="en-US" sz="1350" noProof="1"/>
              <a:t> dan </a:t>
            </a:r>
            <a:r>
              <a:rPr lang="en-US" sz="1350" i="1" noProof="1">
                <a:solidFill>
                  <a:srgbClr val="FF0000"/>
                </a:solidFill>
              </a:rPr>
              <a:t>task</a:t>
            </a:r>
            <a:r>
              <a:rPr lang="en-US" sz="1350" noProof="1"/>
              <a:t> tanpa perlu mengetahui mekanisme untuk menampilkan informasi dan melakukan </a:t>
            </a:r>
            <a:r>
              <a:rPr lang="en-US" sz="1350" i="1" noProof="1"/>
              <a:t>task</a:t>
            </a:r>
            <a:r>
              <a:rPr lang="en-US" sz="1350" noProof="1"/>
              <a:t> tersebut.</a:t>
            </a:r>
          </a:p>
          <a:p>
            <a:pPr algn="just">
              <a:lnSpc>
                <a:spcPct val="150000"/>
              </a:lnSpc>
              <a:spcBef>
                <a:spcPct val="0"/>
              </a:spcBef>
            </a:pPr>
            <a:r>
              <a:rPr lang="en-US" sz="1350" noProof="1"/>
              <a:t>Komponen utamanya:</a:t>
            </a:r>
          </a:p>
          <a:p>
            <a:pPr lvl="1" algn="just">
              <a:lnSpc>
                <a:spcPct val="150000"/>
              </a:lnSpc>
              <a:spcBef>
                <a:spcPct val="0"/>
              </a:spcBef>
            </a:pPr>
            <a:r>
              <a:rPr lang="en-US" sz="1050" noProof="1">
                <a:solidFill>
                  <a:srgbClr val="C00000"/>
                </a:solidFill>
              </a:rPr>
              <a:t>Input</a:t>
            </a:r>
          </a:p>
          <a:p>
            <a:pPr lvl="1" algn="just">
              <a:lnSpc>
                <a:spcPct val="150000"/>
              </a:lnSpc>
              <a:spcBef>
                <a:spcPct val="0"/>
              </a:spcBef>
            </a:pPr>
            <a:r>
              <a:rPr lang="en-US" sz="1050" noProof="1">
                <a:solidFill>
                  <a:srgbClr val="C00000"/>
                </a:solidFill>
              </a:rPr>
              <a:t>Output </a:t>
            </a:r>
          </a:p>
          <a:p>
            <a:endParaRPr lang="en-US"/>
          </a:p>
        </p:txBody>
      </p:sp>
    </p:spTree>
    <p:extLst>
      <p:ext uri="{BB962C8B-B14F-4D97-AF65-F5344CB8AC3E}">
        <p14:creationId xmlns:p14="http://schemas.microsoft.com/office/powerpoint/2010/main" val="2489320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96" name="Picture 12" descr="to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2855" y="4057781"/>
            <a:ext cx="1914368" cy="1576592"/>
          </a:xfrm>
          <a:prstGeom prst="rect">
            <a:avLst/>
          </a:prstGeom>
          <a:noFill/>
          <a:extLst>
            <a:ext uri="{909E8E84-426E-40DD-AFC4-6F175D3DCCD1}">
              <a14:hiddenFill xmlns:a14="http://schemas.microsoft.com/office/drawing/2010/main">
                <a:solidFill>
                  <a:srgbClr val="FFFFFF"/>
                </a:solidFill>
              </a14:hiddenFill>
            </a:ext>
          </a:extLst>
        </p:spPr>
      </p:pic>
      <p:sp>
        <p:nvSpPr>
          <p:cNvPr id="169987" name="Text Box 3"/>
          <p:cNvSpPr txBox="1">
            <a:spLocks noChangeArrowheads="1"/>
          </p:cNvSpPr>
          <p:nvPr/>
        </p:nvSpPr>
        <p:spPr bwMode="auto">
          <a:xfrm>
            <a:off x="1745457" y="2290624"/>
            <a:ext cx="6197530" cy="78483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id-ID" sz="1500">
                <a:latin typeface="Times New Roman" panose="02020603050405020304" pitchFamily="18" charset="0"/>
              </a:rPr>
              <a:t>Stand-alone application: computer program [input </a:t>
            </a:r>
            <a:r>
              <a:rPr lang="en-US" altLang="id-ID" sz="1500">
                <a:latin typeface="Times New Roman" panose="02020603050405020304" pitchFamily="18" charset="0"/>
                <a:sym typeface="Wingdings" panose="05000000000000000000" pitchFamily="2" charset="2"/>
              </a:rPr>
              <a:t></a:t>
            </a:r>
            <a:r>
              <a:rPr lang="en-US" altLang="id-ID" sz="1500">
                <a:latin typeface="Times New Roman" panose="02020603050405020304" pitchFamily="18" charset="0"/>
              </a:rPr>
              <a:t> do something </a:t>
            </a:r>
            <a:r>
              <a:rPr lang="en-US" altLang="id-ID" sz="1500">
                <a:latin typeface="Times New Roman" panose="02020603050405020304" pitchFamily="18" charset="0"/>
                <a:sym typeface="Wingdings" panose="05000000000000000000" pitchFamily="2" charset="2"/>
              </a:rPr>
              <a:t></a:t>
            </a:r>
            <a:r>
              <a:rPr lang="en-US" altLang="id-ID" sz="1500">
                <a:latin typeface="Times New Roman" panose="02020603050405020304" pitchFamily="18" charset="0"/>
              </a:rPr>
              <a:t> output]</a:t>
            </a:r>
          </a:p>
          <a:p>
            <a:endParaRPr lang="en-US" altLang="id-ID" sz="1500">
              <a:latin typeface="Times New Roman" panose="02020603050405020304" pitchFamily="18" charset="0"/>
            </a:endParaRPr>
          </a:p>
          <a:p>
            <a:r>
              <a:rPr lang="en-US" altLang="id-ID" sz="1500">
                <a:latin typeface="Times New Roman" panose="02020603050405020304" pitchFamily="18" charset="0"/>
              </a:rPr>
              <a:t>Complex applications: Many interacting computer programs</a:t>
            </a:r>
          </a:p>
        </p:txBody>
      </p:sp>
      <p:sp>
        <p:nvSpPr>
          <p:cNvPr id="169988" name="Text Box 4"/>
          <p:cNvSpPr txBox="1">
            <a:spLocks noChangeArrowheads="1"/>
          </p:cNvSpPr>
          <p:nvPr/>
        </p:nvSpPr>
        <p:spPr bwMode="auto">
          <a:xfrm>
            <a:off x="1752601" y="3188356"/>
            <a:ext cx="5716630" cy="78483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id-ID" sz="1500">
                <a:latin typeface="Times New Roman" panose="02020603050405020304" pitchFamily="18" charset="0"/>
              </a:rPr>
              <a:t>Fundamental component:</a:t>
            </a:r>
          </a:p>
          <a:p>
            <a:r>
              <a:rPr lang="en-US" altLang="id-ID" sz="1500">
                <a:latin typeface="Times New Roman" panose="02020603050405020304" pitchFamily="18" charset="0"/>
              </a:rPr>
              <a:t>	IT applications take inputs (from sensors, </a:t>
            </a:r>
            <a:r>
              <a:rPr lang="en-US" altLang="id-ID" sz="1500">
                <a:solidFill>
                  <a:srgbClr val="FF0000"/>
                </a:solidFill>
                <a:latin typeface="Times New Roman" panose="02020603050405020304" pitchFamily="18" charset="0"/>
              </a:rPr>
              <a:t>humans</a:t>
            </a:r>
            <a:r>
              <a:rPr lang="en-US" altLang="id-ID" sz="1500">
                <a:latin typeface="Times New Roman" panose="02020603050405020304" pitchFamily="18" charset="0"/>
              </a:rPr>
              <a:t>)</a:t>
            </a:r>
          </a:p>
          <a:p>
            <a:r>
              <a:rPr lang="en-US" altLang="id-ID" sz="1500">
                <a:latin typeface="Times New Roman" panose="02020603050405020304" pitchFamily="18" charset="0"/>
              </a:rPr>
              <a:t>	Most IT applications provide outputs (to actuators, </a:t>
            </a:r>
            <a:r>
              <a:rPr lang="en-US" altLang="id-ID" sz="1500">
                <a:solidFill>
                  <a:srgbClr val="FF0000"/>
                </a:solidFill>
                <a:latin typeface="Times New Roman" panose="02020603050405020304" pitchFamily="18" charset="0"/>
              </a:rPr>
              <a:t>humans</a:t>
            </a:r>
            <a:r>
              <a:rPr lang="en-US" altLang="id-ID" sz="1500">
                <a:latin typeface="Times New Roman" panose="02020603050405020304" pitchFamily="18" charset="0"/>
              </a:rPr>
              <a:t>)</a:t>
            </a:r>
          </a:p>
        </p:txBody>
      </p:sp>
      <p:sp>
        <p:nvSpPr>
          <p:cNvPr id="169997" name="Text Box 13"/>
          <p:cNvSpPr txBox="1">
            <a:spLocks noChangeArrowheads="1"/>
          </p:cNvSpPr>
          <p:nvPr/>
        </p:nvSpPr>
        <p:spPr bwMode="auto">
          <a:xfrm>
            <a:off x="1752600" y="4159878"/>
            <a:ext cx="3461166" cy="55399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id-ID" sz="1500">
                <a:latin typeface="Times New Roman" panose="02020603050405020304" pitchFamily="18" charset="0"/>
                <a:sym typeface="Wingdings" panose="05000000000000000000" pitchFamily="2" charset="2"/>
              </a:rPr>
              <a:t> A “Good” design of the User-Computer Interface is important !</a:t>
            </a:r>
            <a:endParaRPr lang="en-US" altLang="id-ID" sz="1500">
              <a:latin typeface="Times New Roman" panose="02020603050405020304" pitchFamily="18" charset="0"/>
            </a:endParaRPr>
          </a:p>
        </p:txBody>
      </p:sp>
      <p:sp>
        <p:nvSpPr>
          <p:cNvPr id="2" name="Title 1"/>
          <p:cNvSpPr>
            <a:spLocks noGrp="1"/>
          </p:cNvSpPr>
          <p:nvPr>
            <p:ph type="title"/>
          </p:nvPr>
        </p:nvSpPr>
        <p:spPr/>
        <p:txBody>
          <a:bodyPr/>
          <a:lstStyle/>
          <a:p>
            <a:r>
              <a:rPr lang="en-US" altLang="id-ID">
                <a:latin typeface="Times New Roman" panose="02020603050405020304" pitchFamily="18" charset="0"/>
              </a:rPr>
              <a:t>Basics of IT applications</a:t>
            </a:r>
            <a:endParaRPr lang="id-ID"/>
          </a:p>
        </p:txBody>
      </p:sp>
    </p:spTree>
    <p:extLst>
      <p:ext uri="{BB962C8B-B14F-4D97-AF65-F5344CB8AC3E}">
        <p14:creationId xmlns:p14="http://schemas.microsoft.com/office/powerpoint/2010/main" val="4214710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noProof="1"/>
              <a:t>Pentingnya Desain UI yang Baik</a:t>
            </a:r>
            <a:endParaRPr lang="en-US"/>
          </a:p>
        </p:txBody>
      </p:sp>
      <p:sp>
        <p:nvSpPr>
          <p:cNvPr id="2" name="Content Placeholder 1"/>
          <p:cNvSpPr>
            <a:spLocks noGrp="1"/>
          </p:cNvSpPr>
          <p:nvPr>
            <p:ph type="body" idx="1"/>
          </p:nvPr>
        </p:nvSpPr>
        <p:spPr>
          <a:xfrm>
            <a:off x="365760" y="2364412"/>
            <a:ext cx="8326438" cy="3019118"/>
          </a:xfrm>
        </p:spPr>
        <p:txBody>
          <a:bodyPr>
            <a:normAutofit fontScale="92500" lnSpcReduction="10000"/>
          </a:bodyPr>
          <a:lstStyle/>
          <a:p>
            <a:pPr algn="just">
              <a:spcBef>
                <a:spcPct val="0"/>
              </a:spcBef>
            </a:pPr>
            <a:r>
              <a:rPr lang="en-US" noProof="1"/>
              <a:t>Banyak sistem dengan fungsionalitas yang baik tapi tidak efisien, membingungkan, dan tidak berguna karena </a:t>
            </a:r>
            <a:r>
              <a:rPr lang="en-US" sz="2400" noProof="1"/>
              <a:t>desain UI yang buruk</a:t>
            </a:r>
            <a:endParaRPr lang="en-US" noProof="1"/>
          </a:p>
          <a:p>
            <a:pPr algn="just">
              <a:spcBef>
                <a:spcPct val="0"/>
              </a:spcBef>
            </a:pPr>
            <a:r>
              <a:rPr lang="en-US" noProof="1"/>
              <a:t>Antarmuka yang baik merupakan jendela untuk melihat kemampuan sistem serta jembatan bagi kemampuan perangkat lunak</a:t>
            </a:r>
          </a:p>
          <a:p>
            <a:pPr algn="just">
              <a:spcBef>
                <a:spcPct val="0"/>
              </a:spcBef>
            </a:pPr>
            <a:r>
              <a:rPr lang="en-US" noProof="1"/>
              <a:t>Desain yang buruk akan </a:t>
            </a:r>
            <a:r>
              <a:rPr lang="en-US" sz="2400" noProof="1"/>
              <a:t>membingungkan, tidak efisien,</a:t>
            </a:r>
            <a:r>
              <a:rPr lang="en-US" noProof="1"/>
              <a:t> bahkan menyebabkan </a:t>
            </a:r>
            <a:r>
              <a:rPr lang="en-US" sz="2400" noProof="1"/>
              <a:t>frustasi</a:t>
            </a:r>
          </a:p>
        </p:txBody>
      </p:sp>
    </p:spTree>
    <p:extLst>
      <p:ext uri="{BB962C8B-B14F-4D97-AF65-F5344CB8AC3E}">
        <p14:creationId xmlns:p14="http://schemas.microsoft.com/office/powerpoint/2010/main" val="2157561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r>
              <a:rPr lang="en-US" err="1"/>
              <a:t>Desain</a:t>
            </a:r>
            <a:r>
              <a:rPr lang="en-US"/>
              <a:t> UI yang </a:t>
            </a:r>
            <a:r>
              <a:rPr lang="en-US" err="1"/>
              <a:t>Baik</a:t>
            </a:r>
            <a:r>
              <a:rPr lang="en-US"/>
              <a:t> </a:t>
            </a:r>
            <a:r>
              <a:rPr lang="en-US" err="1"/>
              <a:t>perlu</a:t>
            </a:r>
            <a:r>
              <a:rPr lang="en-US"/>
              <a:t> </a:t>
            </a:r>
            <a:r>
              <a:rPr lang="en-US" err="1"/>
              <a:t>memenuhi</a:t>
            </a:r>
            <a:endParaRPr lang="en-US"/>
          </a:p>
        </p:txBody>
      </p:sp>
      <p:sp>
        <p:nvSpPr>
          <p:cNvPr id="2" name="Content Placeholder 1"/>
          <p:cNvSpPr>
            <a:spLocks noGrp="1"/>
          </p:cNvSpPr>
          <p:nvPr>
            <p:ph type="body" idx="1"/>
          </p:nvPr>
        </p:nvSpPr>
        <p:spPr>
          <a:xfrm>
            <a:off x="1417320" y="2364412"/>
            <a:ext cx="6244829" cy="3331538"/>
          </a:xfrm>
        </p:spPr>
        <p:txBody>
          <a:bodyPr>
            <a:normAutofit fontScale="55000" lnSpcReduction="20000"/>
          </a:bodyPr>
          <a:lstStyle/>
          <a:p>
            <a:r>
              <a:rPr lang="en-US">
                <a:solidFill>
                  <a:srgbClr val="FF0000"/>
                </a:solidFill>
              </a:rPr>
              <a:t>Usability goals</a:t>
            </a:r>
          </a:p>
          <a:p>
            <a:pPr lvl="1">
              <a:spcBef>
                <a:spcPts val="0"/>
              </a:spcBef>
            </a:pPr>
            <a:r>
              <a:rPr lang="en-US"/>
              <a:t>effective to use (effectiveness) </a:t>
            </a:r>
          </a:p>
          <a:p>
            <a:pPr lvl="1">
              <a:spcBef>
                <a:spcPts val="0"/>
              </a:spcBef>
            </a:pPr>
            <a:r>
              <a:rPr lang="en-US"/>
              <a:t>efficient to use (efficiency) </a:t>
            </a:r>
          </a:p>
          <a:p>
            <a:pPr lvl="1">
              <a:spcBef>
                <a:spcPts val="0"/>
              </a:spcBef>
            </a:pPr>
            <a:r>
              <a:rPr lang="en-US"/>
              <a:t>safe to use (safety)</a:t>
            </a:r>
          </a:p>
          <a:p>
            <a:pPr lvl="1">
              <a:spcBef>
                <a:spcPts val="0"/>
              </a:spcBef>
            </a:pPr>
            <a:r>
              <a:rPr lang="en-US"/>
              <a:t>have good utility (utility)</a:t>
            </a:r>
          </a:p>
          <a:p>
            <a:pPr lvl="1">
              <a:spcBef>
                <a:spcPts val="0"/>
              </a:spcBef>
            </a:pPr>
            <a:r>
              <a:rPr lang="en-US"/>
              <a:t>easy to learn (learnability) </a:t>
            </a:r>
          </a:p>
          <a:p>
            <a:pPr lvl="1">
              <a:spcBef>
                <a:spcPts val="0"/>
              </a:spcBef>
            </a:pPr>
            <a:r>
              <a:rPr lang="en-US"/>
              <a:t>easy to remember how to use (memorability) </a:t>
            </a:r>
          </a:p>
          <a:p>
            <a:pPr lvl="1">
              <a:spcBef>
                <a:spcPts val="0"/>
              </a:spcBef>
            </a:pPr>
            <a:endParaRPr lang="en-US">
              <a:solidFill>
                <a:srgbClr val="FF0000"/>
              </a:solidFill>
            </a:endParaRPr>
          </a:p>
          <a:p>
            <a:pPr marL="308372" lvl="1" indent="0">
              <a:spcBef>
                <a:spcPts val="0"/>
              </a:spcBef>
              <a:buNone/>
            </a:pPr>
            <a:r>
              <a:rPr lang="en-US">
                <a:solidFill>
                  <a:srgbClr val="FF0000"/>
                </a:solidFill>
              </a:rPr>
              <a:t>User Experience goals</a:t>
            </a:r>
          </a:p>
          <a:p>
            <a:pPr lvl="1">
              <a:spcBef>
                <a:spcPts val="0"/>
              </a:spcBef>
            </a:pPr>
            <a:r>
              <a:rPr lang="en-US"/>
              <a:t>Satisfying					- Enjoyable </a:t>
            </a:r>
          </a:p>
          <a:p>
            <a:pPr lvl="1">
              <a:spcBef>
                <a:spcPts val="0"/>
              </a:spcBef>
            </a:pPr>
            <a:r>
              <a:rPr lang="en-US"/>
              <a:t>Fun							- Entertaining </a:t>
            </a:r>
          </a:p>
          <a:p>
            <a:pPr lvl="1">
              <a:spcBef>
                <a:spcPts val="0"/>
              </a:spcBef>
            </a:pPr>
            <a:r>
              <a:rPr lang="en-US"/>
              <a:t>Helpful						- Motivating </a:t>
            </a:r>
          </a:p>
          <a:p>
            <a:pPr lvl="1">
              <a:spcBef>
                <a:spcPts val="0"/>
              </a:spcBef>
            </a:pPr>
            <a:r>
              <a:rPr lang="en-US"/>
              <a:t>Aesthetically pleasing  		- Supportive of creativity </a:t>
            </a:r>
          </a:p>
          <a:p>
            <a:pPr lvl="1">
              <a:spcBef>
                <a:spcPts val="0"/>
              </a:spcBef>
            </a:pPr>
            <a:r>
              <a:rPr lang="en-US"/>
              <a:t>Rewarding					- Emotionally fulfilling </a:t>
            </a:r>
            <a:endParaRPr lang="en-US">
              <a:solidFill>
                <a:srgbClr val="FF0000"/>
              </a:solidFill>
            </a:endParaRPr>
          </a:p>
        </p:txBody>
      </p:sp>
    </p:spTree>
    <p:extLst>
      <p:ext uri="{BB962C8B-B14F-4D97-AF65-F5344CB8AC3E}">
        <p14:creationId xmlns:p14="http://schemas.microsoft.com/office/powerpoint/2010/main" val="3818383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16844" y="1757206"/>
            <a:ext cx="6244829" cy="480929"/>
          </a:xfrm>
        </p:spPr>
        <p:txBody>
          <a:bodyPr>
            <a:normAutofit fontScale="90000"/>
          </a:bodyPr>
          <a:lstStyle/>
          <a:p>
            <a:r>
              <a:rPr lang="en-US"/>
              <a:t>Usability </a:t>
            </a:r>
            <a:r>
              <a:rPr lang="en-US" err="1"/>
              <a:t>dan</a:t>
            </a:r>
            <a:r>
              <a:rPr lang="en-US"/>
              <a:t> User Experience goals</a:t>
            </a:r>
          </a:p>
        </p:txBody>
      </p:sp>
      <p:pic>
        <p:nvPicPr>
          <p:cNvPr id="7" name="Content Placeholder 6"/>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0" y="2280048"/>
            <a:ext cx="5950744" cy="3331369"/>
          </a:xfrm>
        </p:spPr>
      </p:pic>
      <p:sp>
        <p:nvSpPr>
          <p:cNvPr id="8" name="Rectangle 7"/>
          <p:cNvSpPr/>
          <p:nvPr/>
        </p:nvSpPr>
        <p:spPr>
          <a:xfrm>
            <a:off x="958730" y="4869108"/>
            <a:ext cx="1584435" cy="553998"/>
          </a:xfrm>
          <a:prstGeom prst="rect">
            <a:avLst/>
          </a:prstGeom>
        </p:spPr>
        <p:txBody>
          <a:bodyPr wrap="square">
            <a:spAutoFit/>
          </a:bodyPr>
          <a:lstStyle/>
          <a:p>
            <a:pPr marL="300038" algn="just">
              <a:defRPr/>
            </a:pPr>
            <a:r>
              <a:rPr lang="en-US" sz="600" noProof="1">
                <a:solidFill>
                  <a:schemeClr val="tx1">
                    <a:lumMod val="75000"/>
                    <a:lumOff val="25000"/>
                  </a:schemeClr>
                </a:solidFill>
              </a:rPr>
              <a:t>Jenny Preece, Yvonne Rogers, Helen Sharp. 2002. </a:t>
            </a:r>
            <a:r>
              <a:rPr lang="en-US" sz="600" i="1" noProof="1">
                <a:solidFill>
                  <a:schemeClr val="tx1">
                    <a:lumMod val="75000"/>
                    <a:lumOff val="25000"/>
                  </a:schemeClr>
                </a:solidFill>
              </a:rPr>
              <a:t>Interaction Design_beyond Human-Computer –Interaction, </a:t>
            </a:r>
            <a:r>
              <a:rPr lang="en-US" sz="600" noProof="1">
                <a:solidFill>
                  <a:schemeClr val="tx1">
                    <a:lumMod val="75000"/>
                    <a:lumOff val="25000"/>
                  </a:schemeClr>
                </a:solidFill>
              </a:rPr>
              <a:t>J. Wiley &amp; Sons </a:t>
            </a:r>
            <a:endParaRPr lang="en-US" sz="600" i="1">
              <a:solidFill>
                <a:schemeClr val="tx1">
                  <a:lumMod val="75000"/>
                  <a:lumOff val="25000"/>
                </a:schemeClr>
              </a:solidFill>
            </a:endParaRPr>
          </a:p>
        </p:txBody>
      </p:sp>
    </p:spTree>
    <p:extLst>
      <p:ext uri="{BB962C8B-B14F-4D97-AF65-F5344CB8AC3E}">
        <p14:creationId xmlns:p14="http://schemas.microsoft.com/office/powerpoint/2010/main" val="2177469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88838" y="3407011"/>
            <a:ext cx="6244829" cy="480929"/>
          </a:xfrm>
        </p:spPr>
        <p:txBody>
          <a:bodyPr>
            <a:normAutofit fontScale="90000"/>
          </a:bodyPr>
          <a:lstStyle/>
          <a:p>
            <a:r>
              <a:rPr lang="en-ID" err="1"/>
              <a:t>Perkembangan</a:t>
            </a:r>
            <a:r>
              <a:rPr lang="en-ID"/>
              <a:t> IMK</a:t>
            </a:r>
            <a:endParaRPr lang="en-US"/>
          </a:p>
        </p:txBody>
      </p:sp>
    </p:spTree>
    <p:extLst>
      <p:ext uri="{BB962C8B-B14F-4D97-AF65-F5344CB8AC3E}">
        <p14:creationId xmlns:p14="http://schemas.microsoft.com/office/powerpoint/2010/main" val="3397112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D" err="1"/>
              <a:t>Sejarah</a:t>
            </a:r>
            <a:r>
              <a:rPr lang="en-ID"/>
              <a:t> </a:t>
            </a:r>
            <a:r>
              <a:rPr lang="en-ID" err="1"/>
              <a:t>perkembangan</a:t>
            </a:r>
            <a:r>
              <a:rPr lang="en-ID"/>
              <a:t> IMK</a:t>
            </a:r>
            <a:endParaRPr lang="en-US"/>
          </a:p>
        </p:txBody>
      </p:sp>
      <p:pic>
        <p:nvPicPr>
          <p:cNvPr id="7" name="Picture 6"/>
          <p:cNvPicPr>
            <a:picLocks noChangeAspect="1"/>
          </p:cNvPicPr>
          <p:nvPr/>
        </p:nvPicPr>
        <p:blipFill>
          <a:blip r:embed="rId3"/>
          <a:stretch>
            <a:fillRect/>
          </a:stretch>
        </p:blipFill>
        <p:spPr>
          <a:xfrm>
            <a:off x="1224416" y="2340493"/>
            <a:ext cx="6706246" cy="3220643"/>
          </a:xfrm>
          <a:prstGeom prst="rect">
            <a:avLst/>
          </a:prstGeom>
        </p:spPr>
      </p:pic>
      <p:sp>
        <p:nvSpPr>
          <p:cNvPr id="6" name="TextBox 5"/>
          <p:cNvSpPr txBox="1"/>
          <p:nvPr/>
        </p:nvSpPr>
        <p:spPr>
          <a:xfrm>
            <a:off x="1645253" y="2677533"/>
            <a:ext cx="2109064" cy="507831"/>
          </a:xfrm>
          <a:prstGeom prst="rect">
            <a:avLst/>
          </a:prstGeom>
          <a:ln>
            <a:noFill/>
          </a:ln>
        </p:spPr>
        <p:txBody>
          <a:bodyPr wrap="square" rtlCol="0">
            <a:spAutoFit/>
          </a:bodyPr>
          <a:lstStyle/>
          <a:p>
            <a:r>
              <a:rPr lang="en-ID" sz="900" err="1">
                <a:hlinkClick r:id="rId4"/>
              </a:rPr>
              <a:t>Sumber</a:t>
            </a:r>
            <a:r>
              <a:rPr lang="en-ID" sz="900">
                <a:hlinkClick r:id="rId4"/>
              </a:rPr>
              <a:t> :</a:t>
            </a:r>
            <a:endParaRPr lang="en-US" sz="900">
              <a:hlinkClick r:id="rId4"/>
            </a:endParaRPr>
          </a:p>
          <a:p>
            <a:r>
              <a:rPr lang="en-US" sz="900">
                <a:hlinkClick r:id="rId4"/>
              </a:rPr>
              <a:t>https://www.timetoast.com/timelines/history-of-human-computer-interaction</a:t>
            </a:r>
            <a:endParaRPr lang="en-US" sz="900"/>
          </a:p>
        </p:txBody>
      </p:sp>
    </p:spTree>
    <p:extLst>
      <p:ext uri="{BB962C8B-B14F-4D97-AF65-F5344CB8AC3E}">
        <p14:creationId xmlns:p14="http://schemas.microsoft.com/office/powerpoint/2010/main" val="764360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88838" y="3407011"/>
            <a:ext cx="6244829" cy="480929"/>
          </a:xfrm>
        </p:spPr>
        <p:txBody>
          <a:bodyPr>
            <a:normAutofit fontScale="90000"/>
          </a:bodyPr>
          <a:lstStyle/>
          <a:p>
            <a:r>
              <a:rPr lang="en-ID" err="1"/>
              <a:t>Tren</a:t>
            </a:r>
            <a:r>
              <a:rPr lang="en-ID"/>
              <a:t> </a:t>
            </a:r>
            <a:r>
              <a:rPr lang="en-ID" err="1"/>
              <a:t>Interaksi</a:t>
            </a:r>
            <a:r>
              <a:rPr lang="en-ID"/>
              <a:t> </a:t>
            </a:r>
            <a:r>
              <a:rPr lang="en-ID" err="1"/>
              <a:t>Manusia</a:t>
            </a:r>
            <a:r>
              <a:rPr lang="en-ID"/>
              <a:t> </a:t>
            </a:r>
            <a:r>
              <a:rPr lang="en-ID" err="1"/>
              <a:t>Komputer</a:t>
            </a:r>
            <a:endParaRPr lang="en-US"/>
          </a:p>
        </p:txBody>
      </p:sp>
    </p:spTree>
    <p:extLst>
      <p:ext uri="{BB962C8B-B14F-4D97-AF65-F5344CB8AC3E}">
        <p14:creationId xmlns:p14="http://schemas.microsoft.com/office/powerpoint/2010/main" val="3766781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idx="1"/>
          </p:nvPr>
        </p:nvSpPr>
        <p:spPr>
          <a:xfrm>
            <a:off x="365760" y="2364412"/>
            <a:ext cx="8326438" cy="3019118"/>
          </a:xfrm>
        </p:spPr>
        <p:txBody>
          <a:bodyPr/>
          <a:lstStyle/>
          <a:p>
            <a:r>
              <a:rPr lang="en-ID"/>
              <a:t>Smart Restaurant Table</a:t>
            </a:r>
          </a:p>
          <a:p>
            <a:pPr lvl="1"/>
            <a:r>
              <a:rPr lang="en-ID">
                <a:hlinkClick r:id="rId3"/>
              </a:rPr>
              <a:t>https://www.youtube.com/watch?v=UZPwqImfBf0</a:t>
            </a:r>
            <a:endParaRPr lang="en-ID"/>
          </a:p>
          <a:p>
            <a:pPr lvl="1"/>
            <a:r>
              <a:rPr lang="en-US">
                <a:hlinkClick r:id="rId4"/>
              </a:rPr>
              <a:t>https://itrestaurant.net/table</a:t>
            </a:r>
            <a:endParaRPr lang="en-ID"/>
          </a:p>
          <a:p>
            <a:r>
              <a:rPr lang="en-ID"/>
              <a:t>Amazing Interface &amp; Holograms</a:t>
            </a:r>
          </a:p>
          <a:p>
            <a:pPr lvl="1"/>
            <a:r>
              <a:rPr lang="en-US">
                <a:hlinkClick r:id="rId5"/>
              </a:rPr>
              <a:t>https://www.youtube.com/watch?v=uaLWylmrpCI</a:t>
            </a:r>
            <a:endParaRPr lang="en-US"/>
          </a:p>
          <a:p>
            <a:pPr lvl="1"/>
            <a:r>
              <a:rPr lang="en-US">
                <a:hlinkClick r:id="rId6"/>
              </a:rPr>
              <a:t>https://collegeinfogeek.com/leap-gesture-computing/</a:t>
            </a:r>
            <a:endParaRPr lang="en-US"/>
          </a:p>
          <a:p>
            <a:pPr marL="308372" lvl="1" indent="0">
              <a:buNone/>
            </a:pPr>
            <a:endParaRPr lang="en-US"/>
          </a:p>
          <a:p>
            <a:pPr marL="308372" lvl="1" indent="0">
              <a:buNone/>
            </a:pPr>
            <a:endParaRPr lang="en-US"/>
          </a:p>
          <a:p>
            <a:endParaRPr lang="en-US"/>
          </a:p>
        </p:txBody>
      </p:sp>
    </p:spTree>
    <p:extLst>
      <p:ext uri="{BB962C8B-B14F-4D97-AF65-F5344CB8AC3E}">
        <p14:creationId xmlns:p14="http://schemas.microsoft.com/office/powerpoint/2010/main" val="1239867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rot="16200000">
            <a:off x="6009815" y="3632697"/>
            <a:ext cx="3103735" cy="346249"/>
          </a:xfrm>
          <a:prstGeom prst="rect">
            <a:avLst/>
          </a:prstGeom>
          <a:ln>
            <a:noFill/>
          </a:ln>
        </p:spPr>
        <p:txBody>
          <a:bodyPr wrap="none" rtlCol="0">
            <a:spAutoFit/>
          </a:bodyPr>
          <a:lstStyle/>
          <a:p>
            <a:r>
              <a:rPr lang="en-ID" sz="825" err="1"/>
              <a:t>Sumber</a:t>
            </a:r>
            <a:r>
              <a:rPr lang="en-ID" sz="825"/>
              <a:t> : </a:t>
            </a:r>
            <a:r>
              <a:rPr lang="en-US" sz="825"/>
              <a:t>https://collegeinfogeek.com/leap-gesture-computing/</a:t>
            </a:r>
          </a:p>
          <a:p>
            <a:endParaRPr lang="en-US" sz="825"/>
          </a:p>
        </p:txBody>
      </p:sp>
      <p:pic>
        <p:nvPicPr>
          <p:cNvPr id="8" name="Picture 7"/>
          <p:cNvPicPr>
            <a:picLocks noChangeAspect="1"/>
          </p:cNvPicPr>
          <p:nvPr/>
        </p:nvPicPr>
        <p:blipFill>
          <a:blip r:embed="rId2"/>
          <a:stretch>
            <a:fillRect/>
          </a:stretch>
        </p:blipFill>
        <p:spPr>
          <a:xfrm>
            <a:off x="894693" y="2507419"/>
            <a:ext cx="3636651" cy="2596805"/>
          </a:xfrm>
          <a:prstGeom prst="rect">
            <a:avLst/>
          </a:prstGeom>
        </p:spPr>
      </p:pic>
      <p:pic>
        <p:nvPicPr>
          <p:cNvPr id="1026" name="Picture 2" descr="https://collegeinfogeek.com/wp-content/uploads/2012/06/stark-comput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6302" y="1831772"/>
            <a:ext cx="3239174" cy="1519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eap still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9582" y="3733394"/>
            <a:ext cx="3265894" cy="15077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1435432" y="5241150"/>
            <a:ext cx="1765227" cy="207749"/>
          </a:xfrm>
          <a:prstGeom prst="rect">
            <a:avLst/>
          </a:prstGeom>
          <a:ln>
            <a:noFill/>
          </a:ln>
        </p:spPr>
        <p:txBody>
          <a:bodyPr wrap="none" rtlCol="0">
            <a:spAutoFit/>
          </a:bodyPr>
          <a:lstStyle/>
          <a:p>
            <a:r>
              <a:rPr lang="en-ID" sz="750" err="1"/>
              <a:t>Sumber</a:t>
            </a:r>
            <a:r>
              <a:rPr lang="en-ID" sz="750"/>
              <a:t> : </a:t>
            </a:r>
            <a:r>
              <a:rPr lang="en-US" sz="750"/>
              <a:t>https://itrestaurant.net/table</a:t>
            </a:r>
          </a:p>
        </p:txBody>
      </p:sp>
    </p:spTree>
    <p:extLst>
      <p:ext uri="{BB962C8B-B14F-4D97-AF65-F5344CB8AC3E}">
        <p14:creationId xmlns:p14="http://schemas.microsoft.com/office/powerpoint/2010/main" val="2950583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5126" y="1859564"/>
            <a:ext cx="8326438" cy="480929"/>
          </a:xfrm>
        </p:spPr>
        <p:txBody>
          <a:bodyPr>
            <a:normAutofit fontScale="90000"/>
          </a:bodyPr>
          <a:lstStyle/>
          <a:p>
            <a:endParaRPr lang="en-US"/>
          </a:p>
        </p:txBody>
      </p:sp>
      <p:pic>
        <p:nvPicPr>
          <p:cNvPr id="2050" name="Picture 2" descr="http://3.bp.blogspot.com/-6jKErDs63Tw/VTF9A83i8rI/AAAAAAAABBE/Jbb0GNhdhyY/s1600/The-Cicret-Bracelet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431" y="2467297"/>
            <a:ext cx="3136569" cy="191354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426799" y="4601489"/>
            <a:ext cx="2357920" cy="438582"/>
          </a:xfrm>
          <a:prstGeom prst="rect">
            <a:avLst/>
          </a:prstGeom>
          <a:ln>
            <a:noFill/>
          </a:ln>
        </p:spPr>
        <p:txBody>
          <a:bodyPr wrap="square" rtlCol="0">
            <a:spAutoFit/>
          </a:bodyPr>
          <a:lstStyle/>
          <a:p>
            <a:r>
              <a:rPr lang="en-ID" sz="750" err="1"/>
              <a:t>Sumber</a:t>
            </a:r>
            <a:r>
              <a:rPr lang="en-ID" sz="750"/>
              <a:t> : </a:t>
            </a:r>
            <a:r>
              <a:rPr lang="en-US" sz="750"/>
              <a:t>http://sparrowkinteractiondesign.blogspot.com/2015/04/cicret-bracelet-future-hci-technologies.html</a:t>
            </a:r>
          </a:p>
        </p:txBody>
      </p:sp>
      <p:pic>
        <p:nvPicPr>
          <p:cNvPr id="2052" name="Picture 4" descr="android with VR headset 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0241" y="2467296"/>
            <a:ext cx="3003215" cy="18879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690242" y="4568716"/>
            <a:ext cx="2357920" cy="438582"/>
          </a:xfrm>
          <a:prstGeom prst="rect">
            <a:avLst/>
          </a:prstGeom>
          <a:ln>
            <a:noFill/>
          </a:ln>
        </p:spPr>
        <p:txBody>
          <a:bodyPr wrap="square" rtlCol="0">
            <a:spAutoFit/>
          </a:bodyPr>
          <a:lstStyle/>
          <a:p>
            <a:r>
              <a:rPr lang="en-ID" sz="750" err="1"/>
              <a:t>Sumber</a:t>
            </a:r>
            <a:r>
              <a:rPr lang="en-ID" sz="750"/>
              <a:t> : </a:t>
            </a:r>
            <a:r>
              <a:rPr lang="en-US" sz="750"/>
              <a:t>https://www.canterbury.ac.nz/engineering/schools/csse/research/hci/</a:t>
            </a:r>
          </a:p>
        </p:txBody>
      </p:sp>
    </p:spTree>
    <p:extLst>
      <p:ext uri="{BB962C8B-B14F-4D97-AF65-F5344CB8AC3E}">
        <p14:creationId xmlns:p14="http://schemas.microsoft.com/office/powerpoint/2010/main" val="2645507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88838" y="3407011"/>
            <a:ext cx="6244829" cy="480929"/>
          </a:xfrm>
        </p:spPr>
        <p:txBody>
          <a:bodyPr>
            <a:normAutofit fontScale="90000"/>
          </a:bodyPr>
          <a:lstStyle/>
          <a:p>
            <a:r>
              <a:rPr lang="en-ID"/>
              <a:t>Interaction Framework</a:t>
            </a:r>
            <a:endParaRPr lang="en-US"/>
          </a:p>
        </p:txBody>
      </p:sp>
    </p:spTree>
    <p:extLst>
      <p:ext uri="{BB962C8B-B14F-4D97-AF65-F5344CB8AC3E}">
        <p14:creationId xmlns:p14="http://schemas.microsoft.com/office/powerpoint/2010/main" val="2102299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Interaction Framework</a:t>
            </a:r>
          </a:p>
        </p:txBody>
      </p:sp>
      <p:sp>
        <p:nvSpPr>
          <p:cNvPr id="2" name="Content Placeholder 1"/>
          <p:cNvSpPr>
            <a:spLocks noGrp="1"/>
          </p:cNvSpPr>
          <p:nvPr>
            <p:ph type="body" idx="1"/>
          </p:nvPr>
        </p:nvSpPr>
        <p:spPr>
          <a:ln>
            <a:solidFill>
              <a:srgbClr val="C00000"/>
            </a:solidFill>
          </a:ln>
        </p:spPr>
        <p:txBody>
          <a:bodyPr/>
          <a:lstStyle/>
          <a:p>
            <a:pPr>
              <a:buFont typeface="Arial" panose="020B0604020202020204" pitchFamily="34" charset="0"/>
              <a:buChar char="•"/>
            </a:pPr>
            <a:r>
              <a:rPr lang="en-US" err="1"/>
              <a:t>Manusia</a:t>
            </a:r>
            <a:r>
              <a:rPr lang="en-US"/>
              <a:t> </a:t>
            </a:r>
            <a:r>
              <a:rPr lang="en-US" err="1"/>
              <a:t>berinteraksi</a:t>
            </a:r>
            <a:r>
              <a:rPr lang="en-US"/>
              <a:t> </a:t>
            </a:r>
            <a:r>
              <a:rPr lang="en-US" err="1"/>
              <a:t>dengan</a:t>
            </a:r>
            <a:r>
              <a:rPr lang="en-US"/>
              <a:t> </a:t>
            </a:r>
            <a:r>
              <a:rPr lang="en-US" err="1"/>
              <a:t>komputer</a:t>
            </a:r>
            <a:r>
              <a:rPr lang="en-US"/>
              <a:t> </a:t>
            </a:r>
            <a:r>
              <a:rPr lang="en-US" err="1"/>
              <a:t>tentunya</a:t>
            </a:r>
            <a:r>
              <a:rPr lang="en-US"/>
              <a:t> </a:t>
            </a:r>
            <a:r>
              <a:rPr lang="en-US" err="1"/>
              <a:t>sangat</a:t>
            </a:r>
            <a:r>
              <a:rPr lang="en-US"/>
              <a:t> </a:t>
            </a:r>
            <a:r>
              <a:rPr lang="en-US" err="1"/>
              <a:t>komplek</a:t>
            </a:r>
            <a:r>
              <a:rPr lang="en-US"/>
              <a:t> </a:t>
            </a:r>
            <a:r>
              <a:rPr lang="en-US" err="1"/>
              <a:t>dan</a:t>
            </a:r>
            <a:r>
              <a:rPr lang="en-US"/>
              <a:t> </a:t>
            </a:r>
            <a:r>
              <a:rPr lang="en-US" err="1"/>
              <a:t>tidak</a:t>
            </a:r>
            <a:r>
              <a:rPr lang="en-US"/>
              <a:t> </a:t>
            </a:r>
            <a:r>
              <a:rPr lang="en-US" err="1"/>
              <a:t>mudah</a:t>
            </a:r>
            <a:r>
              <a:rPr lang="en-US"/>
              <a:t>.</a:t>
            </a:r>
          </a:p>
          <a:p>
            <a:pPr marL="0" indent="0">
              <a:buNone/>
            </a:pPr>
            <a:r>
              <a:rPr lang="en-US"/>
              <a:t>		</a:t>
            </a:r>
          </a:p>
          <a:p>
            <a:pPr marL="0" indent="0">
              <a:buNone/>
            </a:pPr>
            <a:r>
              <a:rPr lang="en-US"/>
              <a:t>	</a:t>
            </a:r>
          </a:p>
          <a:p>
            <a:pPr marL="0" indent="0">
              <a:buNone/>
            </a:pPr>
            <a:r>
              <a:rPr lang="en-US"/>
              <a:t>			</a:t>
            </a:r>
          </a:p>
          <a:p>
            <a:pPr marL="0" indent="0" algn="ctr">
              <a:buNone/>
            </a:pPr>
            <a:endParaRPr lang="en-US"/>
          </a:p>
          <a:p>
            <a:pPr marL="0" indent="0" algn="just">
              <a:buNone/>
            </a:pPr>
            <a:r>
              <a:rPr lang="en-US"/>
              <a:t>			Interaction Framework</a:t>
            </a:r>
          </a:p>
        </p:txBody>
      </p:sp>
      <p:pic>
        <p:nvPicPr>
          <p:cNvPr id="4" name="Picture 3">
            <a:extLst>
              <a:ext uri="{FF2B5EF4-FFF2-40B4-BE49-F238E27FC236}">
                <a16:creationId xmlns:a16="http://schemas.microsoft.com/office/drawing/2014/main" id="{B63CD7A5-A437-87D6-0EBA-0C689759F074}"/>
              </a:ext>
            </a:extLst>
          </p:cNvPr>
          <p:cNvPicPr>
            <a:picLocks noChangeAspect="1"/>
          </p:cNvPicPr>
          <p:nvPr/>
        </p:nvPicPr>
        <p:blipFill>
          <a:blip r:embed="rId3"/>
          <a:stretch>
            <a:fillRect/>
          </a:stretch>
        </p:blipFill>
        <p:spPr>
          <a:xfrm>
            <a:off x="2142904" y="2410888"/>
            <a:ext cx="3172268" cy="1836200"/>
          </a:xfrm>
          <a:prstGeom prst="rect">
            <a:avLst/>
          </a:prstGeom>
        </p:spPr>
      </p:pic>
    </p:spTree>
    <p:extLst>
      <p:ext uri="{BB962C8B-B14F-4D97-AF65-F5344CB8AC3E}">
        <p14:creationId xmlns:p14="http://schemas.microsoft.com/office/powerpoint/2010/main" val="719180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88838" y="3407011"/>
            <a:ext cx="6244829" cy="480929"/>
          </a:xfrm>
        </p:spPr>
        <p:txBody>
          <a:bodyPr>
            <a:normAutofit fontScale="90000"/>
          </a:bodyPr>
          <a:lstStyle/>
          <a:p>
            <a:r>
              <a:rPr lang="en-ID"/>
              <a:t>Interaction Style</a:t>
            </a:r>
            <a:endParaRPr lang="en-US"/>
          </a:p>
        </p:txBody>
      </p:sp>
    </p:spTree>
    <p:extLst>
      <p:ext uri="{BB962C8B-B14F-4D97-AF65-F5344CB8AC3E}">
        <p14:creationId xmlns:p14="http://schemas.microsoft.com/office/powerpoint/2010/main" val="2702005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atin typeface="Verdana (Body)"/>
              </a:rPr>
              <a:t>Interaction Style</a:t>
            </a:r>
            <a:endParaRPr lang="en-US">
              <a:solidFill>
                <a:schemeClr val="tx1"/>
              </a:solidFill>
            </a:endParaRPr>
          </a:p>
        </p:txBody>
      </p:sp>
      <p:sp>
        <p:nvSpPr>
          <p:cNvPr id="2" name="Content Placeholder 1"/>
          <p:cNvSpPr>
            <a:spLocks noGrp="1"/>
          </p:cNvSpPr>
          <p:nvPr>
            <p:ph type="body" idx="1"/>
          </p:nvPr>
        </p:nvSpPr>
        <p:spPr/>
        <p:txBody>
          <a:bodyPr/>
          <a:lstStyle/>
          <a:p>
            <a:pPr algn="just"/>
            <a:r>
              <a:rPr lang="en-US" sz="1500"/>
              <a:t>An interaction style is simply the method, or methods, by which the user and a computer system communicate with one another</a:t>
            </a:r>
          </a:p>
          <a:p>
            <a:pPr algn="just"/>
            <a:r>
              <a:rPr lang="en-US" sz="1500"/>
              <a:t>Type of Interaction Style : </a:t>
            </a:r>
          </a:p>
          <a:p>
            <a:pPr lvl="1" algn="just"/>
            <a:r>
              <a:rPr lang="en-US" sz="1050"/>
              <a:t>Command line</a:t>
            </a:r>
          </a:p>
          <a:p>
            <a:pPr lvl="1" algn="just"/>
            <a:r>
              <a:rPr lang="en-US" sz="1050"/>
              <a:t>Menu-Based Interface</a:t>
            </a:r>
          </a:p>
          <a:p>
            <a:pPr lvl="1" algn="just"/>
            <a:r>
              <a:rPr lang="en-US" sz="1050"/>
              <a:t>Form Fill in</a:t>
            </a:r>
          </a:p>
          <a:p>
            <a:pPr lvl="1" algn="just"/>
            <a:r>
              <a:rPr lang="en-US" sz="1050"/>
              <a:t>Direct Manipulation</a:t>
            </a:r>
          </a:p>
          <a:p>
            <a:pPr lvl="1" algn="just"/>
            <a:r>
              <a:rPr lang="en-US" sz="1050"/>
              <a:t>Anthropomorphic/Metaphors</a:t>
            </a:r>
          </a:p>
          <a:p>
            <a:pPr lvl="1" algn="just"/>
            <a:r>
              <a:rPr lang="en-US" sz="1050"/>
              <a:t>Web Navigation</a:t>
            </a:r>
          </a:p>
          <a:p>
            <a:pPr lvl="1" algn="just"/>
            <a:r>
              <a:rPr lang="en-US" sz="1050"/>
              <a:t>3D Environment</a:t>
            </a:r>
          </a:p>
          <a:p>
            <a:pPr lvl="1" algn="just"/>
            <a:r>
              <a:rPr lang="en-US" sz="1050" err="1"/>
              <a:t>Zoomable</a:t>
            </a:r>
            <a:r>
              <a:rPr lang="en-US" sz="1050"/>
              <a:t> interface</a:t>
            </a:r>
          </a:p>
          <a:p>
            <a:pPr lvl="1" algn="just"/>
            <a:r>
              <a:rPr lang="en-US" sz="1050"/>
              <a:t>Natural Language</a:t>
            </a:r>
          </a:p>
          <a:p>
            <a:pPr lvl="1" algn="just"/>
            <a:endParaRPr lang="en-US"/>
          </a:p>
          <a:p>
            <a:endParaRPr lang="en-US"/>
          </a:p>
        </p:txBody>
      </p:sp>
    </p:spTree>
    <p:extLst>
      <p:ext uri="{BB962C8B-B14F-4D97-AF65-F5344CB8AC3E}">
        <p14:creationId xmlns:p14="http://schemas.microsoft.com/office/powerpoint/2010/main" val="3163272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atin typeface="Verdana (Body)"/>
              </a:rPr>
              <a:t>Interaction Style</a:t>
            </a:r>
          </a:p>
        </p:txBody>
      </p:sp>
      <p:sp>
        <p:nvSpPr>
          <p:cNvPr id="2" name="Content Placeholder 1"/>
          <p:cNvSpPr>
            <a:spLocks noGrp="1"/>
          </p:cNvSpPr>
          <p:nvPr>
            <p:ph type="body" idx="1"/>
          </p:nvPr>
        </p:nvSpPr>
        <p:spPr/>
        <p:txBody>
          <a:bodyPr/>
          <a:lstStyle/>
          <a:p>
            <a:pPr marL="259556" lvl="1" indent="-259556">
              <a:spcBef>
                <a:spcPts val="1350"/>
              </a:spcBef>
              <a:buClrTx/>
              <a:buSzPct val="135000"/>
              <a:buBlip>
                <a:blip r:embed="rId3"/>
              </a:buBlip>
            </a:pPr>
            <a:r>
              <a:rPr lang="en-US"/>
              <a:t>Command line :</a:t>
            </a:r>
          </a:p>
          <a:p>
            <a:pPr marL="342900" lvl="2" indent="-259556" algn="just">
              <a:spcBef>
                <a:spcPts val="0"/>
              </a:spcBef>
              <a:buClrTx/>
              <a:buSzPct val="135000"/>
              <a:buBlip>
                <a:blip r:embed="rId3"/>
              </a:buBlip>
            </a:pPr>
            <a:r>
              <a:rPr lang="en-US" sz="1050" err="1"/>
              <a:t>Merupakan</a:t>
            </a:r>
            <a:r>
              <a:rPr lang="en-US" sz="1050"/>
              <a:t> </a:t>
            </a:r>
            <a:r>
              <a:rPr lang="en-US" sz="1050" i="1"/>
              <a:t>interaction style</a:t>
            </a:r>
            <a:r>
              <a:rPr lang="en-US" sz="1050"/>
              <a:t> paling </a:t>
            </a:r>
            <a:r>
              <a:rPr lang="en-US" sz="1050" err="1"/>
              <a:t>awal</a:t>
            </a:r>
            <a:r>
              <a:rPr lang="en-US" sz="1050"/>
              <a:t> </a:t>
            </a:r>
            <a:r>
              <a:rPr lang="en-US" sz="1050" err="1"/>
              <a:t>dari</a:t>
            </a:r>
            <a:r>
              <a:rPr lang="en-US" sz="1050"/>
              <a:t> </a:t>
            </a:r>
            <a:r>
              <a:rPr lang="en-US" sz="1050" err="1"/>
              <a:t>teknologi</a:t>
            </a:r>
            <a:r>
              <a:rPr lang="en-US" sz="1050"/>
              <a:t> computer</a:t>
            </a:r>
          </a:p>
          <a:p>
            <a:pPr marL="342900" lvl="2" indent="-259556" algn="just">
              <a:spcBef>
                <a:spcPts val="0"/>
              </a:spcBef>
              <a:buClrTx/>
              <a:buSzPct val="135000"/>
              <a:buBlip>
                <a:blip r:embed="rId3"/>
              </a:buBlip>
            </a:pPr>
            <a:r>
              <a:rPr lang="en-US" sz="1050" err="1"/>
              <a:t>Powerfull</a:t>
            </a:r>
            <a:r>
              <a:rPr lang="en-US" sz="1050"/>
              <a:t> for Advanced user</a:t>
            </a:r>
          </a:p>
          <a:p>
            <a:pPr marL="342900" lvl="2" indent="-259556" algn="just">
              <a:spcBef>
                <a:spcPts val="0"/>
              </a:spcBef>
              <a:buClrTx/>
              <a:buSzPct val="135000"/>
              <a:buBlip>
                <a:blip r:embed="rId3"/>
              </a:buBlip>
            </a:pPr>
            <a:r>
              <a:rPr lang="en-US" sz="1050"/>
              <a:t>Complex Syntax</a:t>
            </a:r>
          </a:p>
          <a:p>
            <a:pPr marL="342900" lvl="2" indent="-259556" algn="just">
              <a:spcBef>
                <a:spcPts val="0"/>
              </a:spcBef>
              <a:buClrTx/>
              <a:buSzPct val="135000"/>
              <a:buBlip>
                <a:blip r:embed="rId3"/>
              </a:buBlip>
            </a:pPr>
            <a:r>
              <a:rPr lang="en-US" sz="1050"/>
              <a:t>“Low error tolerant” </a:t>
            </a:r>
            <a:r>
              <a:rPr lang="en-US" sz="1050" err="1"/>
              <a:t>sehingga</a:t>
            </a:r>
            <a:r>
              <a:rPr lang="en-US" sz="1050"/>
              <a:t> </a:t>
            </a:r>
            <a:r>
              <a:rPr lang="en-US" sz="1050" err="1"/>
              <a:t>bisa</a:t>
            </a:r>
            <a:r>
              <a:rPr lang="en-US" sz="1050"/>
              <a:t> </a:t>
            </a:r>
            <a:r>
              <a:rPr lang="en-US" sz="1050" err="1"/>
              <a:t>menyebabkan</a:t>
            </a:r>
            <a:r>
              <a:rPr lang="en-US" sz="1050"/>
              <a:t> user </a:t>
            </a:r>
            <a:r>
              <a:rPr lang="en-US" sz="1050" err="1"/>
              <a:t>frustasi</a:t>
            </a:r>
            <a:r>
              <a:rPr lang="en-US" sz="1050"/>
              <a:t> </a:t>
            </a:r>
          </a:p>
          <a:p>
            <a:pPr marL="259556" lvl="1" indent="-259556">
              <a:spcBef>
                <a:spcPts val="1350"/>
              </a:spcBef>
              <a:buClrTx/>
              <a:buSzPct val="135000"/>
              <a:buBlip>
                <a:blip r:embed="rId3"/>
              </a:buBlip>
            </a:pPr>
            <a:endParaRPr lang="en-US"/>
          </a:p>
          <a:p>
            <a:pPr marL="0" lvl="1" indent="0">
              <a:spcBef>
                <a:spcPts val="1350"/>
              </a:spcBef>
              <a:buClrTx/>
              <a:buSzPct val="135000"/>
              <a:buNone/>
            </a:pPr>
            <a:endParaRPr lang="en-US"/>
          </a:p>
          <a:p>
            <a:pPr marL="0" lvl="1" indent="0">
              <a:spcBef>
                <a:spcPts val="1350"/>
              </a:spcBef>
              <a:buClrTx/>
              <a:buSzPct val="135000"/>
              <a:buNone/>
            </a:pPr>
            <a:endParaRPr lang="en-US"/>
          </a:p>
          <a:p>
            <a:pPr marL="259556" lvl="1" indent="-259556">
              <a:spcBef>
                <a:spcPts val="1350"/>
              </a:spcBef>
              <a:buClrTx/>
              <a:buSzPct val="135000"/>
              <a:buBlip>
                <a:blip r:embed="rId3"/>
              </a:buBlip>
            </a:pPr>
            <a:endParaRPr lang="en-US"/>
          </a:p>
          <a:p>
            <a:pPr marL="259556" lvl="1" indent="-259556">
              <a:spcBef>
                <a:spcPts val="1350"/>
              </a:spcBef>
              <a:buClrTx/>
              <a:buSzPct val="135000"/>
              <a:buBlip>
                <a:blip r:embed="rId3"/>
              </a:buBlip>
            </a:pPr>
            <a:endParaRPr lang="en-US"/>
          </a:p>
          <a:p>
            <a:pPr marL="259556" lvl="1" indent="-259556">
              <a:spcBef>
                <a:spcPts val="1350"/>
              </a:spcBef>
              <a:buClrTx/>
              <a:buSzPct val="135000"/>
              <a:buBlip>
                <a:blip r:embed="rId3"/>
              </a:buBlip>
            </a:pPr>
            <a:endParaRPr lang="en-US"/>
          </a:p>
          <a:p>
            <a:endParaRPr lang="en-US"/>
          </a:p>
        </p:txBody>
      </p:sp>
      <p:pic>
        <p:nvPicPr>
          <p:cNvPr id="7" name="Picture 2" descr="D:\erda\IMK\db2uiCommandLine.gif"/>
          <p:cNvPicPr>
            <a:picLocks noChangeAspect="1" noChangeArrowheads="1"/>
          </p:cNvPicPr>
          <p:nvPr/>
        </p:nvPicPr>
        <p:blipFill>
          <a:blip r:embed="rId4"/>
          <a:srcRect/>
          <a:stretch>
            <a:fillRect/>
          </a:stretch>
        </p:blipFill>
        <p:spPr bwMode="auto">
          <a:xfrm>
            <a:off x="2372798" y="3510461"/>
            <a:ext cx="3785232" cy="191545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495350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atin typeface="Verdana (Body)"/>
              </a:rPr>
              <a:t>Interaction Style</a:t>
            </a:r>
            <a:endParaRPr lang="en-US"/>
          </a:p>
        </p:txBody>
      </p:sp>
      <p:sp>
        <p:nvSpPr>
          <p:cNvPr id="2" name="Content Placeholder 1"/>
          <p:cNvSpPr>
            <a:spLocks noGrp="1"/>
          </p:cNvSpPr>
          <p:nvPr>
            <p:ph type="body" idx="1"/>
          </p:nvPr>
        </p:nvSpPr>
        <p:spPr/>
        <p:txBody>
          <a:bodyPr/>
          <a:lstStyle/>
          <a:p>
            <a:pPr marL="259556" lvl="1" indent="-259556">
              <a:spcBef>
                <a:spcPts val="1350"/>
              </a:spcBef>
              <a:buClrTx/>
              <a:buSzPct val="135000"/>
              <a:buBlip>
                <a:blip r:embed="rId3"/>
              </a:buBlip>
            </a:pPr>
            <a:r>
              <a:rPr lang="en-US"/>
              <a:t>Menu Selection</a:t>
            </a:r>
          </a:p>
          <a:p>
            <a:pPr marL="342900" lvl="2" indent="-259556" algn="just">
              <a:spcBef>
                <a:spcPts val="0"/>
              </a:spcBef>
              <a:buClrTx/>
              <a:buSzPct val="135000"/>
              <a:buBlip>
                <a:blip r:embed="rId3"/>
              </a:buBlip>
            </a:pPr>
            <a:r>
              <a:rPr lang="en-US" sz="1050"/>
              <a:t>Trend UI </a:t>
            </a:r>
            <a:r>
              <a:rPr lang="en-US" sz="1050" err="1"/>
              <a:t>saat</a:t>
            </a:r>
            <a:r>
              <a:rPr lang="en-US" sz="1050"/>
              <a:t> </a:t>
            </a:r>
            <a:r>
              <a:rPr lang="en-US" sz="1050" err="1"/>
              <a:t>ini</a:t>
            </a:r>
            <a:r>
              <a:rPr lang="en-US" sz="1050"/>
              <a:t> di </a:t>
            </a:r>
            <a:r>
              <a:rPr lang="en-US" sz="1050" err="1"/>
              <a:t>berbagai</a:t>
            </a:r>
            <a:r>
              <a:rPr lang="en-US" sz="1050"/>
              <a:t> </a:t>
            </a:r>
            <a:r>
              <a:rPr lang="en-US" sz="1050" err="1"/>
              <a:t>macam</a:t>
            </a:r>
            <a:r>
              <a:rPr lang="en-US" sz="1050"/>
              <a:t> </a:t>
            </a:r>
            <a:r>
              <a:rPr lang="en-US" sz="1050" err="1"/>
              <a:t>Aplikasi</a:t>
            </a:r>
            <a:r>
              <a:rPr lang="en-US" sz="1050"/>
              <a:t>.</a:t>
            </a:r>
          </a:p>
          <a:p>
            <a:pPr marL="342900" lvl="2" indent="-259556" algn="just">
              <a:spcBef>
                <a:spcPts val="0"/>
              </a:spcBef>
              <a:buClrTx/>
              <a:buSzPct val="135000"/>
              <a:buBlip>
                <a:blip r:embed="rId3"/>
              </a:buBlip>
            </a:pPr>
            <a:r>
              <a:rPr lang="en-US" sz="1050"/>
              <a:t>Utilize a person with much stronger Recognition. 	</a:t>
            </a:r>
          </a:p>
          <a:p>
            <a:pPr marL="342900" lvl="2" indent="-259556" algn="just">
              <a:spcBef>
                <a:spcPts val="0"/>
              </a:spcBef>
              <a:buClrTx/>
              <a:buSzPct val="135000"/>
              <a:buBlip>
                <a:blip r:embed="rId3"/>
              </a:buBlip>
            </a:pPr>
            <a:r>
              <a:rPr lang="en-US" sz="1050" err="1"/>
              <a:t>Membantu</a:t>
            </a:r>
            <a:r>
              <a:rPr lang="en-US" sz="1050"/>
              <a:t> </a:t>
            </a:r>
            <a:r>
              <a:rPr lang="en-US" sz="1050" err="1"/>
              <a:t>bagi</a:t>
            </a:r>
            <a:r>
              <a:rPr lang="en-US" sz="1050"/>
              <a:t> </a:t>
            </a:r>
            <a:r>
              <a:rPr lang="en-US" sz="1050" i="1"/>
              <a:t>infrequent user.</a:t>
            </a:r>
          </a:p>
          <a:p>
            <a:pPr marL="342900" lvl="2" indent="-259556" algn="just">
              <a:spcBef>
                <a:spcPts val="0"/>
              </a:spcBef>
              <a:buClrTx/>
              <a:buSzPct val="135000"/>
              <a:buBlip>
                <a:blip r:embed="rId3"/>
              </a:buBlip>
            </a:pPr>
            <a:r>
              <a:rPr lang="en-US" sz="1050"/>
              <a:t>Label Menu </a:t>
            </a:r>
            <a:r>
              <a:rPr lang="en-US" sz="1050" err="1"/>
              <a:t>harus</a:t>
            </a:r>
            <a:r>
              <a:rPr lang="en-US" sz="1050"/>
              <a:t> </a:t>
            </a:r>
            <a:r>
              <a:rPr lang="en-US" sz="1050" err="1"/>
              <a:t>dimengerti</a:t>
            </a:r>
            <a:r>
              <a:rPr lang="en-US" sz="1050"/>
              <a:t> </a:t>
            </a:r>
            <a:r>
              <a:rPr lang="en-US" sz="1050" err="1"/>
              <a:t>dan</a:t>
            </a:r>
            <a:r>
              <a:rPr lang="en-US" sz="1050"/>
              <a:t> </a:t>
            </a:r>
            <a:r>
              <a:rPr lang="en-US" sz="1050" err="1"/>
              <a:t>memiliki</a:t>
            </a:r>
            <a:r>
              <a:rPr lang="en-US" sz="1050"/>
              <a:t> </a:t>
            </a:r>
            <a:r>
              <a:rPr lang="en-US" sz="1050" err="1"/>
              <a:t>arti</a:t>
            </a:r>
            <a:r>
              <a:rPr lang="en-US" sz="1050"/>
              <a:t> yang </a:t>
            </a:r>
            <a:r>
              <a:rPr lang="en-US" sz="1050" err="1"/>
              <a:t>jelas</a:t>
            </a:r>
            <a:r>
              <a:rPr lang="en-US" sz="1050"/>
              <a:t>.</a:t>
            </a:r>
          </a:p>
          <a:p>
            <a:pPr marL="0" indent="0">
              <a:buNone/>
            </a:pPr>
            <a:endParaRPr lang="en-US"/>
          </a:p>
        </p:txBody>
      </p:sp>
      <p:sp>
        <p:nvSpPr>
          <p:cNvPr id="8" name="AutoShape 2" descr="http://2.bp.blogspot.com/-mB1H8j7H8nQ/T6I-wD0BSqI/AAAAAAAACFA/9MAmvaeBZrQ/s1600/adobephotoshopcs603700x.jpg"/>
          <p:cNvSpPr>
            <a:spLocks noChangeAspect="1" noChangeArrowheads="1"/>
          </p:cNvSpPr>
          <p:nvPr/>
        </p:nvSpPr>
        <p:spPr bwMode="auto">
          <a:xfrm>
            <a:off x="5057171" y="4032043"/>
            <a:ext cx="3886200" cy="29432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3588" y="2282008"/>
            <a:ext cx="4407201" cy="3336881"/>
          </a:xfrm>
          <a:prstGeom prst="rect">
            <a:avLst/>
          </a:prstGeom>
        </p:spPr>
      </p:pic>
    </p:spTree>
    <p:extLst>
      <p:ext uri="{BB962C8B-B14F-4D97-AF65-F5344CB8AC3E}">
        <p14:creationId xmlns:p14="http://schemas.microsoft.com/office/powerpoint/2010/main" val="2088112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atin typeface="Verdana (Body)"/>
              </a:rPr>
              <a:t>Interaction Style</a:t>
            </a:r>
            <a:endParaRPr lang="en-US"/>
          </a:p>
        </p:txBody>
      </p:sp>
      <p:sp>
        <p:nvSpPr>
          <p:cNvPr id="2" name="Content Placeholder 1"/>
          <p:cNvSpPr>
            <a:spLocks noGrp="1"/>
          </p:cNvSpPr>
          <p:nvPr>
            <p:ph type="body" idx="1"/>
          </p:nvPr>
        </p:nvSpPr>
        <p:spPr/>
        <p:txBody>
          <a:bodyPr/>
          <a:lstStyle/>
          <a:p>
            <a:pPr marL="259556" lvl="1" indent="-259556">
              <a:spcBef>
                <a:spcPts val="1350"/>
              </a:spcBef>
              <a:buClrTx/>
              <a:buSzPct val="135000"/>
              <a:buBlip>
                <a:blip r:embed="rId3"/>
              </a:buBlip>
            </a:pPr>
            <a:r>
              <a:rPr lang="en-US"/>
              <a:t>Form Fill in</a:t>
            </a:r>
          </a:p>
          <a:p>
            <a:pPr marL="431006" lvl="2" indent="-259556">
              <a:spcBef>
                <a:spcPts val="0"/>
              </a:spcBef>
              <a:buClrTx/>
              <a:buSzPct val="135000"/>
              <a:buBlip>
                <a:blip r:embed="rId3"/>
              </a:buBlip>
            </a:pPr>
            <a:r>
              <a:rPr lang="en-US" err="1"/>
              <a:t>Sangat</a:t>
            </a:r>
            <a:r>
              <a:rPr lang="en-US"/>
              <a:t> </a:t>
            </a:r>
            <a:r>
              <a:rPr lang="en-US" err="1"/>
              <a:t>berguna</a:t>
            </a:r>
            <a:r>
              <a:rPr lang="en-US"/>
              <a:t> </a:t>
            </a:r>
            <a:r>
              <a:rPr lang="en-US" err="1"/>
              <a:t>untuk</a:t>
            </a:r>
            <a:r>
              <a:rPr lang="en-US"/>
              <a:t> </a:t>
            </a:r>
            <a:r>
              <a:rPr lang="en-US" err="1"/>
              <a:t>mengambil</a:t>
            </a:r>
            <a:r>
              <a:rPr lang="en-US"/>
              <a:t> </a:t>
            </a:r>
            <a:r>
              <a:rPr lang="en-US" err="1"/>
              <a:t>Informasi</a:t>
            </a:r>
            <a:endParaRPr lang="en-US"/>
          </a:p>
          <a:p>
            <a:pPr marL="431006" lvl="2" indent="-259556">
              <a:spcBef>
                <a:spcPts val="0"/>
              </a:spcBef>
              <a:buClrTx/>
              <a:buSzPct val="135000"/>
              <a:buBlip>
                <a:blip r:embed="rId3"/>
              </a:buBlip>
            </a:pPr>
            <a:r>
              <a:rPr lang="en-US" err="1"/>
              <a:t>Membutuhkan</a:t>
            </a:r>
            <a:r>
              <a:rPr lang="en-US"/>
              <a:t> </a:t>
            </a:r>
            <a:r>
              <a:rPr lang="en-US" i="1"/>
              <a:t>typing skill</a:t>
            </a:r>
            <a:r>
              <a:rPr lang="en-US"/>
              <a:t> yang </a:t>
            </a:r>
            <a:r>
              <a:rPr lang="en-US" err="1"/>
              <a:t>tinggi</a:t>
            </a:r>
            <a:endParaRPr lang="en-US"/>
          </a:p>
          <a:p>
            <a:pPr marL="431006" lvl="2" indent="-259556">
              <a:spcBef>
                <a:spcPts val="0"/>
              </a:spcBef>
              <a:buClrTx/>
              <a:buSzPct val="135000"/>
              <a:buBlip>
                <a:blip r:embed="rId3"/>
              </a:buBlip>
            </a:pPr>
            <a:r>
              <a:rPr lang="en-US"/>
              <a:t>Familiar </a:t>
            </a:r>
            <a:r>
              <a:rPr lang="en-US" err="1"/>
              <a:t>dengan</a:t>
            </a:r>
            <a:r>
              <a:rPr lang="en-US"/>
              <a:t> </a:t>
            </a:r>
            <a:r>
              <a:rPr lang="en-US" i="1"/>
              <a:t>paper form</a:t>
            </a:r>
            <a:r>
              <a:rPr lang="en-US"/>
              <a:t> di </a:t>
            </a:r>
            <a:r>
              <a:rPr lang="en-US" err="1"/>
              <a:t>dunia</a:t>
            </a:r>
            <a:r>
              <a:rPr lang="en-US"/>
              <a:t> </a:t>
            </a:r>
            <a:r>
              <a:rPr lang="en-US" err="1"/>
              <a:t>nyata</a:t>
            </a:r>
            <a:endParaRPr lang="en-US"/>
          </a:p>
          <a:p>
            <a:pPr marL="171450" lvl="2" indent="0">
              <a:spcBef>
                <a:spcPts val="0"/>
              </a:spcBef>
              <a:buClrTx/>
              <a:buSzPct val="135000"/>
              <a:buNone/>
            </a:pPr>
            <a:endParaRPr lang="en-US"/>
          </a:p>
          <a:p>
            <a:pPr marL="0" indent="0">
              <a:buNone/>
            </a:pPr>
            <a:endParaRPr lang="en-US"/>
          </a:p>
        </p:txBody>
      </p:sp>
      <p:pic>
        <p:nvPicPr>
          <p:cNvPr id="7" name="Picture 6"/>
          <p:cNvPicPr>
            <a:picLocks noChangeAspect="1"/>
          </p:cNvPicPr>
          <p:nvPr/>
        </p:nvPicPr>
        <p:blipFill>
          <a:blip r:embed="rId4"/>
          <a:stretch>
            <a:fillRect/>
          </a:stretch>
        </p:blipFill>
        <p:spPr>
          <a:xfrm>
            <a:off x="2272120" y="3223774"/>
            <a:ext cx="4177920" cy="2348933"/>
          </a:xfrm>
          <a:prstGeom prst="rect">
            <a:avLst/>
          </a:prstGeom>
        </p:spPr>
      </p:pic>
    </p:spTree>
    <p:extLst>
      <p:ext uri="{BB962C8B-B14F-4D97-AF65-F5344CB8AC3E}">
        <p14:creationId xmlns:p14="http://schemas.microsoft.com/office/powerpoint/2010/main" val="3292410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atin typeface="Verdana (Body)"/>
              </a:rPr>
              <a:t>Interaction Style</a:t>
            </a:r>
            <a:endParaRPr lang="en-US"/>
          </a:p>
        </p:txBody>
      </p:sp>
      <p:sp>
        <p:nvSpPr>
          <p:cNvPr id="2" name="Content Placeholder 1"/>
          <p:cNvSpPr>
            <a:spLocks noGrp="1"/>
          </p:cNvSpPr>
          <p:nvPr>
            <p:ph type="body" idx="1"/>
          </p:nvPr>
        </p:nvSpPr>
        <p:spPr/>
        <p:txBody>
          <a:bodyPr/>
          <a:lstStyle/>
          <a:p>
            <a:pPr marL="259556" lvl="1" indent="-259556">
              <a:spcBef>
                <a:spcPts val="1350"/>
              </a:spcBef>
              <a:buClrTx/>
              <a:buSzPct val="135000"/>
              <a:buBlip>
                <a:blip r:embed="rId3"/>
              </a:buBlip>
            </a:pPr>
            <a:r>
              <a:rPr lang="en-US"/>
              <a:t>Direct Manipulation</a:t>
            </a:r>
          </a:p>
          <a:p>
            <a:pPr lvl="1" algn="just"/>
            <a:r>
              <a:rPr lang="en-US" err="1"/>
              <a:t>Memungkinkan</a:t>
            </a:r>
            <a:r>
              <a:rPr lang="en-US"/>
              <a:t> User </a:t>
            </a:r>
            <a:r>
              <a:rPr lang="en-US" err="1"/>
              <a:t>berinteraksi</a:t>
            </a:r>
            <a:r>
              <a:rPr lang="en-US"/>
              <a:t> </a:t>
            </a:r>
            <a:r>
              <a:rPr lang="en-US" err="1"/>
              <a:t>secara</a:t>
            </a:r>
            <a:r>
              <a:rPr lang="en-US"/>
              <a:t> </a:t>
            </a:r>
            <a:r>
              <a:rPr lang="en-US" err="1"/>
              <a:t>langsung</a:t>
            </a:r>
            <a:r>
              <a:rPr lang="en-US"/>
              <a:t> </a:t>
            </a:r>
            <a:r>
              <a:rPr lang="en-US" err="1"/>
              <a:t>bahkan</a:t>
            </a:r>
            <a:r>
              <a:rPr lang="en-US"/>
              <a:t> </a:t>
            </a:r>
            <a:r>
              <a:rPr lang="en-US" err="1"/>
              <a:t>memanipulasi</a:t>
            </a:r>
            <a:r>
              <a:rPr lang="en-US"/>
              <a:t> </a:t>
            </a:r>
            <a:r>
              <a:rPr lang="en-US" err="1"/>
              <a:t>objek</a:t>
            </a:r>
            <a:r>
              <a:rPr lang="en-US"/>
              <a:t> yang </a:t>
            </a:r>
            <a:r>
              <a:rPr lang="en-US" err="1"/>
              <a:t>tampil</a:t>
            </a:r>
            <a:r>
              <a:rPr lang="en-US"/>
              <a:t> di </a:t>
            </a:r>
            <a:r>
              <a:rPr lang="en-US" err="1"/>
              <a:t>layar</a:t>
            </a:r>
            <a:endParaRPr lang="en-US"/>
          </a:p>
          <a:p>
            <a:pPr marL="308372" lvl="1" indent="0" algn="just">
              <a:buNone/>
            </a:pPr>
            <a:endParaRPr lang="en-US"/>
          </a:p>
          <a:p>
            <a:pPr marL="0" indent="0">
              <a:buNone/>
            </a:pPr>
            <a:endParaRPr lang="en-US"/>
          </a:p>
        </p:txBody>
      </p:sp>
      <p:grpSp>
        <p:nvGrpSpPr>
          <p:cNvPr id="7" name="Group 6"/>
          <p:cNvGrpSpPr/>
          <p:nvPr/>
        </p:nvGrpSpPr>
        <p:grpSpPr>
          <a:xfrm>
            <a:off x="2136647" y="3205766"/>
            <a:ext cx="4923459" cy="2201686"/>
            <a:chOff x="533790" y="1054819"/>
            <a:chExt cx="8131084" cy="3483320"/>
          </a:xfrm>
        </p:grpSpPr>
        <p:pic>
          <p:nvPicPr>
            <p:cNvPr id="8" name="Picture 3" descr="D:\erda\IMK\pic19.jpg"/>
            <p:cNvPicPr>
              <a:picLocks noChangeAspect="1" noChangeArrowheads="1"/>
            </p:cNvPicPr>
            <p:nvPr/>
          </p:nvPicPr>
          <p:blipFill>
            <a:blip r:embed="rId4"/>
            <a:srcRect/>
            <a:stretch>
              <a:fillRect/>
            </a:stretch>
          </p:blipFill>
          <p:spPr bwMode="auto">
            <a:xfrm>
              <a:off x="610380" y="2937939"/>
              <a:ext cx="2590800" cy="1600200"/>
            </a:xfrm>
            <a:prstGeom prst="rect">
              <a:avLst/>
            </a:prstGeom>
            <a:noFill/>
          </p:spPr>
        </p:pic>
        <p:pic>
          <p:nvPicPr>
            <p:cNvPr id="9" name="Picture 4" descr="D:\erda\IMK\windowslivewriteriphoneuiwpfcandothat-d501iphone-34.png"/>
            <p:cNvPicPr>
              <a:picLocks noChangeAspect="1" noChangeArrowheads="1"/>
            </p:cNvPicPr>
            <p:nvPr/>
          </p:nvPicPr>
          <p:blipFill>
            <a:blip r:embed="rId5"/>
            <a:srcRect/>
            <a:stretch>
              <a:fillRect/>
            </a:stretch>
          </p:blipFill>
          <p:spPr bwMode="auto">
            <a:xfrm>
              <a:off x="533790" y="1054819"/>
              <a:ext cx="2743980" cy="1676400"/>
            </a:xfrm>
            <a:prstGeom prst="rect">
              <a:avLst/>
            </a:prstGeom>
            <a:noFill/>
          </p:spPr>
        </p:pic>
        <p:pic>
          <p:nvPicPr>
            <p:cNvPr id="10" name="Picture 5" descr="D:\erda\IMK\iphone.jpg"/>
            <p:cNvPicPr>
              <a:picLocks noChangeAspect="1" noChangeArrowheads="1"/>
            </p:cNvPicPr>
            <p:nvPr/>
          </p:nvPicPr>
          <p:blipFill>
            <a:blip r:embed="rId6"/>
            <a:srcRect/>
            <a:stretch>
              <a:fillRect/>
            </a:stretch>
          </p:blipFill>
          <p:spPr bwMode="auto">
            <a:xfrm>
              <a:off x="4419600" y="1149975"/>
              <a:ext cx="4245274" cy="3352800"/>
            </a:xfrm>
            <a:prstGeom prst="rect">
              <a:avLst/>
            </a:prstGeom>
            <a:noFill/>
          </p:spPr>
        </p:pic>
      </p:grpSp>
    </p:spTree>
    <p:extLst>
      <p:ext uri="{BB962C8B-B14F-4D97-AF65-F5344CB8AC3E}">
        <p14:creationId xmlns:p14="http://schemas.microsoft.com/office/powerpoint/2010/main" val="2298677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atin typeface="Verdana (Body)"/>
              </a:rPr>
              <a:t>Interaction Style</a:t>
            </a:r>
          </a:p>
        </p:txBody>
      </p:sp>
      <p:sp>
        <p:nvSpPr>
          <p:cNvPr id="2" name="Content Placeholder 1"/>
          <p:cNvSpPr>
            <a:spLocks noGrp="1"/>
          </p:cNvSpPr>
          <p:nvPr>
            <p:ph type="body" idx="1"/>
          </p:nvPr>
        </p:nvSpPr>
        <p:spPr/>
        <p:txBody>
          <a:bodyPr/>
          <a:lstStyle/>
          <a:p>
            <a:r>
              <a:rPr lang="en-US" sz="1500">
                <a:latin typeface="Verdana(Body)"/>
                <a:cs typeface="Aharoni" pitchFamily="2" charset="-79"/>
              </a:rPr>
              <a:t>Anthropomorphic</a:t>
            </a:r>
          </a:p>
          <a:p>
            <a:pPr lvl="1"/>
            <a:r>
              <a:rPr lang="id-ID" sz="1200"/>
              <a:t>Sebuah antarmuka anthropomorphic mencoba untuk berinteraksi dengan orang-orang dengan cara yang sama </a:t>
            </a:r>
            <a:r>
              <a:rPr lang="en-US" sz="1200" err="1"/>
              <a:t>seperti</a:t>
            </a:r>
            <a:r>
              <a:rPr lang="en-US" sz="1200"/>
              <a:t> </a:t>
            </a:r>
            <a:r>
              <a:rPr lang="id-ID" sz="1200"/>
              <a:t>orang-orang berinteraksi satu sama lain. Ini mencakup dialog bahasa alami lisan, gerakan tangan, ekspresi wajah dan gerakan mata</a:t>
            </a:r>
            <a:endParaRPr lang="en-US" sz="1200">
              <a:latin typeface="Verdana(Body)"/>
              <a:cs typeface="Aharoni" pitchFamily="2" charset="-79"/>
            </a:endParaRP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grpSp>
        <p:nvGrpSpPr>
          <p:cNvPr id="7" name="Group 6"/>
          <p:cNvGrpSpPr/>
          <p:nvPr/>
        </p:nvGrpSpPr>
        <p:grpSpPr>
          <a:xfrm>
            <a:off x="2197290" y="3596533"/>
            <a:ext cx="5127143" cy="1508583"/>
            <a:chOff x="762000" y="1524000"/>
            <a:chExt cx="7431314" cy="2590800"/>
          </a:xfrm>
        </p:grpSpPr>
        <p:pic>
          <p:nvPicPr>
            <p:cNvPr id="8" name="Picture 2" descr="D:\erda\IMK\commute_ux.jpg"/>
            <p:cNvPicPr>
              <a:picLocks noChangeAspect="1" noChangeArrowheads="1"/>
            </p:cNvPicPr>
            <p:nvPr/>
          </p:nvPicPr>
          <p:blipFill>
            <a:blip r:embed="rId3"/>
            <a:srcRect/>
            <a:stretch>
              <a:fillRect/>
            </a:stretch>
          </p:blipFill>
          <p:spPr bwMode="auto">
            <a:xfrm>
              <a:off x="762000" y="1656443"/>
              <a:ext cx="3149600" cy="2362200"/>
            </a:xfrm>
            <a:prstGeom prst="rect">
              <a:avLst/>
            </a:prstGeom>
            <a:noFill/>
          </p:spPr>
        </p:pic>
        <p:pic>
          <p:nvPicPr>
            <p:cNvPr id="9" name="Picture 3" descr="D:\erda\IMK\090730_Microsoft_FAM03_610x444.jpg"/>
            <p:cNvPicPr>
              <a:picLocks noChangeAspect="1" noChangeArrowheads="1"/>
            </p:cNvPicPr>
            <p:nvPr/>
          </p:nvPicPr>
          <p:blipFill>
            <a:blip r:embed="rId4"/>
            <a:srcRect/>
            <a:stretch>
              <a:fillRect/>
            </a:stretch>
          </p:blipFill>
          <p:spPr bwMode="auto">
            <a:xfrm>
              <a:off x="4611914" y="1524000"/>
              <a:ext cx="3581400" cy="2590800"/>
            </a:xfrm>
            <a:prstGeom prst="rect">
              <a:avLst/>
            </a:prstGeom>
            <a:noFill/>
          </p:spPr>
        </p:pic>
      </p:grpSp>
    </p:spTree>
    <p:extLst>
      <p:ext uri="{BB962C8B-B14F-4D97-AF65-F5344CB8AC3E}">
        <p14:creationId xmlns:p14="http://schemas.microsoft.com/office/powerpoint/2010/main" val="2000115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atin typeface="Verdana (Body)"/>
              </a:rPr>
              <a:t>Interaction Style</a:t>
            </a:r>
          </a:p>
        </p:txBody>
      </p:sp>
      <p:sp>
        <p:nvSpPr>
          <p:cNvPr id="2" name="Text Placeholder 1">
            <a:extLst>
              <a:ext uri="{FF2B5EF4-FFF2-40B4-BE49-F238E27FC236}">
                <a16:creationId xmlns:a16="http://schemas.microsoft.com/office/drawing/2014/main" id="{1CFEA77F-91CE-042A-B122-50F1297BAA5A}"/>
              </a:ext>
            </a:extLst>
          </p:cNvPr>
          <p:cNvSpPr>
            <a:spLocks noGrp="1"/>
          </p:cNvSpPr>
          <p:nvPr>
            <p:ph type="body" idx="1"/>
          </p:nvPr>
        </p:nvSpPr>
        <p:spPr/>
        <p:txBody>
          <a:bodyPr/>
          <a:lstStyle/>
          <a:p>
            <a:endParaRPr lang="en-ID"/>
          </a:p>
        </p:txBody>
      </p:sp>
      <p:graphicFrame>
        <p:nvGraphicFramePr>
          <p:cNvPr id="8" name="Content Placeholder 7"/>
          <p:cNvGraphicFramePr>
            <a:graphicFrameLocks noGrp="1"/>
          </p:cNvGraphicFramePr>
          <p:nvPr>
            <p:ph sz="quarter" idx="4294967295"/>
            <p:extLst>
              <p:ext uri="{D42A27DB-BD31-4B8C-83A1-F6EECF244321}">
                <p14:modId xmlns:p14="http://schemas.microsoft.com/office/powerpoint/2010/main" val="2579529345"/>
              </p:ext>
            </p:extLst>
          </p:nvPr>
        </p:nvGraphicFramePr>
        <p:xfrm>
          <a:off x="1135856" y="1911141"/>
          <a:ext cx="6440855" cy="3234238"/>
        </p:xfrm>
        <a:graphic>
          <a:graphicData uri="http://schemas.openxmlformats.org/drawingml/2006/table">
            <a:tbl>
              <a:tblPr firstRow="1" bandRow="1">
                <a:tableStyleId>{5C22544A-7EE6-4342-B048-85BDC9FD1C3A}</a:tableStyleId>
              </a:tblPr>
              <a:tblGrid>
                <a:gridCol w="1159172">
                  <a:extLst>
                    <a:ext uri="{9D8B030D-6E8A-4147-A177-3AD203B41FA5}">
                      <a16:colId xmlns:a16="http://schemas.microsoft.com/office/drawing/2014/main" val="20000"/>
                    </a:ext>
                  </a:extLst>
                </a:gridCol>
                <a:gridCol w="3004047">
                  <a:extLst>
                    <a:ext uri="{9D8B030D-6E8A-4147-A177-3AD203B41FA5}">
                      <a16:colId xmlns:a16="http://schemas.microsoft.com/office/drawing/2014/main" val="20001"/>
                    </a:ext>
                  </a:extLst>
                </a:gridCol>
                <a:gridCol w="2277636">
                  <a:extLst>
                    <a:ext uri="{9D8B030D-6E8A-4147-A177-3AD203B41FA5}">
                      <a16:colId xmlns:a16="http://schemas.microsoft.com/office/drawing/2014/main" val="20002"/>
                    </a:ext>
                  </a:extLst>
                </a:gridCol>
              </a:tblGrid>
              <a:tr h="228600">
                <a:tc>
                  <a:txBody>
                    <a:bodyPr/>
                    <a:lstStyle/>
                    <a:p>
                      <a:r>
                        <a:rPr lang="en-US" sz="1100">
                          <a:solidFill>
                            <a:schemeClr val="tx1"/>
                          </a:solidFill>
                        </a:rPr>
                        <a:t>STYLE</a:t>
                      </a:r>
                    </a:p>
                  </a:txBody>
                  <a:tcPr marL="68580" marR="68580" marT="34290" marB="34290"/>
                </a:tc>
                <a:tc>
                  <a:txBody>
                    <a:bodyPr/>
                    <a:lstStyle/>
                    <a:p>
                      <a:r>
                        <a:rPr lang="en-US" sz="1100">
                          <a:solidFill>
                            <a:schemeClr val="tx1"/>
                          </a:solidFill>
                        </a:rPr>
                        <a:t>ADVANTAGES</a:t>
                      </a:r>
                    </a:p>
                  </a:txBody>
                  <a:tcPr marL="68580" marR="68580" marT="34290" marB="34290"/>
                </a:tc>
                <a:tc>
                  <a:txBody>
                    <a:bodyPr/>
                    <a:lstStyle/>
                    <a:p>
                      <a:r>
                        <a:rPr lang="en-US" sz="1100">
                          <a:solidFill>
                            <a:schemeClr val="tx1"/>
                          </a:solidFill>
                        </a:rPr>
                        <a:t>DISADVANTAGES</a:t>
                      </a:r>
                    </a:p>
                  </a:txBody>
                  <a:tcPr marL="68580" marR="68580" marT="34290" marB="34290"/>
                </a:tc>
                <a:extLst>
                  <a:ext uri="{0D108BD9-81ED-4DB2-BD59-A6C34878D82A}">
                    <a16:rowId xmlns:a16="http://schemas.microsoft.com/office/drawing/2014/main" val="10000"/>
                  </a:ext>
                </a:extLst>
              </a:tr>
              <a:tr h="621935">
                <a:tc>
                  <a:txBody>
                    <a:bodyPr/>
                    <a:lstStyle/>
                    <a:p>
                      <a:r>
                        <a:rPr lang="en-US" sz="900">
                          <a:solidFill>
                            <a:schemeClr val="tx1"/>
                          </a:solidFill>
                        </a:rPr>
                        <a:t>Command Line</a:t>
                      </a:r>
                    </a:p>
                  </a:txBody>
                  <a:tcPr marL="68580" marR="68580" marT="34290" marB="34290"/>
                </a:tc>
                <a:tc>
                  <a:txBody>
                    <a:bodyPr/>
                    <a:lstStyle/>
                    <a:p>
                      <a:r>
                        <a:rPr lang="en-US" sz="900" err="1">
                          <a:solidFill>
                            <a:schemeClr val="tx1"/>
                          </a:solidFill>
                        </a:rPr>
                        <a:t>Powerfull</a:t>
                      </a:r>
                      <a:r>
                        <a:rPr lang="en-US" sz="900">
                          <a:solidFill>
                            <a:schemeClr val="tx1"/>
                          </a:solidFill>
                        </a:rPr>
                        <a:t>,</a:t>
                      </a:r>
                      <a:r>
                        <a:rPr lang="en-US" sz="900" baseline="0">
                          <a:solidFill>
                            <a:schemeClr val="tx1"/>
                          </a:solidFill>
                        </a:rPr>
                        <a:t> Flexible, Appeals to expert user, Conserves screen space</a:t>
                      </a:r>
                      <a:endParaRPr lang="en-US" sz="900">
                        <a:solidFill>
                          <a:schemeClr val="tx1"/>
                        </a:solidFill>
                      </a:endParaRPr>
                    </a:p>
                  </a:txBody>
                  <a:tcPr marL="68580" marR="68580" marT="34290" marB="34290"/>
                </a:tc>
                <a:tc>
                  <a:txBody>
                    <a:bodyPr/>
                    <a:lstStyle/>
                    <a:p>
                      <a:r>
                        <a:rPr lang="en-US" sz="900">
                          <a:solidFill>
                            <a:schemeClr val="tx1"/>
                          </a:solidFill>
                        </a:rPr>
                        <a:t>Commands must be memorized, requires big learning effort, intolerant of typing</a:t>
                      </a:r>
                      <a:r>
                        <a:rPr lang="en-US" sz="900" baseline="0">
                          <a:solidFill>
                            <a:schemeClr val="tx1"/>
                          </a:solidFill>
                        </a:rPr>
                        <a:t> errors</a:t>
                      </a:r>
                      <a:r>
                        <a:rPr lang="en-US" sz="900">
                          <a:solidFill>
                            <a:schemeClr val="tx1"/>
                          </a:solidFill>
                        </a:rPr>
                        <a:t> </a:t>
                      </a:r>
                    </a:p>
                  </a:txBody>
                  <a:tcPr marL="68580" marR="68580" marT="34290" marB="34290"/>
                </a:tc>
                <a:extLst>
                  <a:ext uri="{0D108BD9-81ED-4DB2-BD59-A6C34878D82A}">
                    <a16:rowId xmlns:a16="http://schemas.microsoft.com/office/drawing/2014/main" val="10001"/>
                  </a:ext>
                </a:extLst>
              </a:tr>
              <a:tr h="653219">
                <a:tc>
                  <a:txBody>
                    <a:bodyPr/>
                    <a:lstStyle/>
                    <a:p>
                      <a:r>
                        <a:rPr lang="en-US" sz="900">
                          <a:solidFill>
                            <a:schemeClr val="tx1"/>
                          </a:solidFill>
                        </a:rPr>
                        <a:t>Menu</a:t>
                      </a:r>
                      <a:r>
                        <a:rPr lang="en-US" sz="900" baseline="0">
                          <a:solidFill>
                            <a:schemeClr val="tx1"/>
                          </a:solidFill>
                        </a:rPr>
                        <a:t> Selection </a:t>
                      </a:r>
                      <a:endParaRPr lang="en-US" sz="900">
                        <a:solidFill>
                          <a:schemeClr val="tx1"/>
                        </a:solidFill>
                      </a:endParaRPr>
                    </a:p>
                  </a:txBody>
                  <a:tcPr marL="68580" marR="68580" marT="34290" marB="34290"/>
                </a:tc>
                <a:tc>
                  <a:txBody>
                    <a:bodyPr/>
                    <a:lstStyle/>
                    <a:p>
                      <a:r>
                        <a:rPr lang="en-US" sz="900">
                          <a:solidFill>
                            <a:schemeClr val="tx1"/>
                          </a:solidFill>
                        </a:rPr>
                        <a:t>Utilizes recognition memory, reduces</a:t>
                      </a:r>
                      <a:r>
                        <a:rPr lang="en-US" sz="900" baseline="0">
                          <a:solidFill>
                            <a:schemeClr val="tx1"/>
                          </a:solidFill>
                        </a:rPr>
                        <a:t> interaction complexity, aids decision making process, minimize typing, aids casual users</a:t>
                      </a:r>
                      <a:endParaRPr lang="en-US" sz="900">
                        <a:solidFill>
                          <a:schemeClr val="tx1"/>
                        </a:solidFill>
                      </a:endParaRPr>
                    </a:p>
                  </a:txBody>
                  <a:tcPr marL="68580" marR="68580" marT="34290" marB="34290"/>
                </a:tc>
                <a:tc>
                  <a:txBody>
                    <a:bodyPr/>
                    <a:lstStyle/>
                    <a:p>
                      <a:r>
                        <a:rPr lang="en-US" sz="900">
                          <a:solidFill>
                            <a:schemeClr val="tx1"/>
                          </a:solidFill>
                        </a:rPr>
                        <a:t>Consumes</a:t>
                      </a:r>
                      <a:r>
                        <a:rPr lang="en-US" sz="900" baseline="0">
                          <a:solidFill>
                            <a:schemeClr val="tx1"/>
                          </a:solidFill>
                        </a:rPr>
                        <a:t> screen space, may create complex menu hierarchies, may slow knowledgeable users</a:t>
                      </a:r>
                      <a:endParaRPr lang="en-US" sz="900">
                        <a:solidFill>
                          <a:schemeClr val="tx1"/>
                        </a:solidFill>
                      </a:endParaRPr>
                    </a:p>
                  </a:txBody>
                  <a:tcPr marL="68580" marR="68580" marT="34290" marB="34290"/>
                </a:tc>
                <a:extLst>
                  <a:ext uri="{0D108BD9-81ED-4DB2-BD59-A6C34878D82A}">
                    <a16:rowId xmlns:a16="http://schemas.microsoft.com/office/drawing/2014/main" val="10002"/>
                  </a:ext>
                </a:extLst>
              </a:tr>
              <a:tr h="621935">
                <a:tc>
                  <a:txBody>
                    <a:bodyPr/>
                    <a:lstStyle/>
                    <a:p>
                      <a:r>
                        <a:rPr lang="en-US" sz="900">
                          <a:solidFill>
                            <a:schemeClr val="tx1"/>
                          </a:solidFill>
                        </a:rPr>
                        <a:t>Form</a:t>
                      </a:r>
                      <a:r>
                        <a:rPr lang="en-US" sz="900" baseline="0">
                          <a:solidFill>
                            <a:schemeClr val="tx1"/>
                          </a:solidFill>
                        </a:rPr>
                        <a:t> Fill in</a:t>
                      </a:r>
                      <a:endParaRPr lang="en-US" sz="900">
                        <a:solidFill>
                          <a:schemeClr val="tx1"/>
                        </a:solidFill>
                      </a:endParaRPr>
                    </a:p>
                  </a:txBody>
                  <a:tcPr marL="68580" marR="68580" marT="34290" marB="34290"/>
                </a:tc>
                <a:tc>
                  <a:txBody>
                    <a:bodyPr/>
                    <a:lstStyle/>
                    <a:p>
                      <a:r>
                        <a:rPr lang="en-US" sz="900">
                          <a:solidFill>
                            <a:schemeClr val="tx1"/>
                          </a:solidFill>
                        </a:rPr>
                        <a:t>Familiar format, simplifies</a:t>
                      </a:r>
                      <a:r>
                        <a:rPr lang="en-US" sz="900" baseline="0">
                          <a:solidFill>
                            <a:schemeClr val="tx1"/>
                          </a:solidFill>
                        </a:rPr>
                        <a:t> information entry, requires minimal training</a:t>
                      </a:r>
                      <a:endParaRPr lang="en-US" sz="900">
                        <a:solidFill>
                          <a:schemeClr val="tx1"/>
                        </a:solidFill>
                      </a:endParaRPr>
                    </a:p>
                  </a:txBody>
                  <a:tcPr marL="68580" marR="68580" marT="34290" marB="34290"/>
                </a:tc>
                <a:tc>
                  <a:txBody>
                    <a:bodyPr/>
                    <a:lstStyle/>
                    <a:p>
                      <a:r>
                        <a:rPr lang="en-US" sz="900">
                          <a:solidFill>
                            <a:schemeClr val="tx1"/>
                          </a:solidFill>
                        </a:rPr>
                        <a:t>Consumes screen space,</a:t>
                      </a:r>
                      <a:r>
                        <a:rPr lang="en-US" sz="900" baseline="0">
                          <a:solidFill>
                            <a:schemeClr val="tx1"/>
                          </a:solidFill>
                        </a:rPr>
                        <a:t> requires </a:t>
                      </a:r>
                      <a:r>
                        <a:rPr lang="en-US" sz="900" baseline="0" err="1">
                          <a:solidFill>
                            <a:schemeClr val="tx1"/>
                          </a:solidFill>
                        </a:rPr>
                        <a:t>carefull</a:t>
                      </a:r>
                      <a:r>
                        <a:rPr lang="en-US" sz="900" baseline="0">
                          <a:solidFill>
                            <a:schemeClr val="tx1"/>
                          </a:solidFill>
                        </a:rPr>
                        <a:t> and efficient design, does not prevent typing errors</a:t>
                      </a:r>
                      <a:endParaRPr lang="en-US" sz="900">
                        <a:solidFill>
                          <a:schemeClr val="tx1"/>
                        </a:solidFill>
                      </a:endParaRPr>
                    </a:p>
                  </a:txBody>
                  <a:tcPr marL="68580" marR="68580" marT="34290" marB="34290"/>
                </a:tc>
                <a:extLst>
                  <a:ext uri="{0D108BD9-81ED-4DB2-BD59-A6C34878D82A}">
                    <a16:rowId xmlns:a16="http://schemas.microsoft.com/office/drawing/2014/main" val="10003"/>
                  </a:ext>
                </a:extLst>
              </a:tr>
              <a:tr h="902809">
                <a:tc>
                  <a:txBody>
                    <a:bodyPr/>
                    <a:lstStyle/>
                    <a:p>
                      <a:r>
                        <a:rPr lang="en-US" sz="900">
                          <a:solidFill>
                            <a:schemeClr val="tx1"/>
                          </a:solidFill>
                        </a:rPr>
                        <a:t>Direct Manipulation</a:t>
                      </a:r>
                    </a:p>
                  </a:txBody>
                  <a:tcPr marL="68580" marR="68580" marT="34290" marB="34290"/>
                </a:tc>
                <a:tc>
                  <a:txBody>
                    <a:bodyPr/>
                    <a:lstStyle/>
                    <a:p>
                      <a:r>
                        <a:rPr lang="en-US" sz="900">
                          <a:solidFill>
                            <a:schemeClr val="tx1"/>
                          </a:solidFill>
                        </a:rPr>
                        <a:t>Faster</a:t>
                      </a:r>
                      <a:r>
                        <a:rPr lang="en-US" sz="900" baseline="0">
                          <a:solidFill>
                            <a:schemeClr val="tx1"/>
                          </a:solidFill>
                        </a:rPr>
                        <a:t> Learning, easier remembering, exploits visual/spatial cues, easy error recovery, provides context, immediate feedback</a:t>
                      </a:r>
                      <a:endParaRPr lang="en-US" sz="900">
                        <a:solidFill>
                          <a:schemeClr val="tx1"/>
                        </a:solidFill>
                      </a:endParaRPr>
                    </a:p>
                  </a:txBody>
                  <a:tcPr marL="68580" marR="68580" marT="34290" marB="34290"/>
                </a:tc>
                <a:tc>
                  <a:txBody>
                    <a:bodyPr/>
                    <a:lstStyle/>
                    <a:p>
                      <a:r>
                        <a:rPr lang="en-US" sz="900">
                          <a:solidFill>
                            <a:schemeClr val="tx1"/>
                          </a:solidFill>
                        </a:rPr>
                        <a:t>Greater</a:t>
                      </a:r>
                      <a:r>
                        <a:rPr lang="en-US" sz="900" baseline="0">
                          <a:solidFill>
                            <a:schemeClr val="tx1"/>
                          </a:solidFill>
                        </a:rPr>
                        <a:t> design complexity, window manipulation requirements, requires icon recognition, inefficient for touch typist, increased chance for screen clutter</a:t>
                      </a:r>
                      <a:endParaRPr lang="en-US" sz="900">
                        <a:solidFill>
                          <a:schemeClr val="tx1"/>
                        </a:solidFill>
                      </a:endParaRPr>
                    </a:p>
                  </a:txBody>
                  <a:tcPr marL="68580" marR="68580" marT="34290" marB="34290"/>
                </a:tc>
                <a:extLst>
                  <a:ext uri="{0D108BD9-81ED-4DB2-BD59-A6C34878D82A}">
                    <a16:rowId xmlns:a16="http://schemas.microsoft.com/office/drawing/2014/main" val="10004"/>
                  </a:ext>
                </a:extLst>
              </a:tr>
              <a:tr h="205740">
                <a:tc>
                  <a:txBody>
                    <a:bodyPr/>
                    <a:lstStyle/>
                    <a:p>
                      <a:r>
                        <a:rPr lang="en-US" sz="900">
                          <a:solidFill>
                            <a:schemeClr val="tx1"/>
                          </a:solidFill>
                        </a:rPr>
                        <a:t>Anthropomorphic</a:t>
                      </a:r>
                    </a:p>
                  </a:txBody>
                  <a:tcPr marL="68580" marR="68580" marT="34290" marB="34290"/>
                </a:tc>
                <a:tc>
                  <a:txBody>
                    <a:bodyPr/>
                    <a:lstStyle/>
                    <a:p>
                      <a:r>
                        <a:rPr lang="en-US" sz="900">
                          <a:solidFill>
                            <a:schemeClr val="tx1"/>
                          </a:solidFill>
                        </a:rPr>
                        <a:t>Natural</a:t>
                      </a:r>
                    </a:p>
                  </a:txBody>
                  <a:tcPr marL="68580" marR="68580" marT="34290" marB="34290"/>
                </a:tc>
                <a:tc>
                  <a:txBody>
                    <a:bodyPr/>
                    <a:lstStyle/>
                    <a:p>
                      <a:r>
                        <a:rPr lang="en-US" sz="900">
                          <a:solidFill>
                            <a:schemeClr val="tx1"/>
                          </a:solidFill>
                        </a:rPr>
                        <a:t>Difficult to implement</a:t>
                      </a:r>
                    </a:p>
                  </a:txBody>
                  <a:tcPr marL="68580" marR="68580" marT="34290" marB="3429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60264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pPr algn="ctr"/>
            <a:r>
              <a:rPr lang="en-US" err="1"/>
              <a:t>Karakteristik</a:t>
            </a:r>
            <a:r>
              <a:rPr lang="en-US"/>
              <a:t> GUI </a:t>
            </a:r>
            <a:r>
              <a:rPr lang="en-US" err="1"/>
              <a:t>dan</a:t>
            </a:r>
            <a:r>
              <a:rPr lang="en-US"/>
              <a:t> Web UI</a:t>
            </a:r>
          </a:p>
        </p:txBody>
      </p:sp>
      <p:sp>
        <p:nvSpPr>
          <p:cNvPr id="2" name="Text Placeholder 1">
            <a:extLst>
              <a:ext uri="{FF2B5EF4-FFF2-40B4-BE49-F238E27FC236}">
                <a16:creationId xmlns:a16="http://schemas.microsoft.com/office/drawing/2014/main" id="{CE151246-3B50-7D32-FEA9-E052A21633EE}"/>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518151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a:t>Text Based VS GUI VS Web UI</a:t>
            </a:r>
          </a:p>
        </p:txBody>
      </p:sp>
      <p:sp>
        <p:nvSpPr>
          <p:cNvPr id="3" name="Text Placeholder 2">
            <a:extLst>
              <a:ext uri="{FF2B5EF4-FFF2-40B4-BE49-F238E27FC236}">
                <a16:creationId xmlns:a16="http://schemas.microsoft.com/office/drawing/2014/main" id="{25A55E39-8862-67A5-5BE2-852BB187AEA8}"/>
              </a:ext>
            </a:extLst>
          </p:cNvPr>
          <p:cNvSpPr>
            <a:spLocks noGrp="1"/>
          </p:cNvSpPr>
          <p:nvPr>
            <p:ph type="body" idx="1"/>
          </p:nvPr>
        </p:nvSpPr>
        <p:spPr/>
        <p:txBody>
          <a:bodyPr/>
          <a:lstStyle/>
          <a:p>
            <a:endParaRPr lang="en-ID"/>
          </a:p>
        </p:txBody>
      </p:sp>
      <p:pic>
        <p:nvPicPr>
          <p:cNvPr id="8" name="Picture 2"/>
          <p:cNvPicPr>
            <a:picLocks noChangeAspect="1" noChangeArrowheads="1"/>
          </p:cNvPicPr>
          <p:nvPr/>
        </p:nvPicPr>
        <p:blipFill>
          <a:blip r:embed="rId3"/>
          <a:srcRect/>
          <a:stretch>
            <a:fillRect/>
          </a:stretch>
        </p:blipFill>
        <p:spPr bwMode="auto">
          <a:xfrm>
            <a:off x="1319996" y="2340492"/>
            <a:ext cx="2400300" cy="1885950"/>
          </a:xfrm>
          <a:prstGeom prst="rect">
            <a:avLst/>
          </a:prstGeom>
          <a:ln w="88900" cap="sq" cmpd="thickThin">
            <a:solidFill>
              <a:srgbClr val="000000"/>
            </a:solidFill>
            <a:prstDash val="solid"/>
            <a:miter lim="800000"/>
          </a:ln>
          <a:effectLst>
            <a:innerShdw blurRad="76200">
              <a:srgbClr val="000000"/>
            </a:innerShdw>
          </a:effectLst>
        </p:spPr>
      </p:pic>
      <p:pic>
        <p:nvPicPr>
          <p:cNvPr id="9" name="Picture 5"/>
          <p:cNvPicPr>
            <a:picLocks noChangeAspect="1" noChangeArrowheads="1"/>
          </p:cNvPicPr>
          <p:nvPr/>
        </p:nvPicPr>
        <p:blipFill>
          <a:blip r:embed="rId4"/>
          <a:srcRect/>
          <a:stretch>
            <a:fillRect/>
          </a:stretch>
        </p:blipFill>
        <p:spPr bwMode="auto">
          <a:xfrm>
            <a:off x="3243171" y="3542484"/>
            <a:ext cx="2586446" cy="20574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10"/>
          <p:cNvPicPr>
            <a:picLocks noChangeAspect="1" noChangeArrowheads="1"/>
          </p:cNvPicPr>
          <p:nvPr/>
        </p:nvPicPr>
        <p:blipFill>
          <a:blip r:embed="rId5"/>
          <a:srcRect/>
          <a:stretch>
            <a:fillRect/>
          </a:stretch>
        </p:blipFill>
        <p:spPr bwMode="auto">
          <a:xfrm>
            <a:off x="5105948" y="2189879"/>
            <a:ext cx="2586908" cy="2286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TextBox 10"/>
          <p:cNvSpPr txBox="1"/>
          <p:nvPr/>
        </p:nvSpPr>
        <p:spPr>
          <a:xfrm>
            <a:off x="1569971" y="4492957"/>
            <a:ext cx="1139109" cy="253916"/>
          </a:xfrm>
          <a:prstGeom prst="rect">
            <a:avLst/>
          </a:prstGeom>
          <a:ln>
            <a:noFill/>
          </a:ln>
        </p:spPr>
        <p:txBody>
          <a:bodyPr wrap="square" rtlCol="0">
            <a:spAutoFit/>
          </a:bodyPr>
          <a:lstStyle/>
          <a:p>
            <a:r>
              <a:rPr lang="en-US" sz="1050"/>
              <a:t>Text Based</a:t>
            </a:r>
          </a:p>
        </p:txBody>
      </p:sp>
      <p:sp>
        <p:nvSpPr>
          <p:cNvPr id="12" name="TextBox 11"/>
          <p:cNvSpPr txBox="1"/>
          <p:nvPr/>
        </p:nvSpPr>
        <p:spPr>
          <a:xfrm>
            <a:off x="3871283" y="3403985"/>
            <a:ext cx="1139109" cy="253916"/>
          </a:xfrm>
          <a:prstGeom prst="rect">
            <a:avLst/>
          </a:prstGeom>
          <a:ln>
            <a:noFill/>
          </a:ln>
        </p:spPr>
        <p:txBody>
          <a:bodyPr wrap="square" rtlCol="0">
            <a:spAutoFit/>
          </a:bodyPr>
          <a:lstStyle/>
          <a:p>
            <a:pPr algn="ctr"/>
            <a:r>
              <a:rPr lang="en-US" sz="1050"/>
              <a:t>GUI</a:t>
            </a:r>
          </a:p>
        </p:txBody>
      </p:sp>
      <p:sp>
        <p:nvSpPr>
          <p:cNvPr id="13" name="TextBox 12"/>
          <p:cNvSpPr txBox="1"/>
          <p:nvPr/>
        </p:nvSpPr>
        <p:spPr>
          <a:xfrm>
            <a:off x="6177760" y="4596080"/>
            <a:ext cx="1139109" cy="253916"/>
          </a:xfrm>
          <a:prstGeom prst="rect">
            <a:avLst/>
          </a:prstGeom>
          <a:ln>
            <a:noFill/>
          </a:ln>
        </p:spPr>
        <p:txBody>
          <a:bodyPr wrap="square" rtlCol="0">
            <a:spAutoFit/>
          </a:bodyPr>
          <a:lstStyle/>
          <a:p>
            <a:pPr algn="ctr"/>
            <a:r>
              <a:rPr lang="en-US" sz="1050"/>
              <a:t>Web UI</a:t>
            </a:r>
          </a:p>
        </p:txBody>
      </p:sp>
    </p:spTree>
    <p:extLst>
      <p:ext uri="{BB962C8B-B14F-4D97-AF65-F5344CB8AC3E}">
        <p14:creationId xmlns:p14="http://schemas.microsoft.com/office/powerpoint/2010/main" val="2496165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0">
                <a:latin typeface="Verdana (Body)"/>
              </a:rPr>
              <a:t>GUI VS WEB UI</a:t>
            </a:r>
          </a:p>
        </p:txBody>
      </p:sp>
      <p:sp>
        <p:nvSpPr>
          <p:cNvPr id="2" name="Text Placeholder 1">
            <a:extLst>
              <a:ext uri="{FF2B5EF4-FFF2-40B4-BE49-F238E27FC236}">
                <a16:creationId xmlns:a16="http://schemas.microsoft.com/office/drawing/2014/main" id="{08AFB87F-CEC8-0623-2FF9-CA2E83BBBC09}"/>
              </a:ext>
            </a:extLst>
          </p:cNvPr>
          <p:cNvSpPr>
            <a:spLocks noGrp="1"/>
          </p:cNvSpPr>
          <p:nvPr>
            <p:ph type="body" idx="1"/>
          </p:nvPr>
        </p:nvSpPr>
        <p:spPr/>
        <p:txBody>
          <a:bodyPr/>
          <a:lstStyle/>
          <a:p>
            <a:endParaRPr lang="en-ID"/>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2256964213"/>
              </p:ext>
            </p:extLst>
          </p:nvPr>
        </p:nvGraphicFramePr>
        <p:xfrm>
          <a:off x="5262563" y="2258355"/>
          <a:ext cx="2981147" cy="2887024"/>
        </p:xfrm>
        <a:graphic>
          <a:graphicData uri="http://schemas.openxmlformats.org/drawingml/2006/table">
            <a:tbl>
              <a:tblPr firstRow="1" bandRow="1">
                <a:tableStyleId>{5C22544A-7EE6-4342-B048-85BDC9FD1C3A}</a:tableStyleId>
              </a:tblPr>
              <a:tblGrid>
                <a:gridCol w="2981147">
                  <a:extLst>
                    <a:ext uri="{9D8B030D-6E8A-4147-A177-3AD203B41FA5}">
                      <a16:colId xmlns:a16="http://schemas.microsoft.com/office/drawing/2014/main" val="20000"/>
                    </a:ext>
                  </a:extLst>
                </a:gridCol>
              </a:tblGrid>
              <a:tr h="921224">
                <a:tc>
                  <a:txBody>
                    <a:bodyPr/>
                    <a:lstStyle/>
                    <a:p>
                      <a:pPr algn="ctr"/>
                      <a:r>
                        <a:rPr lang="en-US" sz="1800">
                          <a:solidFill>
                            <a:srgbClr val="002060"/>
                          </a:solidFill>
                        </a:rPr>
                        <a:t>KARAKTERISTIK </a:t>
                      </a:r>
                      <a:r>
                        <a:rPr lang="en-US" sz="1800" baseline="0">
                          <a:solidFill>
                            <a:srgbClr val="002060"/>
                          </a:solidFill>
                        </a:rPr>
                        <a:t>SISTEM DIRECT MANIPULATION</a:t>
                      </a:r>
                      <a:endParaRPr lang="en-US" sz="1800">
                        <a:solidFill>
                          <a:srgbClr val="002060"/>
                        </a:solidFill>
                      </a:endParaRPr>
                    </a:p>
                  </a:txBody>
                  <a:tcPr marL="68580" marR="68580" marT="34290" marB="34290"/>
                </a:tc>
                <a:extLst>
                  <a:ext uri="{0D108BD9-81ED-4DB2-BD59-A6C34878D82A}">
                    <a16:rowId xmlns:a16="http://schemas.microsoft.com/office/drawing/2014/main" val="10000"/>
                  </a:ext>
                </a:extLst>
              </a:tr>
              <a:tr h="540003">
                <a:tc>
                  <a:txBody>
                    <a:bodyPr/>
                    <a:lstStyle/>
                    <a:p>
                      <a:pPr algn="just"/>
                      <a:r>
                        <a:rPr lang="en-US" sz="1200" err="1">
                          <a:solidFill>
                            <a:schemeClr val="tx1"/>
                          </a:solidFill>
                        </a:rPr>
                        <a:t>Merupakan</a:t>
                      </a:r>
                      <a:r>
                        <a:rPr lang="en-US" sz="1200">
                          <a:solidFill>
                            <a:schemeClr val="tx1"/>
                          </a:solidFill>
                        </a:rPr>
                        <a:t> </a:t>
                      </a:r>
                      <a:r>
                        <a:rPr lang="en-US" sz="1200" err="1">
                          <a:solidFill>
                            <a:schemeClr val="tx1"/>
                          </a:solidFill>
                        </a:rPr>
                        <a:t>potret</a:t>
                      </a:r>
                      <a:r>
                        <a:rPr lang="en-US" sz="1200">
                          <a:solidFill>
                            <a:schemeClr val="tx1"/>
                          </a:solidFill>
                        </a:rPr>
                        <a:t> </a:t>
                      </a:r>
                      <a:r>
                        <a:rPr lang="en-US" sz="1200" err="1">
                          <a:solidFill>
                            <a:schemeClr val="tx1"/>
                          </a:solidFill>
                        </a:rPr>
                        <a:t>langsung</a:t>
                      </a:r>
                      <a:r>
                        <a:rPr lang="en-US" sz="1200">
                          <a:solidFill>
                            <a:schemeClr val="tx1"/>
                          </a:solidFill>
                        </a:rPr>
                        <a:t> </a:t>
                      </a:r>
                      <a:r>
                        <a:rPr lang="en-US" sz="1200" err="1">
                          <a:solidFill>
                            <a:schemeClr val="tx1"/>
                          </a:solidFill>
                        </a:rPr>
                        <a:t>dari</a:t>
                      </a:r>
                      <a:r>
                        <a:rPr lang="en-US" sz="1200">
                          <a:solidFill>
                            <a:schemeClr val="tx1"/>
                          </a:solidFill>
                        </a:rPr>
                        <a:t> </a:t>
                      </a:r>
                      <a:r>
                        <a:rPr lang="en-US" sz="1200" err="1">
                          <a:solidFill>
                            <a:schemeClr val="tx1"/>
                          </a:solidFill>
                        </a:rPr>
                        <a:t>kehidupan</a:t>
                      </a:r>
                      <a:r>
                        <a:rPr lang="en-US" sz="1200">
                          <a:solidFill>
                            <a:schemeClr val="tx1"/>
                          </a:solidFill>
                        </a:rPr>
                        <a:t> </a:t>
                      </a:r>
                      <a:r>
                        <a:rPr lang="en-US" sz="1200" err="1">
                          <a:solidFill>
                            <a:schemeClr val="tx1"/>
                          </a:solidFill>
                        </a:rPr>
                        <a:t>nyata</a:t>
                      </a:r>
                      <a:endParaRPr lang="en-US" sz="1200">
                        <a:solidFill>
                          <a:schemeClr val="tx1"/>
                        </a:solidFill>
                      </a:endParaRPr>
                    </a:p>
                  </a:txBody>
                  <a:tcPr marL="68580" marR="68580" marT="34290" marB="34290"/>
                </a:tc>
                <a:extLst>
                  <a:ext uri="{0D108BD9-81ED-4DB2-BD59-A6C34878D82A}">
                    <a16:rowId xmlns:a16="http://schemas.microsoft.com/office/drawing/2014/main" val="10001"/>
                  </a:ext>
                </a:extLst>
              </a:tr>
              <a:tr h="345791">
                <a:tc>
                  <a:txBody>
                    <a:bodyPr/>
                    <a:lstStyle/>
                    <a:p>
                      <a:pPr algn="just"/>
                      <a:r>
                        <a:rPr lang="en-US" sz="1200">
                          <a:solidFill>
                            <a:schemeClr val="tx1"/>
                          </a:solidFill>
                        </a:rPr>
                        <a:t>Object </a:t>
                      </a:r>
                      <a:r>
                        <a:rPr lang="en-US" sz="1200" err="1">
                          <a:solidFill>
                            <a:schemeClr val="tx1"/>
                          </a:solidFill>
                        </a:rPr>
                        <a:t>dan</a:t>
                      </a:r>
                      <a:r>
                        <a:rPr lang="en-US" sz="1200">
                          <a:solidFill>
                            <a:schemeClr val="tx1"/>
                          </a:solidFill>
                        </a:rPr>
                        <a:t> action </a:t>
                      </a:r>
                      <a:r>
                        <a:rPr lang="en-US" sz="1200" err="1">
                          <a:solidFill>
                            <a:schemeClr val="tx1"/>
                          </a:solidFill>
                        </a:rPr>
                        <a:t>selalu</a:t>
                      </a:r>
                      <a:r>
                        <a:rPr lang="en-US" sz="1200">
                          <a:solidFill>
                            <a:schemeClr val="tx1"/>
                          </a:solidFill>
                        </a:rPr>
                        <a:t> </a:t>
                      </a:r>
                      <a:r>
                        <a:rPr lang="en-US" sz="1200" err="1">
                          <a:solidFill>
                            <a:schemeClr val="tx1"/>
                          </a:solidFill>
                        </a:rPr>
                        <a:t>terlihat</a:t>
                      </a:r>
                      <a:endParaRPr lang="en-US" sz="1200">
                        <a:solidFill>
                          <a:schemeClr val="tx1"/>
                        </a:solidFill>
                      </a:endParaRPr>
                    </a:p>
                  </a:txBody>
                  <a:tcPr marL="68580" marR="68580" marT="34290" marB="34290"/>
                </a:tc>
                <a:extLst>
                  <a:ext uri="{0D108BD9-81ED-4DB2-BD59-A6C34878D82A}">
                    <a16:rowId xmlns:a16="http://schemas.microsoft.com/office/drawing/2014/main" val="10002"/>
                  </a:ext>
                </a:extLst>
              </a:tr>
              <a:tr h="540003">
                <a:tc>
                  <a:txBody>
                    <a:bodyPr/>
                    <a:lstStyle/>
                    <a:p>
                      <a:pPr algn="just"/>
                      <a:r>
                        <a:rPr lang="en-US" sz="1200">
                          <a:solidFill>
                            <a:schemeClr val="tx1"/>
                          </a:solidFill>
                        </a:rPr>
                        <a:t>Rapid and</a:t>
                      </a:r>
                      <a:r>
                        <a:rPr lang="en-US" sz="1200" baseline="0">
                          <a:solidFill>
                            <a:schemeClr val="tx1"/>
                          </a:solidFill>
                        </a:rPr>
                        <a:t> incremental </a:t>
                      </a:r>
                      <a:r>
                        <a:rPr lang="en-US" sz="1200">
                          <a:solidFill>
                            <a:schemeClr val="tx1"/>
                          </a:solidFill>
                        </a:rPr>
                        <a:t>Action with</a:t>
                      </a:r>
                      <a:r>
                        <a:rPr lang="en-US" sz="1200" baseline="0">
                          <a:solidFill>
                            <a:schemeClr val="tx1"/>
                          </a:solidFill>
                        </a:rPr>
                        <a:t> visible display of results</a:t>
                      </a:r>
                      <a:endParaRPr lang="en-US" sz="1200">
                        <a:solidFill>
                          <a:schemeClr val="tx1"/>
                        </a:solidFill>
                      </a:endParaRPr>
                    </a:p>
                  </a:txBody>
                  <a:tcPr marL="68580" marR="68580" marT="34290" marB="34290"/>
                </a:tc>
                <a:extLst>
                  <a:ext uri="{0D108BD9-81ED-4DB2-BD59-A6C34878D82A}">
                    <a16:rowId xmlns:a16="http://schemas.microsoft.com/office/drawing/2014/main" val="10003"/>
                  </a:ext>
                </a:extLst>
              </a:tr>
              <a:tr h="540003">
                <a:tc>
                  <a:txBody>
                    <a:bodyPr/>
                    <a:lstStyle/>
                    <a:p>
                      <a:pPr algn="just"/>
                      <a:r>
                        <a:rPr lang="en-US" sz="1200">
                          <a:solidFill>
                            <a:schemeClr val="tx1"/>
                          </a:solidFill>
                        </a:rPr>
                        <a:t>Incremental</a:t>
                      </a:r>
                      <a:r>
                        <a:rPr lang="en-US" sz="1200" baseline="0">
                          <a:solidFill>
                            <a:schemeClr val="tx1"/>
                          </a:solidFill>
                        </a:rPr>
                        <a:t> action are easily reversible</a:t>
                      </a:r>
                      <a:endParaRPr lang="en-US" sz="1200">
                        <a:solidFill>
                          <a:schemeClr val="tx1"/>
                        </a:solidFill>
                      </a:endParaRPr>
                    </a:p>
                  </a:txBody>
                  <a:tcPr marL="68580" marR="68580" marT="34290" marB="34290"/>
                </a:tc>
                <a:extLst>
                  <a:ext uri="{0D108BD9-81ED-4DB2-BD59-A6C34878D82A}">
                    <a16:rowId xmlns:a16="http://schemas.microsoft.com/office/drawing/2014/main" val="10004"/>
                  </a:ext>
                </a:extLst>
              </a:tr>
            </a:tbl>
          </a:graphicData>
        </a:graphic>
      </p:graphicFrame>
      <p:pic>
        <p:nvPicPr>
          <p:cNvPr id="8" name="Picture 2" descr="D:\erda\IMK\iphone.jpg"/>
          <p:cNvPicPr>
            <a:picLocks noChangeAspect="1" noChangeArrowheads="1"/>
          </p:cNvPicPr>
          <p:nvPr/>
        </p:nvPicPr>
        <p:blipFill>
          <a:blip r:embed="rId3"/>
          <a:srcRect/>
          <a:stretch>
            <a:fillRect/>
          </a:stretch>
        </p:blipFill>
        <p:spPr bwMode="auto">
          <a:xfrm>
            <a:off x="1657295" y="2494129"/>
            <a:ext cx="2651897" cy="26007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94394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a:latin typeface="Verdana (Body)"/>
              </a:rPr>
              <a:t>Graphics User Interface (GUI)</a:t>
            </a:r>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4226231524"/>
              </p:ext>
            </p:extLst>
          </p:nvPr>
        </p:nvGraphicFramePr>
        <p:xfrm>
          <a:off x="1114425" y="2354580"/>
          <a:ext cx="6244828" cy="2148840"/>
        </p:xfrm>
        <a:graphic>
          <a:graphicData uri="http://schemas.openxmlformats.org/drawingml/2006/table">
            <a:tbl>
              <a:tblPr firstRow="1" bandRow="1">
                <a:tableStyleId>{5C22544A-7EE6-4342-B048-85BDC9FD1C3A}</a:tableStyleId>
              </a:tblPr>
              <a:tblGrid>
                <a:gridCol w="1691434">
                  <a:extLst>
                    <a:ext uri="{9D8B030D-6E8A-4147-A177-3AD203B41FA5}">
                      <a16:colId xmlns:a16="http://schemas.microsoft.com/office/drawing/2014/main" val="20000"/>
                    </a:ext>
                  </a:extLst>
                </a:gridCol>
                <a:gridCol w="2354239">
                  <a:extLst>
                    <a:ext uri="{9D8B030D-6E8A-4147-A177-3AD203B41FA5}">
                      <a16:colId xmlns:a16="http://schemas.microsoft.com/office/drawing/2014/main" val="20001"/>
                    </a:ext>
                  </a:extLst>
                </a:gridCol>
                <a:gridCol w="2199155">
                  <a:extLst>
                    <a:ext uri="{9D8B030D-6E8A-4147-A177-3AD203B41FA5}">
                      <a16:colId xmlns:a16="http://schemas.microsoft.com/office/drawing/2014/main" val="20002"/>
                    </a:ext>
                  </a:extLst>
                </a:gridCol>
              </a:tblGrid>
              <a:tr h="251460">
                <a:tc>
                  <a:txBody>
                    <a:bodyPr/>
                    <a:lstStyle/>
                    <a:p>
                      <a:r>
                        <a:rPr lang="en-US" sz="1200">
                          <a:solidFill>
                            <a:srgbClr val="002060"/>
                          </a:solidFill>
                        </a:rPr>
                        <a:t>STYLE</a:t>
                      </a:r>
                    </a:p>
                  </a:txBody>
                  <a:tcPr marL="68580" marR="68580" marT="34290" marB="34290"/>
                </a:tc>
                <a:tc>
                  <a:txBody>
                    <a:bodyPr/>
                    <a:lstStyle/>
                    <a:p>
                      <a:r>
                        <a:rPr lang="en-US" sz="1200">
                          <a:solidFill>
                            <a:srgbClr val="002060"/>
                          </a:solidFill>
                        </a:rPr>
                        <a:t>ADVANTAGES</a:t>
                      </a:r>
                    </a:p>
                  </a:txBody>
                  <a:tcPr marL="68580" marR="68580" marT="34290" marB="34290"/>
                </a:tc>
                <a:tc>
                  <a:txBody>
                    <a:bodyPr/>
                    <a:lstStyle/>
                    <a:p>
                      <a:r>
                        <a:rPr lang="en-US" sz="1200">
                          <a:solidFill>
                            <a:srgbClr val="002060"/>
                          </a:solidFill>
                        </a:rPr>
                        <a:t>DISADVANTAGES</a:t>
                      </a:r>
                    </a:p>
                  </a:txBody>
                  <a:tcPr marL="68580" marR="68580" marT="34290" marB="34290"/>
                </a:tc>
                <a:extLst>
                  <a:ext uri="{0D108BD9-81ED-4DB2-BD59-A6C34878D82A}">
                    <a16:rowId xmlns:a16="http://schemas.microsoft.com/office/drawing/2014/main" val="10000"/>
                  </a:ext>
                </a:extLst>
              </a:tr>
              <a:tr h="1897380">
                <a:tc>
                  <a:txBody>
                    <a:bodyPr/>
                    <a:lstStyle/>
                    <a:p>
                      <a:r>
                        <a:rPr lang="en-US" sz="1200">
                          <a:solidFill>
                            <a:srgbClr val="002060"/>
                          </a:solidFill>
                        </a:rPr>
                        <a:t>Direct Manipulation</a:t>
                      </a:r>
                    </a:p>
                  </a:txBody>
                  <a:tcPr marL="68580" marR="68580" marT="34290" marB="34290"/>
                </a:tc>
                <a:tc>
                  <a:txBody>
                    <a:bodyPr/>
                    <a:lstStyle/>
                    <a:p>
                      <a:r>
                        <a:rPr lang="en-US" sz="1200">
                          <a:solidFill>
                            <a:srgbClr val="002060"/>
                          </a:solidFill>
                        </a:rPr>
                        <a:t>Faster</a:t>
                      </a:r>
                      <a:r>
                        <a:rPr lang="en-US" sz="1200" baseline="0">
                          <a:solidFill>
                            <a:srgbClr val="002060"/>
                          </a:solidFill>
                        </a:rPr>
                        <a:t> Learning, easier remembering, exploits visual/spatial cues, easy error recovery, provides context, immediate feedback, more attractive, easily augmented with text display, low typing req.</a:t>
                      </a:r>
                      <a:endParaRPr lang="en-US" sz="1200">
                        <a:solidFill>
                          <a:srgbClr val="002060"/>
                        </a:solidFill>
                      </a:endParaRPr>
                    </a:p>
                  </a:txBody>
                  <a:tcPr marL="68580" marR="68580" marT="34290" marB="34290"/>
                </a:tc>
                <a:tc>
                  <a:txBody>
                    <a:bodyPr/>
                    <a:lstStyle/>
                    <a:p>
                      <a:r>
                        <a:rPr lang="en-US" sz="1200">
                          <a:solidFill>
                            <a:srgbClr val="002060"/>
                          </a:solidFill>
                        </a:rPr>
                        <a:t>Greater</a:t>
                      </a:r>
                      <a:r>
                        <a:rPr lang="en-US" sz="1200" baseline="0">
                          <a:solidFill>
                            <a:srgbClr val="002060"/>
                          </a:solidFill>
                        </a:rPr>
                        <a:t> design complexity, window manipulation requirements, requires icon recognition, inefficient for touch typist, increased chance for screen clutter, note always </a:t>
                      </a:r>
                      <a:r>
                        <a:rPr lang="en-US" sz="1200" baseline="0" err="1">
                          <a:solidFill>
                            <a:srgbClr val="002060"/>
                          </a:solidFill>
                        </a:rPr>
                        <a:t>familiat</a:t>
                      </a:r>
                      <a:r>
                        <a:rPr lang="en-US" sz="1200" baseline="0">
                          <a:solidFill>
                            <a:srgbClr val="002060"/>
                          </a:solidFill>
                        </a:rPr>
                        <a:t>, human comprehension limitation, may consume more screen space, hardware limitation.</a:t>
                      </a:r>
                      <a:endParaRPr lang="en-US" sz="1200">
                        <a:solidFill>
                          <a:srgbClr val="002060"/>
                        </a:solidFill>
                      </a:endParaRPr>
                    </a:p>
                  </a:txBody>
                  <a:tcPr marL="68580" marR="68580" marT="34290" marB="3429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531952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a:solidFill>
                  <a:schemeClr val="tx1"/>
                </a:solidFill>
                <a:latin typeface="Verdana(Body)"/>
                <a:cs typeface="Aharoni" pitchFamily="2" charset="-79"/>
              </a:rPr>
              <a:t>Characteristics Of GUI</a:t>
            </a:r>
            <a:endParaRPr lang="en-US">
              <a:solidFill>
                <a:schemeClr val="tx1"/>
              </a:solidFill>
              <a:latin typeface="Verdana(Body)"/>
            </a:endParaRPr>
          </a:p>
        </p:txBody>
      </p:sp>
      <p:sp>
        <p:nvSpPr>
          <p:cNvPr id="2" name="Content Placeholder 1"/>
          <p:cNvSpPr>
            <a:spLocks noGrp="1"/>
          </p:cNvSpPr>
          <p:nvPr>
            <p:ph type="body" idx="1"/>
          </p:nvPr>
        </p:nvSpPr>
        <p:spPr/>
        <p:txBody>
          <a:bodyPr/>
          <a:lstStyle/>
          <a:p>
            <a:pPr lvl="0"/>
            <a:r>
              <a:rPr lang="en-US"/>
              <a:t>Sophisticated Visual Presentation</a:t>
            </a:r>
          </a:p>
          <a:p>
            <a:pPr lvl="0"/>
            <a:r>
              <a:rPr lang="en-US"/>
              <a:t>Pick and click interaction</a:t>
            </a:r>
          </a:p>
          <a:p>
            <a:pPr lvl="0"/>
            <a:r>
              <a:rPr lang="en-US"/>
              <a:t>A restricted set of interface solution</a:t>
            </a:r>
          </a:p>
          <a:p>
            <a:pPr lvl="0"/>
            <a:r>
              <a:rPr lang="en-US"/>
              <a:t>Visualization</a:t>
            </a:r>
          </a:p>
          <a:p>
            <a:r>
              <a:rPr lang="en-US"/>
              <a:t>Object orientation</a:t>
            </a:r>
          </a:p>
          <a:p>
            <a:r>
              <a:rPr lang="en-US"/>
              <a:t>Extensive use of a person’s recognition memory</a:t>
            </a:r>
          </a:p>
          <a:p>
            <a:r>
              <a:rPr lang="en-US"/>
              <a:t>Concurrent performance of function</a:t>
            </a:r>
          </a:p>
          <a:p>
            <a:pPr lvl="0"/>
            <a:endParaRPr lang="en-US"/>
          </a:p>
          <a:p>
            <a:endParaRPr lang="en-US"/>
          </a:p>
        </p:txBody>
      </p:sp>
    </p:spTree>
    <p:extLst>
      <p:ext uri="{BB962C8B-B14F-4D97-AF65-F5344CB8AC3E}">
        <p14:creationId xmlns:p14="http://schemas.microsoft.com/office/powerpoint/2010/main" val="849139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atin typeface="Verdana (Body)"/>
              </a:rPr>
              <a:t>Web User Interface</a:t>
            </a:r>
          </a:p>
        </p:txBody>
      </p:sp>
      <p:sp>
        <p:nvSpPr>
          <p:cNvPr id="2" name="Content Placeholder 1"/>
          <p:cNvSpPr>
            <a:spLocks noGrp="1"/>
          </p:cNvSpPr>
          <p:nvPr>
            <p:ph type="body" idx="1"/>
          </p:nvPr>
        </p:nvSpPr>
        <p:spPr/>
        <p:txBody>
          <a:bodyPr/>
          <a:lstStyle/>
          <a:p>
            <a:pPr algn="just">
              <a:lnSpc>
                <a:spcPct val="150000"/>
              </a:lnSpc>
              <a:spcBef>
                <a:spcPts val="0"/>
              </a:spcBef>
            </a:pPr>
            <a:r>
              <a:rPr lang="en-US" sz="1350"/>
              <a:t>Hal yang paling </a:t>
            </a:r>
            <a:r>
              <a:rPr lang="en-US" sz="1350" err="1"/>
              <a:t>mendasar</a:t>
            </a:r>
            <a:r>
              <a:rPr lang="en-US" sz="1350"/>
              <a:t> </a:t>
            </a:r>
            <a:r>
              <a:rPr lang="en-US" sz="1350" err="1"/>
              <a:t>dalam</a:t>
            </a:r>
            <a:r>
              <a:rPr lang="en-US" sz="1350"/>
              <a:t> </a:t>
            </a:r>
            <a:r>
              <a:rPr lang="en-US" sz="1350" err="1"/>
              <a:t>Desain</a:t>
            </a:r>
            <a:r>
              <a:rPr lang="en-US" sz="1350"/>
              <a:t> </a:t>
            </a:r>
            <a:r>
              <a:rPr lang="en-US" sz="1350" err="1"/>
              <a:t>antarmuka</a:t>
            </a:r>
            <a:r>
              <a:rPr lang="en-US" sz="1350"/>
              <a:t> Web </a:t>
            </a:r>
            <a:r>
              <a:rPr lang="en-US" sz="1350" err="1"/>
              <a:t>itu</a:t>
            </a:r>
            <a:r>
              <a:rPr lang="en-US" sz="1350"/>
              <a:t> </a:t>
            </a:r>
            <a:r>
              <a:rPr lang="en-US" sz="1350" err="1"/>
              <a:t>adalah</a:t>
            </a:r>
            <a:r>
              <a:rPr lang="en-US" sz="1350"/>
              <a:t> </a:t>
            </a:r>
            <a:r>
              <a:rPr lang="en-US" sz="1350" err="1"/>
              <a:t>pada</a:t>
            </a:r>
            <a:r>
              <a:rPr lang="en-US" sz="1350"/>
              <a:t> </a:t>
            </a:r>
            <a:r>
              <a:rPr lang="en-US" sz="1350" err="1">
                <a:solidFill>
                  <a:srgbClr val="00B050"/>
                </a:solidFill>
              </a:rPr>
              <a:t>desain</a:t>
            </a:r>
            <a:r>
              <a:rPr lang="en-US" sz="1350">
                <a:solidFill>
                  <a:srgbClr val="00B050"/>
                </a:solidFill>
              </a:rPr>
              <a:t> </a:t>
            </a:r>
            <a:r>
              <a:rPr lang="en-US" sz="1350" err="1">
                <a:solidFill>
                  <a:srgbClr val="00B050"/>
                </a:solidFill>
              </a:rPr>
              <a:t>navigasi</a:t>
            </a:r>
            <a:r>
              <a:rPr lang="en-US" sz="1350"/>
              <a:t> </a:t>
            </a:r>
            <a:r>
              <a:rPr lang="en-US" sz="1350" err="1"/>
              <a:t>dan</a:t>
            </a:r>
            <a:r>
              <a:rPr lang="en-US" sz="1350"/>
              <a:t> </a:t>
            </a:r>
            <a:r>
              <a:rPr lang="en-US" sz="1350" err="1">
                <a:solidFill>
                  <a:srgbClr val="00B050"/>
                </a:solidFill>
              </a:rPr>
              <a:t>penyajian</a:t>
            </a:r>
            <a:r>
              <a:rPr lang="en-US" sz="1350">
                <a:solidFill>
                  <a:srgbClr val="00B050"/>
                </a:solidFill>
              </a:rPr>
              <a:t> </a:t>
            </a:r>
            <a:r>
              <a:rPr lang="en-US" sz="1350" err="1">
                <a:solidFill>
                  <a:srgbClr val="00B050"/>
                </a:solidFill>
              </a:rPr>
              <a:t>informasi</a:t>
            </a:r>
            <a:r>
              <a:rPr lang="en-US" sz="1350"/>
              <a:t>. </a:t>
            </a:r>
            <a:r>
              <a:rPr lang="en-US" sz="1350" err="1"/>
              <a:t>Dalam</a:t>
            </a:r>
            <a:r>
              <a:rPr lang="en-US" sz="1350"/>
              <a:t> Web yang paling </a:t>
            </a:r>
            <a:r>
              <a:rPr lang="en-US" sz="1350" err="1"/>
              <a:t>penting</a:t>
            </a:r>
            <a:r>
              <a:rPr lang="en-US" sz="1350"/>
              <a:t> </a:t>
            </a:r>
            <a:r>
              <a:rPr lang="en-US" sz="1350" err="1"/>
              <a:t>adalah</a:t>
            </a:r>
            <a:r>
              <a:rPr lang="en-US" sz="1350"/>
              <a:t> </a:t>
            </a:r>
            <a:r>
              <a:rPr lang="en-US" sz="1350" err="1">
                <a:solidFill>
                  <a:srgbClr val="FF0000"/>
                </a:solidFill>
              </a:rPr>
              <a:t>Konten</a:t>
            </a:r>
            <a:r>
              <a:rPr lang="en-US" sz="1350"/>
              <a:t> </a:t>
            </a:r>
            <a:r>
              <a:rPr lang="en-US" sz="1350" err="1"/>
              <a:t>bukan</a:t>
            </a:r>
            <a:r>
              <a:rPr lang="en-US" sz="1350"/>
              <a:t> </a:t>
            </a:r>
            <a:r>
              <a:rPr lang="en-US" sz="1350">
                <a:solidFill>
                  <a:srgbClr val="FF0000"/>
                </a:solidFill>
              </a:rPr>
              <a:t>Data</a:t>
            </a:r>
          </a:p>
          <a:p>
            <a:pPr>
              <a:lnSpc>
                <a:spcPct val="150000"/>
              </a:lnSpc>
              <a:spcBef>
                <a:spcPts val="0"/>
              </a:spcBef>
            </a:pPr>
            <a:r>
              <a:rPr lang="en-US" sz="1350"/>
              <a:t>Web Page VS Web  Application</a:t>
            </a:r>
          </a:p>
          <a:p>
            <a:pPr algn="just">
              <a:lnSpc>
                <a:spcPct val="150000"/>
              </a:lnSpc>
              <a:spcBef>
                <a:spcPts val="0"/>
              </a:spcBef>
            </a:pPr>
            <a:r>
              <a:rPr lang="en-US" sz="1350"/>
              <a:t>More user Control</a:t>
            </a:r>
          </a:p>
          <a:p>
            <a:pPr marL="0" indent="0" algn="just">
              <a:buNone/>
            </a:pPr>
            <a:endParaRPr lang="en-US" sz="1350"/>
          </a:p>
        </p:txBody>
      </p:sp>
      <p:pic>
        <p:nvPicPr>
          <p:cNvPr id="7" name="Picture 6"/>
          <p:cNvPicPr>
            <a:picLocks noChangeAspect="1"/>
          </p:cNvPicPr>
          <p:nvPr/>
        </p:nvPicPr>
        <p:blipFill>
          <a:blip r:embed="rId3"/>
          <a:stretch>
            <a:fillRect/>
          </a:stretch>
        </p:blipFill>
        <p:spPr>
          <a:xfrm>
            <a:off x="3128963" y="2477002"/>
            <a:ext cx="5915025" cy="3056268"/>
          </a:xfrm>
          <a:prstGeom prst="rect">
            <a:avLst/>
          </a:prstGeom>
        </p:spPr>
      </p:pic>
    </p:spTree>
    <p:extLst>
      <p:ext uri="{BB962C8B-B14F-4D97-AF65-F5344CB8AC3E}">
        <p14:creationId xmlns:p14="http://schemas.microsoft.com/office/powerpoint/2010/main" val="1157479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800">
                <a:latin typeface="Verdana (Body)"/>
              </a:rPr>
              <a:t>GUI VS WEB UI</a:t>
            </a:r>
          </a:p>
        </p:txBody>
      </p:sp>
      <p:sp>
        <p:nvSpPr>
          <p:cNvPr id="6" name="Text Placeholder 5"/>
          <p:cNvSpPr>
            <a:spLocks noGrp="1"/>
          </p:cNvSpPr>
          <p:nvPr>
            <p:ph type="body" idx="1"/>
          </p:nvPr>
        </p:nvSpPr>
        <p:spPr/>
        <p:txBody>
          <a:bodyPr/>
          <a:lstStyle/>
          <a:p>
            <a:r>
              <a:rPr lang="en-US" err="1"/>
              <a:t>Cari</a:t>
            </a:r>
            <a:r>
              <a:rPr lang="en-US"/>
              <a:t> </a:t>
            </a:r>
            <a:r>
              <a:rPr lang="en-US" err="1"/>
              <a:t>tahu</a:t>
            </a:r>
            <a:r>
              <a:rPr lang="en-US"/>
              <a:t> </a:t>
            </a:r>
            <a:r>
              <a:rPr lang="en-US" err="1"/>
              <a:t>lebih</a:t>
            </a:r>
            <a:r>
              <a:rPr lang="en-US"/>
              <a:t> </a:t>
            </a:r>
            <a:r>
              <a:rPr lang="en-US" err="1"/>
              <a:t>banyak</a:t>
            </a:r>
            <a:r>
              <a:rPr lang="en-US"/>
              <a:t> </a:t>
            </a:r>
            <a:r>
              <a:rPr lang="en-US" err="1"/>
              <a:t>perbedaan</a:t>
            </a:r>
            <a:r>
              <a:rPr lang="en-US"/>
              <a:t> GUI </a:t>
            </a:r>
            <a:r>
              <a:rPr lang="en-US" err="1"/>
              <a:t>dan</a:t>
            </a:r>
            <a:r>
              <a:rPr lang="en-US"/>
              <a:t> Web </a:t>
            </a:r>
            <a:r>
              <a:rPr lang="en-US" err="1"/>
              <a:t>dari</a:t>
            </a:r>
            <a:r>
              <a:rPr lang="en-US"/>
              <a:t> </a:t>
            </a:r>
            <a:r>
              <a:rPr lang="en-US" err="1"/>
              <a:t>aspek</a:t>
            </a:r>
            <a:r>
              <a:rPr lang="en-US"/>
              <a:t> </a:t>
            </a:r>
            <a:r>
              <a:rPr lang="en-US" err="1"/>
              <a:t>lainnya</a:t>
            </a:r>
            <a:r>
              <a:rPr lang="en-US"/>
              <a:t>, , </a:t>
            </a:r>
            <a:r>
              <a:rPr lang="en-US" err="1"/>
              <a:t>misal</a:t>
            </a:r>
            <a:r>
              <a:rPr lang="en-US"/>
              <a:t> </a:t>
            </a:r>
            <a:r>
              <a:rPr lang="en-US" err="1"/>
              <a:t>dari</a:t>
            </a:r>
            <a:r>
              <a:rPr lang="en-US"/>
              <a:t> </a:t>
            </a:r>
            <a:r>
              <a:rPr lang="en-US" err="1"/>
              <a:t>aspek</a:t>
            </a:r>
            <a:r>
              <a:rPr lang="en-US"/>
              <a:t> Content, Interaction, </a:t>
            </a:r>
            <a:r>
              <a:rPr lang="en-US" err="1"/>
              <a:t>etc</a:t>
            </a:r>
            <a:endParaRPr lang="en-US"/>
          </a:p>
        </p:txBody>
      </p:sp>
      <p:pic>
        <p:nvPicPr>
          <p:cNvPr id="7" name="Picture 2"/>
          <p:cNvPicPr>
            <a:picLocks noChangeAspect="1" noChangeArrowheads="1"/>
          </p:cNvPicPr>
          <p:nvPr/>
        </p:nvPicPr>
        <p:blipFill>
          <a:blip r:embed="rId3"/>
          <a:srcRect/>
          <a:stretch>
            <a:fillRect/>
          </a:stretch>
        </p:blipFill>
        <p:spPr bwMode="auto">
          <a:xfrm>
            <a:off x="1416844" y="1740965"/>
            <a:ext cx="4000500" cy="3954986"/>
          </a:xfrm>
          <a:prstGeom prst="rect">
            <a:avLst/>
          </a:prstGeom>
          <a:noFill/>
          <a:ln w="9525">
            <a:noFill/>
            <a:miter lim="800000"/>
            <a:headEnd/>
            <a:tailEnd/>
          </a:ln>
          <a:effectLst/>
        </p:spPr>
      </p:pic>
    </p:spTree>
    <p:extLst>
      <p:ext uri="{BB962C8B-B14F-4D97-AF65-F5344CB8AC3E}">
        <p14:creationId xmlns:p14="http://schemas.microsoft.com/office/powerpoint/2010/main" val="3076255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1800">
                <a:solidFill>
                  <a:schemeClr val="tx1"/>
                </a:solidFill>
                <a:latin typeface="Verdana (Bold)"/>
              </a:rPr>
              <a:t>The merging of graphical business systems and the web</a:t>
            </a:r>
            <a:br>
              <a:rPr lang="en-US">
                <a:solidFill>
                  <a:schemeClr val="tx1"/>
                </a:solidFill>
                <a:latin typeface="Rockwell Extra Bold" pitchFamily="18" charset="0"/>
              </a:rPr>
            </a:br>
            <a:endParaRPr lang="en-US">
              <a:solidFill>
                <a:schemeClr val="tx1"/>
              </a:solidFill>
            </a:endParaRPr>
          </a:p>
        </p:txBody>
      </p:sp>
      <p:sp>
        <p:nvSpPr>
          <p:cNvPr id="2" name="Text Placeholder 1">
            <a:extLst>
              <a:ext uri="{FF2B5EF4-FFF2-40B4-BE49-F238E27FC236}">
                <a16:creationId xmlns:a16="http://schemas.microsoft.com/office/drawing/2014/main" id="{0C748E6E-5BFC-F1F5-3DE4-E3D276E0A8A7}"/>
              </a:ext>
            </a:extLst>
          </p:cNvPr>
          <p:cNvSpPr>
            <a:spLocks noGrp="1"/>
          </p:cNvSpPr>
          <p:nvPr>
            <p:ph type="body" idx="1"/>
          </p:nvPr>
        </p:nvSpPr>
        <p:spPr/>
        <p:txBody>
          <a:bodyPr/>
          <a:lstStyle/>
          <a:p>
            <a:endParaRPr lang="en-ID"/>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3168911764"/>
              </p:ext>
            </p:extLst>
          </p:nvPr>
        </p:nvGraphicFramePr>
        <p:xfrm>
          <a:off x="0" y="2340769"/>
          <a:ext cx="6244829" cy="2724150"/>
        </p:xfrm>
        <a:graphic>
          <a:graphicData uri="http://schemas.openxmlformats.org/drawingml/2006/table">
            <a:tbl>
              <a:tblPr firstRow="1" bandRow="1">
                <a:tableStyleId>{5C22544A-7EE6-4342-B048-85BDC9FD1C3A}</a:tableStyleId>
              </a:tblPr>
              <a:tblGrid>
                <a:gridCol w="1561208">
                  <a:extLst>
                    <a:ext uri="{9D8B030D-6E8A-4147-A177-3AD203B41FA5}">
                      <a16:colId xmlns:a16="http://schemas.microsoft.com/office/drawing/2014/main" val="20000"/>
                    </a:ext>
                  </a:extLst>
                </a:gridCol>
                <a:gridCol w="1561208">
                  <a:extLst>
                    <a:ext uri="{9D8B030D-6E8A-4147-A177-3AD203B41FA5}">
                      <a16:colId xmlns:a16="http://schemas.microsoft.com/office/drawing/2014/main" val="20001"/>
                    </a:ext>
                  </a:extLst>
                </a:gridCol>
                <a:gridCol w="1561208">
                  <a:extLst>
                    <a:ext uri="{9D8B030D-6E8A-4147-A177-3AD203B41FA5}">
                      <a16:colId xmlns:a16="http://schemas.microsoft.com/office/drawing/2014/main" val="20002"/>
                    </a:ext>
                  </a:extLst>
                </a:gridCol>
                <a:gridCol w="1561208">
                  <a:extLst>
                    <a:ext uri="{9D8B030D-6E8A-4147-A177-3AD203B41FA5}">
                      <a16:colId xmlns:a16="http://schemas.microsoft.com/office/drawing/2014/main" val="20003"/>
                    </a:ext>
                  </a:extLst>
                </a:gridCol>
              </a:tblGrid>
              <a:tr h="278130">
                <a:tc>
                  <a:txBody>
                    <a:bodyPr/>
                    <a:lstStyle/>
                    <a:p>
                      <a:pPr algn="ctr"/>
                      <a:r>
                        <a:rPr lang="en-US" sz="800">
                          <a:solidFill>
                            <a:schemeClr val="tx1"/>
                          </a:solidFill>
                        </a:rPr>
                        <a:t>Dimension</a:t>
                      </a:r>
                    </a:p>
                  </a:txBody>
                  <a:tcPr marL="68580" marR="68580" marT="34290" marB="34290" anchor="ctr"/>
                </a:tc>
                <a:tc>
                  <a:txBody>
                    <a:bodyPr/>
                    <a:lstStyle/>
                    <a:p>
                      <a:pPr algn="ctr"/>
                      <a:r>
                        <a:rPr lang="en-US" sz="800">
                          <a:solidFill>
                            <a:schemeClr val="tx1"/>
                          </a:solidFill>
                        </a:rPr>
                        <a:t>Web Application</a:t>
                      </a:r>
                    </a:p>
                  </a:txBody>
                  <a:tcPr marL="68580" marR="68580" marT="34290" marB="34290" anchor="ctr"/>
                </a:tc>
                <a:tc>
                  <a:txBody>
                    <a:bodyPr/>
                    <a:lstStyle/>
                    <a:p>
                      <a:pPr algn="ctr"/>
                      <a:r>
                        <a:rPr lang="en-US" sz="800">
                          <a:solidFill>
                            <a:schemeClr val="tx1"/>
                          </a:solidFill>
                        </a:rPr>
                        <a:t>Web</a:t>
                      </a:r>
                      <a:r>
                        <a:rPr lang="en-US" sz="800" baseline="0">
                          <a:solidFill>
                            <a:schemeClr val="tx1"/>
                          </a:solidFill>
                        </a:rPr>
                        <a:t> Page</a:t>
                      </a:r>
                      <a:endParaRPr lang="en-US" sz="800">
                        <a:solidFill>
                          <a:schemeClr val="tx1"/>
                        </a:solidFill>
                      </a:endParaRPr>
                    </a:p>
                  </a:txBody>
                  <a:tcPr marL="68580" marR="68580" marT="34290" marB="34290" anchor="ctr"/>
                </a:tc>
                <a:tc>
                  <a:txBody>
                    <a:bodyPr/>
                    <a:lstStyle/>
                    <a:p>
                      <a:pPr algn="ctr"/>
                      <a:r>
                        <a:rPr lang="en-US" sz="800">
                          <a:solidFill>
                            <a:schemeClr val="tx1"/>
                          </a:solidFill>
                        </a:rPr>
                        <a:t>In the middle of continuum</a:t>
                      </a:r>
                    </a:p>
                  </a:txBody>
                  <a:tcPr marL="68580" marR="68580" marT="34290" marB="34290" anchor="ctr"/>
                </a:tc>
                <a:extLst>
                  <a:ext uri="{0D108BD9-81ED-4DB2-BD59-A6C34878D82A}">
                    <a16:rowId xmlns:a16="http://schemas.microsoft.com/office/drawing/2014/main" val="10000"/>
                  </a:ext>
                </a:extLst>
              </a:tr>
              <a:tr h="982980">
                <a:tc>
                  <a:txBody>
                    <a:bodyPr/>
                    <a:lstStyle/>
                    <a:p>
                      <a:r>
                        <a:rPr lang="en-US" sz="800">
                          <a:solidFill>
                            <a:schemeClr val="tx1"/>
                          </a:solidFill>
                        </a:rPr>
                        <a:t>The Nature of</a:t>
                      </a:r>
                      <a:r>
                        <a:rPr lang="en-US" sz="800" baseline="0">
                          <a:solidFill>
                            <a:schemeClr val="tx1"/>
                          </a:solidFill>
                        </a:rPr>
                        <a:t> the relationship with the user</a:t>
                      </a:r>
                      <a:endParaRPr lang="en-US" sz="800">
                        <a:solidFill>
                          <a:schemeClr val="tx1"/>
                        </a:solidFill>
                      </a:endParaRPr>
                    </a:p>
                  </a:txBody>
                  <a:tcPr marL="68580" marR="68580" marT="34290" marB="34290"/>
                </a:tc>
                <a:tc>
                  <a:txBody>
                    <a:bodyPr/>
                    <a:lstStyle/>
                    <a:p>
                      <a:r>
                        <a:rPr lang="en-US" sz="800">
                          <a:solidFill>
                            <a:schemeClr val="tx1"/>
                          </a:solidFill>
                        </a:rPr>
                        <a:t>Users must use</a:t>
                      </a:r>
                      <a:r>
                        <a:rPr lang="en-US" sz="800" baseline="0">
                          <a:solidFill>
                            <a:schemeClr val="tx1"/>
                          </a:solidFill>
                        </a:rPr>
                        <a:t> the program,</a:t>
                      </a:r>
                    </a:p>
                    <a:p>
                      <a:r>
                        <a:rPr lang="en-US" sz="800" baseline="0">
                          <a:solidFill>
                            <a:schemeClr val="tx1"/>
                          </a:solidFill>
                        </a:rPr>
                        <a:t>Users must </a:t>
                      </a:r>
                      <a:r>
                        <a:rPr lang="en-US" sz="800" baseline="0" err="1">
                          <a:solidFill>
                            <a:schemeClr val="tx1"/>
                          </a:solidFill>
                        </a:rPr>
                        <a:t>identifiy</a:t>
                      </a:r>
                      <a:r>
                        <a:rPr lang="en-US" sz="800" baseline="0">
                          <a:solidFill>
                            <a:schemeClr val="tx1"/>
                          </a:solidFill>
                        </a:rPr>
                        <a:t>, themselves or login to be able to do anything,</a:t>
                      </a:r>
                    </a:p>
                    <a:p>
                      <a:r>
                        <a:rPr lang="en-US" sz="800" baseline="0">
                          <a:solidFill>
                            <a:schemeClr val="tx1"/>
                          </a:solidFill>
                        </a:rPr>
                        <a:t>The program must be reliable, and system failure will be immediately noticed</a:t>
                      </a:r>
                    </a:p>
                    <a:p>
                      <a:r>
                        <a:rPr lang="en-US" sz="800" baseline="0">
                          <a:solidFill>
                            <a:schemeClr val="tx1"/>
                          </a:solidFill>
                        </a:rPr>
                        <a:t>Work is remembered from earlier session</a:t>
                      </a:r>
                      <a:endParaRPr lang="en-US" sz="800">
                        <a:solidFill>
                          <a:schemeClr val="tx1"/>
                        </a:solidFill>
                      </a:endParaRPr>
                    </a:p>
                  </a:txBody>
                  <a:tcPr marL="68580" marR="68580" marT="34290" marB="34290"/>
                </a:tc>
                <a:tc>
                  <a:txBody>
                    <a:bodyPr/>
                    <a:lstStyle/>
                    <a:p>
                      <a:r>
                        <a:rPr lang="en-US" sz="800">
                          <a:solidFill>
                            <a:schemeClr val="tx1"/>
                          </a:solidFill>
                        </a:rPr>
                        <a:t>The  system does not care who the user are, </a:t>
                      </a:r>
                    </a:p>
                    <a:p>
                      <a:r>
                        <a:rPr lang="en-US" sz="800">
                          <a:solidFill>
                            <a:schemeClr val="tx1"/>
                          </a:solidFill>
                        </a:rPr>
                        <a:t>Login is required to simply give access to more information than would  be</a:t>
                      </a:r>
                      <a:r>
                        <a:rPr lang="en-US" sz="800" baseline="0">
                          <a:solidFill>
                            <a:schemeClr val="tx1"/>
                          </a:solidFill>
                        </a:rPr>
                        <a:t> received  anonymously,</a:t>
                      </a:r>
                    </a:p>
                    <a:p>
                      <a:r>
                        <a:rPr lang="en-US" sz="800" baseline="0">
                          <a:solidFill>
                            <a:schemeClr val="tx1"/>
                          </a:solidFill>
                        </a:rPr>
                        <a:t>System failure may not be noticed</a:t>
                      </a:r>
                      <a:endParaRPr lang="en-US" sz="800">
                        <a:solidFill>
                          <a:schemeClr val="tx1"/>
                        </a:solidFill>
                      </a:endParaRPr>
                    </a:p>
                  </a:txBody>
                  <a:tcPr marL="68580" marR="68580" marT="34290" marB="34290"/>
                </a:tc>
                <a:tc>
                  <a:txBody>
                    <a:bodyPr/>
                    <a:lstStyle/>
                    <a:p>
                      <a:r>
                        <a:rPr lang="en-US" sz="800">
                          <a:solidFill>
                            <a:schemeClr val="tx1"/>
                          </a:solidFill>
                        </a:rPr>
                        <a:t>Minimal information</a:t>
                      </a:r>
                      <a:r>
                        <a:rPr lang="en-US" sz="800" baseline="0">
                          <a:solidFill>
                            <a:schemeClr val="tx1"/>
                          </a:solidFill>
                        </a:rPr>
                        <a:t> such as a credit card number or address is remembered</a:t>
                      </a:r>
                      <a:endParaRPr lang="en-US" sz="800">
                        <a:solidFill>
                          <a:schemeClr val="tx1"/>
                        </a:solidFill>
                      </a:endParaRPr>
                    </a:p>
                  </a:txBody>
                  <a:tcPr marL="68580" marR="68580" marT="34290" marB="34290"/>
                </a:tc>
                <a:extLst>
                  <a:ext uri="{0D108BD9-81ED-4DB2-BD59-A6C34878D82A}">
                    <a16:rowId xmlns:a16="http://schemas.microsoft.com/office/drawing/2014/main" val="10001"/>
                  </a:ext>
                </a:extLst>
              </a:tr>
              <a:tr h="297180">
                <a:tc>
                  <a:txBody>
                    <a:bodyPr/>
                    <a:lstStyle/>
                    <a:p>
                      <a:r>
                        <a:rPr lang="en-US" sz="800">
                          <a:solidFill>
                            <a:schemeClr val="tx1"/>
                          </a:solidFill>
                        </a:rPr>
                        <a:t>The</a:t>
                      </a:r>
                      <a:r>
                        <a:rPr lang="en-US" sz="800" baseline="0">
                          <a:solidFill>
                            <a:schemeClr val="tx1"/>
                          </a:solidFill>
                        </a:rPr>
                        <a:t> Conversation style</a:t>
                      </a:r>
                      <a:endParaRPr lang="en-US" sz="800">
                        <a:solidFill>
                          <a:schemeClr val="tx1"/>
                        </a:solidFill>
                      </a:endParaRPr>
                    </a:p>
                  </a:txBody>
                  <a:tcPr marL="68580" marR="68580" marT="34290" marB="34290"/>
                </a:tc>
                <a:tc>
                  <a:txBody>
                    <a:bodyPr/>
                    <a:lstStyle/>
                    <a:p>
                      <a:r>
                        <a:rPr lang="en-US" sz="800">
                          <a:solidFill>
                            <a:schemeClr val="tx1"/>
                          </a:solidFill>
                        </a:rPr>
                        <a:t>The</a:t>
                      </a:r>
                      <a:r>
                        <a:rPr lang="en-US" sz="800" baseline="0">
                          <a:solidFill>
                            <a:schemeClr val="tx1"/>
                          </a:solidFill>
                        </a:rPr>
                        <a:t> style is formal</a:t>
                      </a:r>
                      <a:endParaRPr lang="en-US" sz="800">
                        <a:solidFill>
                          <a:schemeClr val="tx1"/>
                        </a:solidFill>
                      </a:endParaRPr>
                    </a:p>
                  </a:txBody>
                  <a:tcPr marL="68580" marR="68580" marT="34290" marB="34290"/>
                </a:tc>
                <a:tc>
                  <a:txBody>
                    <a:bodyPr/>
                    <a:lstStyle/>
                    <a:p>
                      <a:r>
                        <a:rPr lang="en-US" sz="800">
                          <a:solidFill>
                            <a:schemeClr val="tx1"/>
                          </a:solidFill>
                        </a:rPr>
                        <a:t>The style is casual , informal and generic</a:t>
                      </a:r>
                    </a:p>
                  </a:txBody>
                  <a:tcPr marL="68580" marR="68580" marT="34290" marB="34290"/>
                </a:tc>
                <a:tc>
                  <a:txBody>
                    <a:bodyPr/>
                    <a:lstStyle/>
                    <a:p>
                      <a:r>
                        <a:rPr lang="en-US" sz="800">
                          <a:solidFill>
                            <a:schemeClr val="tx1"/>
                          </a:solidFill>
                        </a:rPr>
                        <a:t>The style is polite but friendly</a:t>
                      </a:r>
                    </a:p>
                  </a:txBody>
                  <a:tcPr marL="68580" marR="68580" marT="34290" marB="34290"/>
                </a:tc>
                <a:extLst>
                  <a:ext uri="{0D108BD9-81ED-4DB2-BD59-A6C34878D82A}">
                    <a16:rowId xmlns:a16="http://schemas.microsoft.com/office/drawing/2014/main" val="10002"/>
                  </a:ext>
                </a:extLst>
              </a:tr>
              <a:tr h="640080">
                <a:tc>
                  <a:txBody>
                    <a:bodyPr/>
                    <a:lstStyle/>
                    <a:p>
                      <a:r>
                        <a:rPr lang="en-US" sz="800">
                          <a:solidFill>
                            <a:schemeClr val="tx1"/>
                          </a:solidFill>
                        </a:rPr>
                        <a:t>The Nature of the interaction</a:t>
                      </a:r>
                    </a:p>
                  </a:txBody>
                  <a:tcPr marL="68580" marR="68580" marT="34290" marB="34290"/>
                </a:tc>
                <a:tc>
                  <a:txBody>
                    <a:bodyPr/>
                    <a:lstStyle/>
                    <a:p>
                      <a:r>
                        <a:rPr lang="en-US" sz="800">
                          <a:solidFill>
                            <a:schemeClr val="tx1"/>
                          </a:solidFill>
                        </a:rPr>
                        <a:t>A Large amount of data</a:t>
                      </a:r>
                      <a:r>
                        <a:rPr lang="en-US" sz="800" baseline="0">
                          <a:solidFill>
                            <a:schemeClr val="tx1"/>
                          </a:solidFill>
                        </a:rPr>
                        <a:t> is entered, complex task are being performed, data is being  created, manipulated and permanently stored </a:t>
                      </a:r>
                      <a:endParaRPr lang="en-US" sz="800">
                        <a:solidFill>
                          <a:schemeClr val="tx1"/>
                        </a:solidFill>
                      </a:endParaRPr>
                    </a:p>
                  </a:txBody>
                  <a:tcPr marL="68580" marR="68580" marT="34290" marB="34290"/>
                </a:tc>
                <a:tc>
                  <a:txBody>
                    <a:bodyPr/>
                    <a:lstStyle/>
                    <a:p>
                      <a:r>
                        <a:rPr lang="en-US" sz="800">
                          <a:solidFill>
                            <a:schemeClr val="tx1"/>
                          </a:solidFill>
                        </a:rPr>
                        <a:t>No data is entered or changed</a:t>
                      </a:r>
                    </a:p>
                  </a:txBody>
                  <a:tcPr marL="68580" marR="68580" marT="34290" marB="34290"/>
                </a:tc>
                <a:tc>
                  <a:txBody>
                    <a:bodyPr/>
                    <a:lstStyle/>
                    <a:p>
                      <a:r>
                        <a:rPr lang="en-US" sz="800">
                          <a:solidFill>
                            <a:schemeClr val="tx1"/>
                          </a:solidFill>
                        </a:rPr>
                        <a:t>A small amount of data is entered and possibly stored,</a:t>
                      </a:r>
                      <a:r>
                        <a:rPr lang="en-US" sz="800" baseline="0">
                          <a:solidFill>
                            <a:schemeClr val="tx1"/>
                          </a:solidFill>
                        </a:rPr>
                        <a:t> Milestones, checkpoints, endpoints are expected and included</a:t>
                      </a:r>
                      <a:endParaRPr lang="en-US" sz="800">
                        <a:solidFill>
                          <a:schemeClr val="tx1"/>
                        </a:solidFill>
                      </a:endParaRPr>
                    </a:p>
                  </a:txBody>
                  <a:tcPr marL="68580" marR="68580" marT="34290" marB="34290"/>
                </a:tc>
                <a:extLst>
                  <a:ext uri="{0D108BD9-81ED-4DB2-BD59-A6C34878D82A}">
                    <a16:rowId xmlns:a16="http://schemas.microsoft.com/office/drawing/2014/main" val="10003"/>
                  </a:ext>
                </a:extLst>
              </a:tr>
              <a:tr h="525780">
                <a:tc>
                  <a:txBody>
                    <a:bodyPr/>
                    <a:lstStyle/>
                    <a:p>
                      <a:r>
                        <a:rPr lang="en-US" sz="800">
                          <a:solidFill>
                            <a:schemeClr val="tx1"/>
                          </a:solidFill>
                        </a:rPr>
                        <a:t>The Frequency of use</a:t>
                      </a:r>
                    </a:p>
                  </a:txBody>
                  <a:tcPr marL="68580" marR="68580" marT="34290" marB="34290"/>
                </a:tc>
                <a:tc>
                  <a:txBody>
                    <a:bodyPr/>
                    <a:lstStyle/>
                    <a:p>
                      <a:r>
                        <a:rPr lang="en-US" sz="800">
                          <a:solidFill>
                            <a:schemeClr val="tx1"/>
                          </a:solidFill>
                        </a:rPr>
                        <a:t>It is used daily,</a:t>
                      </a:r>
                      <a:r>
                        <a:rPr lang="en-US" sz="800" baseline="0">
                          <a:solidFill>
                            <a:schemeClr val="tx1"/>
                          </a:solidFill>
                        </a:rPr>
                        <a:t> it is used for long period (4-8 Hour), it is used  to help resolve emergencies</a:t>
                      </a:r>
                      <a:endParaRPr lang="en-US" sz="800">
                        <a:solidFill>
                          <a:schemeClr val="tx1"/>
                        </a:solidFill>
                      </a:endParaRPr>
                    </a:p>
                  </a:txBody>
                  <a:tcPr marL="68580" marR="68580" marT="34290" marB="34290"/>
                </a:tc>
                <a:tc>
                  <a:txBody>
                    <a:bodyPr/>
                    <a:lstStyle/>
                    <a:p>
                      <a:r>
                        <a:rPr lang="en-US" sz="800">
                          <a:solidFill>
                            <a:schemeClr val="tx1"/>
                          </a:solidFill>
                        </a:rPr>
                        <a:t>It</a:t>
                      </a:r>
                      <a:r>
                        <a:rPr lang="en-US" sz="800" baseline="0">
                          <a:solidFill>
                            <a:schemeClr val="tx1"/>
                          </a:solidFill>
                        </a:rPr>
                        <a:t> is used only occasionally, it is used for only few minutes at a time, it is used to find out about something</a:t>
                      </a:r>
                      <a:endParaRPr lang="en-US" sz="800">
                        <a:solidFill>
                          <a:schemeClr val="tx1"/>
                        </a:solidFill>
                      </a:endParaRPr>
                    </a:p>
                  </a:txBody>
                  <a:tcPr marL="68580" marR="68580" marT="34290" marB="34290"/>
                </a:tc>
                <a:tc>
                  <a:txBody>
                    <a:bodyPr/>
                    <a:lstStyle/>
                    <a:p>
                      <a:r>
                        <a:rPr lang="en-US" sz="800">
                          <a:solidFill>
                            <a:schemeClr val="tx1"/>
                          </a:solidFill>
                        </a:rPr>
                        <a:t>It is used</a:t>
                      </a:r>
                      <a:r>
                        <a:rPr lang="en-US" sz="800" baseline="0">
                          <a:solidFill>
                            <a:schemeClr val="tx1"/>
                          </a:solidFill>
                        </a:rPr>
                        <a:t> periodically or episodically</a:t>
                      </a:r>
                      <a:endParaRPr lang="en-US" sz="800">
                        <a:solidFill>
                          <a:schemeClr val="tx1"/>
                        </a:solidFill>
                      </a:endParaRPr>
                    </a:p>
                  </a:txBody>
                  <a:tcPr marL="68580" marR="68580" marT="34290" marB="3429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3714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500">
                <a:solidFill>
                  <a:schemeClr val="tx1"/>
                </a:solidFill>
                <a:latin typeface="Verdana (Bold)"/>
              </a:rPr>
              <a:t>The merging of graphical business systems and the web (Cont.)</a:t>
            </a:r>
            <a:endParaRPr lang="en-US" sz="1500"/>
          </a:p>
        </p:txBody>
      </p:sp>
      <p:sp>
        <p:nvSpPr>
          <p:cNvPr id="2" name="Text Placeholder 1">
            <a:extLst>
              <a:ext uri="{FF2B5EF4-FFF2-40B4-BE49-F238E27FC236}">
                <a16:creationId xmlns:a16="http://schemas.microsoft.com/office/drawing/2014/main" id="{A0EC9325-D128-3907-F724-97170C57D31A}"/>
              </a:ext>
            </a:extLst>
          </p:cNvPr>
          <p:cNvSpPr>
            <a:spLocks noGrp="1"/>
          </p:cNvSpPr>
          <p:nvPr>
            <p:ph type="body" idx="1"/>
          </p:nvPr>
        </p:nvSpPr>
        <p:spPr/>
        <p:txBody>
          <a:bodyPr/>
          <a:lstStyle/>
          <a:p>
            <a:endParaRPr lang="en-ID"/>
          </a:p>
        </p:txBody>
      </p:sp>
      <p:graphicFrame>
        <p:nvGraphicFramePr>
          <p:cNvPr id="7" name="Content Placeholder 6"/>
          <p:cNvGraphicFramePr>
            <a:graphicFrameLocks noGrp="1"/>
          </p:cNvGraphicFramePr>
          <p:nvPr>
            <p:ph sz="quarter" idx="4294967295"/>
            <p:extLst>
              <p:ext uri="{D42A27DB-BD31-4B8C-83A1-F6EECF244321}">
                <p14:modId xmlns:p14="http://schemas.microsoft.com/office/powerpoint/2010/main" val="3668687694"/>
              </p:ext>
            </p:extLst>
          </p:nvPr>
        </p:nvGraphicFramePr>
        <p:xfrm>
          <a:off x="0" y="2231231"/>
          <a:ext cx="6244829" cy="3158729"/>
        </p:xfrm>
        <a:graphic>
          <a:graphicData uri="http://schemas.openxmlformats.org/drawingml/2006/table">
            <a:tbl>
              <a:tblPr firstRow="1" bandRow="1">
                <a:tableStyleId>{5C22544A-7EE6-4342-B048-85BDC9FD1C3A}</a:tableStyleId>
              </a:tblPr>
              <a:tblGrid>
                <a:gridCol w="1561208">
                  <a:extLst>
                    <a:ext uri="{9D8B030D-6E8A-4147-A177-3AD203B41FA5}">
                      <a16:colId xmlns:a16="http://schemas.microsoft.com/office/drawing/2014/main" val="20000"/>
                    </a:ext>
                  </a:extLst>
                </a:gridCol>
                <a:gridCol w="1561208">
                  <a:extLst>
                    <a:ext uri="{9D8B030D-6E8A-4147-A177-3AD203B41FA5}">
                      <a16:colId xmlns:a16="http://schemas.microsoft.com/office/drawing/2014/main" val="20001"/>
                    </a:ext>
                  </a:extLst>
                </a:gridCol>
                <a:gridCol w="1561208">
                  <a:extLst>
                    <a:ext uri="{9D8B030D-6E8A-4147-A177-3AD203B41FA5}">
                      <a16:colId xmlns:a16="http://schemas.microsoft.com/office/drawing/2014/main" val="20002"/>
                    </a:ext>
                  </a:extLst>
                </a:gridCol>
                <a:gridCol w="1561208">
                  <a:extLst>
                    <a:ext uri="{9D8B030D-6E8A-4147-A177-3AD203B41FA5}">
                      <a16:colId xmlns:a16="http://schemas.microsoft.com/office/drawing/2014/main" val="20003"/>
                    </a:ext>
                  </a:extLst>
                </a:gridCol>
              </a:tblGrid>
              <a:tr h="278130">
                <a:tc>
                  <a:txBody>
                    <a:bodyPr/>
                    <a:lstStyle/>
                    <a:p>
                      <a:pPr algn="ctr"/>
                      <a:r>
                        <a:rPr lang="en-US" sz="700">
                          <a:solidFill>
                            <a:schemeClr val="tx1"/>
                          </a:solidFill>
                        </a:rPr>
                        <a:t>Dimension</a:t>
                      </a:r>
                    </a:p>
                  </a:txBody>
                  <a:tcPr marL="68580" marR="68580" marT="34290" marB="34290" anchor="ctr"/>
                </a:tc>
                <a:tc>
                  <a:txBody>
                    <a:bodyPr/>
                    <a:lstStyle/>
                    <a:p>
                      <a:pPr algn="ctr"/>
                      <a:r>
                        <a:rPr lang="en-US" sz="700">
                          <a:solidFill>
                            <a:schemeClr val="tx1"/>
                          </a:solidFill>
                        </a:rPr>
                        <a:t>Web Application</a:t>
                      </a:r>
                    </a:p>
                  </a:txBody>
                  <a:tcPr marL="68580" marR="68580" marT="34290" marB="34290" anchor="ctr"/>
                </a:tc>
                <a:tc>
                  <a:txBody>
                    <a:bodyPr/>
                    <a:lstStyle/>
                    <a:p>
                      <a:pPr algn="ctr"/>
                      <a:r>
                        <a:rPr lang="en-US" sz="700">
                          <a:solidFill>
                            <a:schemeClr val="tx1"/>
                          </a:solidFill>
                        </a:rPr>
                        <a:t>Web</a:t>
                      </a:r>
                      <a:r>
                        <a:rPr lang="en-US" sz="700" baseline="0">
                          <a:solidFill>
                            <a:schemeClr val="tx1"/>
                          </a:solidFill>
                        </a:rPr>
                        <a:t> Page</a:t>
                      </a:r>
                      <a:endParaRPr lang="en-US" sz="700">
                        <a:solidFill>
                          <a:schemeClr val="tx1"/>
                        </a:solidFill>
                      </a:endParaRPr>
                    </a:p>
                  </a:txBody>
                  <a:tcPr marL="68580" marR="68580" marT="34290" marB="34290" anchor="ctr"/>
                </a:tc>
                <a:tc>
                  <a:txBody>
                    <a:bodyPr/>
                    <a:lstStyle/>
                    <a:p>
                      <a:pPr algn="ctr"/>
                      <a:r>
                        <a:rPr lang="en-US" sz="700">
                          <a:solidFill>
                            <a:schemeClr val="tx1"/>
                          </a:solidFill>
                        </a:rPr>
                        <a:t>In the middle of continuum</a:t>
                      </a:r>
                    </a:p>
                  </a:txBody>
                  <a:tcPr marL="68580" marR="68580" marT="34290" marB="34290" anchor="ctr"/>
                </a:tc>
                <a:extLst>
                  <a:ext uri="{0D108BD9-81ED-4DB2-BD59-A6C34878D82A}">
                    <a16:rowId xmlns:a16="http://schemas.microsoft.com/office/drawing/2014/main" val="10000"/>
                  </a:ext>
                </a:extLst>
              </a:tr>
              <a:tr h="480060">
                <a:tc>
                  <a:txBody>
                    <a:bodyPr/>
                    <a:lstStyle/>
                    <a:p>
                      <a:r>
                        <a:rPr lang="en-US" sz="700">
                          <a:solidFill>
                            <a:schemeClr val="tx1"/>
                          </a:solidFill>
                        </a:rPr>
                        <a:t>The</a:t>
                      </a:r>
                      <a:r>
                        <a:rPr lang="en-US" sz="700" baseline="0">
                          <a:solidFill>
                            <a:schemeClr val="tx1"/>
                          </a:solidFill>
                        </a:rPr>
                        <a:t> Perceived distance of the provider</a:t>
                      </a:r>
                      <a:endParaRPr lang="en-US" sz="700">
                        <a:solidFill>
                          <a:schemeClr val="tx1"/>
                        </a:solidFill>
                      </a:endParaRPr>
                    </a:p>
                  </a:txBody>
                  <a:tcPr marL="68580" marR="68580" marT="34290" marB="34290"/>
                </a:tc>
                <a:tc>
                  <a:txBody>
                    <a:bodyPr/>
                    <a:lstStyle/>
                    <a:p>
                      <a:r>
                        <a:rPr lang="en-US" sz="700">
                          <a:solidFill>
                            <a:schemeClr val="tx1"/>
                          </a:solidFill>
                        </a:rPr>
                        <a:t>It is viewed  as being local in origin, it is viewed as being controlled</a:t>
                      </a:r>
                      <a:r>
                        <a:rPr lang="en-US" sz="700" baseline="0">
                          <a:solidFill>
                            <a:schemeClr val="tx1"/>
                          </a:solidFill>
                        </a:rPr>
                        <a:t> locally by a data administrator, the response time is fast</a:t>
                      </a:r>
                      <a:endParaRPr lang="en-US" sz="700">
                        <a:solidFill>
                          <a:schemeClr val="tx1"/>
                        </a:solidFill>
                      </a:endParaRPr>
                    </a:p>
                  </a:txBody>
                  <a:tcPr marL="68580" marR="68580" marT="34290" marB="34290"/>
                </a:tc>
                <a:tc>
                  <a:txBody>
                    <a:bodyPr/>
                    <a:lstStyle/>
                    <a:p>
                      <a:r>
                        <a:rPr lang="en-US" sz="700">
                          <a:solidFill>
                            <a:schemeClr val="tx1"/>
                          </a:solidFill>
                        </a:rPr>
                        <a:t>The origin</a:t>
                      </a:r>
                      <a:r>
                        <a:rPr lang="en-US" sz="700" baseline="0">
                          <a:solidFill>
                            <a:schemeClr val="tx1"/>
                          </a:solidFill>
                        </a:rPr>
                        <a:t> is unknown, the origin is viewed as originating somewhere else in the country or overseas, the response time is slow</a:t>
                      </a:r>
                      <a:endParaRPr lang="en-US" sz="700">
                        <a:solidFill>
                          <a:schemeClr val="tx1"/>
                        </a:solidFill>
                      </a:endParaRPr>
                    </a:p>
                  </a:txBody>
                  <a:tcPr marL="68580" marR="68580" marT="34290" marB="34290"/>
                </a:tc>
                <a:tc>
                  <a:txBody>
                    <a:bodyPr/>
                    <a:lstStyle/>
                    <a:p>
                      <a:r>
                        <a:rPr lang="en-US" sz="700">
                          <a:solidFill>
                            <a:schemeClr val="tx1"/>
                          </a:solidFill>
                        </a:rPr>
                        <a:t>The origin cannot</a:t>
                      </a:r>
                      <a:r>
                        <a:rPr lang="en-US" sz="700" baseline="0">
                          <a:solidFill>
                            <a:schemeClr val="tx1"/>
                          </a:solidFill>
                        </a:rPr>
                        <a:t>  ascertained or doesn’t matter</a:t>
                      </a:r>
                      <a:endParaRPr lang="en-US" sz="700">
                        <a:solidFill>
                          <a:schemeClr val="tx1"/>
                        </a:solidFill>
                      </a:endParaRPr>
                    </a:p>
                  </a:txBody>
                  <a:tcPr marL="68580" marR="68580" marT="34290" marB="34290"/>
                </a:tc>
                <a:extLst>
                  <a:ext uri="{0D108BD9-81ED-4DB2-BD59-A6C34878D82A}">
                    <a16:rowId xmlns:a16="http://schemas.microsoft.com/office/drawing/2014/main" val="10001"/>
                  </a:ext>
                </a:extLst>
              </a:tr>
              <a:tr h="480060">
                <a:tc>
                  <a:txBody>
                    <a:bodyPr/>
                    <a:lstStyle/>
                    <a:p>
                      <a:r>
                        <a:rPr lang="en-US" sz="700">
                          <a:solidFill>
                            <a:schemeClr val="tx1"/>
                          </a:solidFill>
                        </a:rPr>
                        <a:t>Real Time interaction</a:t>
                      </a:r>
                    </a:p>
                  </a:txBody>
                  <a:tcPr marL="68580" marR="68580" marT="34290" marB="34290"/>
                </a:tc>
                <a:tc>
                  <a:txBody>
                    <a:bodyPr/>
                    <a:lstStyle/>
                    <a:p>
                      <a:r>
                        <a:rPr lang="en-US" sz="700">
                          <a:solidFill>
                            <a:schemeClr val="tx1"/>
                          </a:solidFill>
                        </a:rPr>
                        <a:t>Data is fed in real</a:t>
                      </a:r>
                      <a:r>
                        <a:rPr lang="en-US" sz="700" baseline="0">
                          <a:solidFill>
                            <a:schemeClr val="tx1"/>
                          </a:solidFill>
                        </a:rPr>
                        <a:t> time, the information is critical, a delay is life-threatening, long </a:t>
                      </a:r>
                      <a:r>
                        <a:rPr lang="en-US" sz="700" baseline="0" err="1">
                          <a:solidFill>
                            <a:schemeClr val="tx1"/>
                          </a:solidFill>
                        </a:rPr>
                        <a:t>reponses</a:t>
                      </a:r>
                      <a:r>
                        <a:rPr lang="en-US" sz="700" baseline="0">
                          <a:solidFill>
                            <a:schemeClr val="tx1"/>
                          </a:solidFill>
                        </a:rPr>
                        <a:t> exist but users remain</a:t>
                      </a:r>
                      <a:endParaRPr lang="en-US" sz="700">
                        <a:solidFill>
                          <a:schemeClr val="tx1"/>
                        </a:solidFill>
                      </a:endParaRPr>
                    </a:p>
                  </a:txBody>
                  <a:tcPr marL="68580" marR="68580" marT="34290" marB="34290"/>
                </a:tc>
                <a:tc>
                  <a:txBody>
                    <a:bodyPr/>
                    <a:lstStyle/>
                    <a:p>
                      <a:r>
                        <a:rPr lang="en-US" sz="700">
                          <a:solidFill>
                            <a:schemeClr val="tx1"/>
                          </a:solidFill>
                        </a:rPr>
                        <a:t>Time is irrelevant,</a:t>
                      </a:r>
                      <a:r>
                        <a:rPr lang="en-US" sz="700" baseline="0">
                          <a:solidFill>
                            <a:schemeClr val="tx1"/>
                          </a:solidFill>
                        </a:rPr>
                        <a:t> long response delay exist and cause users to exit</a:t>
                      </a:r>
                      <a:endParaRPr lang="en-US" sz="700">
                        <a:solidFill>
                          <a:schemeClr val="tx1"/>
                        </a:solidFill>
                      </a:endParaRPr>
                    </a:p>
                  </a:txBody>
                  <a:tcPr marL="68580" marR="68580" marT="34290" marB="34290"/>
                </a:tc>
                <a:tc>
                  <a:txBody>
                    <a:bodyPr/>
                    <a:lstStyle/>
                    <a:p>
                      <a:r>
                        <a:rPr lang="en-US" sz="700">
                          <a:solidFill>
                            <a:schemeClr val="tx1"/>
                          </a:solidFill>
                        </a:rPr>
                        <a:t>Response</a:t>
                      </a:r>
                      <a:r>
                        <a:rPr lang="en-US" sz="700" baseline="0">
                          <a:solidFill>
                            <a:schemeClr val="tx1"/>
                          </a:solidFill>
                        </a:rPr>
                        <a:t> is near real time</a:t>
                      </a:r>
                      <a:endParaRPr lang="en-US" sz="700">
                        <a:solidFill>
                          <a:schemeClr val="tx1"/>
                        </a:solidFill>
                      </a:endParaRPr>
                    </a:p>
                  </a:txBody>
                  <a:tcPr marL="68580" marR="68580" marT="34290" marB="34290"/>
                </a:tc>
                <a:extLst>
                  <a:ext uri="{0D108BD9-81ED-4DB2-BD59-A6C34878D82A}">
                    <a16:rowId xmlns:a16="http://schemas.microsoft.com/office/drawing/2014/main" val="10002"/>
                  </a:ext>
                </a:extLst>
              </a:tr>
              <a:tr h="377190">
                <a:tc>
                  <a:txBody>
                    <a:bodyPr/>
                    <a:lstStyle/>
                    <a:p>
                      <a:r>
                        <a:rPr lang="en-US" sz="700">
                          <a:solidFill>
                            <a:schemeClr val="tx1"/>
                          </a:solidFill>
                        </a:rPr>
                        <a:t>How much help will users need?</a:t>
                      </a:r>
                    </a:p>
                  </a:txBody>
                  <a:tcPr marL="68580" marR="68580" marT="34290" marB="34290"/>
                </a:tc>
                <a:tc>
                  <a:txBody>
                    <a:bodyPr/>
                    <a:lstStyle/>
                    <a:p>
                      <a:r>
                        <a:rPr lang="en-US" sz="700" baseline="0">
                          <a:solidFill>
                            <a:schemeClr val="tx1"/>
                          </a:solidFill>
                        </a:rPr>
                        <a:t>Intense training programs and experience are needed to use and become experts </a:t>
                      </a:r>
                      <a:endParaRPr lang="en-US" sz="700">
                        <a:solidFill>
                          <a:schemeClr val="tx1"/>
                        </a:solidFill>
                      </a:endParaRPr>
                    </a:p>
                  </a:txBody>
                  <a:tcPr marL="68580" marR="68580" marT="34290" marB="34290"/>
                </a:tc>
                <a:tc>
                  <a:txBody>
                    <a:bodyPr/>
                    <a:lstStyle/>
                    <a:p>
                      <a:r>
                        <a:rPr lang="en-US" sz="700">
                          <a:solidFill>
                            <a:schemeClr val="tx1"/>
                          </a:solidFill>
                        </a:rPr>
                        <a:t>Every</a:t>
                      </a:r>
                      <a:r>
                        <a:rPr lang="en-US" sz="700" baseline="0">
                          <a:solidFill>
                            <a:schemeClr val="tx1"/>
                          </a:solidFill>
                        </a:rPr>
                        <a:t> visit is one time session, minimizing or eliminating  the need for help</a:t>
                      </a:r>
                      <a:endParaRPr lang="en-US" sz="700">
                        <a:solidFill>
                          <a:schemeClr val="tx1"/>
                        </a:solidFill>
                      </a:endParaRPr>
                    </a:p>
                  </a:txBody>
                  <a:tcPr marL="68580" marR="68580" marT="34290" marB="34290"/>
                </a:tc>
                <a:tc>
                  <a:txBody>
                    <a:bodyPr/>
                    <a:lstStyle/>
                    <a:p>
                      <a:r>
                        <a:rPr lang="en-US" sz="700">
                          <a:solidFill>
                            <a:schemeClr val="tx1"/>
                          </a:solidFill>
                        </a:rPr>
                        <a:t>A minimum amount of</a:t>
                      </a:r>
                      <a:r>
                        <a:rPr lang="en-US" sz="700" baseline="0">
                          <a:solidFill>
                            <a:schemeClr val="tx1"/>
                          </a:solidFill>
                        </a:rPr>
                        <a:t> experience, training or help material is needed</a:t>
                      </a:r>
                      <a:endParaRPr lang="en-US" sz="700">
                        <a:solidFill>
                          <a:schemeClr val="tx1"/>
                        </a:solidFill>
                      </a:endParaRPr>
                    </a:p>
                  </a:txBody>
                  <a:tcPr marL="68580" marR="68580" marT="34290" marB="34290"/>
                </a:tc>
                <a:extLst>
                  <a:ext uri="{0D108BD9-81ED-4DB2-BD59-A6C34878D82A}">
                    <a16:rowId xmlns:a16="http://schemas.microsoft.com/office/drawing/2014/main" val="10003"/>
                  </a:ext>
                </a:extLst>
              </a:tr>
              <a:tr h="788670">
                <a:tc>
                  <a:txBody>
                    <a:bodyPr/>
                    <a:lstStyle/>
                    <a:p>
                      <a:r>
                        <a:rPr lang="en-US" sz="700">
                          <a:solidFill>
                            <a:schemeClr val="tx1"/>
                          </a:solidFill>
                        </a:rPr>
                        <a:t>The interaction</a:t>
                      </a:r>
                      <a:r>
                        <a:rPr lang="en-US" sz="700" baseline="0">
                          <a:solidFill>
                            <a:schemeClr val="tx1"/>
                          </a:solidFill>
                        </a:rPr>
                        <a:t> style</a:t>
                      </a:r>
                      <a:endParaRPr lang="en-US" sz="700">
                        <a:solidFill>
                          <a:schemeClr val="tx1"/>
                        </a:solidFill>
                      </a:endParaRPr>
                    </a:p>
                  </a:txBody>
                  <a:tcPr marL="68580" marR="68580" marT="34290" marB="34290"/>
                </a:tc>
                <a:tc>
                  <a:txBody>
                    <a:bodyPr/>
                    <a:lstStyle/>
                    <a:p>
                      <a:r>
                        <a:rPr lang="en-US" sz="700">
                          <a:solidFill>
                            <a:schemeClr val="tx1"/>
                          </a:solidFill>
                        </a:rPr>
                        <a:t>The navigation is </a:t>
                      </a:r>
                      <a:r>
                        <a:rPr lang="en-US" sz="700" err="1">
                          <a:solidFill>
                            <a:schemeClr val="tx1"/>
                          </a:solidFill>
                        </a:rPr>
                        <a:t>controled</a:t>
                      </a:r>
                      <a:r>
                        <a:rPr lang="en-US" sz="700">
                          <a:solidFill>
                            <a:schemeClr val="tx1"/>
                          </a:solidFill>
                        </a:rPr>
                        <a:t>,</a:t>
                      </a:r>
                      <a:r>
                        <a:rPr lang="en-US" sz="700" baseline="0">
                          <a:solidFill>
                            <a:schemeClr val="tx1"/>
                          </a:solidFill>
                        </a:rPr>
                        <a:t> controls are complex,  the syntax  is </a:t>
                      </a:r>
                      <a:r>
                        <a:rPr lang="en-US" sz="700" baseline="0" err="1">
                          <a:solidFill>
                            <a:schemeClr val="tx1"/>
                          </a:solidFill>
                        </a:rPr>
                        <a:t>obejct:Action</a:t>
                      </a:r>
                      <a:r>
                        <a:rPr lang="en-US" sz="700" baseline="0">
                          <a:solidFill>
                            <a:schemeClr val="tx1"/>
                          </a:solidFill>
                        </a:rPr>
                        <a:t>, there is little or no reversibility, drag and drop manipulation is expected, exit requires users  to log off</a:t>
                      </a:r>
                      <a:endParaRPr lang="en-US" sz="700">
                        <a:solidFill>
                          <a:schemeClr val="tx1"/>
                        </a:solidFill>
                      </a:endParaRPr>
                    </a:p>
                  </a:txBody>
                  <a:tcPr marL="68580" marR="68580" marT="34290" marB="34290"/>
                </a:tc>
                <a:tc>
                  <a:txBody>
                    <a:bodyPr/>
                    <a:lstStyle/>
                    <a:p>
                      <a:r>
                        <a:rPr lang="en-US" sz="700">
                          <a:solidFill>
                            <a:schemeClr val="tx1"/>
                          </a:solidFill>
                        </a:rPr>
                        <a:t>The navigation is flexible</a:t>
                      </a:r>
                      <a:r>
                        <a:rPr lang="en-US" sz="700" baseline="0">
                          <a:solidFill>
                            <a:schemeClr val="tx1"/>
                          </a:solidFill>
                        </a:rPr>
                        <a:t> and simple, controls are simple, no object selection is required, action are easily reversed using the back button, no drag-drop manipulation exist, single clicking links are used to navigate</a:t>
                      </a:r>
                      <a:endParaRPr lang="en-US" sz="700">
                        <a:solidFill>
                          <a:schemeClr val="tx1"/>
                        </a:solidFill>
                      </a:endParaRPr>
                    </a:p>
                  </a:txBody>
                  <a:tcPr marL="68580" marR="68580" marT="34290" marB="34290"/>
                </a:tc>
                <a:tc>
                  <a:txBody>
                    <a:bodyPr/>
                    <a:lstStyle/>
                    <a:p>
                      <a:r>
                        <a:rPr lang="en-US" sz="700">
                          <a:solidFill>
                            <a:schemeClr val="tx1"/>
                          </a:solidFill>
                        </a:rPr>
                        <a:t>The</a:t>
                      </a:r>
                      <a:r>
                        <a:rPr lang="en-US" sz="700" baseline="0">
                          <a:solidFill>
                            <a:schemeClr val="tx1"/>
                          </a:solidFill>
                        </a:rPr>
                        <a:t> navigation is flexible, simple data collection exist,  user exits by closing web browser</a:t>
                      </a:r>
                      <a:endParaRPr lang="en-US" sz="700">
                        <a:solidFill>
                          <a:schemeClr val="tx1"/>
                        </a:solidFill>
                      </a:endParaRPr>
                    </a:p>
                  </a:txBody>
                  <a:tcPr marL="68580" marR="68580" marT="34290" marB="34290"/>
                </a:tc>
                <a:extLst>
                  <a:ext uri="{0D108BD9-81ED-4DB2-BD59-A6C34878D82A}">
                    <a16:rowId xmlns:a16="http://schemas.microsoft.com/office/drawing/2014/main" val="10004"/>
                  </a:ext>
                </a:extLst>
              </a:tr>
              <a:tr h="377190">
                <a:tc>
                  <a:txBody>
                    <a:bodyPr/>
                    <a:lstStyle/>
                    <a:p>
                      <a:r>
                        <a:rPr lang="en-US" sz="700">
                          <a:solidFill>
                            <a:schemeClr val="tx1"/>
                          </a:solidFill>
                        </a:rPr>
                        <a:t>The</a:t>
                      </a:r>
                      <a:r>
                        <a:rPr lang="en-US" sz="700" baseline="0">
                          <a:solidFill>
                            <a:schemeClr val="tx1"/>
                          </a:solidFill>
                        </a:rPr>
                        <a:t> Presentation style</a:t>
                      </a:r>
                      <a:endParaRPr lang="en-US" sz="700">
                        <a:solidFill>
                          <a:schemeClr val="tx1"/>
                        </a:solidFill>
                      </a:endParaRPr>
                    </a:p>
                  </a:txBody>
                  <a:tcPr marL="68580" marR="68580" marT="34290" marB="34290"/>
                </a:tc>
                <a:tc>
                  <a:txBody>
                    <a:bodyPr/>
                    <a:lstStyle/>
                    <a:p>
                      <a:r>
                        <a:rPr lang="en-US" sz="700">
                          <a:solidFill>
                            <a:schemeClr val="tx1"/>
                          </a:solidFill>
                        </a:rPr>
                        <a:t>The Style is subdue and serious</a:t>
                      </a:r>
                    </a:p>
                  </a:txBody>
                  <a:tcPr marL="68580" marR="68580" marT="34290" marB="34290"/>
                </a:tc>
                <a:tc>
                  <a:txBody>
                    <a:bodyPr/>
                    <a:lstStyle/>
                    <a:p>
                      <a:r>
                        <a:rPr lang="en-US" sz="700">
                          <a:solidFill>
                            <a:schemeClr val="tx1"/>
                          </a:solidFill>
                        </a:rPr>
                        <a:t>The style</a:t>
                      </a:r>
                      <a:r>
                        <a:rPr lang="en-US" sz="700" baseline="0">
                          <a:solidFill>
                            <a:schemeClr val="tx1"/>
                          </a:solidFill>
                        </a:rPr>
                        <a:t> is </a:t>
                      </a:r>
                      <a:r>
                        <a:rPr lang="en-US" sz="700" baseline="0" err="1">
                          <a:solidFill>
                            <a:schemeClr val="tx1"/>
                          </a:solidFill>
                        </a:rPr>
                        <a:t>colorfull</a:t>
                      </a:r>
                      <a:r>
                        <a:rPr lang="en-US" sz="700" baseline="0">
                          <a:solidFill>
                            <a:schemeClr val="tx1"/>
                          </a:solidFill>
                        </a:rPr>
                        <a:t>, graphic, possibly animated, the control are obvious and self explanatory</a:t>
                      </a:r>
                      <a:endParaRPr lang="en-US" sz="700">
                        <a:solidFill>
                          <a:schemeClr val="tx1"/>
                        </a:solidFill>
                      </a:endParaRPr>
                    </a:p>
                  </a:txBody>
                  <a:tcPr marL="68580" marR="68580" marT="34290" marB="34290"/>
                </a:tc>
                <a:tc>
                  <a:txBody>
                    <a:bodyPr/>
                    <a:lstStyle/>
                    <a:p>
                      <a:r>
                        <a:rPr lang="en-US" sz="700">
                          <a:solidFill>
                            <a:schemeClr val="tx1"/>
                          </a:solidFill>
                        </a:rPr>
                        <a:t>The style is cooler but attractive</a:t>
                      </a:r>
                    </a:p>
                  </a:txBody>
                  <a:tcPr marL="68580" marR="68580" marT="34290" marB="34290"/>
                </a:tc>
                <a:extLst>
                  <a:ext uri="{0D108BD9-81ED-4DB2-BD59-A6C34878D82A}">
                    <a16:rowId xmlns:a16="http://schemas.microsoft.com/office/drawing/2014/main" val="10005"/>
                  </a:ext>
                </a:extLst>
              </a:tr>
              <a:tr h="377190">
                <a:tc>
                  <a:txBody>
                    <a:bodyPr/>
                    <a:lstStyle/>
                    <a:p>
                      <a:r>
                        <a:rPr lang="en-US" sz="700">
                          <a:solidFill>
                            <a:schemeClr val="tx1"/>
                          </a:solidFill>
                        </a:rPr>
                        <a:t>Follow standards</a:t>
                      </a:r>
                    </a:p>
                  </a:txBody>
                  <a:tcPr marL="68580" marR="68580" marT="34290" marB="34290"/>
                </a:tc>
                <a:tc>
                  <a:txBody>
                    <a:bodyPr/>
                    <a:lstStyle/>
                    <a:p>
                      <a:r>
                        <a:rPr lang="en-US" sz="700">
                          <a:solidFill>
                            <a:schemeClr val="tx1"/>
                          </a:solidFill>
                        </a:rPr>
                        <a:t>Platform standard compliance exists,</a:t>
                      </a:r>
                      <a:r>
                        <a:rPr lang="en-US" sz="700" baseline="0">
                          <a:solidFill>
                            <a:schemeClr val="tx1"/>
                          </a:solidFill>
                        </a:rPr>
                        <a:t> the style resembles or matches GUI standard</a:t>
                      </a:r>
                      <a:endParaRPr lang="en-US" sz="700">
                        <a:solidFill>
                          <a:schemeClr val="tx1"/>
                        </a:solidFill>
                      </a:endParaRPr>
                    </a:p>
                  </a:txBody>
                  <a:tcPr marL="68580" marR="68580" marT="34290" marB="34290"/>
                </a:tc>
                <a:tc>
                  <a:txBody>
                    <a:bodyPr/>
                    <a:lstStyle/>
                    <a:p>
                      <a:r>
                        <a:rPr lang="en-US" sz="700">
                          <a:solidFill>
                            <a:schemeClr val="tx1"/>
                          </a:solidFill>
                        </a:rPr>
                        <a:t>Few Cross site standard are followed, only intra-site consistently exists</a:t>
                      </a:r>
                    </a:p>
                  </a:txBody>
                  <a:tcPr marL="68580" marR="68580" marT="34290" marB="34290"/>
                </a:tc>
                <a:tc>
                  <a:txBody>
                    <a:bodyPr/>
                    <a:lstStyle/>
                    <a:p>
                      <a:r>
                        <a:rPr lang="en-US" sz="700">
                          <a:solidFill>
                            <a:schemeClr val="tx1"/>
                          </a:solidFill>
                        </a:rPr>
                        <a:t>Some common pattern exists</a:t>
                      </a:r>
                    </a:p>
                  </a:txBody>
                  <a:tcPr marL="68580" marR="68580" marT="34290" marB="3429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56909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D" err="1"/>
              <a:t>Referensi</a:t>
            </a:r>
            <a:endParaRPr lang="en-US"/>
          </a:p>
        </p:txBody>
      </p:sp>
      <p:sp>
        <p:nvSpPr>
          <p:cNvPr id="2" name="Content Placeholder 1"/>
          <p:cNvSpPr>
            <a:spLocks noGrp="1"/>
          </p:cNvSpPr>
          <p:nvPr>
            <p:ph type="body" idx="1"/>
          </p:nvPr>
        </p:nvSpPr>
        <p:spPr/>
        <p:txBody>
          <a:bodyPr/>
          <a:lstStyle/>
          <a:p>
            <a:r>
              <a:rPr lang="id-ID"/>
              <a:t>Wilbert O. Galitz,2007,</a:t>
            </a:r>
            <a:r>
              <a:rPr lang="en-US" b="1"/>
              <a:t>The Essential Guide to User Interface Design: An Introduction to GUI Design Principles and</a:t>
            </a:r>
            <a:r>
              <a:rPr lang="id-ID" b="1"/>
              <a:t> Techniques, Third Edition,</a:t>
            </a:r>
            <a:r>
              <a:rPr lang="id-ID"/>
              <a:t> Wiley Publishing</a:t>
            </a:r>
            <a:endParaRPr lang="en-ID"/>
          </a:p>
          <a:p>
            <a:r>
              <a:rPr lang="en-US">
                <a:hlinkClick r:id="rId2"/>
              </a:rPr>
              <a:t>https://www.youtube.com/watch?v=KtvwustmEDI</a:t>
            </a:r>
            <a:endParaRPr lang="en-US"/>
          </a:p>
          <a:p>
            <a:r>
              <a:rPr lang="en-US">
                <a:hlinkClick r:id="rId3"/>
              </a:rPr>
              <a:t>https://www.youtube.com/watch?v=gsNQRcSoa9M</a:t>
            </a:r>
            <a:endParaRPr lang="en-US"/>
          </a:p>
          <a:p>
            <a:endParaRPr lang="en-US"/>
          </a:p>
        </p:txBody>
      </p:sp>
    </p:spTree>
    <p:extLst>
      <p:ext uri="{BB962C8B-B14F-4D97-AF65-F5344CB8AC3E}">
        <p14:creationId xmlns:p14="http://schemas.microsoft.com/office/powerpoint/2010/main" val="10372671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3cddd3b390edf21f0ab15828babee10c383c89"/>
  <p:tag name="ISPRING_PRESENTATION_TITLE" val="1.Pengantar IMK dan Konsep GUI&amp;Web UI"/>
  <p:tag name="ISPRING_RESOURCE_FOLDER" val="D:\Tel-U\1516\Gasal\Pengajaran\CSG2C3_IMK\1.Pengantar IMK dan Konsep GUI&amp;Web UI\"/>
  <p:tag name="ISPRING_PRESENTATION_PATH" val="D:\Tel-U\1516\Gasal\Pengajaran\CSG2C3_IMK\1.Pengantar IMK dan Konsep GUI&amp;Web UI.pptx"/>
  <p:tag name="ISPRING_PROJECT_FOLDER_UPDATED" val="1"/>
  <p:tag name="ISPRING_SCREEN_RECS_UPDATED" val="D:\Tel-U\1516\Gasal\Pengajaran\CSG2C3_IMK\1.Pengantar IMK dan Konsep GUI&amp;Web UI"/>
  <p:tag name="ISPRING_UUID" val="{B5E8AADC-442E-4926-85F2-171CE4C3EFC3}"/>
</p:tagLst>
</file>

<file path=ppt/theme/theme1.xml><?xml version="1.0" encoding="utf-8"?>
<a:theme xmlns:a="http://schemas.openxmlformats.org/drawingml/2006/main" name="Fif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Fif theme" id="{F87EA711-521A-4946-B019-DC3D372964CE}" vid="{B3398939-BCCF-43BB-B8C5-63A70CAAD6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83EAFF4A131874088A6625F3ADD53C4" ma:contentTypeVersion="0" ma:contentTypeDescription="Create a new document." ma:contentTypeScope="" ma:versionID="780deb29eeb7a5b1c709d6584340df73">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346718-04EF-48BF-BF6B-3511750498A0}">
  <ds:schemaRefs>
    <ds:schemaRef ds:uri="http://schemas.microsoft.com/office/2006/metadata/properties"/>
    <ds:schemaRef ds:uri="http://schemas.microsoft.com/office/infopath/2007/PartnerControls"/>
    <ds:schemaRef ds:uri="da944019-e0c0-4cbe-b9e1-79848028e4af"/>
    <ds:schemaRef ds:uri="4a4cec7d-c36e-444e-b338-a48af7a4be82"/>
  </ds:schemaRefs>
</ds:datastoreItem>
</file>

<file path=customXml/itemProps2.xml><?xml version="1.0" encoding="utf-8"?>
<ds:datastoreItem xmlns:ds="http://schemas.openxmlformats.org/officeDocument/2006/customXml" ds:itemID="{F16F2422-945D-42FD-9F3E-782C97BB3ED7}"/>
</file>

<file path=customXml/itemProps3.xml><?xml version="1.0" encoding="utf-8"?>
<ds:datastoreItem xmlns:ds="http://schemas.openxmlformats.org/officeDocument/2006/customXml" ds:itemID="{E273E132-1066-4871-8145-F201EF22F29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Fif theme</Template>
  <TotalTime>301</TotalTime>
  <Words>2817</Words>
  <Application>Microsoft Office PowerPoint</Application>
  <PresentationFormat>On-screen Show (4:3)</PresentationFormat>
  <Paragraphs>337</Paragraphs>
  <Slides>42</Slides>
  <Notes>32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Barlow</vt:lpstr>
      <vt:lpstr>Calibri</vt:lpstr>
      <vt:lpstr>Carlito</vt:lpstr>
      <vt:lpstr>Fjalla One</vt:lpstr>
      <vt:lpstr>Rockwell Extra Bold</vt:lpstr>
      <vt:lpstr>Times New Roman</vt:lpstr>
      <vt:lpstr>Verdana (Body)</vt:lpstr>
      <vt:lpstr>Verdana (Bold)</vt:lpstr>
      <vt:lpstr>Verdana(Body)</vt:lpstr>
      <vt:lpstr>Fif theme</vt:lpstr>
      <vt:lpstr>Interaksi Manusia dan Komputer (IMK)</vt:lpstr>
      <vt:lpstr>Tujuan Mata Kuliah IMK</vt:lpstr>
      <vt:lpstr>Outline</vt:lpstr>
      <vt:lpstr>Definisi Interaksi Manusia Komputer</vt:lpstr>
      <vt:lpstr>Definisi IMK/HCI </vt:lpstr>
      <vt:lpstr>HCI / IMK</vt:lpstr>
      <vt:lpstr>Manusia Vs Komputer</vt:lpstr>
      <vt:lpstr>Paradigma Interaksi</vt:lpstr>
      <vt:lpstr>5 W + H</vt:lpstr>
      <vt:lpstr>Hubungan HCI/IMK - Interaction Design </vt:lpstr>
      <vt:lpstr>Pentingnya Desain UI yang Baik</vt:lpstr>
      <vt:lpstr>User Interface</vt:lpstr>
      <vt:lpstr>Basics of IT applications</vt:lpstr>
      <vt:lpstr>Pentingnya Desain UI yang Baik</vt:lpstr>
      <vt:lpstr>Desain UI yang Baik perlu memenuhi</vt:lpstr>
      <vt:lpstr>Usability dan User Experience goals</vt:lpstr>
      <vt:lpstr>Perkembangan IMK</vt:lpstr>
      <vt:lpstr>Sejarah perkembangan IMK</vt:lpstr>
      <vt:lpstr>Tren Interaksi Manusia Komputer</vt:lpstr>
      <vt:lpstr>PowerPoint Presentation</vt:lpstr>
      <vt:lpstr>PowerPoint Presentation</vt:lpstr>
      <vt:lpstr>PowerPoint Presentation</vt:lpstr>
      <vt:lpstr>Interaction Framework</vt:lpstr>
      <vt:lpstr>Interaction Framework</vt:lpstr>
      <vt:lpstr>Interaction Style</vt:lpstr>
      <vt:lpstr>Interaction Style</vt:lpstr>
      <vt:lpstr>Interaction Style</vt:lpstr>
      <vt:lpstr>Interaction Style</vt:lpstr>
      <vt:lpstr>Interaction Style</vt:lpstr>
      <vt:lpstr>Interaction Style</vt:lpstr>
      <vt:lpstr>Interaction Style</vt:lpstr>
      <vt:lpstr>Interaction Style</vt:lpstr>
      <vt:lpstr>Karakteristik GUI dan Web UI</vt:lpstr>
      <vt:lpstr>Text Based VS GUI VS Web UI</vt:lpstr>
      <vt:lpstr>GUI VS WEB UI</vt:lpstr>
      <vt:lpstr>Graphics User Interface (GUI)</vt:lpstr>
      <vt:lpstr>Characteristics Of GUI</vt:lpstr>
      <vt:lpstr>Web User Interface</vt:lpstr>
      <vt:lpstr>GUI VS WEB UI</vt:lpstr>
      <vt:lpstr>The merging of graphical business systems and the web </vt:lpstr>
      <vt:lpstr>The merging of graphical business systems and the web (Cont.)</vt:lpstr>
      <vt:lpstr>Referensi</vt:lpstr>
    </vt:vector>
  </TitlesOfParts>
  <Company>IEEE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1.Pengantar IMK dan Konsep GUI&amp;Web UI</dc:title>
  <dc:creator>Engel, Lisa Lisa.</dc:creator>
  <cp:lastModifiedBy>GEDE AGUNG ARY WISUDIAWAN</cp:lastModifiedBy>
  <cp:revision>9</cp:revision>
  <dcterms:created xsi:type="dcterms:W3CDTF">2012-11-14T18:53:32Z</dcterms:created>
  <dcterms:modified xsi:type="dcterms:W3CDTF">2026-02-03T02:17:27Z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0x010100283EAFF4A131874088A6625F3ADD53C4</vt:lpwstr>
  </property>
  <property fmtid="{D5CDD505-2E9C-101B-9397-08002B2CF9AE}" pid="3" name="MediaServiceImageTags">
    <vt:lpwstr/>
  </property>
</Properties>
</file>