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4"/>
  </p:sldMasterIdLst>
  <p:notesMasterIdLst>
    <p:notesMasterId r:id="rId74"/>
  </p:notesMasterIdLst>
  <p:sldIdLst>
    <p:sldId id="313" r:id="rId5"/>
    <p:sldId id="315" r:id="rId6"/>
    <p:sldId id="316" r:id="rId7"/>
    <p:sldId id="398" r:id="rId8"/>
    <p:sldId id="399" r:id="rId9"/>
    <p:sldId id="317" r:id="rId10"/>
    <p:sldId id="403" r:id="rId11"/>
    <p:sldId id="318" r:id="rId12"/>
    <p:sldId id="319" r:id="rId13"/>
    <p:sldId id="320" r:id="rId14"/>
    <p:sldId id="400" r:id="rId15"/>
    <p:sldId id="321" r:id="rId16"/>
    <p:sldId id="322" r:id="rId17"/>
    <p:sldId id="323" r:id="rId18"/>
    <p:sldId id="324" r:id="rId19"/>
    <p:sldId id="325" r:id="rId20"/>
    <p:sldId id="401" r:id="rId21"/>
    <p:sldId id="326" r:id="rId22"/>
    <p:sldId id="404" r:id="rId23"/>
    <p:sldId id="327" r:id="rId24"/>
    <p:sldId id="328" r:id="rId25"/>
    <p:sldId id="329" r:id="rId26"/>
    <p:sldId id="330" r:id="rId27"/>
    <p:sldId id="410" r:id="rId28"/>
    <p:sldId id="411" r:id="rId29"/>
    <p:sldId id="331" r:id="rId30"/>
    <p:sldId id="290" r:id="rId31"/>
    <p:sldId id="299" r:id="rId32"/>
    <p:sldId id="402" r:id="rId33"/>
    <p:sldId id="405" r:id="rId34"/>
    <p:sldId id="286" r:id="rId35"/>
    <p:sldId id="370" r:id="rId36"/>
    <p:sldId id="372" r:id="rId37"/>
    <p:sldId id="259" r:id="rId38"/>
    <p:sldId id="287" r:id="rId39"/>
    <p:sldId id="261" r:id="rId40"/>
    <p:sldId id="262" r:id="rId41"/>
    <p:sldId id="263" r:id="rId42"/>
    <p:sldId id="291" r:id="rId43"/>
    <p:sldId id="406" r:id="rId44"/>
    <p:sldId id="292" r:id="rId45"/>
    <p:sldId id="266" r:id="rId46"/>
    <p:sldId id="267" r:id="rId47"/>
    <p:sldId id="268" r:id="rId48"/>
    <p:sldId id="269" r:id="rId49"/>
    <p:sldId id="270" r:id="rId50"/>
    <p:sldId id="293" r:id="rId51"/>
    <p:sldId id="294" r:id="rId52"/>
    <p:sldId id="295" r:id="rId53"/>
    <p:sldId id="296" r:id="rId54"/>
    <p:sldId id="418" r:id="rId55"/>
    <p:sldId id="407" r:id="rId56"/>
    <p:sldId id="278" r:id="rId57"/>
    <p:sldId id="277" r:id="rId58"/>
    <p:sldId id="279" r:id="rId59"/>
    <p:sldId id="280" r:id="rId60"/>
    <p:sldId id="281" r:id="rId61"/>
    <p:sldId id="419" r:id="rId62"/>
    <p:sldId id="412" r:id="rId63"/>
    <p:sldId id="413" r:id="rId64"/>
    <p:sldId id="414" r:id="rId65"/>
    <p:sldId id="415" r:id="rId66"/>
    <p:sldId id="416" r:id="rId67"/>
    <p:sldId id="417" r:id="rId68"/>
    <p:sldId id="420" r:id="rId69"/>
    <p:sldId id="283" r:id="rId70"/>
    <p:sldId id="284" r:id="rId71"/>
    <p:sldId id="409" r:id="rId72"/>
    <p:sldId id="298" r:id="rId73"/>
  </p:sldIdLst>
  <p:sldSz cx="9144000" cy="6858000" type="screen4x3"/>
  <p:notesSz cx="6858000" cy="9144000"/>
  <p:custDataLst>
    <p:tags r:id="rId7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666699"/>
    <a:srgbClr val="663300"/>
    <a:srgbClr val="FFE2A7"/>
    <a:srgbClr val="9900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059"/>
  </p:normalViewPr>
  <p:slideViewPr>
    <p:cSldViewPr>
      <p:cViewPr varScale="1">
        <p:scale>
          <a:sx n="99" d="100"/>
          <a:sy n="99" d="100"/>
        </p:scale>
        <p:origin x="186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CD4B763-836C-42EA-84C5-FA02BC1944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65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252C51-85EC-4D76-8150-37F99C4A639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8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252C51-85EC-4D76-8150-37F99C4A639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07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252C51-85EC-4D76-8150-37F99C4A639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43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4373BB-AB4D-4A80-8490-1A20FF3D30C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9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FD6598-5F9B-429E-B045-3F1B4E4F847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50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0E76F8-9109-4134-90BB-5C995C0CD9E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6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7925CC-5971-42E9-860B-4C8F4C61795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85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030906-DA26-4A81-95EB-F9FCDA159BD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0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FAA270-7F2C-4A8B-B82F-93C20C88BB4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14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08CE36-655F-409B-A40F-EA2D721BFFE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84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A01ED1-95B2-46DA-8C0A-861EDC7E451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45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B2476E-6A88-4AD5-9188-3A3ECC204CE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37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4071DA-A771-4DD3-B779-C543F34964A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98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6666F7-DD97-4FCD-AF2A-E7FD808E4F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EE563C-A440-4C29-9E2A-BAA82874D09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87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D2143D-D9AA-41E2-A39C-5FF97937A55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56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96218E-5BF2-4640-A677-E062AA4590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72000" y="6528817"/>
            <a:ext cx="459486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6295" y="6116054"/>
            <a:ext cx="4851313" cy="32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3363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4681081" y="1132252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5876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4572001" y="6528817"/>
            <a:ext cx="4594859" cy="658366"/>
            <a:chOff x="6566098" y="6529395"/>
            <a:chExt cx="5625901" cy="658365"/>
          </a:xfrm>
        </p:grpSpPr>
        <p:sp>
          <p:nvSpPr>
            <p:cNvPr id="46" name="Google Shape;46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70700" y="6529395"/>
              <a:ext cx="5321299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49" name="Google Shape;49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4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55" name="Google Shape;55;p4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4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" name="Google Shape;60;p4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28418" y="6149139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33833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8706656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43525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22161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23435" y="1060992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3" name="Google Shape;83;p6"/>
          <p:cNvCxnSpPr/>
          <p:nvPr/>
        </p:nvCxnSpPr>
        <p:spPr>
          <a:xfrm>
            <a:off x="3072633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6024639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176836" y="1050048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6130237" y="1039103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37154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498585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46768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B5DE78C-3A11-4F7A-ACB6-9632835BF39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F3612A9-08C7-41D0-8B33-5CDD94716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612A9-08C7-41D0-8B33-5CDD94716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67F7D-E357-4184-912A-4B8C8CCEFB2A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49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9694FD7C-95CF-4CB7-98D3-18D279004E8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43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9694FD7C-95CF-4CB7-98D3-18D279004E8C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D8B59E2C-DD84-4CE1-ACA3-0652FD992D0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505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D5BF43DD-852E-4B49-9BAE-74997E80433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004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51885"/>
            <a:ext cx="843142" cy="365125"/>
          </a:xfrm>
        </p:spPr>
        <p:txBody>
          <a:bodyPr/>
          <a:lstStyle/>
          <a:p>
            <a:pPr>
              <a:defRPr/>
            </a:pPr>
            <a:fld id="{461F752A-F48D-4E49-BB24-3B9CB1649684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62600" y="6453451"/>
            <a:ext cx="3128963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D2979-C843-489B-A0C2-31CE45A454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05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959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91000" cy="54102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990600"/>
            <a:ext cx="4191000" cy="54102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solidFill>
            <a:srgbClr val="0066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8D2D2-066E-41A4-972D-8368068BCE82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486400" y="6439186"/>
            <a:ext cx="3429000" cy="365125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CACD4-2B1D-487E-8199-187310036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21B9025C-CE52-4A70-93EF-2D856392702A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924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432834C7-E1B5-4AEE-9A4C-8F9D5B6C2012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944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FDEF13D4-E326-4915-8CCE-90F594DB1D16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54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02651"/>
            <a:ext cx="838200" cy="365125"/>
          </a:xfrm>
        </p:spPr>
        <p:txBody>
          <a:bodyPr/>
          <a:lstStyle/>
          <a:p>
            <a:fld id="{639EF83A-24FD-41EE-A3DF-63DFAF110A0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5125" y="6402650"/>
            <a:ext cx="512638" cy="365125"/>
          </a:xfrm>
        </p:spPr>
        <p:txBody>
          <a:bodyPr/>
          <a:lstStyle/>
          <a:p>
            <a:pPr>
              <a:defRPr/>
            </a:pPr>
            <a:fld id="{036A5372-C18C-4F40-A84B-6E266C0BC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363085" y="6402649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9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0D7D1F1F-B28C-46E4-9F23-5CFE33CF21CE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>
              <a:defRPr/>
            </a:pPr>
            <a:fld id="{BF3612A9-08C7-41D0-8B33-5CDD94716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513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759" r:id="rId15"/>
    <p:sldLayoutId id="2147483799" r:id="rId16"/>
    <p:sldLayoutId id="2147483801" r:id="rId17"/>
    <p:sldLayoutId id="2147483802" r:id="rId18"/>
    <p:sldLayoutId id="2147483803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pple.com/design/human-interface-guidelines/macos/windows-and-views/dialogs/" TargetMode="External"/><Relationship Id="rId2" Type="http://schemas.openxmlformats.org/officeDocument/2006/relationships/hyperlink" Target="https://developer.apple.com/design/human-interface-guidelines/macos/windows-and-views/panels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.apple.com/design/human-interface-guidelines/macos/windows-and-views/alerts/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guide/navigation/navigation-principles" TargetMode="External"/><Relationship Id="rId2" Type="http://schemas.openxmlformats.org/officeDocument/2006/relationships/hyperlink" Target="https://developer.apple.com/design/human-interface-guidelines/macos/overview/themes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panduanim.com/struktur-internal-link/" TargetMode="Externa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32908" y="3124200"/>
            <a:ext cx="5153892" cy="2462213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+mn-lt"/>
              </a:rPr>
              <a:t>THE USER INTERFACE  (UI)</a:t>
            </a:r>
            <a:br>
              <a:rPr lang="en-US" sz="2400" b="1" dirty="0">
                <a:latin typeface="+mn-lt"/>
              </a:rPr>
            </a:br>
            <a:r>
              <a:rPr lang="en-US" sz="2400" b="1" dirty="0">
                <a:latin typeface="+mn-lt"/>
              </a:rPr>
              <a:t>DESIGN PROCESS</a:t>
            </a:r>
          </a:p>
          <a:p>
            <a:pPr algn="just"/>
            <a:endParaRPr lang="en-US" sz="2000" dirty="0">
              <a:latin typeface="+mn-lt"/>
            </a:endParaRPr>
          </a:p>
          <a:p>
            <a:r>
              <a:rPr lang="en-US" sz="1600" b="1" dirty="0">
                <a:latin typeface="+mn-lt"/>
              </a:rPr>
              <a:t>Step 4: </a:t>
            </a:r>
            <a:br>
              <a:rPr lang="en-US" sz="1600" b="1" dirty="0">
                <a:latin typeface="+mn-lt"/>
              </a:rPr>
            </a:br>
            <a:r>
              <a:rPr lang="en-GB" sz="1600" b="1" dirty="0">
                <a:latin typeface="+mn-lt"/>
                <a:cs typeface="Arial" panose="020B0604020202020204" pitchFamily="34" charset="0"/>
              </a:rPr>
              <a:t>Develop System Menus and Navigation Schemes </a:t>
            </a:r>
          </a:p>
          <a:p>
            <a:endParaRPr lang="en-GB" sz="1600" b="1" dirty="0">
              <a:latin typeface="+mn-lt"/>
              <a:cs typeface="Arial" panose="020B0604020202020204" pitchFamily="34" charset="0"/>
            </a:endParaRPr>
          </a:p>
          <a:p>
            <a:r>
              <a:rPr lang="en-US" sz="1600" b="1" dirty="0">
                <a:latin typeface="+mn-lt"/>
              </a:rPr>
              <a:t>Step 5 :</a:t>
            </a:r>
            <a:endParaRPr lang="en-US" sz="1600" b="1" dirty="0">
              <a:latin typeface="+mn-lt"/>
              <a:cs typeface="Arial" panose="020B0604020202020204" pitchFamily="34" charset="0"/>
            </a:endParaRPr>
          </a:p>
          <a:p>
            <a:r>
              <a:rPr lang="en-GB" sz="1600" b="1" dirty="0">
                <a:latin typeface="+mn-lt"/>
                <a:cs typeface="Arial" panose="020B0604020202020204" pitchFamily="34" charset="0"/>
              </a:rPr>
              <a:t>Select the Proper Kinds of Window</a:t>
            </a:r>
            <a:endParaRPr lang="en-US" sz="1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292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41578" y="3325318"/>
            <a:ext cx="5139519" cy="2000548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+mn-lt"/>
              </a:rPr>
              <a:t>THE USER INTERFACE  (UI)</a:t>
            </a:r>
            <a:br>
              <a:rPr lang="en-US" sz="2400" b="1" dirty="0">
                <a:latin typeface="+mn-lt"/>
              </a:rPr>
            </a:br>
            <a:r>
              <a:rPr lang="en-US" sz="2400" b="1" dirty="0">
                <a:latin typeface="+mn-lt"/>
              </a:rPr>
              <a:t>DESIGN PROCESS</a:t>
            </a:r>
          </a:p>
          <a:p>
            <a:pPr algn="just"/>
            <a:endParaRPr lang="en-US" sz="2800" b="1" dirty="0">
              <a:latin typeface="+mn-lt"/>
            </a:endParaRPr>
          </a:p>
          <a:p>
            <a:r>
              <a:rPr lang="en-US" sz="1600" b="1" dirty="0">
                <a:latin typeface="+mn-lt"/>
              </a:rPr>
              <a:t>Step 4 : </a:t>
            </a:r>
            <a:br>
              <a:rPr lang="en-US" sz="1600" b="1" dirty="0">
                <a:latin typeface="+mn-lt"/>
              </a:rPr>
            </a:br>
            <a:r>
              <a:rPr lang="en-GB" sz="1600" b="1" dirty="0">
                <a:latin typeface="+mn-lt"/>
                <a:cs typeface="Arial" panose="020B0604020202020204" pitchFamily="34" charset="0"/>
              </a:rPr>
              <a:t>Develop System Menus and Navigation Schemes</a:t>
            </a:r>
            <a:endParaRPr lang="en-US" sz="16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05794" y="4140926"/>
            <a:ext cx="18473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3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1"/>
              <a:t>Setelah mengikuti materi ini mahasiswa dapat:</a:t>
            </a:r>
          </a:p>
          <a:p>
            <a:pPr marL="457200" indent="-457200" algn="just">
              <a:buAutoNum type="arabicPeriod"/>
            </a:pP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komponen-komponen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menu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skema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</a:t>
            </a:r>
          </a:p>
          <a:p>
            <a:pPr marL="457200" indent="-457200" algn="just">
              <a:buAutoNum type="arabicPeriod"/>
            </a:pP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menu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UI</a:t>
            </a:r>
          </a:p>
          <a:p>
            <a:pPr marL="457200" indent="-457200" algn="just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209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Outline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Menu</a:t>
            </a:r>
          </a:p>
          <a:p>
            <a:r>
              <a:rPr lang="en-ID" dirty="0"/>
              <a:t>Format Menu</a:t>
            </a:r>
          </a:p>
          <a:p>
            <a:r>
              <a:rPr lang="en-ID" dirty="0" err="1"/>
              <a:t>Navigasi</a:t>
            </a:r>
            <a:r>
              <a:rPr lang="en-ID" dirty="0"/>
              <a:t> Website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28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1035" y="24384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347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6863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err="1"/>
              <a:t>Terdapat</a:t>
            </a:r>
            <a:r>
              <a:rPr lang="en-US" sz="1800" dirty="0"/>
              <a:t> </a:t>
            </a:r>
            <a:r>
              <a:rPr lang="en-US" sz="1800" dirty="0" err="1"/>
              <a:t>tampilan</a:t>
            </a:r>
            <a:r>
              <a:rPr lang="en-US" sz="1800" dirty="0"/>
              <a:t> </a:t>
            </a:r>
            <a:r>
              <a:rPr lang="en-US" sz="1800" dirty="0" err="1"/>
              <a:t>daftar</a:t>
            </a:r>
            <a:r>
              <a:rPr lang="en-US" sz="1800" dirty="0"/>
              <a:t> </a:t>
            </a:r>
            <a:r>
              <a:rPr lang="en-US" sz="1800" dirty="0" err="1"/>
              <a:t>pilihan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alternatif</a:t>
            </a:r>
            <a:r>
              <a:rPr lang="en-US" sz="1800" dirty="0"/>
              <a:t> yang </a:t>
            </a:r>
            <a:r>
              <a:rPr lang="en-US" sz="1800" dirty="0" err="1"/>
              <a:t>dimiliki</a:t>
            </a:r>
            <a:r>
              <a:rPr lang="en-US" sz="1800" dirty="0"/>
              <a:t> </a:t>
            </a:r>
            <a:r>
              <a:rPr lang="en-US" sz="1800" dirty="0" err="1"/>
              <a:t>pengguna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titik</a:t>
            </a:r>
            <a:r>
              <a:rPr lang="en-US" sz="1800" dirty="0"/>
              <a:t> yang </a:t>
            </a:r>
            <a:r>
              <a:rPr lang="en-US" sz="1800" dirty="0" err="1"/>
              <a:t>tepat</a:t>
            </a:r>
            <a:r>
              <a:rPr lang="en-US" sz="1800" dirty="0"/>
              <a:t> </a:t>
            </a:r>
            <a:r>
              <a:rPr lang="en-US" sz="1800" dirty="0" err="1"/>
              <a:t>saat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;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serangkaian</a:t>
            </a:r>
            <a:r>
              <a:rPr lang="en-US" sz="1800" dirty="0"/>
              <a:t> </a:t>
            </a:r>
            <a:r>
              <a:rPr lang="en-US" sz="1800" i="1" dirty="0"/>
              <a:t>list</a:t>
            </a:r>
            <a:r>
              <a:rPr lang="en-US" sz="1800" dirty="0"/>
              <a:t> yang </a:t>
            </a:r>
            <a:r>
              <a:rPr lang="en-US" sz="1800" dirty="0" err="1"/>
              <a:t>mengarahkan</a:t>
            </a:r>
            <a:r>
              <a:rPr lang="en-US" sz="1800" dirty="0"/>
              <a:t> </a:t>
            </a:r>
            <a:r>
              <a:rPr lang="en-US" sz="1800" dirty="0" err="1"/>
              <a:t>seseorang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serangkaian</a:t>
            </a:r>
            <a:r>
              <a:rPr lang="en-US" sz="1800" dirty="0"/>
              <a:t> </a:t>
            </a:r>
            <a:r>
              <a:rPr lang="en-US" sz="1800" dirty="0" err="1"/>
              <a:t>deskripsi</a:t>
            </a:r>
            <a:r>
              <a:rPr lang="en-US" sz="1800" dirty="0"/>
              <a:t> </a:t>
            </a:r>
            <a:r>
              <a:rPr lang="en-US" sz="1800" dirty="0" err="1"/>
              <a:t>umum</a:t>
            </a:r>
            <a:r>
              <a:rPr lang="en-US" sz="1800" dirty="0"/>
              <a:t> </a:t>
            </a:r>
            <a:r>
              <a:rPr lang="en-US" sz="1800" dirty="0" err="1"/>
              <a:t>hingga</a:t>
            </a:r>
            <a:r>
              <a:rPr lang="en-US" sz="1800" dirty="0"/>
              <a:t> </a:t>
            </a:r>
            <a:r>
              <a:rPr lang="en-US" sz="1800" dirty="0" err="1"/>
              <a:t>kategori</a:t>
            </a:r>
            <a:r>
              <a:rPr lang="en-US" sz="1800" dirty="0"/>
              <a:t> yang </a:t>
            </a:r>
            <a:r>
              <a:rPr lang="en-US" sz="1800" dirty="0" err="1"/>
              <a:t>semakin</a:t>
            </a:r>
            <a:r>
              <a:rPr lang="en-US" sz="1800" dirty="0"/>
              <a:t> </a:t>
            </a:r>
            <a:r>
              <a:rPr lang="en-US" sz="1800" dirty="0" err="1"/>
              <a:t>spesifik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list. List </a:t>
            </a:r>
            <a:r>
              <a:rPr lang="en-US" sz="1800" dirty="0" err="1"/>
              <a:t>pilihan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biasa</a:t>
            </a:r>
            <a:r>
              <a:rPr lang="en-US" sz="1800" dirty="0"/>
              <a:t> </a:t>
            </a:r>
            <a:r>
              <a:rPr lang="en-US" sz="1800" dirty="0" err="1"/>
              <a:t>disebut</a:t>
            </a:r>
            <a:r>
              <a:rPr lang="en-US" sz="1800" dirty="0"/>
              <a:t> </a:t>
            </a:r>
            <a:r>
              <a:rPr lang="en-US" sz="1800" b="1" dirty="0"/>
              <a:t>menu</a:t>
            </a:r>
            <a:r>
              <a:rPr lang="en-US" sz="1800" dirty="0"/>
              <a:t>.</a:t>
            </a:r>
          </a:p>
          <a:p>
            <a:pPr marL="182880" indent="0" algn="just">
              <a:spcBef>
                <a:spcPts val="0"/>
              </a:spcBef>
              <a:buNone/>
            </a:pPr>
            <a:endParaRPr lang="en-US" sz="1800" dirty="0"/>
          </a:p>
          <a:p>
            <a:pPr marL="46863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Menu </a:t>
            </a:r>
            <a:r>
              <a:rPr lang="en-US" sz="1800" dirty="0" err="1"/>
              <a:t>merupakan</a:t>
            </a:r>
            <a:r>
              <a:rPr lang="en-US" sz="1800" dirty="0"/>
              <a:t> </a:t>
            </a:r>
            <a:r>
              <a:rPr lang="en-US" sz="1800" dirty="0" err="1"/>
              <a:t>bentuk</a:t>
            </a:r>
            <a:r>
              <a:rPr lang="en-US" sz="1800" dirty="0"/>
              <a:t> </a:t>
            </a:r>
            <a:r>
              <a:rPr lang="en-US" sz="1800" dirty="0" err="1"/>
              <a:t>utama</a:t>
            </a:r>
            <a:r>
              <a:rPr lang="en-US" sz="1800" dirty="0"/>
              <a:t> </a:t>
            </a:r>
            <a:r>
              <a:rPr lang="en-US" sz="1800" dirty="0" err="1"/>
              <a:t>navigasi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,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dirancang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benar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membantu</a:t>
            </a:r>
            <a:r>
              <a:rPr lang="en-US" sz="1800" dirty="0"/>
              <a:t> </a:t>
            </a:r>
            <a:r>
              <a:rPr lang="en-US" sz="1800" dirty="0" err="1"/>
              <a:t>pengguna</a:t>
            </a:r>
            <a:r>
              <a:rPr lang="en-US" sz="1800" dirty="0"/>
              <a:t> </a:t>
            </a:r>
            <a:r>
              <a:rPr lang="en-US" sz="1800" dirty="0" err="1"/>
              <a:t>membangun</a:t>
            </a:r>
            <a:r>
              <a:rPr lang="en-US" sz="1800" dirty="0"/>
              <a:t> model mental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.</a:t>
            </a:r>
          </a:p>
          <a:p>
            <a:pPr marL="182880" indent="0" algn="just">
              <a:spcBef>
                <a:spcPts val="0"/>
              </a:spcBef>
              <a:buNone/>
            </a:pPr>
            <a:endParaRPr lang="en-US" sz="1800" dirty="0"/>
          </a:p>
          <a:p>
            <a:pPr marL="46863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Menu </a:t>
            </a:r>
            <a:r>
              <a:rPr lang="en-US" sz="1800" dirty="0" err="1"/>
              <a:t>efektif</a:t>
            </a:r>
            <a:r>
              <a:rPr lang="en-US" sz="1800" dirty="0"/>
              <a:t> </a:t>
            </a:r>
            <a:r>
              <a:rPr lang="en-US" sz="1800" dirty="0" err="1"/>
              <a:t>karena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kelebihan</a:t>
            </a:r>
            <a:r>
              <a:rPr lang="en-US" sz="1800" dirty="0"/>
              <a:t> </a:t>
            </a:r>
            <a:r>
              <a:rPr lang="en-US" sz="1800" dirty="0" err="1"/>
              <a:t>manusia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hal</a:t>
            </a:r>
            <a:r>
              <a:rPr lang="en-US" sz="1800" dirty="0"/>
              <a:t> </a:t>
            </a:r>
            <a:r>
              <a:rPr lang="en-US" sz="1800" b="1" dirty="0"/>
              <a:t>Recognition</a:t>
            </a:r>
            <a:r>
              <a:rPr lang="en-US" sz="1800" dirty="0"/>
              <a:t> (</a:t>
            </a:r>
            <a:r>
              <a:rPr lang="en-US" sz="1800" b="1" dirty="0" err="1"/>
              <a:t>pengenalan</a:t>
            </a:r>
            <a:r>
              <a:rPr lang="en-US" sz="1800" dirty="0"/>
              <a:t>)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b="1" dirty="0" err="1"/>
              <a:t>bukan</a:t>
            </a:r>
            <a:r>
              <a:rPr lang="en-US" sz="1800" dirty="0"/>
              <a:t> </a:t>
            </a:r>
            <a:r>
              <a:rPr lang="en-US" sz="1800" dirty="0" err="1"/>
              <a:t>kelemahannya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hal</a:t>
            </a:r>
            <a:r>
              <a:rPr lang="en-US" sz="1800" dirty="0"/>
              <a:t> </a:t>
            </a:r>
            <a:r>
              <a:rPr lang="en-US" sz="1800" b="1" dirty="0" err="1"/>
              <a:t>ingatan</a:t>
            </a:r>
            <a:r>
              <a:rPr lang="en-US" sz="1800" b="1" dirty="0"/>
              <a:t>.</a:t>
            </a:r>
          </a:p>
          <a:p>
            <a:pPr marL="182880" indent="0" algn="just">
              <a:spcBef>
                <a:spcPts val="0"/>
              </a:spcBef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547392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Menu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863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Yang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kita</a:t>
            </a:r>
            <a:r>
              <a:rPr lang="en-US" sz="1800" dirty="0"/>
              <a:t> </a:t>
            </a:r>
            <a:r>
              <a:rPr lang="en-US" sz="1800" dirty="0" err="1"/>
              <a:t>pelajari</a:t>
            </a:r>
            <a:r>
              <a:rPr lang="en-US" sz="1800" dirty="0"/>
              <a:t> :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Struktur</a:t>
            </a:r>
            <a:r>
              <a:rPr lang="en-US" sz="1600" dirty="0"/>
              <a:t> Menu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Fungsi</a:t>
            </a:r>
            <a:r>
              <a:rPr lang="en-US" sz="1600" dirty="0"/>
              <a:t> Menu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/>
              <a:t>Format Menu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Menulis</a:t>
            </a:r>
            <a:r>
              <a:rPr lang="en-US" sz="1600" dirty="0"/>
              <a:t> Menu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Navigasi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Menu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Navigasi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Link web site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Elemen-elemen</a:t>
            </a:r>
            <a:r>
              <a:rPr lang="en-US" sz="1600" dirty="0"/>
              <a:t> </a:t>
            </a:r>
            <a:r>
              <a:rPr lang="en-US" sz="1600" dirty="0" err="1"/>
              <a:t>navigasi</a:t>
            </a:r>
            <a:r>
              <a:rPr lang="en-US" sz="1600" dirty="0"/>
              <a:t> web site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Memelihara</a:t>
            </a:r>
            <a:r>
              <a:rPr lang="en-US" sz="1600" dirty="0"/>
              <a:t> rasa ‘</a:t>
            </a:r>
            <a:r>
              <a:rPr lang="en-US" sz="1600" dirty="0" err="1"/>
              <a:t>tempat</a:t>
            </a:r>
            <a:r>
              <a:rPr lang="en-US" sz="1600" dirty="0"/>
              <a:t>’ </a:t>
            </a:r>
            <a:r>
              <a:rPr lang="en-US" sz="1600" dirty="0" err="1"/>
              <a:t>pada</a:t>
            </a:r>
            <a:r>
              <a:rPr lang="en-US" sz="1600" dirty="0"/>
              <a:t> web site</a:t>
            </a:r>
          </a:p>
          <a:p>
            <a:pPr lvl="1" algn="just">
              <a:spcBef>
                <a:spcPts val="0"/>
              </a:spcBef>
              <a:buFontTx/>
              <a:buChar char="-"/>
            </a:pPr>
            <a:r>
              <a:rPr lang="en-US" sz="1600" dirty="0" err="1"/>
              <a:t>Jenis-jenis</a:t>
            </a:r>
            <a:r>
              <a:rPr lang="en-US" sz="1600" dirty="0"/>
              <a:t> Menu</a:t>
            </a:r>
          </a:p>
        </p:txBody>
      </p:sp>
    </p:spTree>
    <p:extLst>
      <p:ext uri="{BB962C8B-B14F-4D97-AF65-F5344CB8AC3E}">
        <p14:creationId xmlns:p14="http://schemas.microsoft.com/office/powerpoint/2010/main" val="2619840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Struktur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800" dirty="0" err="1"/>
              <a:t>Struktur</a:t>
            </a:r>
            <a:r>
              <a:rPr lang="en-US" sz="1800" dirty="0"/>
              <a:t> menu </a:t>
            </a:r>
            <a:r>
              <a:rPr lang="en-US" sz="1800" dirty="0" err="1"/>
              <a:t>menentukan</a:t>
            </a:r>
            <a:r>
              <a:rPr lang="en-US" sz="1800" dirty="0"/>
              <a:t> </a:t>
            </a:r>
            <a:r>
              <a:rPr lang="en-US" sz="1800" dirty="0" err="1"/>
              <a:t>jumlah</a:t>
            </a:r>
            <a:r>
              <a:rPr lang="en-US" sz="1800" dirty="0"/>
              <a:t> control/</a:t>
            </a:r>
            <a:r>
              <a:rPr lang="en-US" sz="1800" dirty="0" err="1"/>
              <a:t>kendali</a:t>
            </a:r>
            <a:r>
              <a:rPr lang="en-US" sz="1800" dirty="0"/>
              <a:t> yang </a:t>
            </a:r>
            <a:r>
              <a:rPr lang="en-US" sz="1800" dirty="0" err="1"/>
              <a:t>diberikan</a:t>
            </a:r>
            <a:r>
              <a:rPr lang="en-US" sz="1800" dirty="0"/>
              <a:t> </a:t>
            </a:r>
            <a:r>
              <a:rPr lang="en-US" sz="1800" dirty="0" err="1"/>
              <a:t>kepada</a:t>
            </a:r>
            <a:r>
              <a:rPr lang="en-US" sz="1800" dirty="0"/>
              <a:t> </a:t>
            </a:r>
            <a:r>
              <a:rPr lang="en-US" sz="1800" dirty="0" err="1"/>
              <a:t>pengguna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tugas</a:t>
            </a:r>
            <a:r>
              <a:rPr lang="en-US" sz="1800" dirty="0"/>
              <a:t> (task).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800" dirty="0" err="1"/>
              <a:t>Struktur</a:t>
            </a:r>
            <a:r>
              <a:rPr lang="en-US" sz="1800" dirty="0"/>
              <a:t> yang paling </a:t>
            </a:r>
            <a:r>
              <a:rPr lang="en-US" sz="1800" dirty="0" err="1"/>
              <a:t>umum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berikut</a:t>
            </a:r>
            <a:r>
              <a:rPr lang="en-US" sz="1800" dirty="0"/>
              <a:t>.</a:t>
            </a:r>
          </a:p>
          <a:p>
            <a:pPr marL="457200" indent="-457200" eaLnBrk="1" hangingPunct="1">
              <a:buFontTx/>
              <a:buAutoNum type="arabicPeriod"/>
              <a:defRPr/>
            </a:pPr>
            <a:r>
              <a:rPr lang="en-US" sz="1800" dirty="0"/>
              <a:t>Menu Tunggal</a:t>
            </a:r>
          </a:p>
          <a:p>
            <a:pPr marL="457200" indent="-457200" eaLnBrk="1" hangingPunct="1">
              <a:buFontTx/>
              <a:buAutoNum type="arabicPeriod"/>
              <a:defRPr/>
            </a:pPr>
            <a:r>
              <a:rPr lang="en-US" sz="1800" dirty="0"/>
              <a:t>Menu Linier </a:t>
            </a:r>
            <a:r>
              <a:rPr lang="en-US" sz="1800" dirty="0" err="1"/>
              <a:t>Sekuensial</a:t>
            </a:r>
            <a:endParaRPr lang="en-US" sz="1800" dirty="0"/>
          </a:p>
          <a:p>
            <a:pPr marL="457200" indent="-457200" eaLnBrk="1" hangingPunct="1">
              <a:buFontTx/>
              <a:buAutoNum type="arabicPeriod"/>
              <a:defRPr/>
            </a:pPr>
            <a:r>
              <a:rPr lang="en-US" sz="1800" dirty="0"/>
              <a:t>Menu </a:t>
            </a:r>
            <a:r>
              <a:rPr lang="en-US" sz="1800" dirty="0" err="1"/>
              <a:t>Simultan</a:t>
            </a:r>
            <a:endParaRPr lang="en-US" sz="1800" dirty="0"/>
          </a:p>
          <a:p>
            <a:pPr marL="457200" indent="-457200" eaLnBrk="1" hangingPunct="1">
              <a:buFontTx/>
              <a:buAutoNum type="arabicPeriod"/>
              <a:defRPr/>
            </a:pPr>
            <a:r>
              <a:rPr lang="en-US" sz="1800" dirty="0"/>
              <a:t>Menu </a:t>
            </a:r>
            <a:r>
              <a:rPr lang="en-US" sz="1800" dirty="0" err="1"/>
              <a:t>Hirarki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Sekuensial</a:t>
            </a:r>
            <a:endParaRPr lang="en-US" sz="1800" dirty="0"/>
          </a:p>
          <a:p>
            <a:pPr marL="457200" indent="-457200" eaLnBrk="1" hangingPunct="1">
              <a:buFontTx/>
              <a:buAutoNum type="arabicPeriod"/>
              <a:defRPr/>
            </a:pPr>
            <a:r>
              <a:rPr lang="en-US" sz="1800" dirty="0"/>
              <a:t>Menu </a:t>
            </a:r>
            <a:r>
              <a:rPr lang="en-US" sz="1800" dirty="0" err="1"/>
              <a:t>Terhubung</a:t>
            </a:r>
            <a:endParaRPr lang="en-US" sz="1800" dirty="0"/>
          </a:p>
          <a:p>
            <a:pPr marL="457200" indent="-457200" eaLnBrk="1" hangingPunct="1">
              <a:buFontTx/>
              <a:buAutoNum type="arabicPeriod"/>
              <a:defRPr/>
            </a:pPr>
            <a:r>
              <a:rPr lang="en-US" sz="1800" dirty="0"/>
              <a:t>Menu ‘Event-trapping’</a:t>
            </a:r>
          </a:p>
        </p:txBody>
      </p:sp>
    </p:spTree>
    <p:extLst>
      <p:ext uri="{BB962C8B-B14F-4D97-AF65-F5344CB8AC3E}">
        <p14:creationId xmlns:p14="http://schemas.microsoft.com/office/powerpoint/2010/main" val="327251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err="1"/>
              <a:t>Struktur</a:t>
            </a:r>
            <a:r>
              <a:rPr lang="en-US" dirty="0"/>
              <a:t> Menu</a:t>
            </a:r>
          </a:p>
        </p:txBody>
      </p:sp>
      <p:pic>
        <p:nvPicPr>
          <p:cNvPr id="1638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1858963"/>
            <a:ext cx="2590800" cy="1822450"/>
          </a:xfrm>
          <a:noFill/>
        </p:spPr>
      </p:pic>
      <p:pic>
        <p:nvPicPr>
          <p:cNvPr id="1638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5931" y="1678876"/>
            <a:ext cx="2942073" cy="2228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52343" y="1700516"/>
            <a:ext cx="2819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9390" y="3705714"/>
            <a:ext cx="3690936" cy="2763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2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62600" y="3652916"/>
            <a:ext cx="2743200" cy="2662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7328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Fungsi</a:t>
            </a:r>
            <a:r>
              <a:rPr lang="en-US" dirty="0"/>
              <a:t> Menu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Dari </a:t>
            </a:r>
            <a:r>
              <a:rPr lang="en-US" dirty="0" err="1"/>
              <a:t>perspektif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, menu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diantaranya</a:t>
            </a:r>
            <a:r>
              <a:rPr lang="en-US" dirty="0"/>
              <a:t> :</a:t>
            </a:r>
          </a:p>
          <a:p>
            <a:pPr eaLnBrk="1" hangingPunct="1"/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menu </a:t>
            </a:r>
            <a:r>
              <a:rPr lang="en-US" dirty="0" err="1"/>
              <a:t>baru</a:t>
            </a:r>
            <a:endParaRPr lang="en-US" dirty="0"/>
          </a:p>
          <a:p>
            <a:pPr eaLnBrk="1" hangingPunct="1"/>
            <a:r>
              <a:rPr lang="en-US" dirty="0" err="1"/>
              <a:t>Mengeksekusi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aksi</a:t>
            </a:r>
            <a:r>
              <a:rPr lang="en-US" dirty="0"/>
              <a:t> / </a:t>
            </a:r>
            <a:r>
              <a:rPr lang="en-US" dirty="0" err="1"/>
              <a:t>prosedur</a:t>
            </a:r>
            <a:endParaRPr lang="en-US" dirty="0"/>
          </a:p>
          <a:p>
            <a:pPr eaLnBrk="1" hangingPunct="1"/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US" dirty="0"/>
          </a:p>
          <a:p>
            <a:pPr eaLnBrk="1" hangingPunct="1"/>
            <a:r>
              <a:rPr lang="en-US" dirty="0" err="1"/>
              <a:t>Memasukkan</a:t>
            </a:r>
            <a:r>
              <a:rPr lang="en-US" dirty="0"/>
              <a:t> data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73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1035" y="251460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ID" dirty="0"/>
              <a:t>Format 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16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Isi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 err="1"/>
              <a:t>Sebuah</a:t>
            </a:r>
            <a:r>
              <a:rPr lang="en-US" sz="2000" dirty="0"/>
              <a:t> Menu </a:t>
            </a:r>
            <a:r>
              <a:rPr lang="en-US" sz="2000" dirty="0" err="1"/>
              <a:t>terdiri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 4 </a:t>
            </a:r>
            <a:r>
              <a:rPr lang="en-US" sz="2000" dirty="0" err="1"/>
              <a:t>elemen</a:t>
            </a:r>
            <a:r>
              <a:rPr lang="en-US" sz="2000" dirty="0"/>
              <a:t> :</a:t>
            </a:r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1. </a:t>
            </a:r>
            <a:r>
              <a:rPr lang="en-US" sz="2000" dirty="0" err="1"/>
              <a:t>Konteks</a:t>
            </a:r>
            <a:r>
              <a:rPr lang="en-US" sz="2000" dirty="0"/>
              <a:t> </a:t>
            </a:r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menyediakan</a:t>
            </a:r>
            <a:r>
              <a:rPr lang="en-US" sz="2000" dirty="0"/>
              <a:t> </a:t>
            </a:r>
            <a:r>
              <a:rPr lang="en-US" sz="2000" dirty="0" err="1"/>
              <a:t>informasi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menjaga</a:t>
            </a:r>
            <a:r>
              <a:rPr lang="en-US" sz="2000" dirty="0"/>
              <a:t> </a:t>
            </a:r>
            <a:r>
              <a:rPr lang="en-US" sz="2000" dirty="0" err="1"/>
              <a:t>orientasi</a:t>
            </a:r>
            <a:r>
              <a:rPr lang="en-US" sz="2000" dirty="0"/>
              <a:t> </a:t>
            </a:r>
            <a:r>
              <a:rPr lang="en-US" sz="2000" dirty="0" err="1"/>
              <a:t>pengguna</a:t>
            </a:r>
            <a:r>
              <a:rPr lang="en-US" sz="2000" dirty="0"/>
              <a:t>,   </a:t>
            </a:r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terutama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sistem</a:t>
            </a:r>
            <a:r>
              <a:rPr lang="en-US" sz="2000" dirty="0"/>
              <a:t> menu yang </a:t>
            </a:r>
            <a:r>
              <a:rPr lang="en-US" sz="2000" dirty="0" err="1"/>
              <a:t>kompleks</a:t>
            </a:r>
            <a:r>
              <a:rPr lang="en-US" sz="2000" dirty="0"/>
              <a:t>/</a:t>
            </a:r>
            <a:r>
              <a:rPr lang="en-US" sz="2000" dirty="0" err="1"/>
              <a:t>hirarkis</a:t>
            </a:r>
            <a:endParaRPr lang="en-US" sz="2000" dirty="0"/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2. </a:t>
            </a:r>
            <a:r>
              <a:rPr lang="en-US" sz="2000" dirty="0" err="1"/>
              <a:t>Judul</a:t>
            </a:r>
            <a:endParaRPr lang="en-US" sz="2000" dirty="0"/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3. </a:t>
            </a:r>
            <a:r>
              <a:rPr lang="en-US" sz="2000" dirty="0" err="1"/>
              <a:t>Pilihan</a:t>
            </a:r>
            <a:endParaRPr lang="en-US" sz="2000" dirty="0"/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4. </a:t>
            </a:r>
            <a:r>
              <a:rPr lang="en-US" sz="2000" dirty="0" err="1"/>
              <a:t>Instruksi</a:t>
            </a:r>
            <a:r>
              <a:rPr lang="en-US" sz="2000" dirty="0"/>
              <a:t> </a:t>
            </a:r>
            <a:r>
              <a:rPr lang="en-US" sz="2000" dirty="0" err="1"/>
              <a:t>penyelesaian</a:t>
            </a:r>
            <a:endParaRPr lang="en-US" sz="2000" dirty="0"/>
          </a:p>
          <a:p>
            <a:pPr marL="182880" indent="-18288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memberita</a:t>
            </a:r>
            <a:r>
              <a:rPr lang="id-ID" sz="2000" dirty="0"/>
              <a:t>h</a:t>
            </a:r>
            <a:r>
              <a:rPr lang="en-US" sz="2000" dirty="0"/>
              <a:t>u </a:t>
            </a:r>
            <a:r>
              <a:rPr lang="en-US" sz="2000" dirty="0" err="1"/>
              <a:t>pengguna</a:t>
            </a:r>
            <a:r>
              <a:rPr lang="en-US" sz="2000" dirty="0"/>
              <a:t> </a:t>
            </a:r>
            <a:r>
              <a:rPr lang="en-US" sz="2000" dirty="0" err="1"/>
              <a:t>cara</a:t>
            </a:r>
            <a:r>
              <a:rPr lang="en-US" sz="2000" dirty="0"/>
              <a:t> </a:t>
            </a:r>
            <a:r>
              <a:rPr lang="en-US" sz="2000" dirty="0" err="1"/>
              <a:t>memilih</a:t>
            </a:r>
            <a:endParaRPr lang="en-US" sz="2000" dirty="0"/>
          </a:p>
          <a:p>
            <a:pPr marL="457200" indent="-457200" eaLnBrk="1" hangingPunct="1">
              <a:buFontTx/>
              <a:buNone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14606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711035" y="366907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Formatting Menu’s Guideline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 eaLnBrk="1" hangingPunct="1">
              <a:lnSpc>
                <a:spcPct val="170000"/>
              </a:lnSpc>
              <a:spcBef>
                <a:spcPts val="0"/>
              </a:spcBef>
              <a:buNone/>
              <a:defRPr/>
            </a:pPr>
            <a:r>
              <a:rPr lang="en-US" sz="2000" dirty="0"/>
              <a:t>1. </a:t>
            </a:r>
            <a:r>
              <a:rPr lang="en-US" sz="2000" dirty="0" err="1"/>
              <a:t>Konsisten</a:t>
            </a:r>
            <a:endParaRPr lang="en-US" sz="2000" dirty="0"/>
          </a:p>
          <a:p>
            <a:pPr marL="582930" lvl="1" indent="-182880">
              <a:lnSpc>
                <a:spcPct val="170000"/>
              </a:lnSpc>
              <a:spcBef>
                <a:spcPts val="0"/>
              </a:spcBef>
              <a:buFontTx/>
              <a:buAutoNum type="alphaLcPeriod"/>
              <a:defRPr/>
            </a:pPr>
            <a:r>
              <a:rPr lang="en-US" sz="1400" dirty="0" err="1"/>
              <a:t>Konsisten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ekspektasi</a:t>
            </a:r>
            <a:r>
              <a:rPr lang="en-US" sz="1400" dirty="0"/>
              <a:t> </a:t>
            </a:r>
            <a:r>
              <a:rPr lang="en-US" sz="1400" dirty="0" err="1"/>
              <a:t>pengguna</a:t>
            </a:r>
            <a:endParaRPr lang="en-US" sz="1400" dirty="0"/>
          </a:p>
          <a:p>
            <a:pPr marL="582930" lvl="1" indent="-182880">
              <a:lnSpc>
                <a:spcPct val="170000"/>
              </a:lnSpc>
              <a:spcBef>
                <a:spcPts val="0"/>
              </a:spcBef>
              <a:buFontTx/>
              <a:buAutoNum type="alphaLcPeriod"/>
              <a:defRPr/>
            </a:pPr>
            <a:r>
              <a:rPr lang="en-US" sz="1400" dirty="0" err="1"/>
              <a:t>Konsisten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menu :</a:t>
            </a:r>
          </a:p>
          <a:p>
            <a:pPr marL="582930" lvl="1" indent="-182880">
              <a:lnSpc>
                <a:spcPct val="170000"/>
              </a:lnSpc>
              <a:spcBef>
                <a:spcPts val="0"/>
              </a:spcBef>
              <a:buFontTx/>
              <a:buChar char="-"/>
              <a:defRPr/>
            </a:pPr>
            <a:r>
              <a:rPr lang="en-US" sz="1400" dirty="0"/>
              <a:t>Format : </a:t>
            </a:r>
            <a:r>
              <a:rPr lang="en-US" sz="1400" dirty="0" err="1"/>
              <a:t>organisasi</a:t>
            </a:r>
            <a:r>
              <a:rPr lang="en-US" sz="1400" dirty="0"/>
              <a:t>, </a:t>
            </a:r>
            <a:r>
              <a:rPr lang="en-US" sz="1400" dirty="0" err="1"/>
              <a:t>presentasi</a:t>
            </a:r>
            <a:r>
              <a:rPr lang="en-US" sz="1400" dirty="0"/>
              <a:t>, </a:t>
            </a:r>
            <a:r>
              <a:rPr lang="en-US" sz="1400" dirty="0" err="1"/>
              <a:t>urutan</a:t>
            </a:r>
            <a:r>
              <a:rPr lang="en-US" sz="1400" dirty="0"/>
              <a:t> </a:t>
            </a:r>
            <a:r>
              <a:rPr lang="en-US" sz="1400" dirty="0" err="1"/>
              <a:t>pilihan</a:t>
            </a:r>
            <a:endParaRPr lang="en-US" sz="1400" dirty="0"/>
          </a:p>
          <a:p>
            <a:pPr marL="582930" lvl="1" indent="-182880">
              <a:lnSpc>
                <a:spcPct val="170000"/>
              </a:lnSpc>
              <a:spcBef>
                <a:spcPts val="0"/>
              </a:spcBef>
              <a:buFontTx/>
              <a:buChar char="-"/>
              <a:defRPr/>
            </a:pPr>
            <a:r>
              <a:rPr lang="en-US" sz="1400" dirty="0" err="1"/>
              <a:t>Frasa</a:t>
            </a:r>
            <a:r>
              <a:rPr lang="en-US" sz="1400" dirty="0"/>
              <a:t> : </a:t>
            </a:r>
            <a:r>
              <a:rPr lang="en-US" sz="1400" dirty="0" err="1"/>
              <a:t>judul</a:t>
            </a:r>
            <a:r>
              <a:rPr lang="en-US" sz="1400" dirty="0"/>
              <a:t>, </a:t>
            </a:r>
            <a:r>
              <a:rPr lang="en-US" sz="1400" dirty="0" err="1"/>
              <a:t>deskripsi</a:t>
            </a:r>
            <a:r>
              <a:rPr lang="en-US" sz="1400" dirty="0"/>
              <a:t> </a:t>
            </a:r>
            <a:r>
              <a:rPr lang="en-US" sz="1400" dirty="0" err="1"/>
              <a:t>pilihan</a:t>
            </a:r>
            <a:r>
              <a:rPr lang="en-US" sz="1400" dirty="0"/>
              <a:t>, </a:t>
            </a:r>
            <a:r>
              <a:rPr lang="en-US" sz="1400" dirty="0" err="1"/>
              <a:t>instruksi</a:t>
            </a:r>
            <a:endParaRPr lang="en-US" sz="1400" dirty="0"/>
          </a:p>
          <a:p>
            <a:pPr marL="582930" lvl="1" indent="-182880">
              <a:lnSpc>
                <a:spcPct val="170000"/>
              </a:lnSpc>
              <a:spcBef>
                <a:spcPts val="0"/>
              </a:spcBef>
              <a:buFontTx/>
              <a:buChar char="-"/>
              <a:defRPr/>
            </a:pPr>
            <a:r>
              <a:rPr lang="en-US" sz="1400" dirty="0"/>
              <a:t>Cara </a:t>
            </a:r>
            <a:r>
              <a:rPr lang="en-US" sz="1400" dirty="0" err="1"/>
              <a:t>pilih</a:t>
            </a:r>
            <a:endParaRPr lang="en-US" sz="1400" dirty="0"/>
          </a:p>
          <a:p>
            <a:pPr marL="582930" lvl="1" indent="-182880">
              <a:lnSpc>
                <a:spcPct val="170000"/>
              </a:lnSpc>
              <a:spcBef>
                <a:spcPts val="0"/>
              </a:spcBef>
              <a:buFontTx/>
              <a:buChar char="-"/>
              <a:defRPr/>
            </a:pPr>
            <a:r>
              <a:rPr lang="en-US" sz="1400" dirty="0" err="1"/>
              <a:t>Skema</a:t>
            </a:r>
            <a:r>
              <a:rPr lang="en-US" sz="1400" dirty="0"/>
              <a:t> </a:t>
            </a:r>
            <a:r>
              <a:rPr lang="en-US" sz="1400" dirty="0" err="1"/>
              <a:t>navigasi</a:t>
            </a:r>
            <a:endParaRPr lang="en-US" sz="1400" dirty="0"/>
          </a:p>
          <a:p>
            <a:pPr marL="182880" indent="-182880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/>
              <a:t>2. </a:t>
            </a:r>
            <a:r>
              <a:rPr lang="en-US" sz="1800" dirty="0" err="1"/>
              <a:t>Tampilan</a:t>
            </a:r>
            <a:r>
              <a:rPr lang="en-US" sz="1800" dirty="0"/>
              <a:t> </a:t>
            </a:r>
            <a:r>
              <a:rPr lang="id-ID" sz="1800" dirty="0">
                <a:sym typeface="Wingdings" panose="05000000000000000000" pitchFamily="2" charset="2"/>
              </a:rPr>
              <a:t> </a:t>
            </a:r>
            <a:r>
              <a:rPr lang="en-US" sz="1400" dirty="0" err="1"/>
              <a:t>permanen</a:t>
            </a:r>
            <a:r>
              <a:rPr lang="en-US" sz="1400" dirty="0"/>
              <a:t> / on demand</a:t>
            </a:r>
          </a:p>
          <a:p>
            <a:pPr marL="182880" indent="-182880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/>
              <a:t>3. </a:t>
            </a:r>
            <a:r>
              <a:rPr lang="en-US" sz="1800" dirty="0" err="1"/>
              <a:t>Presentasi</a:t>
            </a:r>
            <a:r>
              <a:rPr lang="en-US" sz="1800" dirty="0"/>
              <a:t> </a:t>
            </a:r>
            <a:r>
              <a:rPr lang="id-ID" sz="1800" dirty="0">
                <a:sym typeface="Wingdings" panose="05000000000000000000" pitchFamily="2" charset="2"/>
              </a:rPr>
              <a:t></a:t>
            </a:r>
            <a:r>
              <a:rPr lang="en-US" sz="1400" dirty="0" err="1"/>
              <a:t>sebuah</a:t>
            </a:r>
            <a:r>
              <a:rPr lang="en-US" sz="1400" dirty="0"/>
              <a:t> menu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pilihan-pilihannya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dirty="0" err="1"/>
              <a:t>dikenali</a:t>
            </a:r>
            <a:r>
              <a:rPr lang="en-US" sz="1400" dirty="0"/>
              <a:t> 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menu</a:t>
            </a:r>
          </a:p>
        </p:txBody>
      </p:sp>
    </p:spTree>
    <p:extLst>
      <p:ext uri="{BB962C8B-B14F-4D97-AF65-F5344CB8AC3E}">
        <p14:creationId xmlns:p14="http://schemas.microsoft.com/office/powerpoint/2010/main" val="3451339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711035" y="357282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Formatting Menu’s Guideline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dirty="0"/>
              <a:t>4. </a:t>
            </a:r>
            <a:r>
              <a:rPr lang="en-US" dirty="0" err="1"/>
              <a:t>Organisasi</a:t>
            </a:r>
            <a:r>
              <a:rPr lang="en-US" dirty="0"/>
              <a:t> </a:t>
            </a:r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a. </a:t>
            </a:r>
            <a:r>
              <a:rPr lang="en-US" sz="1500" dirty="0" err="1"/>
              <a:t>Sediakan</a:t>
            </a:r>
            <a:r>
              <a:rPr lang="en-US" sz="1500" dirty="0"/>
              <a:t> menu </a:t>
            </a:r>
            <a:r>
              <a:rPr lang="en-US" sz="1500" dirty="0" err="1"/>
              <a:t>utama</a:t>
            </a:r>
            <a:endParaRPr lang="en-US" sz="1500" dirty="0"/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b. </a:t>
            </a:r>
            <a:r>
              <a:rPr lang="en-US" sz="1500" dirty="0" err="1"/>
              <a:t>Tampilkan</a:t>
            </a:r>
            <a:r>
              <a:rPr lang="en-US" sz="1500" dirty="0"/>
              <a:t> : </a:t>
            </a:r>
            <a:r>
              <a:rPr lang="en-US" sz="1500" dirty="0" err="1"/>
              <a:t>semua</a:t>
            </a:r>
            <a:r>
              <a:rPr lang="en-US" sz="1500" dirty="0"/>
              <a:t> </a:t>
            </a:r>
            <a:r>
              <a:rPr lang="en-US" sz="1500" dirty="0" err="1"/>
              <a:t>alternatif</a:t>
            </a:r>
            <a:r>
              <a:rPr lang="en-US" sz="1500" dirty="0"/>
              <a:t> </a:t>
            </a:r>
            <a:r>
              <a:rPr lang="en-US" sz="1500" dirty="0" err="1"/>
              <a:t>relevan</a:t>
            </a:r>
            <a:r>
              <a:rPr lang="en-US" sz="1500" dirty="0"/>
              <a:t>, </a:t>
            </a:r>
            <a:r>
              <a:rPr lang="en-US" sz="1500" dirty="0" err="1"/>
              <a:t>hanya</a:t>
            </a:r>
            <a:r>
              <a:rPr lang="en-US" sz="1500" dirty="0"/>
              <a:t> </a:t>
            </a:r>
            <a:r>
              <a:rPr lang="en-US" sz="1500" dirty="0" err="1"/>
              <a:t>alternatif</a:t>
            </a:r>
            <a:r>
              <a:rPr lang="en-US" sz="1500" dirty="0"/>
              <a:t> </a:t>
            </a:r>
            <a:r>
              <a:rPr lang="en-US" sz="1500" dirty="0" err="1"/>
              <a:t>relevan</a:t>
            </a:r>
            <a:r>
              <a:rPr lang="en-US" sz="1500" dirty="0"/>
              <a:t> (</a:t>
            </a:r>
            <a:r>
              <a:rPr lang="en-US" sz="1500" dirty="0" err="1"/>
              <a:t>hilangkan</a:t>
            </a:r>
            <a:r>
              <a:rPr lang="en-US" sz="1500" dirty="0"/>
              <a:t> </a:t>
            </a:r>
            <a:r>
              <a:rPr lang="en-US" sz="1500" dirty="0" err="1"/>
              <a:t>atau</a:t>
            </a:r>
            <a:r>
              <a:rPr lang="en-US" sz="1500" dirty="0"/>
              <a:t> ‘gray-out’)</a:t>
            </a:r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c. </a:t>
            </a:r>
            <a:r>
              <a:rPr lang="en-US" sz="1500" dirty="0" err="1"/>
              <a:t>Sesuaikan</a:t>
            </a:r>
            <a:r>
              <a:rPr lang="en-US" sz="1500" dirty="0"/>
              <a:t> </a:t>
            </a:r>
            <a:r>
              <a:rPr lang="en-US" sz="1500" dirty="0" err="1"/>
              <a:t>struktur</a:t>
            </a:r>
            <a:r>
              <a:rPr lang="en-US" sz="1500" dirty="0"/>
              <a:t> menu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struktur</a:t>
            </a:r>
            <a:r>
              <a:rPr lang="en-US" sz="1500" dirty="0"/>
              <a:t> ‘task’</a:t>
            </a:r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d. </a:t>
            </a:r>
            <a:r>
              <a:rPr lang="en-US" sz="1500" dirty="0" err="1"/>
              <a:t>Minimalkan</a:t>
            </a:r>
            <a:r>
              <a:rPr lang="en-US" sz="1500" dirty="0"/>
              <a:t> </a:t>
            </a:r>
            <a:r>
              <a:rPr lang="en-US" sz="1500" dirty="0" err="1"/>
              <a:t>tingkat</a:t>
            </a:r>
            <a:r>
              <a:rPr lang="en-US" sz="1500" dirty="0"/>
              <a:t> menu : </a:t>
            </a:r>
            <a:r>
              <a:rPr lang="en-US" sz="1500" dirty="0" err="1"/>
              <a:t>untuk</a:t>
            </a:r>
            <a:r>
              <a:rPr lang="id-ID" sz="1500" dirty="0"/>
              <a:t> </a:t>
            </a:r>
            <a:r>
              <a:rPr lang="en-US" sz="1500" dirty="0"/>
              <a:t>website </a:t>
            </a:r>
            <a:r>
              <a:rPr lang="en-US" sz="1500" dirty="0" err="1"/>
              <a:t>batasi</a:t>
            </a:r>
            <a:r>
              <a:rPr lang="en-US" sz="1500" dirty="0"/>
              <a:t> </a:t>
            </a:r>
            <a:r>
              <a:rPr lang="en-US" sz="1500" dirty="0" err="1"/>
              <a:t>hingga</a:t>
            </a:r>
            <a:r>
              <a:rPr lang="en-US" sz="1500" dirty="0"/>
              <a:t> 2 level</a:t>
            </a:r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e. </a:t>
            </a:r>
            <a:r>
              <a:rPr lang="en-US" sz="1500" dirty="0" err="1"/>
              <a:t>Jumlah</a:t>
            </a:r>
            <a:r>
              <a:rPr lang="en-US" sz="1500" dirty="0"/>
              <a:t> </a:t>
            </a:r>
            <a:r>
              <a:rPr lang="en-US" sz="1500" dirty="0" err="1"/>
              <a:t>pilihan</a:t>
            </a:r>
            <a:r>
              <a:rPr lang="en-US" sz="1500" dirty="0"/>
              <a:t> : </a:t>
            </a:r>
            <a:r>
              <a:rPr lang="en-US" sz="1500" dirty="0" err="1"/>
              <a:t>tanpa</a:t>
            </a:r>
            <a:r>
              <a:rPr lang="en-US" sz="1500" dirty="0"/>
              <a:t> </a:t>
            </a:r>
            <a:r>
              <a:rPr lang="en-US" sz="1500" dirty="0" err="1"/>
              <a:t>pengelompokan</a:t>
            </a:r>
            <a:r>
              <a:rPr lang="en-US" sz="1500" dirty="0"/>
              <a:t> </a:t>
            </a:r>
            <a:r>
              <a:rPr lang="en-US" sz="1500" dirty="0" err="1"/>
              <a:t>elemen</a:t>
            </a:r>
            <a:r>
              <a:rPr lang="en-US" sz="1500" dirty="0"/>
              <a:t> : 4-8 </a:t>
            </a:r>
            <a:r>
              <a:rPr lang="en-US" sz="1500" dirty="0" err="1"/>
              <a:t>pilihan</a:t>
            </a:r>
            <a:r>
              <a:rPr lang="en-US" sz="1500" dirty="0"/>
              <a:t>;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pengelompokan</a:t>
            </a:r>
            <a:r>
              <a:rPr lang="en-US" sz="1500" dirty="0"/>
              <a:t> : 18-24</a:t>
            </a:r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f. </a:t>
            </a:r>
            <a:r>
              <a:rPr lang="en-US" sz="1500" dirty="0" err="1"/>
              <a:t>Sediakan</a:t>
            </a:r>
            <a:r>
              <a:rPr lang="en-US" sz="1500" dirty="0"/>
              <a:t> </a:t>
            </a:r>
            <a:r>
              <a:rPr lang="en-US" sz="1500" dirty="0" err="1"/>
              <a:t>cara</a:t>
            </a:r>
            <a:r>
              <a:rPr lang="en-US" sz="1500" dirty="0"/>
              <a:t> </a:t>
            </a:r>
            <a:r>
              <a:rPr lang="en-US" sz="1500" dirty="0" err="1"/>
              <a:t>memendekkan</a:t>
            </a:r>
            <a:r>
              <a:rPr lang="en-US" sz="1500" dirty="0"/>
              <a:t> menu</a:t>
            </a:r>
          </a:p>
          <a:p>
            <a:pPr marL="633413" indent="-293688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500" dirty="0"/>
              <a:t>g. </a:t>
            </a:r>
            <a:r>
              <a:rPr lang="en-US" sz="1500" dirty="0" err="1"/>
              <a:t>Hindari</a:t>
            </a:r>
            <a:r>
              <a:rPr lang="en-US" sz="1500" dirty="0"/>
              <a:t> </a:t>
            </a:r>
            <a:r>
              <a:rPr lang="en-US" sz="1500" i="1" dirty="0"/>
              <a:t>scroll</a:t>
            </a:r>
            <a:r>
              <a:rPr lang="en-US" sz="1500" dirty="0"/>
              <a:t> menu</a:t>
            </a:r>
          </a:p>
          <a:p>
            <a:pPr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dirty="0"/>
              <a:t>5. </a:t>
            </a:r>
            <a:r>
              <a:rPr lang="en-US" dirty="0" err="1"/>
              <a:t>Kompleksitas</a:t>
            </a:r>
            <a:endParaRPr lang="en-US" dirty="0"/>
          </a:p>
          <a:p>
            <a:pPr indent="-3175" eaLnBrk="1" hangingPunct="1">
              <a:lnSpc>
                <a:spcPct val="17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 err="1"/>
              <a:t>Sediakan</a:t>
            </a:r>
            <a:r>
              <a:rPr lang="en-US" sz="1600" dirty="0"/>
              <a:t> menu </a:t>
            </a:r>
            <a:r>
              <a:rPr lang="en-US" sz="1600" dirty="0" err="1"/>
              <a:t>sederhana</a:t>
            </a:r>
            <a:r>
              <a:rPr lang="en-US" sz="1600" dirty="0"/>
              <a:t> (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pemula</a:t>
            </a:r>
            <a:r>
              <a:rPr lang="en-US" sz="1600" dirty="0"/>
              <a:t>, </a:t>
            </a:r>
            <a:r>
              <a:rPr lang="en-US" sz="1600" dirty="0" err="1"/>
              <a:t>jumlah</a:t>
            </a:r>
            <a:r>
              <a:rPr lang="en-US" sz="1600" dirty="0"/>
              <a:t> </a:t>
            </a:r>
            <a:r>
              <a:rPr lang="en-US" sz="1600" dirty="0" err="1"/>
              <a:t>aksi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menu </a:t>
            </a:r>
            <a:r>
              <a:rPr lang="en-US" sz="1600" dirty="0" err="1"/>
              <a:t>secukupnya</a:t>
            </a:r>
            <a:r>
              <a:rPr lang="en-US" sz="1600" dirty="0"/>
              <a:t>) </a:t>
            </a:r>
            <a:r>
              <a:rPr lang="en-US" sz="1600" dirty="0" err="1"/>
              <a:t>dan</a:t>
            </a:r>
            <a:r>
              <a:rPr lang="en-US" sz="1600" dirty="0"/>
              <a:t> menu </a:t>
            </a:r>
            <a:r>
              <a:rPr lang="en-US" sz="1600" dirty="0" err="1"/>
              <a:t>kompleks</a:t>
            </a:r>
            <a:r>
              <a:rPr lang="en-US" sz="1600" dirty="0"/>
              <a:t> (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ahli</a:t>
            </a:r>
            <a:r>
              <a:rPr lang="en-US" sz="1600" dirty="0"/>
              <a:t>, </a:t>
            </a:r>
            <a:r>
              <a:rPr lang="en-US" sz="1600" dirty="0" err="1"/>
              <a:t>jumlah</a:t>
            </a:r>
            <a:r>
              <a:rPr lang="en-US" sz="1600" dirty="0"/>
              <a:t> </a:t>
            </a:r>
            <a:r>
              <a:rPr lang="en-US" sz="1600" dirty="0" err="1"/>
              <a:t>aksi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menu </a:t>
            </a:r>
            <a:r>
              <a:rPr lang="en-US" sz="1600" dirty="0" err="1"/>
              <a:t>lengkap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56480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Formatting Menu’s Guideline (cont.)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6. </a:t>
            </a:r>
            <a:r>
              <a:rPr lang="en-US" sz="1800" dirty="0" err="1"/>
              <a:t>Susunan</a:t>
            </a:r>
            <a:r>
              <a:rPr lang="en-US" sz="1800" dirty="0"/>
              <a:t> </a:t>
            </a:r>
            <a:r>
              <a:rPr lang="en-US" sz="1800" dirty="0" err="1"/>
              <a:t>Pilihan</a:t>
            </a:r>
            <a:r>
              <a:rPr lang="id-ID" sz="1800" dirty="0"/>
              <a:t> </a:t>
            </a:r>
            <a:r>
              <a:rPr lang="id-ID" sz="1800" dirty="0">
                <a:sym typeface="Wingdings" panose="05000000000000000000" pitchFamily="2" charset="2"/>
              </a:rPr>
              <a:t></a:t>
            </a:r>
            <a:r>
              <a:rPr lang="en-ID" sz="1800" dirty="0">
                <a:sym typeface="Wingdings" panose="05000000000000000000" pitchFamily="2" charset="2"/>
              </a:rPr>
              <a:t> </a:t>
            </a:r>
            <a:r>
              <a:rPr lang="en-US" sz="1600" dirty="0" err="1"/>
              <a:t>sedapat</a:t>
            </a:r>
            <a:r>
              <a:rPr lang="en-US" sz="1600" dirty="0"/>
              <a:t> </a:t>
            </a:r>
            <a:r>
              <a:rPr lang="en-US" sz="1600" dirty="0" err="1"/>
              <a:t>mungkin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kolom</a:t>
            </a:r>
            <a:r>
              <a:rPr lang="en-US" sz="1600" dirty="0"/>
              <a:t>; top-down, left-to-right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7. </a:t>
            </a:r>
            <a:r>
              <a:rPr lang="en-US" sz="1800" dirty="0" err="1"/>
              <a:t>Urutan</a:t>
            </a:r>
            <a:r>
              <a:rPr lang="en-US" sz="1800" dirty="0"/>
              <a:t> </a:t>
            </a:r>
            <a:r>
              <a:rPr lang="en-US" sz="1800" dirty="0" err="1"/>
              <a:t>Pilihan</a:t>
            </a:r>
            <a:endParaRPr lang="en-US" sz="1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8. </a:t>
            </a:r>
            <a:r>
              <a:rPr lang="en-US" sz="1800" dirty="0" err="1"/>
              <a:t>Pengelompokan</a:t>
            </a:r>
            <a:endParaRPr lang="en-US" sz="1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9. </a:t>
            </a:r>
            <a:r>
              <a:rPr lang="en-US" sz="1800" dirty="0" err="1"/>
              <a:t>Garis</a:t>
            </a:r>
            <a:r>
              <a:rPr lang="en-US" sz="1800" dirty="0"/>
              <a:t> </a:t>
            </a:r>
            <a:r>
              <a:rPr lang="en-US" sz="1800" dirty="0" err="1"/>
              <a:t>Pembatas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menu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10. </a:t>
            </a:r>
            <a:r>
              <a:rPr lang="en-US" sz="1800" dirty="0" err="1"/>
              <a:t>Pemilihan</a:t>
            </a:r>
            <a:r>
              <a:rPr lang="en-US" sz="1800" dirty="0"/>
              <a:t> Menu </a:t>
            </a:r>
            <a:r>
              <a:rPr lang="en-US" sz="1800" dirty="0" err="1"/>
              <a:t>Pendukung</a:t>
            </a:r>
            <a:endParaRPr lang="en-US" sz="1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11. </a:t>
            </a:r>
            <a:r>
              <a:rPr lang="en-US" sz="1800" dirty="0" err="1"/>
              <a:t>Bahasa</a:t>
            </a:r>
            <a:r>
              <a:rPr lang="en-US" sz="1800" dirty="0"/>
              <a:t> / kata yang </a:t>
            </a:r>
            <a:r>
              <a:rPr lang="en-US" sz="1800" dirty="0" err="1"/>
              <a:t>digunakan</a:t>
            </a:r>
            <a:endParaRPr lang="en-US" sz="18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12. </a:t>
            </a:r>
            <a:r>
              <a:rPr lang="en-US" sz="1800" dirty="0" err="1"/>
              <a:t>Instruksi</a:t>
            </a:r>
            <a:r>
              <a:rPr lang="en-US" sz="1800" dirty="0"/>
              <a:t> Menu :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	</a:t>
            </a:r>
            <a:r>
              <a:rPr lang="en-US" sz="1600" dirty="0" err="1"/>
              <a:t>Pemula</a:t>
            </a:r>
            <a:r>
              <a:rPr lang="en-US" sz="1600" dirty="0"/>
              <a:t> : </a:t>
            </a:r>
            <a:r>
              <a:rPr lang="en-US" sz="1600" dirty="0" err="1"/>
              <a:t>sediakan</a:t>
            </a:r>
            <a:r>
              <a:rPr lang="en-US" sz="1600" dirty="0"/>
              <a:t> </a:t>
            </a:r>
            <a:r>
              <a:rPr lang="en-US" sz="1600" dirty="0" err="1"/>
              <a:t>cara</a:t>
            </a:r>
            <a:r>
              <a:rPr lang="en-US" sz="1600" dirty="0"/>
              <a:t> </a:t>
            </a:r>
            <a:r>
              <a:rPr lang="en-US" sz="1600" dirty="0" err="1"/>
              <a:t>menyelesaikan</a:t>
            </a:r>
            <a:r>
              <a:rPr lang="en-US" sz="1600" dirty="0"/>
              <a:t> menu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600" dirty="0"/>
              <a:t>	</a:t>
            </a:r>
            <a:r>
              <a:rPr lang="en-US" sz="1600" dirty="0" err="1"/>
              <a:t>Ahli</a:t>
            </a:r>
            <a:r>
              <a:rPr lang="en-US" sz="1600" dirty="0"/>
              <a:t> : </a:t>
            </a:r>
            <a:r>
              <a:rPr lang="en-US" sz="1600" dirty="0" err="1"/>
              <a:t>sediakan</a:t>
            </a:r>
            <a:r>
              <a:rPr lang="en-US" sz="1600" dirty="0"/>
              <a:t> </a:t>
            </a:r>
            <a:r>
              <a:rPr lang="en-US" sz="1600" dirty="0" err="1"/>
              <a:t>cara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mengabaikan</a:t>
            </a:r>
            <a:r>
              <a:rPr lang="en-US" sz="1600" dirty="0"/>
              <a:t> </a:t>
            </a:r>
            <a:r>
              <a:rPr lang="en-US" sz="1600" dirty="0" err="1"/>
              <a:t>instruksi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endParaRPr lang="en-US" sz="1600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13. Intent Indicator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sz="1800" dirty="0"/>
              <a:t>14. Keyboard </a:t>
            </a:r>
            <a:r>
              <a:rPr lang="en-US" sz="1800" dirty="0" err="1"/>
              <a:t>Shorcuts</a:t>
            </a:r>
            <a:endParaRPr lang="en-US" sz="1800" dirty="0"/>
          </a:p>
          <a:p>
            <a:pPr eaLnBrk="1" hangingPunct="1">
              <a:buFontTx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91456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Formatting Menu’s Guideline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4320" indent="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15. </a:t>
            </a:r>
            <a:r>
              <a:rPr lang="en-US" sz="2000" dirty="0" err="1"/>
              <a:t>Memilih</a:t>
            </a:r>
            <a:r>
              <a:rPr lang="en-US" sz="2000" dirty="0"/>
              <a:t> </a:t>
            </a:r>
            <a:r>
              <a:rPr lang="en-US" sz="2000" dirty="0" err="1"/>
              <a:t>Pilihan</a:t>
            </a:r>
            <a:endParaRPr lang="en-US" sz="2000" dirty="0"/>
          </a:p>
          <a:p>
            <a:pPr marL="274320" indent="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 err="1"/>
              <a:t>Pilihan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dipilih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cara</a:t>
            </a:r>
            <a:r>
              <a:rPr lang="en-US" sz="1600" dirty="0"/>
              <a:t> </a:t>
            </a:r>
            <a:r>
              <a:rPr lang="en-US" sz="1600" dirty="0" err="1"/>
              <a:t>menunjuk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pilihan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penunjuk</a:t>
            </a:r>
            <a:r>
              <a:rPr lang="en-US" sz="1600" dirty="0"/>
              <a:t> </a:t>
            </a:r>
            <a:r>
              <a:rPr lang="en-US" sz="1600" dirty="0" err="1"/>
              <a:t>mekanis</a:t>
            </a:r>
            <a:r>
              <a:rPr lang="en-US" sz="1600" dirty="0"/>
              <a:t>, </a:t>
            </a:r>
            <a:r>
              <a:rPr lang="en-US" sz="1600" dirty="0" err="1"/>
              <a:t>melalui</a:t>
            </a:r>
            <a:r>
              <a:rPr lang="en-US" sz="1600" dirty="0"/>
              <a:t> keyboard,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mengetikkan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pilihan</a:t>
            </a:r>
            <a:r>
              <a:rPr lang="en-US" sz="1600" dirty="0"/>
              <a:t>.</a:t>
            </a:r>
          </a:p>
          <a:p>
            <a:pPr marL="274320" indent="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16. </a:t>
            </a:r>
            <a:r>
              <a:rPr lang="en-US" sz="2000" dirty="0" err="1"/>
              <a:t>Sediakan</a:t>
            </a:r>
            <a:r>
              <a:rPr lang="en-US" sz="2000" dirty="0"/>
              <a:t> Defaults</a:t>
            </a:r>
          </a:p>
          <a:p>
            <a:pPr marL="274320" indent="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17. </a:t>
            </a:r>
            <a:r>
              <a:rPr lang="en-US" sz="2000" dirty="0" err="1"/>
              <a:t>Pilihan</a:t>
            </a:r>
            <a:r>
              <a:rPr lang="en-US" sz="2000" dirty="0"/>
              <a:t> yang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dipilih</a:t>
            </a:r>
            <a:endParaRPr lang="en-US" sz="2000" dirty="0"/>
          </a:p>
          <a:p>
            <a:pPr marL="274320" indent="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18. </a:t>
            </a:r>
            <a:r>
              <a:rPr lang="en-US" sz="2000" dirty="0" err="1"/>
              <a:t>Tanda</a:t>
            </a:r>
            <a:r>
              <a:rPr lang="en-US" sz="2000" dirty="0"/>
              <a:t> </a:t>
            </a:r>
            <a:r>
              <a:rPr lang="en-US" sz="2000" dirty="0" err="1"/>
              <a:t>aktif</a:t>
            </a:r>
            <a:r>
              <a:rPr lang="en-US" sz="2000" dirty="0"/>
              <a:t>/non-</a:t>
            </a:r>
            <a:r>
              <a:rPr lang="en-US" sz="2000" dirty="0" err="1"/>
              <a:t>aktif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pilihan</a:t>
            </a:r>
            <a:endParaRPr lang="en-US" sz="2000" dirty="0"/>
          </a:p>
          <a:p>
            <a:pPr marL="274320" indent="0" algn="just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2000" dirty="0"/>
              <a:t>19. Toggled Menu Items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9" y="3439615"/>
            <a:ext cx="2951843" cy="210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6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1035" y="236220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ID" dirty="0" err="1"/>
              <a:t>Navigasi</a:t>
            </a:r>
            <a:r>
              <a:rPr lang="en-ID" dirty="0"/>
              <a:t> Website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797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Web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635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 err="1"/>
              <a:t>Navigasi</a:t>
            </a:r>
            <a:r>
              <a:rPr lang="en-US" sz="1600" dirty="0"/>
              <a:t> </a:t>
            </a:r>
            <a:r>
              <a:rPr lang="en-US" sz="1600" dirty="0" err="1"/>
              <a:t>merujuk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bagaimana</a:t>
            </a:r>
            <a:r>
              <a:rPr lang="en-US" sz="1600" dirty="0"/>
              <a:t> </a:t>
            </a:r>
            <a:r>
              <a:rPr lang="en-US" sz="1600" dirty="0" err="1"/>
              <a:t>seseorang</a:t>
            </a:r>
            <a:r>
              <a:rPr lang="en-US" sz="1600" dirty="0"/>
              <a:t> </a:t>
            </a:r>
            <a:r>
              <a:rPr lang="en-US" sz="1600" dirty="0" err="1"/>
              <a:t>mencari</a:t>
            </a:r>
            <a:r>
              <a:rPr lang="en-US" sz="1600" dirty="0"/>
              <a:t> </a:t>
            </a:r>
            <a:r>
              <a:rPr lang="en-US" sz="1600" dirty="0" err="1"/>
              <a:t>apa</a:t>
            </a:r>
            <a:r>
              <a:rPr lang="en-US" sz="1600" dirty="0"/>
              <a:t> yang </a:t>
            </a:r>
            <a:r>
              <a:rPr lang="en-US" sz="1600" dirty="0" err="1"/>
              <a:t>mereka</a:t>
            </a:r>
            <a:r>
              <a:rPr lang="en-US" sz="1600" dirty="0"/>
              <a:t> </a:t>
            </a:r>
            <a:r>
              <a:rPr lang="en-US" sz="1600" dirty="0" err="1"/>
              <a:t>inginkan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web site.</a:t>
            </a:r>
          </a:p>
          <a:p>
            <a:pPr marL="6350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/>
              <a:t>Proses </a:t>
            </a:r>
            <a:r>
              <a:rPr lang="en-US" sz="1600" dirty="0" err="1"/>
              <a:t>pencarian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atas</a:t>
            </a:r>
            <a:r>
              <a:rPr lang="en-US" sz="1600" dirty="0"/>
              <a:t> 4 </a:t>
            </a:r>
            <a:r>
              <a:rPr lang="en-US" sz="1600" dirty="0" err="1"/>
              <a:t>langkah</a:t>
            </a:r>
            <a:r>
              <a:rPr lang="en-US" sz="1600" dirty="0"/>
              <a:t> : </a:t>
            </a:r>
          </a:p>
          <a:p>
            <a:pPr marL="674370" lvl="1" indent="-274320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sz="1400" dirty="0" err="1"/>
              <a:t>Orientasi</a:t>
            </a:r>
            <a:r>
              <a:rPr lang="en-US" sz="1400" dirty="0"/>
              <a:t>, </a:t>
            </a:r>
          </a:p>
          <a:p>
            <a:pPr marL="674370" lvl="1" indent="-274320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sz="1400" dirty="0" err="1"/>
              <a:t>keputusan</a:t>
            </a:r>
            <a:r>
              <a:rPr lang="en-US" sz="1400" dirty="0"/>
              <a:t> </a:t>
            </a:r>
            <a:r>
              <a:rPr lang="en-US" sz="1400" dirty="0" err="1"/>
              <a:t>rute</a:t>
            </a:r>
            <a:r>
              <a:rPr lang="en-US" sz="1400" dirty="0"/>
              <a:t>, </a:t>
            </a:r>
          </a:p>
          <a:p>
            <a:pPr marL="674370" lvl="1" indent="-274320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sz="1400" dirty="0"/>
              <a:t>monitoring </a:t>
            </a:r>
            <a:r>
              <a:rPr lang="en-US" sz="1400" dirty="0" err="1"/>
              <a:t>rute</a:t>
            </a:r>
            <a:r>
              <a:rPr lang="en-US" sz="1400" dirty="0"/>
              <a:t>,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</a:p>
          <a:p>
            <a:pPr marL="674370" lvl="1" indent="-274320">
              <a:lnSpc>
                <a:spcPct val="15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sz="1400" dirty="0" err="1"/>
              <a:t>pengenalan</a:t>
            </a:r>
            <a:r>
              <a:rPr lang="en-US" sz="1400" dirty="0"/>
              <a:t> </a:t>
            </a:r>
            <a:r>
              <a:rPr lang="en-US" sz="1400" dirty="0" err="1"/>
              <a:t>tujuan</a:t>
            </a:r>
            <a:r>
              <a:rPr lang="en-US" sz="1400" dirty="0"/>
              <a:t>.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4421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Website Navigation Goals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yang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memfasilitasi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yang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hubungannya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endParaRPr lang="en-US" dirty="0"/>
          </a:p>
          <a:p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, </a:t>
            </a:r>
            <a:r>
              <a:rPr lang="en-ID" dirty="0" err="1"/>
              <a:t>jawaban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selama</a:t>
            </a:r>
            <a:r>
              <a:rPr lang="en-ID" dirty="0"/>
              <a:t> proses </a:t>
            </a:r>
            <a:r>
              <a:rPr lang="en-ID" dirty="0" err="1"/>
              <a:t>interaksi</a:t>
            </a:r>
            <a:r>
              <a:rPr lang="en-ID" dirty="0"/>
              <a:t> :</a:t>
            </a:r>
          </a:p>
          <a:p>
            <a:pPr lvl="1">
              <a:buFontTx/>
              <a:buChar char="-"/>
            </a:pPr>
            <a:r>
              <a:rPr lang="en-US" sz="1400" dirty="0"/>
              <a:t>Where am I now?</a:t>
            </a:r>
          </a:p>
          <a:p>
            <a:pPr lvl="1">
              <a:buFontTx/>
              <a:buChar char="-"/>
            </a:pPr>
            <a:r>
              <a:rPr lang="en-US" sz="1400" dirty="0"/>
              <a:t>Where did I come from?</a:t>
            </a:r>
          </a:p>
          <a:p>
            <a:pPr lvl="1">
              <a:buFontTx/>
              <a:buChar char="-"/>
            </a:pPr>
            <a:r>
              <a:rPr lang="en-US" sz="1400" dirty="0"/>
              <a:t>Where can I go from here?</a:t>
            </a:r>
          </a:p>
          <a:p>
            <a:pPr lvl="1">
              <a:buFontTx/>
              <a:buChar char="-"/>
            </a:pPr>
            <a:r>
              <a:rPr lang="en-US" sz="1400" dirty="0"/>
              <a:t>How can I get there quickly?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507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711035" y="381000"/>
            <a:ext cx="5721930" cy="7735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ID" dirty="0" err="1"/>
              <a:t>Panduan</a:t>
            </a:r>
            <a:r>
              <a:rPr lang="en-ID" dirty="0"/>
              <a:t> Per</a:t>
            </a:r>
            <a:r>
              <a:rPr lang="id-ID" dirty="0"/>
              <a:t>ancangan </a:t>
            </a:r>
            <a:r>
              <a:rPr lang="en-US" dirty="0" err="1"/>
              <a:t>Navigasi</a:t>
            </a:r>
            <a:r>
              <a:rPr lang="en-US" dirty="0"/>
              <a:t>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20867" y="1401573"/>
            <a:ext cx="8706656" cy="5094197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2000" b="1" dirty="0"/>
              <a:t>1. </a:t>
            </a:r>
            <a:r>
              <a:rPr lang="en-US" sz="2000" b="1" dirty="0" err="1"/>
              <a:t>Pertolongan</a:t>
            </a:r>
            <a:r>
              <a:rPr lang="en-US" sz="2000" b="1" dirty="0"/>
              <a:t> </a:t>
            </a:r>
            <a:r>
              <a:rPr lang="en-US" sz="2000" b="1" dirty="0" err="1"/>
              <a:t>Navigasi</a:t>
            </a:r>
            <a:r>
              <a:rPr lang="en-US" sz="2000" b="1" dirty="0"/>
              <a:t> Web site</a:t>
            </a:r>
          </a:p>
          <a:p>
            <a:pPr marL="457200" indent="0" eaLnBrk="1" hangingPunct="1">
              <a:buNone/>
              <a:defRPr/>
            </a:pPr>
            <a:r>
              <a:rPr lang="en-US" sz="1400" dirty="0"/>
              <a:t>a.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membantu</a:t>
            </a:r>
            <a:r>
              <a:rPr lang="en-US" sz="1400" dirty="0"/>
              <a:t> </a:t>
            </a:r>
            <a:r>
              <a:rPr lang="en-US" sz="1400" dirty="0" err="1"/>
              <a:t>navigasi</a:t>
            </a:r>
            <a:r>
              <a:rPr lang="en-US" sz="1400" dirty="0"/>
              <a:t> </a:t>
            </a:r>
          </a:p>
          <a:p>
            <a:pPr marL="1090613" indent="-352425" eaLnBrk="1" hangingPunct="1">
              <a:buFontTx/>
              <a:buChar char="-"/>
              <a:defRPr/>
            </a:pPr>
            <a:r>
              <a:rPr lang="en-US" sz="1400" dirty="0" err="1"/>
              <a:t>Sediakan</a:t>
            </a:r>
            <a:r>
              <a:rPr lang="en-US" sz="1400" dirty="0"/>
              <a:t> </a:t>
            </a:r>
            <a:r>
              <a:rPr lang="en-US" sz="1400" dirty="0" err="1"/>
              <a:t>peta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overview </a:t>
            </a:r>
            <a:r>
              <a:rPr lang="en-US" sz="1400" dirty="0" err="1"/>
              <a:t>hirarki</a:t>
            </a:r>
            <a:r>
              <a:rPr lang="en-US" sz="1400" dirty="0"/>
              <a:t> menu</a:t>
            </a:r>
          </a:p>
          <a:p>
            <a:pPr marL="1090613" indent="-352425" eaLnBrk="1" hangingPunct="1">
              <a:buFontTx/>
              <a:buChar char="-"/>
              <a:defRPr/>
            </a:pPr>
            <a:r>
              <a:rPr lang="en-US" sz="1400" dirty="0" err="1"/>
              <a:t>Sediakan</a:t>
            </a:r>
            <a:r>
              <a:rPr lang="en-US" sz="1400" dirty="0"/>
              <a:t> </a:t>
            </a:r>
            <a:r>
              <a:rPr lang="en-US" sz="1400" dirty="0" err="1"/>
              <a:t>clickability</a:t>
            </a:r>
            <a:r>
              <a:rPr lang="en-US" sz="1400" dirty="0"/>
              <a:t> cues</a:t>
            </a:r>
          </a:p>
          <a:p>
            <a:pPr marL="1090613" indent="-352425" eaLnBrk="1" hangingPunct="1">
              <a:buFontTx/>
              <a:buChar char="-"/>
              <a:defRPr/>
            </a:pPr>
            <a:r>
              <a:rPr lang="en-US" sz="1400" dirty="0" err="1"/>
              <a:t>Sediakan</a:t>
            </a:r>
            <a:r>
              <a:rPr lang="en-US" sz="1400" dirty="0"/>
              <a:t> </a:t>
            </a:r>
            <a:r>
              <a:rPr lang="en-US" sz="1400" dirty="0" err="1"/>
              <a:t>pilihan-pilihan</a:t>
            </a:r>
            <a:r>
              <a:rPr lang="en-US" sz="1400" dirty="0"/>
              <a:t> yang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</a:t>
            </a:r>
            <a:r>
              <a:rPr lang="en-US" sz="1400" dirty="0" err="1"/>
              <a:t>di</a:t>
            </a:r>
            <a:r>
              <a:rPr lang="en-US" sz="1400" dirty="0"/>
              <a:t> level </a:t>
            </a:r>
            <a:r>
              <a:rPr lang="en-US" sz="1400" dirty="0" err="1"/>
              <a:t>selanjutnya</a:t>
            </a:r>
            <a:endParaRPr lang="en-US" sz="1400" dirty="0"/>
          </a:p>
          <a:p>
            <a:pPr marL="1090613" indent="-352425" eaLnBrk="1" hangingPunct="1">
              <a:buFontTx/>
              <a:buChar char="-"/>
              <a:defRPr/>
            </a:pPr>
            <a:r>
              <a:rPr lang="en-US" sz="1400" dirty="0" err="1"/>
              <a:t>Ganti</a:t>
            </a:r>
            <a:r>
              <a:rPr lang="en-US" sz="1400" dirty="0"/>
              <a:t> </a:t>
            </a:r>
            <a:r>
              <a:rPr lang="en-US" sz="1400" dirty="0" err="1"/>
              <a:t>warna</a:t>
            </a:r>
            <a:r>
              <a:rPr lang="en-US" sz="1400" dirty="0"/>
              <a:t> </a:t>
            </a:r>
            <a:r>
              <a:rPr lang="en-US" sz="1400" dirty="0" err="1"/>
              <a:t>sebuah</a:t>
            </a:r>
            <a:r>
              <a:rPr lang="en-US" sz="1400" dirty="0"/>
              <a:t> link yang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di</a:t>
            </a:r>
            <a:r>
              <a:rPr lang="en-US" sz="1400" dirty="0"/>
              <a:t> </a:t>
            </a:r>
            <a:r>
              <a:rPr lang="en-US" sz="1400" dirty="0" err="1"/>
              <a:t>klik</a:t>
            </a:r>
            <a:endParaRPr lang="en-US" sz="1400" dirty="0"/>
          </a:p>
          <a:p>
            <a:pPr marL="457200" indent="0" eaLnBrk="1" hangingPunct="1">
              <a:buFontTx/>
              <a:buNone/>
              <a:defRPr/>
            </a:pPr>
            <a:r>
              <a:rPr lang="en-US" sz="1400" dirty="0"/>
              <a:t>b. </a:t>
            </a:r>
            <a:r>
              <a:rPr lang="en-US" sz="1400" dirty="0" err="1"/>
              <a:t>Sediakan</a:t>
            </a:r>
            <a:r>
              <a:rPr lang="en-US" sz="1400" dirty="0"/>
              <a:t> </a:t>
            </a:r>
            <a:r>
              <a:rPr lang="en-US" sz="1400" dirty="0" err="1"/>
              <a:t>umpan</a:t>
            </a:r>
            <a:r>
              <a:rPr lang="en-US" sz="1400" dirty="0"/>
              <a:t> </a:t>
            </a:r>
            <a:r>
              <a:rPr lang="en-US" sz="1400" dirty="0" err="1"/>
              <a:t>balik</a:t>
            </a:r>
            <a:r>
              <a:rPr lang="en-US" sz="1400" dirty="0"/>
              <a:t> </a:t>
            </a:r>
            <a:r>
              <a:rPr lang="en-US" sz="1400" dirty="0" err="1"/>
              <a:t>berkaitan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lokasi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endParaRPr lang="en-US" sz="1400" dirty="0"/>
          </a:p>
          <a:p>
            <a:pPr marL="1090613" indent="-352425" eaLnBrk="1" hangingPunct="1">
              <a:buFontTx/>
              <a:buChar char="-"/>
              <a:defRPr/>
            </a:pPr>
            <a:r>
              <a:rPr lang="en-US" sz="1400" dirty="0" err="1"/>
              <a:t>Sediakan</a:t>
            </a:r>
            <a:r>
              <a:rPr lang="en-US" sz="1400" dirty="0"/>
              <a:t> </a:t>
            </a:r>
            <a:r>
              <a:rPr lang="en-US" sz="1400" dirty="0" err="1"/>
              <a:t>sejarah</a:t>
            </a:r>
            <a:r>
              <a:rPr lang="en-US" sz="1400" dirty="0"/>
              <a:t> (history) </a:t>
            </a:r>
            <a:r>
              <a:rPr lang="en-US" sz="1400" dirty="0" err="1"/>
              <a:t>navigasi</a:t>
            </a:r>
            <a:endParaRPr lang="en-US" sz="1400" dirty="0"/>
          </a:p>
          <a:p>
            <a:pPr marL="1090613" indent="-352425" eaLnBrk="1" hangingPunct="1">
              <a:buFontTx/>
              <a:buChar char="-"/>
              <a:defRPr/>
            </a:pPr>
            <a:r>
              <a:rPr lang="en-US" sz="1400" dirty="0" err="1"/>
              <a:t>Cocokkan</a:t>
            </a:r>
            <a:r>
              <a:rPr lang="en-US" sz="1400" dirty="0"/>
              <a:t> </a:t>
            </a:r>
            <a:r>
              <a:rPr lang="en-US" sz="1400" dirty="0" err="1"/>
              <a:t>antara</a:t>
            </a:r>
            <a:r>
              <a:rPr lang="en-US" sz="1400" dirty="0"/>
              <a:t> </a:t>
            </a:r>
            <a:r>
              <a:rPr lang="en-US" sz="1400" dirty="0" err="1"/>
              <a:t>teks</a:t>
            </a:r>
            <a:r>
              <a:rPr lang="en-US" sz="1400" dirty="0"/>
              <a:t>/label </a:t>
            </a:r>
            <a:r>
              <a:rPr lang="en-US" sz="1400" dirty="0" err="1"/>
              <a:t>sebuah</a:t>
            </a:r>
            <a:r>
              <a:rPr lang="en-US" sz="1400" dirty="0"/>
              <a:t> link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judul</a:t>
            </a:r>
            <a:r>
              <a:rPr lang="en-US" sz="1400" dirty="0"/>
              <a:t> </a:t>
            </a:r>
            <a:r>
              <a:rPr lang="en-US" sz="1400" dirty="0" err="1"/>
              <a:t>halaman</a:t>
            </a:r>
            <a:r>
              <a:rPr lang="en-US" sz="1400" dirty="0"/>
              <a:t> </a:t>
            </a:r>
            <a:r>
              <a:rPr lang="en-US" sz="1400" dirty="0" err="1"/>
              <a:t>tujuan</a:t>
            </a:r>
            <a:endParaRPr lang="en-US" sz="1400" dirty="0"/>
          </a:p>
          <a:p>
            <a:pPr marL="1090613" indent="-352425" eaLnBrk="1" hangingPunct="1">
              <a:buFontTx/>
              <a:buChar char="-"/>
              <a:defRPr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535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711035" y="5334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ID" dirty="0" err="1"/>
              <a:t>Panduan</a:t>
            </a:r>
            <a:r>
              <a:rPr lang="en-ID" dirty="0"/>
              <a:t> Per</a:t>
            </a:r>
            <a:r>
              <a:rPr lang="id-ID" dirty="0"/>
              <a:t>ancangan </a:t>
            </a:r>
            <a:r>
              <a:rPr lang="en-US" dirty="0" err="1"/>
              <a:t>Navigasi</a:t>
            </a:r>
            <a:r>
              <a:rPr lang="en-US" dirty="0"/>
              <a:t>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20867" y="1553973"/>
            <a:ext cx="8706656" cy="5094197"/>
          </a:xfrm>
        </p:spPr>
        <p:txBody>
          <a:bodyPr/>
          <a:lstStyle/>
          <a:p>
            <a:pPr marL="515938" indent="-515938" eaLnBrk="1" hangingPunct="1">
              <a:buFontTx/>
              <a:buNone/>
              <a:defRPr/>
            </a:pPr>
            <a:r>
              <a:rPr lang="en-US" sz="2000" b="1" dirty="0"/>
              <a:t>2. </a:t>
            </a:r>
            <a:r>
              <a:rPr lang="en-US" sz="2000" b="1" dirty="0" err="1"/>
              <a:t>Organisasi</a:t>
            </a:r>
            <a:r>
              <a:rPr lang="en-US" sz="2000" b="1" dirty="0"/>
              <a:t> Web site</a:t>
            </a:r>
          </a:p>
          <a:p>
            <a:pPr>
              <a:spcBef>
                <a:spcPts val="0"/>
              </a:spcBef>
              <a:defRPr/>
            </a:pPr>
            <a:endParaRPr lang="en-US" sz="1600" dirty="0"/>
          </a:p>
          <a:p>
            <a:pPr>
              <a:spcBef>
                <a:spcPts val="0"/>
              </a:spcBef>
              <a:defRPr/>
            </a:pPr>
            <a:r>
              <a:rPr lang="en-US" sz="1800" dirty="0" err="1"/>
              <a:t>Bagi</a:t>
            </a:r>
            <a:r>
              <a:rPr lang="en-US" sz="1800" dirty="0"/>
              <a:t> content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fragmen</a:t>
            </a:r>
            <a:r>
              <a:rPr lang="en-US" sz="1800" dirty="0"/>
              <a:t> </a:t>
            </a:r>
            <a:r>
              <a:rPr lang="en-US" sz="1800" dirty="0" err="1"/>
              <a:t>lojik</a:t>
            </a:r>
            <a:r>
              <a:rPr lang="en-US" sz="1800" dirty="0"/>
              <a:t>, unit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potongan</a:t>
            </a:r>
            <a:r>
              <a:rPr lang="en-US" sz="1800" dirty="0"/>
              <a:t> </a:t>
            </a:r>
            <a:r>
              <a:rPr lang="en-US" sz="1800" dirty="0" err="1"/>
              <a:t>informasi</a:t>
            </a:r>
            <a:endParaRPr lang="en-US" sz="1800" dirty="0"/>
          </a:p>
          <a:p>
            <a:pPr>
              <a:spcBef>
                <a:spcPts val="0"/>
              </a:spcBef>
              <a:defRPr/>
            </a:pPr>
            <a:r>
              <a:rPr lang="en-US" sz="1800" dirty="0" err="1"/>
              <a:t>Menentukan</a:t>
            </a:r>
            <a:r>
              <a:rPr lang="en-US" sz="1800" dirty="0"/>
              <a:t> </a:t>
            </a:r>
            <a:r>
              <a:rPr lang="en-US" sz="1800" dirty="0" err="1"/>
              <a:t>hierarki</a:t>
            </a:r>
            <a:r>
              <a:rPr lang="en-US" sz="1800" dirty="0"/>
              <a:t> </a:t>
            </a:r>
            <a:r>
              <a:rPr lang="en-US" sz="1800" dirty="0" err="1"/>
              <a:t>kepentingan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kekhususan</a:t>
            </a:r>
            <a:endParaRPr lang="en-US" sz="1800" dirty="0"/>
          </a:p>
          <a:p>
            <a:pPr>
              <a:spcBef>
                <a:spcPts val="0"/>
              </a:spcBef>
              <a:defRPr/>
            </a:pPr>
            <a:r>
              <a:rPr lang="en-US" sz="1800" dirty="0" err="1"/>
              <a:t>Menyusun</a:t>
            </a:r>
            <a:r>
              <a:rPr lang="en-US" sz="1800" dirty="0"/>
              <a:t> </a:t>
            </a:r>
            <a:r>
              <a:rPr lang="en-US" sz="1800" dirty="0" err="1"/>
              <a:t>hubungan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</a:t>
            </a:r>
            <a:r>
              <a:rPr lang="en-US" sz="1800" dirty="0" err="1"/>
              <a:t>bagian-bagian</a:t>
            </a:r>
            <a:r>
              <a:rPr lang="en-US" sz="1800" dirty="0"/>
              <a:t> </a:t>
            </a:r>
            <a:r>
              <a:rPr lang="en-US" sz="1800" dirty="0" err="1"/>
              <a:t>informasi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terstruktur</a:t>
            </a:r>
            <a:endParaRPr lang="en-US" sz="1800" dirty="0"/>
          </a:p>
          <a:p>
            <a:pPr>
              <a:spcBef>
                <a:spcPts val="0"/>
              </a:spcBef>
              <a:defRPr/>
            </a:pPr>
            <a:r>
              <a:rPr lang="en-US" sz="1800" dirty="0" err="1"/>
              <a:t>Membuat</a:t>
            </a:r>
            <a:r>
              <a:rPr lang="en-US" sz="1800" dirty="0"/>
              <a:t> hierarchy tree yang </a:t>
            </a:r>
            <a:r>
              <a:rPr lang="en-US" sz="1800" dirty="0" err="1"/>
              <a:t>seimbang</a:t>
            </a:r>
            <a:endParaRPr lang="en-US" sz="1800" dirty="0"/>
          </a:p>
          <a:p>
            <a:pPr marL="0" indent="0">
              <a:buNone/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3707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711035" y="3810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ID" dirty="0" err="1"/>
              <a:t>Panduan</a:t>
            </a:r>
            <a:r>
              <a:rPr lang="en-ID" dirty="0"/>
              <a:t> Per</a:t>
            </a:r>
            <a:r>
              <a:rPr lang="id-ID" dirty="0"/>
              <a:t>ancangan </a:t>
            </a:r>
            <a:r>
              <a:rPr lang="en-US" dirty="0" err="1"/>
              <a:t>Navigasi</a:t>
            </a:r>
            <a:r>
              <a:rPr lang="en-US" dirty="0"/>
              <a:t> Website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type="body" idx="1"/>
          </p:nvPr>
        </p:nvSpPr>
        <p:spPr>
          <a:xfrm>
            <a:off x="220867" y="1401573"/>
            <a:ext cx="8706656" cy="509419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000" b="1" dirty="0"/>
              <a:t>3. </a:t>
            </a:r>
            <a:r>
              <a:rPr lang="id-ID" sz="2000" b="1" dirty="0"/>
              <a:t>Rancangan </a:t>
            </a:r>
            <a:r>
              <a:rPr lang="en-US" sz="2000" b="1" dirty="0" err="1"/>
              <a:t>halaman</a:t>
            </a:r>
            <a:r>
              <a:rPr lang="en-US" sz="2000" b="1" dirty="0"/>
              <a:t> </a:t>
            </a:r>
            <a:r>
              <a:rPr lang="en-US" sz="2000" b="1" dirty="0" err="1"/>
              <a:t>navigasi</a:t>
            </a:r>
            <a:endParaRPr lang="en-US" sz="2000" b="1" dirty="0"/>
          </a:p>
          <a:p>
            <a:pPr marL="0" indent="0" eaLnBrk="1" hangingPunct="1">
              <a:buNone/>
            </a:pPr>
            <a:r>
              <a:rPr lang="en-US" sz="1600" dirty="0"/>
              <a:t>a.  </a:t>
            </a:r>
            <a:r>
              <a:rPr lang="en-US" sz="1600" dirty="0" err="1"/>
              <a:t>Gunakan</a:t>
            </a:r>
            <a:r>
              <a:rPr lang="en-US" sz="1600" dirty="0"/>
              <a:t> </a:t>
            </a:r>
            <a:r>
              <a:rPr lang="en-US" sz="1600" dirty="0" err="1"/>
              <a:t>tipe</a:t>
            </a:r>
            <a:r>
              <a:rPr lang="en-US" sz="1600" dirty="0"/>
              <a:t> menu yang </a:t>
            </a:r>
            <a:r>
              <a:rPr lang="en-US" sz="1600" dirty="0" err="1"/>
              <a:t>cocok</a:t>
            </a:r>
            <a:endParaRPr lang="en-US" sz="1600" dirty="0"/>
          </a:p>
          <a:p>
            <a:pPr lvl="1">
              <a:buFontTx/>
              <a:buChar char="-"/>
            </a:pPr>
            <a:r>
              <a:rPr lang="en-US" sz="1600" dirty="0"/>
              <a:t>Menu </a:t>
            </a:r>
            <a:r>
              <a:rPr lang="en-US" sz="1600" dirty="0" err="1"/>
              <a:t>sekuensial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task yang </a:t>
            </a:r>
            <a:r>
              <a:rPr lang="en-US" sz="1600" dirty="0" err="1"/>
              <a:t>sederhana</a:t>
            </a:r>
            <a:endParaRPr lang="en-US" sz="1600" dirty="0"/>
          </a:p>
          <a:p>
            <a:pPr lvl="1">
              <a:buFontTx/>
              <a:buChar char="-"/>
            </a:pPr>
            <a:r>
              <a:rPr lang="en-US" sz="1600" dirty="0"/>
              <a:t>Menu </a:t>
            </a:r>
            <a:r>
              <a:rPr lang="en-US" sz="1600" dirty="0" err="1"/>
              <a:t>simultan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task yang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balik</a:t>
            </a:r>
            <a:endParaRPr lang="en-US" sz="1600" dirty="0"/>
          </a:p>
          <a:p>
            <a:pPr eaLnBrk="1" hangingPunct="1">
              <a:buFontTx/>
              <a:buNone/>
            </a:pPr>
            <a:r>
              <a:rPr lang="en-US" sz="1600" dirty="0"/>
              <a:t>b.  </a:t>
            </a:r>
            <a:r>
              <a:rPr lang="en-US" sz="1600" dirty="0" err="1"/>
              <a:t>Jaga</a:t>
            </a:r>
            <a:r>
              <a:rPr lang="en-US" sz="1600" dirty="0"/>
              <a:t> </a:t>
            </a:r>
            <a:r>
              <a:rPr lang="en-US" sz="1600" dirty="0" err="1"/>
              <a:t>halaman</a:t>
            </a:r>
            <a:r>
              <a:rPr lang="en-US" sz="1600" dirty="0"/>
              <a:t> </a:t>
            </a:r>
            <a:r>
              <a:rPr lang="en-US" sz="1600" dirty="0" err="1"/>
              <a:t>navigasi</a:t>
            </a:r>
            <a:r>
              <a:rPr lang="en-US" sz="1600" dirty="0"/>
              <a:t> </a:t>
            </a:r>
            <a:r>
              <a:rPr lang="en-US" sz="1600" dirty="0" err="1"/>
              <a:t>supaya</a:t>
            </a:r>
            <a:r>
              <a:rPr lang="en-US" sz="1600" dirty="0"/>
              <a:t> </a:t>
            </a:r>
            <a:r>
              <a:rPr lang="en-US" sz="1600" dirty="0" err="1"/>
              <a:t>tetap</a:t>
            </a:r>
            <a:r>
              <a:rPr lang="en-US" sz="1600" dirty="0"/>
              <a:t> </a:t>
            </a:r>
            <a:r>
              <a:rPr lang="en-US" sz="1600" dirty="0" err="1"/>
              <a:t>pendek</a:t>
            </a:r>
            <a:endParaRPr lang="en-US" sz="1600" dirty="0"/>
          </a:p>
          <a:p>
            <a:pPr eaLnBrk="1" hangingPunct="1">
              <a:buFontTx/>
              <a:buNone/>
            </a:pPr>
            <a:r>
              <a:rPr lang="en-US" sz="1600" dirty="0"/>
              <a:t>c.  </a:t>
            </a:r>
            <a:r>
              <a:rPr lang="en-US" sz="1600" dirty="0" err="1"/>
              <a:t>Batasi</a:t>
            </a:r>
            <a:r>
              <a:rPr lang="en-US" sz="1600" dirty="0"/>
              <a:t> </a:t>
            </a:r>
            <a:r>
              <a:rPr lang="en-US" sz="1600" dirty="0" err="1"/>
              <a:t>teks</a:t>
            </a:r>
            <a:r>
              <a:rPr lang="en-US" sz="1600" dirty="0"/>
              <a:t> </a:t>
            </a:r>
            <a:r>
              <a:rPr lang="en-US" sz="1600" dirty="0" err="1"/>
              <a:t>prosa</a:t>
            </a:r>
            <a:endParaRPr lang="en-US" sz="1600" dirty="0"/>
          </a:p>
          <a:p>
            <a:pPr eaLnBrk="1" hangingPunct="1">
              <a:buFontTx/>
              <a:buNone/>
            </a:pPr>
            <a:r>
              <a:rPr lang="en-US" sz="1600" dirty="0"/>
              <a:t>d.  Scrolling</a:t>
            </a:r>
          </a:p>
          <a:p>
            <a:pPr lvl="1">
              <a:buFontTx/>
              <a:buChar char="-"/>
            </a:pPr>
            <a:r>
              <a:rPr lang="en-US" sz="1700" dirty="0" err="1"/>
              <a:t>Hindari</a:t>
            </a:r>
            <a:r>
              <a:rPr lang="en-US" sz="1700" dirty="0"/>
              <a:t> scrolling </a:t>
            </a:r>
            <a:r>
              <a:rPr lang="en-US" sz="1700" dirty="0" err="1"/>
              <a:t>halaman</a:t>
            </a:r>
            <a:r>
              <a:rPr lang="en-US" sz="1700" dirty="0"/>
              <a:t> </a:t>
            </a:r>
            <a:r>
              <a:rPr lang="en-US" sz="1700" dirty="0" err="1"/>
              <a:t>navigasi</a:t>
            </a:r>
            <a:endParaRPr lang="en-US" sz="1700" dirty="0"/>
          </a:p>
          <a:p>
            <a:pPr lvl="1">
              <a:buFontTx/>
              <a:buChar char="-"/>
            </a:pPr>
            <a:r>
              <a:rPr lang="en-US" sz="1700" dirty="0" err="1"/>
              <a:t>Batasi</a:t>
            </a:r>
            <a:r>
              <a:rPr lang="en-US" sz="1700" dirty="0"/>
              <a:t> scrolling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melihat</a:t>
            </a:r>
            <a:r>
              <a:rPr lang="en-US" sz="1700" dirty="0"/>
              <a:t> </a:t>
            </a:r>
            <a:r>
              <a:rPr lang="en-US" sz="1700" dirty="0" err="1"/>
              <a:t>semua</a:t>
            </a:r>
            <a:r>
              <a:rPr lang="en-US" sz="1700" dirty="0"/>
              <a:t> link </a:t>
            </a:r>
            <a:r>
              <a:rPr lang="en-US" sz="1700" dirty="0" err="1"/>
              <a:t>pada</a:t>
            </a:r>
            <a:r>
              <a:rPr lang="en-US" sz="1700" dirty="0"/>
              <a:t> </a:t>
            </a:r>
            <a:r>
              <a:rPr lang="en-US" sz="1700" dirty="0" err="1"/>
              <a:t>halaman</a:t>
            </a:r>
            <a:r>
              <a:rPr lang="en-US" sz="1700" dirty="0"/>
              <a:t> </a:t>
            </a:r>
            <a:r>
              <a:rPr lang="en-US" sz="1700" dirty="0" err="1"/>
              <a:t>daftar</a:t>
            </a:r>
            <a:r>
              <a:rPr lang="en-US" sz="1700" dirty="0"/>
              <a:t> </a:t>
            </a:r>
            <a:r>
              <a:rPr lang="en-US" sz="1700" dirty="0" err="1"/>
              <a:t>isi</a:t>
            </a:r>
            <a:endParaRPr lang="en-US" sz="1700" dirty="0"/>
          </a:p>
          <a:p>
            <a:pPr lvl="1">
              <a:buFontTx/>
              <a:buChar char="-"/>
            </a:pPr>
            <a:r>
              <a:rPr lang="en-US" sz="1700" dirty="0" err="1"/>
              <a:t>Hindari</a:t>
            </a:r>
            <a:r>
              <a:rPr lang="en-US" sz="1700" dirty="0"/>
              <a:t> </a:t>
            </a:r>
            <a:r>
              <a:rPr lang="en-US" sz="1700" dirty="0" err="1"/>
              <a:t>horisontal</a:t>
            </a:r>
            <a:r>
              <a:rPr lang="en-US" sz="1700" dirty="0"/>
              <a:t> scrolling</a:t>
            </a:r>
          </a:p>
        </p:txBody>
      </p:sp>
    </p:spTree>
    <p:extLst>
      <p:ext uri="{BB962C8B-B14F-4D97-AF65-F5344CB8AC3E}">
        <p14:creationId xmlns:p14="http://schemas.microsoft.com/office/powerpoint/2010/main" val="590389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 err="1"/>
              <a:t>Panduan</a:t>
            </a:r>
            <a:r>
              <a:rPr lang="en-ID" dirty="0"/>
              <a:t> Per</a:t>
            </a:r>
            <a:r>
              <a:rPr lang="id-ID" dirty="0"/>
              <a:t>ancangan </a:t>
            </a:r>
            <a:r>
              <a:rPr lang="en-US" dirty="0" err="1"/>
              <a:t>Navigasi</a:t>
            </a:r>
            <a:r>
              <a:rPr lang="en-US" dirty="0"/>
              <a:t> Website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800" b="1" dirty="0"/>
              <a:t>4. </a:t>
            </a:r>
            <a:r>
              <a:rPr lang="en-US" sz="1800" b="1" dirty="0" err="1"/>
              <a:t>Komponen</a:t>
            </a:r>
            <a:r>
              <a:rPr lang="en-US" sz="1800" b="1" dirty="0"/>
              <a:t> </a:t>
            </a:r>
            <a:r>
              <a:rPr lang="en-US" sz="1800" b="1" dirty="0" err="1"/>
              <a:t>Sistem</a:t>
            </a:r>
            <a:r>
              <a:rPr lang="en-US" sz="1800" b="1" dirty="0"/>
              <a:t> </a:t>
            </a:r>
            <a:r>
              <a:rPr lang="en-US" sz="1800" b="1" dirty="0" err="1"/>
              <a:t>Navigasi</a:t>
            </a:r>
            <a:endParaRPr lang="en-US" sz="1800" b="1" dirty="0"/>
          </a:p>
          <a:p>
            <a:pPr>
              <a:buFontTx/>
              <a:buNone/>
            </a:pPr>
            <a:r>
              <a:rPr lang="en-US" sz="1600" dirty="0"/>
              <a:t>     </a:t>
            </a:r>
            <a:r>
              <a:rPr lang="en-US" sz="1600" dirty="0" err="1"/>
              <a:t>Semua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navigasi</a:t>
            </a:r>
            <a:r>
              <a:rPr lang="en-US" sz="1600" dirty="0"/>
              <a:t> </a:t>
            </a:r>
            <a:r>
              <a:rPr lang="en-US" sz="1600" dirty="0" err="1"/>
              <a:t>haruslah</a:t>
            </a:r>
            <a:r>
              <a:rPr lang="en-US" sz="1600" dirty="0"/>
              <a:t> : </a:t>
            </a:r>
            <a:r>
              <a:rPr lang="en-US" sz="1600" dirty="0" err="1"/>
              <a:t>selalu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, </a:t>
            </a:r>
            <a:r>
              <a:rPr lang="en-US" sz="1600" dirty="0" err="1"/>
              <a:t>jelas</a:t>
            </a:r>
            <a:r>
              <a:rPr lang="en-US" sz="1600" dirty="0"/>
              <a:t>, </a:t>
            </a:r>
            <a:r>
              <a:rPr lang="en-US" sz="1600" dirty="0" err="1"/>
              <a:t>konsisten</a:t>
            </a:r>
            <a:r>
              <a:rPr lang="en-US" sz="1600" dirty="0"/>
              <a:t> </a:t>
            </a:r>
            <a:r>
              <a:rPr lang="en-US" sz="1600" dirty="0" err="1"/>
              <a:t>tampilan</a:t>
            </a:r>
            <a:r>
              <a:rPr lang="en-US" sz="1600" dirty="0"/>
              <a:t>; </a:t>
            </a:r>
            <a:r>
              <a:rPr lang="en-US" sz="1600" dirty="0" err="1"/>
              <a:t>fungsi</a:t>
            </a:r>
            <a:r>
              <a:rPr lang="en-US" sz="1600" dirty="0"/>
              <a:t>;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urutannya</a:t>
            </a:r>
            <a:r>
              <a:rPr lang="en-US" sz="1600" dirty="0"/>
              <a:t>.</a:t>
            </a:r>
          </a:p>
          <a:p>
            <a:pPr>
              <a:buFontTx/>
              <a:buNone/>
            </a:pPr>
            <a:endParaRPr lang="en-US" sz="1600" dirty="0"/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1" y="3099590"/>
            <a:ext cx="4567254" cy="3306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flipV="1">
            <a:off x="4724400" y="3352800"/>
            <a:ext cx="281940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453658" y="3581400"/>
            <a:ext cx="5085397" cy="990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715000" y="3805084"/>
            <a:ext cx="1752600" cy="919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648200" y="4299919"/>
            <a:ext cx="3079955" cy="1415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39055" y="3099590"/>
            <a:ext cx="1452545" cy="120032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Website</a:t>
            </a:r>
          </a:p>
        </p:txBody>
      </p:sp>
    </p:spTree>
    <p:extLst>
      <p:ext uri="{BB962C8B-B14F-4D97-AF65-F5344CB8AC3E}">
        <p14:creationId xmlns:p14="http://schemas.microsoft.com/office/powerpoint/2010/main" val="2704061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0DF7-22C4-489C-9E55-96C4A983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Links Obvious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15452-D05B-4039-91C5-E296230E0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Use meaningful link labels </a:t>
            </a:r>
          </a:p>
          <a:p>
            <a:pPr lvl="1"/>
            <a:r>
              <a:rPr lang="en-US" dirty="0"/>
              <a:t>Text is preferable to graphics; label graphic links </a:t>
            </a:r>
          </a:p>
          <a:p>
            <a:r>
              <a:rPr lang="en-US" sz="2000" dirty="0"/>
              <a:t>Use color changes to indicate when a link has been visited </a:t>
            </a:r>
          </a:p>
          <a:p>
            <a:r>
              <a:rPr lang="en-US" sz="2000" dirty="0"/>
              <a:t>Distinguish internal and external links </a:t>
            </a:r>
          </a:p>
          <a:p>
            <a:r>
              <a:rPr lang="en-US" sz="2000" dirty="0"/>
              <a:t>Duplicate links to important site content to ensure users can find it </a:t>
            </a:r>
          </a:p>
          <a:p>
            <a:r>
              <a:rPr lang="en-US" sz="2000" dirty="0"/>
              <a:t>Provide consistent cues to links, avoid misleading cues to click non-links </a:t>
            </a:r>
          </a:p>
          <a:p>
            <a:pPr lvl="1"/>
            <a:r>
              <a:rPr lang="en-US" dirty="0"/>
              <a:t>E.g., underlined blue text, images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96075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BFDB-258B-45B3-9C08-0AD1C8D4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Browsing and Searching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B2EC-CBC1-43E4-85A5-0E83A7B6E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User wants to find something – browse or search? </a:t>
            </a:r>
          </a:p>
          <a:p>
            <a:r>
              <a:rPr lang="en-US" sz="2000" dirty="0"/>
              <a:t>Browsing </a:t>
            </a:r>
          </a:p>
          <a:p>
            <a:pPr lvl="1"/>
            <a:r>
              <a:rPr lang="en-US" sz="1600" dirty="0"/>
              <a:t>Versus the real world – no sense of scale, direction, or location (e.g. </a:t>
            </a:r>
            <a:r>
              <a:rPr lang="en-US" sz="2000" dirty="0"/>
              <a:t>search in real store) </a:t>
            </a:r>
          </a:p>
          <a:p>
            <a:r>
              <a:rPr lang="en-US" sz="2000" dirty="0"/>
              <a:t>Searching - users are really not that good at forming effective queries </a:t>
            </a:r>
          </a:p>
          <a:p>
            <a:pPr lvl="1"/>
            <a:r>
              <a:rPr lang="en-US" sz="1600" dirty="0"/>
              <a:t>So help the user find the desired page </a:t>
            </a:r>
          </a:p>
          <a:p>
            <a:pPr lvl="2"/>
            <a:r>
              <a:rPr lang="en-US" dirty="0"/>
              <a:t>Auto complete </a:t>
            </a:r>
          </a:p>
          <a:p>
            <a:pPr lvl="2"/>
            <a:r>
              <a:rPr lang="en-US" dirty="0"/>
              <a:t>Auto suggest to disambiguate </a:t>
            </a:r>
          </a:p>
          <a:p>
            <a:pPr lvl="2"/>
            <a:r>
              <a:rPr lang="en-US" dirty="0"/>
              <a:t>Suggest keywords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2398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Menu </a:t>
            </a:r>
            <a:r>
              <a:rPr lang="en-US" dirty="0" err="1"/>
              <a:t>Grafis</a:t>
            </a:r>
            <a:endParaRPr lang="en-US" dirty="0"/>
          </a:p>
        </p:txBody>
      </p:sp>
      <p:pic>
        <p:nvPicPr>
          <p:cNvPr id="3072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501649" y="1295400"/>
            <a:ext cx="8140700" cy="4432300"/>
          </a:xfrm>
          <a:noFill/>
        </p:spPr>
      </p:pic>
    </p:spTree>
    <p:extLst>
      <p:ext uri="{BB962C8B-B14F-4D97-AF65-F5344CB8AC3E}">
        <p14:creationId xmlns:p14="http://schemas.microsoft.com/office/powerpoint/2010/main" val="4248395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32908" y="3276600"/>
            <a:ext cx="4987119" cy="181588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Step 5</a:t>
            </a:r>
            <a:br>
              <a:rPr lang="en-US" sz="1600" b="1" dirty="0">
                <a:latin typeface="+mj-lt"/>
              </a:rPr>
            </a:br>
            <a:r>
              <a:rPr lang="en-GB" sz="1600" b="1" dirty="0">
                <a:latin typeface="+mj-lt"/>
                <a:cs typeface="Arial" panose="020B0604020202020204" pitchFamily="34" charset="0"/>
              </a:rPr>
              <a:t>Select the Proper Kinds of Window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2296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1"/>
              <a:t>Setelah mengikuti materi ini mahasiswa dapat:</a:t>
            </a:r>
          </a:p>
          <a:p>
            <a:pPr marL="0" indent="0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 </a:t>
            </a:r>
            <a:r>
              <a:rPr lang="en-US" dirty="0" err="1"/>
              <a:t>merancang</a:t>
            </a:r>
            <a:r>
              <a:rPr lang="en-US" dirty="0"/>
              <a:t> windows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2388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Outline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Karakteristik</a:t>
            </a:r>
            <a:r>
              <a:rPr lang="en-ID" dirty="0"/>
              <a:t> &amp; </a:t>
            </a:r>
            <a:r>
              <a:rPr lang="en-ID" dirty="0" err="1"/>
              <a:t>Komponen</a:t>
            </a:r>
            <a:r>
              <a:rPr lang="en-ID" dirty="0"/>
              <a:t> windows</a:t>
            </a:r>
          </a:p>
          <a:p>
            <a:r>
              <a:rPr lang="en-ID" dirty="0" err="1"/>
              <a:t>Tipe</a:t>
            </a:r>
            <a:r>
              <a:rPr lang="en-ID" dirty="0"/>
              <a:t> </a:t>
            </a:r>
            <a:r>
              <a:rPr lang="en-ID" dirty="0" err="1"/>
              <a:t>dan</a:t>
            </a:r>
            <a:r>
              <a:rPr lang="en-ID" dirty="0"/>
              <a:t> Gaya </a:t>
            </a:r>
            <a:r>
              <a:rPr lang="en-ID" dirty="0" err="1"/>
              <a:t>Tampilan</a:t>
            </a:r>
            <a:r>
              <a:rPr lang="en-ID" dirty="0"/>
              <a:t> windows</a:t>
            </a:r>
          </a:p>
          <a:p>
            <a:r>
              <a:rPr lang="en-ID" dirty="0" err="1"/>
              <a:t>Contoh</a:t>
            </a:r>
            <a:r>
              <a:rPr lang="en-ID" dirty="0"/>
              <a:t> 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38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1035" y="23622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ID" dirty="0" err="1"/>
              <a:t>Karakteristik</a:t>
            </a:r>
            <a:r>
              <a:rPr lang="en-ID" dirty="0"/>
              <a:t> &amp; </a:t>
            </a:r>
            <a:r>
              <a:rPr lang="en-ID" dirty="0" err="1"/>
              <a:t>Komponen</a:t>
            </a:r>
            <a:r>
              <a:rPr lang="en-ID" dirty="0"/>
              <a:t> 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59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1"/>
              <a:t>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noProof="1"/>
              <a:t>Window adalah sebuah area di layar, biasanya berbentuk persegi empat, memiliki batas-batas dan memiliki bagian yang menunjukkan aktivitas komputer atau bagian yang memungkinkan manusia berdialog dengan komputer.</a:t>
            </a:r>
          </a:p>
          <a:p>
            <a:endParaRPr lang="en-US" sz="2000" dirty="0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599" y="3633239"/>
            <a:ext cx="2895600" cy="219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3486428"/>
            <a:ext cx="2540000" cy="199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65011" y="4520405"/>
            <a:ext cx="299085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010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Perbedaan</a:t>
            </a:r>
            <a:r>
              <a:rPr lang="en-US" sz="2400" dirty="0"/>
              <a:t> </a:t>
            </a:r>
            <a:r>
              <a:rPr lang="en-US" sz="2400" dirty="0" err="1"/>
              <a:t>Istilah</a:t>
            </a:r>
            <a:r>
              <a:rPr lang="en-US" sz="2400" dirty="0"/>
              <a:t> pada </a:t>
            </a:r>
            <a:r>
              <a:rPr lang="en-US" sz="2400" dirty="0" err="1"/>
              <a:t>beberapa</a:t>
            </a:r>
            <a:r>
              <a:rPr lang="en-US" sz="2400" dirty="0"/>
              <a:t> platform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800" b="1" noProof="1"/>
              <a:t>Window</a:t>
            </a:r>
            <a:r>
              <a:rPr lang="en-US" sz="2000" noProof="1"/>
              <a:t> merupakan istilah yang digunakan untuk frame dan body sebuah aplikasi yang berjalan pada desktop platform seperti Windows, Mac, Linux.</a:t>
            </a:r>
          </a:p>
          <a:p>
            <a:pPr algn="just"/>
            <a:r>
              <a:rPr lang="en-US" sz="2000" b="1" dirty="0"/>
              <a:t>Page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istilah</a:t>
            </a:r>
            <a:r>
              <a:rPr lang="en-US" sz="2000" dirty="0"/>
              <a:t> yang </a:t>
            </a:r>
            <a:r>
              <a:rPr lang="en-US" sz="2000" dirty="0" err="1"/>
              <a:t>digunakan</a:t>
            </a:r>
            <a:r>
              <a:rPr lang="en-US" sz="2000" dirty="0"/>
              <a:t> untuk </a:t>
            </a:r>
            <a:r>
              <a:rPr lang="en-US" sz="2000" dirty="0" err="1"/>
              <a:t>halaman</a:t>
            </a:r>
            <a:r>
              <a:rPr lang="en-US" sz="2000" dirty="0"/>
              <a:t> yang </a:t>
            </a:r>
            <a:r>
              <a:rPr lang="en-US" sz="2000" dirty="0" err="1"/>
              <a:t>berisi</a:t>
            </a:r>
            <a:r>
              <a:rPr lang="en-US" sz="2000" dirty="0"/>
              <a:t> </a:t>
            </a:r>
            <a:r>
              <a:rPr lang="en-US" sz="2000" dirty="0" err="1"/>
              <a:t>konten</a:t>
            </a:r>
            <a:r>
              <a:rPr lang="en-US" sz="2000" dirty="0"/>
              <a:t> dan </a:t>
            </a:r>
            <a:r>
              <a:rPr lang="en-US" sz="2000" dirty="0" err="1"/>
              <a:t>navigasi</a:t>
            </a:r>
            <a:r>
              <a:rPr lang="en-US" sz="2000" dirty="0"/>
              <a:t> pada webpage dan web application.</a:t>
            </a:r>
          </a:p>
          <a:p>
            <a:pPr algn="just"/>
            <a:r>
              <a:rPr lang="en-US" sz="2000" b="1" dirty="0"/>
              <a:t>Screen </a:t>
            </a: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istilah</a:t>
            </a:r>
            <a:r>
              <a:rPr lang="en-US" sz="2000" dirty="0"/>
              <a:t> yang </a:t>
            </a:r>
            <a:r>
              <a:rPr lang="en-US" sz="2000" dirty="0" err="1"/>
              <a:t>digunakan</a:t>
            </a:r>
            <a:r>
              <a:rPr lang="en-US" sz="2000" dirty="0"/>
              <a:t> untuk container yang </a:t>
            </a:r>
            <a:r>
              <a:rPr lang="en-US" sz="2000" dirty="0" err="1"/>
              <a:t>menampung</a:t>
            </a:r>
            <a:r>
              <a:rPr lang="en-US" sz="2000" dirty="0"/>
              <a:t> </a:t>
            </a:r>
            <a:r>
              <a:rPr lang="en-US" sz="2000" dirty="0" err="1"/>
              <a:t>elemen-elemen</a:t>
            </a:r>
            <a:r>
              <a:rPr lang="en-US" sz="2000" dirty="0"/>
              <a:t> </a:t>
            </a:r>
            <a:r>
              <a:rPr lang="en-US" sz="2000" dirty="0" err="1"/>
              <a:t>ui</a:t>
            </a:r>
            <a:r>
              <a:rPr lang="en-US" sz="2000" dirty="0"/>
              <a:t> pada </a:t>
            </a:r>
            <a:r>
              <a:rPr lang="en-US" sz="2000" dirty="0" err="1"/>
              <a:t>aplikasi</a:t>
            </a:r>
            <a:r>
              <a:rPr lang="en-US" sz="2000" dirty="0"/>
              <a:t> mobile </a:t>
            </a:r>
            <a:r>
              <a:rPr lang="en-US" sz="2000" dirty="0" err="1"/>
              <a:t>seperti</a:t>
            </a:r>
            <a:r>
              <a:rPr lang="en-US" sz="2000" dirty="0"/>
              <a:t> pada OS android dan </a:t>
            </a:r>
            <a:r>
              <a:rPr lang="en-US" sz="2000" dirty="0" err="1"/>
              <a:t>ios</a:t>
            </a:r>
            <a:r>
              <a:rPr lang="en-US" sz="2000" dirty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32607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1"/>
              <a:t>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noProof="1"/>
              <a:t>Konsep window berlaku bukan hanya pada Sistem Operasi Windows saja, namun juga berlaku untuk Mac dan Linux.</a:t>
            </a:r>
          </a:p>
          <a:p>
            <a:r>
              <a:rPr lang="en-US" sz="2000" noProof="1"/>
              <a:t>Pada Linux, window manager tergantung dari distro (contoh: Ubuntu, Linux Mint) dan environtmentnya (contoh: GNOME, KDE, MATE). Pada KDE contohnya window dikenal juga dengan istilah </a:t>
            </a:r>
            <a:r>
              <a:rPr lang="en-US" sz="2000" i="1" noProof="1"/>
              <a:t>application.</a:t>
            </a:r>
            <a:endParaRPr lang="en-US" sz="2000" noProof="1"/>
          </a:p>
          <a:p>
            <a:r>
              <a:rPr lang="en-US" sz="2000" noProof="1"/>
              <a:t>Pada </a:t>
            </a:r>
            <a:r>
              <a:rPr lang="en-US" sz="2000" b="1" noProof="1"/>
              <a:t>Mac OS </a:t>
            </a:r>
            <a:r>
              <a:rPr lang="en-US" sz="2000" noProof="1"/>
              <a:t>sebuah </a:t>
            </a:r>
            <a:r>
              <a:rPr lang="en-US" sz="2000" dirty="0"/>
              <a:t>window </a:t>
            </a:r>
            <a:r>
              <a:rPr lang="en-US" sz="2000" dirty="0" err="1"/>
              <a:t>didefinisikan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b="1" dirty="0"/>
              <a:t>frame area dan body area </a:t>
            </a:r>
            <a:r>
              <a:rPr lang="en-US" sz="2000" dirty="0"/>
              <a:t>yang </a:t>
            </a:r>
            <a:r>
              <a:rPr lang="en-US" sz="2000" dirty="0" err="1"/>
              <a:t>memungkinkan</a:t>
            </a:r>
            <a:r>
              <a:rPr lang="en-US" sz="2000" dirty="0"/>
              <a:t> user </a:t>
            </a:r>
            <a:r>
              <a:rPr lang="en-US" sz="2000" dirty="0" err="1"/>
              <a:t>melihat</a:t>
            </a:r>
            <a:r>
              <a:rPr lang="en-US" sz="2000" dirty="0"/>
              <a:t> dan </a:t>
            </a:r>
            <a:r>
              <a:rPr lang="en-US" sz="2000" dirty="0" err="1"/>
              <a:t>berinteraksi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konten</a:t>
            </a:r>
            <a:r>
              <a:rPr lang="en-US" sz="2000" dirty="0"/>
              <a:t> pada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aplikasi</a:t>
            </a:r>
            <a:r>
              <a:rPr 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54253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Karakteristik</a:t>
            </a:r>
            <a:r>
              <a:rPr lang="en-US" dirty="0"/>
              <a:t> Window</a:t>
            </a:r>
          </a:p>
        </p:txBody>
      </p:sp>
      <p:sp>
        <p:nvSpPr>
          <p:cNvPr id="5125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,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identitas</a:t>
            </a:r>
            <a:r>
              <a:rPr lang="en-US" dirty="0"/>
              <a:t> window</a:t>
            </a:r>
          </a:p>
          <a:p>
            <a:pPr eaLnBrk="1" hangingPunct="1"/>
            <a:r>
              <a:rPr lang="en-US" dirty="0" err="1"/>
              <a:t>Ukuran</a:t>
            </a:r>
            <a:r>
              <a:rPr lang="en-US" dirty="0"/>
              <a:t> (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lebar</a:t>
            </a:r>
            <a:r>
              <a:rPr lang="en-US" dirty="0"/>
              <a:t>)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bervariasi</a:t>
            </a:r>
            <a:endParaRPr lang="en-US" dirty="0"/>
          </a:p>
          <a:p>
            <a:pPr eaLnBrk="1" hangingPunct="1"/>
            <a:r>
              <a:rPr lang="en-US" dirty="0"/>
              <a:t>Status: </a:t>
            </a:r>
            <a:r>
              <a:rPr lang="en-US" dirty="0" err="1"/>
              <a:t>aktif</a:t>
            </a:r>
            <a:r>
              <a:rPr lang="en-US" dirty="0"/>
              <a:t> /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pasif</a:t>
            </a:r>
            <a:r>
              <a:rPr lang="en-US" dirty="0"/>
              <a:t> /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diakses</a:t>
            </a:r>
            <a:endParaRPr lang="en-US" dirty="0"/>
          </a:p>
          <a:p>
            <a:pPr eaLnBrk="1" hangingPunct="1"/>
            <a:r>
              <a:rPr lang="en-US" dirty="0" err="1"/>
              <a:t>Visibilitas</a:t>
            </a:r>
            <a:r>
              <a:rPr lang="en-US" dirty="0"/>
              <a:t> –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(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seluruhnya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tersembunyi</a:t>
            </a:r>
            <a:r>
              <a:rPr lang="en-US" dirty="0"/>
              <a:t> di </a:t>
            </a:r>
            <a:r>
              <a:rPr lang="en-US" dirty="0" err="1"/>
              <a:t>balik</a:t>
            </a:r>
            <a:r>
              <a:rPr lang="en-US" dirty="0"/>
              <a:t> window lain)</a:t>
            </a:r>
          </a:p>
          <a:p>
            <a:pPr eaLnBrk="1" hangingPunct="1"/>
            <a:r>
              <a:rPr lang="en-US" dirty="0" err="1"/>
              <a:t>Lokasi</a:t>
            </a:r>
            <a:r>
              <a:rPr lang="en-US" dirty="0"/>
              <a:t>,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</a:t>
            </a:r>
            <a:r>
              <a:rPr lang="en-US" dirty="0" err="1"/>
              <a:t>layar</a:t>
            </a:r>
            <a:endParaRPr lang="en-US" dirty="0"/>
          </a:p>
          <a:p>
            <a:pPr eaLnBrk="1" hangingPunct="1"/>
            <a:r>
              <a:rPr lang="en-US" dirty="0" err="1"/>
              <a:t>Tampilan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windows lain (</a:t>
            </a:r>
            <a:r>
              <a:rPr lang="en-US" i="1" dirty="0"/>
              <a:t>tiled, overlap, cascading</a:t>
            </a:r>
            <a:r>
              <a:rPr lang="en-US" dirty="0"/>
              <a:t>)</a:t>
            </a:r>
          </a:p>
          <a:p>
            <a:pPr eaLnBrk="1" hangingPunct="1"/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,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window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layar</a:t>
            </a:r>
            <a:endParaRPr lang="en-US" dirty="0"/>
          </a:p>
          <a:p>
            <a:pPr eaLnBrk="1" hangingPunct="1"/>
            <a:r>
              <a:rPr lang="en-US" i="1" dirty="0"/>
              <a:t>Highlight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dipilih</a:t>
            </a:r>
            <a:endParaRPr lang="en-US" dirty="0"/>
          </a:p>
          <a:p>
            <a:pPr eaLnBrk="1" hangingPunct="1"/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i="1" dirty="0"/>
              <a:t>task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didukung</a:t>
            </a:r>
            <a:endParaRPr lang="en-US" i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Dukungan</a:t>
            </a:r>
            <a:r>
              <a:rPr lang="en-US" dirty="0"/>
              <a:t> Window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Windows harus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yang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, </a:t>
            </a:r>
            <a:r>
              <a:rPr lang="en-US" dirty="0" err="1"/>
              <a:t>berpindah-pindah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tugas ke tugas lain,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dihentikan</a:t>
            </a:r>
            <a:r>
              <a:rPr lang="en-US" dirty="0"/>
              <a:t> </a:t>
            </a:r>
            <a:r>
              <a:rPr lang="en-US" dirty="0" err="1"/>
              <a:t>sewaktu-waktu</a:t>
            </a:r>
            <a:r>
              <a:rPr lang="en-US" dirty="0"/>
              <a:t>, </a:t>
            </a:r>
            <a:r>
              <a:rPr lang="en-US" dirty="0" err="1"/>
              <a:t>diulang</a:t>
            </a:r>
            <a:r>
              <a:rPr lang="en-US" dirty="0"/>
              <a:t>, </a:t>
            </a:r>
            <a:r>
              <a:rPr lang="en-US" dirty="0" err="1"/>
              <a:t>diubah</a:t>
            </a:r>
            <a:r>
              <a:rPr lang="en-US" dirty="0"/>
              <a:t> dan </a:t>
            </a:r>
            <a:r>
              <a:rPr lang="en-US" dirty="0" err="1"/>
              <a:t>dilanjutkan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Windows</a:t>
            </a:r>
            <a:r>
              <a:rPr lang="en-US" dirty="0"/>
              <a:t> harus </a:t>
            </a:r>
            <a:r>
              <a:rPr lang="en-US" dirty="0" err="1"/>
              <a:t>meringankan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manusia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56272" y="1270678"/>
            <a:ext cx="2590800" cy="1949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87924C5-6A59-49AE-A1EB-4471C32DA757}"/>
              </a:ext>
            </a:extLst>
          </p:cNvPr>
          <p:cNvSpPr txBox="1">
            <a:spLocks/>
          </p:cNvSpPr>
          <p:nvPr/>
        </p:nvSpPr>
        <p:spPr bwMode="auto">
          <a:xfrm>
            <a:off x="10885" y="4653046"/>
            <a:ext cx="5425439" cy="1113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7F5F3D-CD46-47EF-B786-931C71D35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716" y="4714668"/>
            <a:ext cx="3544572" cy="16359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F3FADF-93F4-4B8D-BDDA-01C47A5B5A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659872"/>
            <a:ext cx="3304003" cy="229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86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Tampilan</a:t>
            </a:r>
            <a:r>
              <a:rPr lang="en-US" dirty="0"/>
              <a:t>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err="1"/>
              <a:t>Menampilkan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level</a:t>
            </a:r>
          </a:p>
          <a:p>
            <a:r>
              <a:rPr lang="en-US" sz="1600" dirty="0" err="1"/>
              <a:t>Menampilkan</a:t>
            </a:r>
            <a:r>
              <a:rPr lang="en-US" sz="1600" dirty="0"/>
              <a:t> </a:t>
            </a:r>
            <a:r>
              <a:rPr lang="en-US" sz="1600" dirty="0" err="1"/>
              <a:t>berbagai</a:t>
            </a:r>
            <a:r>
              <a:rPr lang="en-US" sz="1600" dirty="0"/>
              <a:t> </a:t>
            </a:r>
            <a:r>
              <a:rPr lang="en-US" sz="1600" dirty="0" err="1"/>
              <a:t>jenis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endParaRPr lang="en-US" sz="1600" dirty="0"/>
          </a:p>
          <a:p>
            <a:r>
              <a:rPr lang="en-US" sz="1600" dirty="0" err="1"/>
              <a:t>Menampilkan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level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jenis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sekuensial</a:t>
            </a:r>
            <a:endParaRPr lang="en-US" sz="1600" dirty="0"/>
          </a:p>
          <a:p>
            <a:r>
              <a:rPr lang="en-US" sz="1600" dirty="0" err="1"/>
              <a:t>Mengakses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mengkombinasikan</a:t>
            </a:r>
            <a:r>
              <a:rPr lang="en-US" sz="1600" dirty="0"/>
              <a:t> </a:t>
            </a:r>
            <a:r>
              <a:rPr lang="en-US" sz="1600" dirty="0" err="1"/>
              <a:t>berbagai</a:t>
            </a:r>
            <a:r>
              <a:rPr lang="en-US" sz="1600" dirty="0"/>
              <a:t> </a:t>
            </a:r>
            <a:r>
              <a:rPr lang="en-US" sz="1600" dirty="0" err="1"/>
              <a:t>sumber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endParaRPr lang="en-US" sz="1600" dirty="0"/>
          </a:p>
          <a:p>
            <a:r>
              <a:rPr lang="en-US" sz="1600" dirty="0" err="1"/>
              <a:t>Melaksanakan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i="1" dirty="0"/>
              <a:t>task</a:t>
            </a:r>
          </a:p>
          <a:p>
            <a:r>
              <a:rPr lang="en-US" sz="1600" dirty="0" err="1"/>
              <a:t>Mengingatkan</a:t>
            </a:r>
            <a:r>
              <a:rPr lang="en-US" sz="1600" dirty="0"/>
              <a:t> </a:t>
            </a:r>
            <a:r>
              <a:rPr lang="en-US" sz="1600" dirty="0" err="1"/>
              <a:t>pengguna</a:t>
            </a:r>
            <a:r>
              <a:rPr lang="en-US" sz="1600" dirty="0"/>
              <a:t> (</a:t>
            </a:r>
            <a:r>
              <a:rPr lang="en-US" sz="1600" dirty="0" err="1"/>
              <a:t>pilihan</a:t>
            </a:r>
            <a:r>
              <a:rPr lang="en-US" sz="1600" dirty="0"/>
              <a:t> menu, </a:t>
            </a:r>
            <a:r>
              <a:rPr lang="en-US" sz="1600" dirty="0" err="1"/>
              <a:t>rencana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Mengawasi</a:t>
            </a:r>
            <a:r>
              <a:rPr lang="en-US" sz="1600" dirty="0"/>
              <a:t> </a:t>
            </a:r>
            <a:r>
              <a:rPr lang="en-US" sz="1600" dirty="0" err="1"/>
              <a:t>perubahan</a:t>
            </a:r>
            <a:r>
              <a:rPr lang="en-US" sz="1600" dirty="0"/>
              <a:t> internal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eksternal</a:t>
            </a:r>
            <a:endParaRPr lang="en-US" sz="1600" dirty="0"/>
          </a:p>
          <a:p>
            <a:r>
              <a:rPr lang="en-US" sz="1600" dirty="0" err="1"/>
              <a:t>Menampilkan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task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beberapa</a:t>
            </a:r>
            <a:r>
              <a:rPr lang="en-US" sz="1600" dirty="0"/>
              <a:t> </a:t>
            </a:r>
            <a:r>
              <a:rPr lang="en-US" sz="1600" dirty="0" err="1"/>
              <a:t>representasi</a:t>
            </a:r>
            <a:r>
              <a:rPr lang="en-US" sz="1600" dirty="0"/>
              <a:t> yang </a:t>
            </a:r>
            <a:r>
              <a:rPr lang="en-US" sz="1600" dirty="0" err="1"/>
              <a:t>berbeda</a:t>
            </a:r>
            <a:endParaRPr lang="en-US" sz="1600" dirty="0"/>
          </a:p>
          <a:p>
            <a:r>
              <a:rPr lang="en-US" sz="1600" dirty="0" err="1"/>
              <a:t>Mengatasi</a:t>
            </a:r>
            <a:r>
              <a:rPr lang="en-US" sz="1600" dirty="0"/>
              <a:t> </a:t>
            </a:r>
            <a:r>
              <a:rPr lang="en-US" sz="1600" dirty="0" err="1"/>
              <a:t>pertimbangan</a:t>
            </a:r>
            <a:r>
              <a:rPr lang="en-US" sz="1600" dirty="0"/>
              <a:t> </a:t>
            </a:r>
            <a:r>
              <a:rPr lang="en-US" sz="1600" dirty="0" err="1"/>
              <a:t>historis</a:t>
            </a:r>
            <a:r>
              <a:rPr lang="en-US" sz="1600" dirty="0"/>
              <a:t>, </a:t>
            </a:r>
            <a:r>
              <a:rPr lang="en-US" sz="1600" dirty="0" err="1"/>
              <a:t>batasan</a:t>
            </a:r>
            <a:r>
              <a:rPr lang="en-US" sz="1600" dirty="0"/>
              <a:t> </a:t>
            </a:r>
            <a:r>
              <a:rPr lang="en-US" sz="1600" dirty="0" err="1"/>
              <a:t>perangkat</a:t>
            </a:r>
            <a:r>
              <a:rPr lang="en-US" sz="1600" dirty="0"/>
              <a:t> </a:t>
            </a:r>
            <a:r>
              <a:rPr lang="en-US" sz="1600" dirty="0" err="1"/>
              <a:t>keras</a:t>
            </a:r>
            <a:r>
              <a:rPr lang="en-US" sz="1600" dirty="0"/>
              <a:t>,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batasan</a:t>
            </a:r>
            <a:r>
              <a:rPr lang="en-US" sz="1600" dirty="0"/>
              <a:t> </a:t>
            </a:r>
            <a:r>
              <a:rPr lang="en-US" sz="1600" dirty="0" err="1"/>
              <a:t>manusia</a:t>
            </a:r>
            <a:endParaRPr lang="en-US" sz="1600" dirty="0"/>
          </a:p>
          <a:p>
            <a:endParaRPr lang="id-ID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Pertimbangan</a:t>
            </a:r>
            <a:r>
              <a:rPr lang="en-US" dirty="0"/>
              <a:t> </a:t>
            </a:r>
            <a:r>
              <a:rPr lang="en-US" dirty="0" err="1"/>
              <a:t>Historis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noProof="1"/>
              <a:t>Panduan desain yang ada biasanya hanya menyelesaikan masalah perangkat keras, tanpa memperhatikan usabilitas</a:t>
            </a:r>
          </a:p>
          <a:p>
            <a:pPr>
              <a:lnSpc>
                <a:spcPct val="150000"/>
              </a:lnSpc>
            </a:pPr>
            <a:r>
              <a:rPr lang="en-US" sz="2000" noProof="1"/>
              <a:t>Standar desain yang ada sangat umum dan terbatas untuk lingkup produk tertentu</a:t>
            </a:r>
          </a:p>
          <a:p>
            <a:pPr>
              <a:lnSpc>
                <a:spcPct val="150000"/>
              </a:lnSpc>
            </a:pPr>
            <a:r>
              <a:rPr lang="en-US" sz="2000" noProof="1"/>
              <a:t>Tiap pengembang memperkenalkan standar dan panduan desain baru yang sesuai dengan produk mereka. Akibatnya, pengguna harus mempelajari gaya desain yang berbeda-beda setiap berhadapan dengan produk tertentu.</a:t>
            </a:r>
          </a:p>
          <a:p>
            <a:endParaRPr lang="id-ID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366907"/>
            <a:ext cx="5721930" cy="7735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/>
              <a:t>Batasan</a:t>
            </a:r>
            <a:r>
              <a:rPr lang="en-US" dirty="0"/>
              <a:t> </a:t>
            </a:r>
            <a:r>
              <a:rPr lang="en-US" i="1" dirty="0"/>
              <a:t>Hardware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Manusia</a:t>
            </a:r>
            <a:endParaRPr lang="en-US" dirty="0"/>
          </a:p>
        </p:txBody>
      </p:sp>
      <p:sp>
        <p:nvSpPr>
          <p:cNvPr id="9221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noProof="1"/>
              <a:t>Ukuran layar yang tersedia seringkali tidak cukup besar bagi pengguna untuk memanfaatkan windowing dengan optimal</a:t>
            </a:r>
          </a:p>
          <a:p>
            <a:pPr eaLnBrk="1" hangingPunct="1">
              <a:lnSpc>
                <a:spcPct val="150000"/>
              </a:lnSpc>
            </a:pPr>
            <a:r>
              <a:rPr lang="en-US" noProof="1"/>
              <a:t>Kecepatan pemrosesan yang rendah dan ukuran memori yang kecil membatasi penggunaan windows; membatasi kemampuan feedback dan animasi, kualitas grafis dan resolusi yang rendah</a:t>
            </a:r>
          </a:p>
          <a:p>
            <a:pPr eaLnBrk="1" hangingPunct="1">
              <a:lnSpc>
                <a:spcPct val="150000"/>
              </a:lnSpc>
            </a:pPr>
            <a:r>
              <a:rPr lang="en-US" noProof="1"/>
              <a:t>Kemampuan windows yang terbatas, mengharuskan pengguna memiliki kemampuan dalam mengelola windowing.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 err="1"/>
              <a:t>Komponen-komponen</a:t>
            </a:r>
            <a:r>
              <a:rPr lang="en-US" sz="2600" dirty="0"/>
              <a:t> Windows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167F8FA-C08E-52E0-27B8-D23973EB5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48683" y="1921412"/>
            <a:ext cx="7845530" cy="432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Frame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Title bar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Title bar icon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Window sizing buttons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Help button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Menu bar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Status/ message bar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Scroll bars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Split box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Tool/ command bar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Command area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Size grip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200" i="1" dirty="0"/>
              <a:t>Work area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047999" y="1932201"/>
            <a:ext cx="5509819" cy="3858999"/>
            <a:chOff x="1752600" y="979488"/>
            <a:chExt cx="6953250" cy="5573712"/>
          </a:xfrm>
        </p:grpSpPr>
        <p:grpSp>
          <p:nvGrpSpPr>
            <p:cNvPr id="9" name="Group 48"/>
            <p:cNvGrpSpPr>
              <a:grpSpLocks/>
            </p:cNvGrpSpPr>
            <p:nvPr/>
          </p:nvGrpSpPr>
          <p:grpSpPr bwMode="auto">
            <a:xfrm>
              <a:off x="4191000" y="990600"/>
              <a:ext cx="4514850" cy="5562600"/>
              <a:chOff x="4191000" y="990600"/>
              <a:chExt cx="4514850" cy="5562600"/>
            </a:xfrm>
          </p:grpSpPr>
          <p:grpSp>
            <p:nvGrpSpPr>
              <p:cNvPr id="22" name="Group 8"/>
              <p:cNvGrpSpPr>
                <a:grpSpLocks/>
              </p:cNvGrpSpPr>
              <p:nvPr/>
            </p:nvGrpSpPr>
            <p:grpSpPr bwMode="auto">
              <a:xfrm>
                <a:off x="4191000" y="990600"/>
                <a:ext cx="4514850" cy="3905250"/>
                <a:chOff x="4191000" y="1143000"/>
                <a:chExt cx="4514850" cy="3905250"/>
              </a:xfrm>
            </p:grpSpPr>
            <p:pic>
              <p:nvPicPr>
                <p:cNvPr id="24" name="Picture 2"/>
                <p:cNvPicPr>
                  <a:picLocks noChangeAspect="1" noChangeArrowheads="1"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4724400" y="1447800"/>
                  <a:ext cx="3981450" cy="3086100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000000">
                      <a:alpha val="70000"/>
                    </a:srgbClr>
                  </a:outerShdw>
                </a:effectLst>
              </p:spPr>
            </p:pic>
            <p:pic>
              <p:nvPicPr>
                <p:cNvPr id="25" name="Picture 3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4191000" y="1143000"/>
                  <a:ext cx="2619375" cy="3905250"/>
                </a:xfrm>
                <a:prstGeom prst="rect">
                  <a:avLst/>
                </a:prstGeom>
                <a:ln>
                  <a:noFill/>
                </a:ln>
                <a:effectLst>
                  <a:outerShdw blurRad="190500" algn="tl" rotWithShape="0">
                    <a:srgbClr val="000000">
                      <a:alpha val="70000"/>
                    </a:srgbClr>
                  </a:outerShdw>
                </a:effectLst>
              </p:spPr>
            </p:pic>
          </p:grpSp>
          <p:pic>
            <p:nvPicPr>
              <p:cNvPr id="23" name="Picture 4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4648200" y="4432300"/>
                <a:ext cx="3657600" cy="2120900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</p:grpSp>
        <p:grpSp>
          <p:nvGrpSpPr>
            <p:cNvPr id="10" name="Group 55"/>
            <p:cNvGrpSpPr>
              <a:grpSpLocks/>
            </p:cNvGrpSpPr>
            <p:nvPr/>
          </p:nvGrpSpPr>
          <p:grpSpPr bwMode="auto">
            <a:xfrm>
              <a:off x="1752600" y="979488"/>
              <a:ext cx="6477000" cy="4964112"/>
              <a:chOff x="1752600" y="979686"/>
              <a:chExt cx="6477000" cy="4963914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1752600" y="1143191"/>
                <a:ext cx="2438400" cy="1295348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1905000" y="1447979"/>
                <a:ext cx="5029200" cy="76197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2438400" y="1143191"/>
                <a:ext cx="1828800" cy="838167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Freeform 13"/>
              <p:cNvSpPr/>
              <p:nvPr/>
            </p:nvSpPr>
            <p:spPr>
              <a:xfrm rot="20556477">
                <a:off x="3268663" y="979686"/>
                <a:ext cx="3124200" cy="936588"/>
              </a:xfrm>
              <a:custGeom>
                <a:avLst/>
                <a:gdLst>
                  <a:gd name="connsiteX0" fmla="*/ 0 w 2774731"/>
                  <a:gd name="connsiteY0" fmla="*/ 1111469 h 1111469"/>
                  <a:gd name="connsiteX1" fmla="*/ 1497724 w 2774731"/>
                  <a:gd name="connsiteY1" fmla="*/ 86710 h 1111469"/>
                  <a:gd name="connsiteX2" fmla="*/ 2774731 w 2774731"/>
                  <a:gd name="connsiteY2" fmla="*/ 591207 h 11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74731" h="1111469">
                    <a:moveTo>
                      <a:pt x="0" y="1111469"/>
                    </a:moveTo>
                    <a:cubicBezTo>
                      <a:pt x="517634" y="642444"/>
                      <a:pt x="1035269" y="173420"/>
                      <a:pt x="1497724" y="86710"/>
                    </a:cubicBezTo>
                    <a:cubicBezTo>
                      <a:pt x="1960179" y="0"/>
                      <a:pt x="2567152" y="491359"/>
                      <a:pt x="2774731" y="591207"/>
                    </a:cubicBezTo>
                  </a:path>
                </a:pathLst>
              </a:custGeom>
              <a:ln>
                <a:solidFill>
                  <a:srgbClr val="FFC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V="1">
                <a:off x="2362200" y="1447979"/>
                <a:ext cx="5867400" cy="129534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1981200" y="3124312"/>
                <a:ext cx="5410200" cy="1600136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16200000" flipH="1">
                <a:off x="3124223" y="3657671"/>
                <a:ext cx="1142954" cy="99060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2133600" y="2819525"/>
                <a:ext cx="4572000" cy="114295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1905000" y="4419661"/>
                <a:ext cx="6248400" cy="91436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rot="5400000" flipH="1" flipV="1">
                <a:off x="2743241" y="3200487"/>
                <a:ext cx="2057318" cy="114300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2209800" y="3581494"/>
                <a:ext cx="3352800" cy="2362106"/>
              </a:xfrm>
              <a:prstGeom prst="line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24918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1035" y="23622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ID" dirty="0"/>
              <a:t>Type </a:t>
            </a:r>
            <a:r>
              <a:rPr lang="en-ID" dirty="0" err="1"/>
              <a:t>dan</a:t>
            </a:r>
            <a:r>
              <a:rPr lang="en-ID" dirty="0"/>
              <a:t> Gaya </a:t>
            </a:r>
            <a:r>
              <a:rPr lang="en-ID" dirty="0" err="1"/>
              <a:t>Tampilan</a:t>
            </a:r>
            <a:r>
              <a:rPr lang="en-ID" dirty="0"/>
              <a:t> 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063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Gaya </a:t>
            </a:r>
            <a:r>
              <a:rPr lang="en-US" dirty="0" err="1"/>
              <a:t>Penampilan</a:t>
            </a:r>
            <a:r>
              <a:rPr lang="en-US" dirty="0"/>
              <a:t>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1800" i="1" dirty="0"/>
              <a:t>Tiled Windows</a:t>
            </a:r>
            <a:r>
              <a:rPr lang="en-US" sz="1800" dirty="0"/>
              <a:t>: </a:t>
            </a:r>
            <a:r>
              <a:rPr lang="en-US" sz="1800" dirty="0" err="1"/>
              <a:t>gaya</a:t>
            </a:r>
            <a:r>
              <a:rPr lang="en-US" sz="1800" dirty="0"/>
              <a:t> </a:t>
            </a:r>
            <a:r>
              <a:rPr lang="en-US" sz="1800" dirty="0" err="1"/>
              <a:t>tertua</a:t>
            </a:r>
            <a:r>
              <a:rPr lang="en-US" sz="1800" dirty="0"/>
              <a:t>, </a:t>
            </a:r>
            <a:r>
              <a:rPr lang="en-US" sz="1800" dirty="0" err="1"/>
              <a:t>menampilkan</a:t>
            </a:r>
            <a:r>
              <a:rPr lang="en-US" sz="1800" dirty="0"/>
              <a:t> </a:t>
            </a:r>
            <a:r>
              <a:rPr lang="en-US" sz="1800" dirty="0" err="1"/>
              <a:t>semua</a:t>
            </a:r>
            <a:r>
              <a:rPr lang="en-US" sz="1800" dirty="0"/>
              <a:t> windows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hingga</a:t>
            </a:r>
            <a:r>
              <a:rPr lang="en-US" sz="1800" dirty="0"/>
              <a:t> </a:t>
            </a:r>
            <a:r>
              <a:rPr lang="en-US" sz="1800" dirty="0" err="1"/>
              <a:t>memenuhi</a:t>
            </a:r>
            <a:r>
              <a:rPr lang="en-US" sz="1800" dirty="0"/>
              <a:t> </a:t>
            </a:r>
            <a:r>
              <a:rPr lang="en-US" sz="1800" dirty="0" err="1"/>
              <a:t>layar</a:t>
            </a:r>
            <a:endParaRPr lang="en-US" sz="1800" dirty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1800" i="1" dirty="0"/>
              <a:t>Overlapping Windows</a:t>
            </a:r>
            <a:r>
              <a:rPr lang="en-US" sz="1800" dirty="0"/>
              <a:t>: windows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saling</a:t>
            </a:r>
            <a:r>
              <a:rPr lang="en-US" sz="1800" dirty="0"/>
              <a:t> </a:t>
            </a:r>
            <a:r>
              <a:rPr lang="en-US" sz="1800" dirty="0" err="1"/>
              <a:t>bertumpuk</a:t>
            </a:r>
            <a:r>
              <a:rPr lang="en-US" sz="1800" dirty="0"/>
              <a:t> </a:t>
            </a:r>
            <a:r>
              <a:rPr lang="en-US" sz="1800" dirty="0" err="1"/>
              <a:t>acak</a:t>
            </a:r>
            <a:endParaRPr lang="en-US" sz="1800" dirty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1800" i="1" dirty="0"/>
              <a:t>Cascading Windows</a:t>
            </a:r>
            <a:r>
              <a:rPr lang="en-US" sz="1800" dirty="0"/>
              <a:t>: </a:t>
            </a:r>
            <a:r>
              <a:rPr lang="en-US" sz="1800" i="1" dirty="0"/>
              <a:t>overlap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teratur</a:t>
            </a:r>
            <a:endParaRPr lang="en-US" sz="1800" dirty="0"/>
          </a:p>
          <a:p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2252" y="4341882"/>
            <a:ext cx="3626011" cy="21247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43634" y="3723036"/>
            <a:ext cx="3678144" cy="2155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24425" y="1851981"/>
            <a:ext cx="3686175" cy="27436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1227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 dirty="0"/>
              <a:t>Tiled Windows</a:t>
            </a:r>
          </a:p>
        </p:txBody>
      </p:sp>
      <p:sp>
        <p:nvSpPr>
          <p:cNvPr id="1229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err="1"/>
              <a:t>Kelebihan</a:t>
            </a:r>
            <a:endParaRPr lang="en-US" dirty="0"/>
          </a:p>
          <a:p>
            <a:pPr lvl="1" eaLnBrk="1" hangingPunct="1"/>
            <a:r>
              <a:rPr lang="en-US" dirty="0" err="1"/>
              <a:t>Pengaturan</a:t>
            </a:r>
            <a:r>
              <a:rPr lang="en-US" dirty="0"/>
              <a:t> windows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US" dirty="0"/>
          </a:p>
          <a:p>
            <a:pPr lvl="1" eaLnBrk="1" hangingPunct="1"/>
            <a:r>
              <a:rPr lang="en-US" dirty="0" err="1"/>
              <a:t>Seluruh</a:t>
            </a:r>
            <a:r>
              <a:rPr lang="en-US" dirty="0"/>
              <a:t> windows yang </a:t>
            </a:r>
            <a:r>
              <a:rPr lang="en-US" dirty="0" err="1"/>
              <a:t>terbuka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lvl="1" eaLnBrk="1" hangingPunct="1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tersembunyi</a:t>
            </a:r>
            <a:endParaRPr lang="en-US" dirty="0"/>
          </a:p>
          <a:p>
            <a:pPr lvl="1" eaLnBrk="1" hangingPunct="1"/>
            <a:r>
              <a:rPr lang="en-US" dirty="0" err="1"/>
              <a:t>Sederhana</a:t>
            </a:r>
            <a:r>
              <a:rPr lang="en-US" dirty="0"/>
              <a:t>,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pPr lvl="1" eaLnBrk="1" hangingPunct="1"/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performansi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tasks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windows minimal</a:t>
            </a:r>
          </a:p>
          <a:p>
            <a:pPr eaLnBrk="1" hangingPunct="1"/>
            <a:r>
              <a:rPr lang="en-US" dirty="0" err="1"/>
              <a:t>Kekurangan</a:t>
            </a:r>
            <a:endParaRPr lang="en-US" dirty="0"/>
          </a:p>
          <a:p>
            <a:pPr lvl="1" eaLnBrk="1" hangingPunct="1"/>
            <a:r>
              <a:rPr lang="en-US" dirty="0" err="1"/>
              <a:t>Jumlah</a:t>
            </a:r>
            <a:r>
              <a:rPr lang="en-US" dirty="0"/>
              <a:t> windows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terbatas</a:t>
            </a:r>
            <a:endParaRPr lang="en-US" dirty="0"/>
          </a:p>
          <a:p>
            <a:pPr lvl="1" eaLnBrk="1" hangingPunct="1"/>
            <a:r>
              <a:rPr lang="en-US" dirty="0" err="1"/>
              <a:t>Setiap</a:t>
            </a:r>
            <a:r>
              <a:rPr lang="en-US" dirty="0"/>
              <a:t> kali window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dibuka</a:t>
            </a:r>
            <a:r>
              <a:rPr lang="en-US" dirty="0"/>
              <a:t>, window lain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ukuran</a:t>
            </a:r>
            <a:endParaRPr lang="en-US" dirty="0"/>
          </a:p>
          <a:p>
            <a:pPr lvl="1" eaLnBrk="1" hangingPunct="1"/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diprediksi</a:t>
            </a:r>
            <a:endParaRPr lang="en-US" dirty="0"/>
          </a:p>
          <a:p>
            <a:pPr lvl="1" eaLnBrk="1" hangingPunct="1"/>
            <a:r>
              <a:rPr lang="en-US" dirty="0" err="1"/>
              <a:t>Konfigurasi</a:t>
            </a:r>
            <a:r>
              <a:rPr lang="en-US" dirty="0"/>
              <a:t> windows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lvl="1" eaLnBrk="1" hangingPunct="1"/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padat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dipenuhi</a:t>
            </a:r>
            <a:r>
              <a:rPr lang="en-US" dirty="0"/>
              <a:t>  </a:t>
            </a:r>
            <a:r>
              <a:rPr lang="en-US" i="1" dirty="0"/>
              <a:t>scroll bar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i="1" dirty="0"/>
              <a:t>control icons</a:t>
            </a:r>
            <a:endParaRPr lang="en-US" dirty="0"/>
          </a:p>
          <a:p>
            <a:pPr lvl="1" eaLnBrk="1" hangingPunct="1"/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windows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aktif</a:t>
            </a:r>
            <a:endParaRPr lang="en-US" dirty="0"/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58383" y="1143000"/>
            <a:ext cx="3173704" cy="2362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i="1" dirty="0"/>
              <a:t>Overlapping Windows</a:t>
            </a:r>
          </a:p>
        </p:txBody>
      </p:sp>
      <p:sp>
        <p:nvSpPr>
          <p:cNvPr id="13317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dirty="0" err="1"/>
              <a:t>Kelebihan</a:t>
            </a:r>
            <a:endParaRPr lang="en-US" dirty="0"/>
          </a:p>
          <a:p>
            <a:pPr lvl="1" eaLnBrk="1" hangingPunct="1"/>
            <a:r>
              <a:rPr lang="en-US" dirty="0" err="1"/>
              <a:t>Secara</a:t>
            </a:r>
            <a:r>
              <a:rPr lang="en-US" dirty="0"/>
              <a:t> visual </a:t>
            </a:r>
            <a:r>
              <a:rPr lang="en-US" dirty="0" err="1"/>
              <a:t>tampak</a:t>
            </a:r>
            <a:r>
              <a:rPr lang="en-US" dirty="0"/>
              <a:t> 3 </a:t>
            </a:r>
            <a:r>
              <a:rPr lang="en-US" dirty="0" err="1"/>
              <a:t>dimensi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familiar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lvl="1" eaLnBrk="1" hangingPunct="1"/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windows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kebutuhan</a:t>
            </a:r>
            <a:endParaRPr lang="en-US" dirty="0"/>
          </a:p>
          <a:p>
            <a:pPr lvl="1" eaLnBrk="1" hangingPunct="1"/>
            <a:r>
              <a:rPr lang="en-US" dirty="0"/>
              <a:t>Windows </a:t>
            </a:r>
            <a:r>
              <a:rPr lang="en-US" dirty="0" err="1"/>
              <a:t>berukuran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pPr lvl="1" eaLnBrk="1" hangingPunct="1"/>
            <a:r>
              <a:rPr lang="en-US" dirty="0" err="1"/>
              <a:t>Posisi</a:t>
            </a:r>
            <a:r>
              <a:rPr lang="en-US" dirty="0"/>
              <a:t> windows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konsisten</a:t>
            </a:r>
            <a:endParaRPr lang="en-US" dirty="0"/>
          </a:p>
          <a:p>
            <a:pPr lvl="1" eaLnBrk="1" hangingPunct="1"/>
            <a:r>
              <a:rPr lang="en-US" dirty="0" err="1"/>
              <a:t>Menutup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windows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berakibat</a:t>
            </a:r>
            <a:r>
              <a:rPr lang="en-US" dirty="0"/>
              <a:t> fatal</a:t>
            </a:r>
          </a:p>
          <a:p>
            <a:pPr lvl="1" eaLnBrk="1" hangingPunct="1"/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padat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kompleks</a:t>
            </a:r>
            <a:endParaRPr lang="en-US" dirty="0"/>
          </a:p>
          <a:p>
            <a:pPr lvl="1" eaLnBrk="1" hangingPunct="1"/>
            <a:r>
              <a:rPr lang="en-US" dirty="0" err="1"/>
              <a:t>Performansi</a:t>
            </a:r>
            <a:r>
              <a:rPr lang="en-US" dirty="0"/>
              <a:t> task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windows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pPr eaLnBrk="1" hangingPunct="1"/>
            <a:r>
              <a:rPr lang="en-US" dirty="0" err="1"/>
              <a:t>Kekurangan</a:t>
            </a:r>
            <a:endParaRPr lang="en-US" dirty="0"/>
          </a:p>
          <a:p>
            <a:pPr lvl="1" eaLnBrk="1" hangingPunct="1"/>
            <a:r>
              <a:rPr lang="en-US" dirty="0" err="1"/>
              <a:t>Operasional</a:t>
            </a:r>
            <a:r>
              <a:rPr lang="en-US" dirty="0"/>
              <a:t> windows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kompleks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i="1" dirty="0"/>
              <a:t>tiled windows</a:t>
            </a:r>
          </a:p>
          <a:p>
            <a:pPr lvl="1" eaLnBrk="1" hangingPunct="1"/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windows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tertutup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windows lain</a:t>
            </a:r>
          </a:p>
          <a:p>
            <a:pPr lvl="1" eaLnBrk="1" hangingPunct="1"/>
            <a:r>
              <a:rPr lang="en-US" dirty="0"/>
              <a:t>Windows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terlupakan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lvl="1" eaLnBrk="1" hangingPunct="1"/>
            <a:r>
              <a:rPr lang="en-US" dirty="0" err="1"/>
              <a:t>Visualisasi</a:t>
            </a:r>
            <a:r>
              <a:rPr lang="en-US" dirty="0"/>
              <a:t> 3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disadari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  <a:p>
            <a:pPr lvl="1" eaLnBrk="1" hangingPunct="1"/>
            <a:r>
              <a:rPr lang="en-US" dirty="0" err="1"/>
              <a:t>Kontrol</a:t>
            </a:r>
            <a:r>
              <a:rPr lang="en-US" dirty="0"/>
              <a:t> windows yang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merepotkan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2743201"/>
            <a:ext cx="2861055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/>
              <a:t>Cascading Windows</a:t>
            </a:r>
            <a:endParaRPr lang="en-US" i="1" dirty="0"/>
          </a:p>
        </p:txBody>
      </p:sp>
      <p:sp>
        <p:nvSpPr>
          <p:cNvPr id="14341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err="1"/>
              <a:t>Kelebihan</a:t>
            </a:r>
            <a:endParaRPr lang="en-US" dirty="0"/>
          </a:p>
          <a:p>
            <a:pPr lvl="1" eaLnBrk="1" hangingPunct="1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window yang </a:t>
            </a:r>
            <a:r>
              <a:rPr lang="en-US" dirty="0" err="1"/>
              <a:t>tersembunyi</a:t>
            </a:r>
            <a:r>
              <a:rPr lang="en-US" dirty="0"/>
              <a:t> </a:t>
            </a:r>
            <a:r>
              <a:rPr lang="en-US" dirty="0" err="1"/>
              <a:t>seluruhnya</a:t>
            </a:r>
            <a:endParaRPr lang="en-US" dirty="0"/>
          </a:p>
          <a:p>
            <a:pPr lvl="1" eaLnBrk="1" hangingPunct="1"/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mengaktifkan</a:t>
            </a:r>
            <a:r>
              <a:rPr lang="en-US" dirty="0"/>
              <a:t> window </a:t>
            </a:r>
            <a:r>
              <a:rPr lang="en-US" dirty="0" err="1"/>
              <a:t>manapun</a:t>
            </a:r>
            <a:endParaRPr lang="en-US" dirty="0"/>
          </a:p>
          <a:p>
            <a:pPr lvl="1" eaLnBrk="1" hangingPunct="1"/>
            <a:r>
              <a:rPr lang="en-US" dirty="0" err="1"/>
              <a:t>Tampilan</a:t>
            </a:r>
            <a:r>
              <a:rPr lang="en-US" dirty="0"/>
              <a:t> visual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rapi</a:t>
            </a:r>
            <a:endParaRPr lang="en-US" dirty="0"/>
          </a:p>
          <a:p>
            <a:pPr eaLnBrk="1" hangingPunct="1"/>
            <a:r>
              <a:rPr lang="en-US" dirty="0" err="1"/>
              <a:t>Kekurangan</a:t>
            </a:r>
            <a:endParaRPr lang="en-US" dirty="0"/>
          </a:p>
          <a:p>
            <a:pPr lvl="1" eaLnBrk="1" hangingPunct="1"/>
            <a:r>
              <a:rPr lang="en-US" dirty="0" err="1"/>
              <a:t>Pengaturan</a:t>
            </a:r>
            <a:r>
              <a:rPr lang="en-US" dirty="0"/>
              <a:t> windows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7658" y="1549400"/>
            <a:ext cx="3168811" cy="1856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381000"/>
            <a:ext cx="5721930" cy="7735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/>
              <a:t>Pemilihan</a:t>
            </a:r>
            <a:r>
              <a:rPr lang="en-US" dirty="0"/>
              <a:t> Gaya </a:t>
            </a:r>
            <a:r>
              <a:rPr lang="en-US" dirty="0" err="1"/>
              <a:t>Tampilan</a:t>
            </a:r>
            <a:r>
              <a:rPr lang="en-US" dirty="0"/>
              <a:t> Windows</a:t>
            </a:r>
          </a:p>
        </p:txBody>
      </p:sp>
      <p:sp>
        <p:nvSpPr>
          <p:cNvPr id="15365" name="Content Placeholder 2"/>
          <p:cNvSpPr>
            <a:spLocks noGrp="1"/>
          </p:cNvSpPr>
          <p:nvPr>
            <p:ph type="body" idx="1"/>
          </p:nvPr>
        </p:nvSpPr>
        <p:spPr>
          <a:xfrm>
            <a:off x="220866" y="1752600"/>
            <a:ext cx="8706656" cy="4482094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i="1" dirty="0"/>
              <a:t>tiled windows</a:t>
            </a:r>
            <a:r>
              <a:rPr lang="en-US" dirty="0"/>
              <a:t> </a:t>
            </a:r>
            <a:r>
              <a:rPr lang="en-US" dirty="0" err="1"/>
              <a:t>untuk</a:t>
            </a:r>
            <a:endParaRPr lang="en-US" dirty="0"/>
          </a:p>
          <a:p>
            <a:pPr lvl="1" eaLnBrk="1" hangingPunct="1"/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i="1" dirty="0"/>
              <a:t>single-task</a:t>
            </a:r>
            <a:endParaRPr lang="en-US" dirty="0"/>
          </a:p>
          <a:p>
            <a:pPr lvl="1" eaLnBrk="1" hangingPunct="1"/>
            <a:r>
              <a:rPr lang="en-US" dirty="0"/>
              <a:t>Data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simultan</a:t>
            </a:r>
            <a:endParaRPr lang="en-US" dirty="0"/>
          </a:p>
          <a:p>
            <a:pPr lvl="1" eaLnBrk="1" hangingPunct="1"/>
            <a:r>
              <a:rPr lang="en-US" i="1" dirty="0"/>
              <a:t>Tasks</a:t>
            </a:r>
            <a:r>
              <a:rPr lang="en-US" dirty="0"/>
              <a:t> yang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window</a:t>
            </a:r>
          </a:p>
          <a:p>
            <a:pPr lvl="1" eaLnBrk="1" hangingPunct="1"/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awam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pengalaman</a:t>
            </a:r>
            <a:endParaRPr lang="en-US" dirty="0"/>
          </a:p>
          <a:p>
            <a:pPr eaLnBrk="1" hangingPunct="1"/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i="1" dirty="0"/>
              <a:t>overlapping windows</a:t>
            </a:r>
            <a:r>
              <a:rPr lang="en-US" dirty="0"/>
              <a:t> </a:t>
            </a:r>
            <a:r>
              <a:rPr lang="en-US" dirty="0" err="1"/>
              <a:t>untuk</a:t>
            </a:r>
            <a:endParaRPr lang="en-US" dirty="0"/>
          </a:p>
          <a:p>
            <a:pPr lvl="1" eaLnBrk="1" hangingPunct="1"/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i="1" dirty="0"/>
              <a:t>tasks</a:t>
            </a:r>
          </a:p>
          <a:p>
            <a:pPr lvl="1" eaLnBrk="1" hangingPunct="1"/>
            <a:r>
              <a:rPr lang="en-US" i="1" dirty="0"/>
              <a:t>Tasks</a:t>
            </a:r>
            <a:r>
              <a:rPr lang="en-US" dirty="0"/>
              <a:t> yang </a:t>
            </a:r>
            <a:r>
              <a:rPr lang="en-US" dirty="0" err="1"/>
              <a:t>memerlukan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window</a:t>
            </a:r>
          </a:p>
          <a:p>
            <a:pPr lvl="1" eaLnBrk="1" hangingPunct="1"/>
            <a:r>
              <a:rPr lang="en-US" dirty="0" err="1"/>
              <a:t>Pengguna</a:t>
            </a:r>
            <a:r>
              <a:rPr lang="en-US" dirty="0"/>
              <a:t> yang </a:t>
            </a:r>
            <a:r>
              <a:rPr lang="en-US" dirty="0" err="1"/>
              <a:t>berpengalaman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  <a:p>
            <a:pPr lvl="1" eaLnBrk="1" hangingPunct="1"/>
            <a:r>
              <a:rPr lang="en-US" dirty="0"/>
              <a:t>Isi </a:t>
            </a:r>
            <a:r>
              <a:rPr lang="en-US" dirty="0" err="1"/>
              <a:t>tampilan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diprediksi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Tipe-tipe</a:t>
            </a:r>
            <a:r>
              <a:rPr lang="en-US" dirty="0"/>
              <a:t> Windows</a:t>
            </a:r>
          </a:p>
        </p:txBody>
      </p:sp>
      <p:sp>
        <p:nvSpPr>
          <p:cNvPr id="16389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i="1" dirty="0"/>
              <a:t>Primary windows</a:t>
            </a:r>
          </a:p>
          <a:p>
            <a:pPr lvl="1" eaLnBrk="1" hangingPunct="1"/>
            <a:r>
              <a:rPr lang="en-US" dirty="0"/>
              <a:t>Window </a:t>
            </a:r>
            <a:r>
              <a:rPr lang="en-US" dirty="0" err="1"/>
              <a:t>utama</a:t>
            </a:r>
            <a:r>
              <a:rPr lang="en-US" dirty="0"/>
              <a:t> yang </a:t>
            </a:r>
            <a:r>
              <a:rPr lang="en-US" dirty="0" err="1"/>
              <a:t>muncul</a:t>
            </a:r>
            <a:r>
              <a:rPr lang="en-US" dirty="0"/>
              <a:t> di </a:t>
            </a:r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aksi</a:t>
            </a:r>
            <a:r>
              <a:rPr lang="en-US" dirty="0"/>
              <a:t> </a:t>
            </a:r>
            <a:r>
              <a:rPr lang="en-US" dirty="0" err="1"/>
              <a:t>dimulai</a:t>
            </a:r>
            <a:endParaRPr lang="en-US" dirty="0"/>
          </a:p>
          <a:p>
            <a:pPr lvl="1" eaLnBrk="1" hangingPunct="1"/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i="1" dirty="0"/>
              <a:t>application window / main window / parent window</a:t>
            </a:r>
          </a:p>
          <a:p>
            <a:pPr lvl="1" eaLnBrk="1" hangingPunct="1"/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utama</a:t>
            </a:r>
            <a:r>
              <a:rPr lang="en-US" b="1" dirty="0"/>
              <a:t> </a:t>
            </a:r>
            <a:r>
              <a:rPr lang="en-US" b="1" dirty="0" err="1"/>
              <a:t>aktivitas</a:t>
            </a:r>
            <a:r>
              <a:rPr lang="en-US" b="1" dirty="0"/>
              <a:t> </a:t>
            </a:r>
            <a:r>
              <a:rPr lang="en-US" b="1" dirty="0" err="1"/>
              <a:t>pengguna</a:t>
            </a:r>
            <a:endParaRPr lang="en-US" b="1" dirty="0"/>
          </a:p>
          <a:p>
            <a:pPr eaLnBrk="1" hangingPunct="1"/>
            <a:r>
              <a:rPr lang="en-US" i="1" dirty="0"/>
              <a:t>Secondary windows</a:t>
            </a:r>
          </a:p>
          <a:p>
            <a:pPr lvl="1" eaLnBrk="1" hangingPunct="1"/>
            <a:r>
              <a:rPr lang="en-US" dirty="0"/>
              <a:t>Windows </a:t>
            </a:r>
            <a:r>
              <a:rPr lang="en-US" dirty="0" err="1"/>
              <a:t>tambahan</a:t>
            </a:r>
            <a:r>
              <a:rPr lang="en-US" dirty="0"/>
              <a:t> 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i="1" dirty="0"/>
              <a:t>independent</a:t>
            </a:r>
            <a:r>
              <a:rPr lang="en-US" b="1" dirty="0"/>
              <a:t> </a:t>
            </a:r>
            <a:r>
              <a:rPr lang="en-US" b="1" dirty="0" err="1"/>
              <a:t>maupun</a:t>
            </a:r>
            <a:r>
              <a:rPr lang="en-US" b="1" dirty="0"/>
              <a:t> </a:t>
            </a:r>
            <a:r>
              <a:rPr lang="en-US" b="1" i="1" dirty="0"/>
              <a:t>dependent window</a:t>
            </a:r>
            <a:r>
              <a:rPr lang="en-US" b="1" dirty="0"/>
              <a:t> </a:t>
            </a:r>
            <a:r>
              <a:rPr lang="en-US" b="1" dirty="0" err="1"/>
              <a:t>terhadap</a:t>
            </a:r>
            <a:r>
              <a:rPr lang="en-US" b="1" dirty="0"/>
              <a:t> </a:t>
            </a:r>
            <a:r>
              <a:rPr lang="en-US" b="1" i="1" dirty="0"/>
              <a:t>primary window</a:t>
            </a:r>
            <a:r>
              <a:rPr lang="en-US" dirty="0"/>
              <a:t>-</a:t>
            </a:r>
            <a:r>
              <a:rPr lang="en-US" dirty="0" err="1"/>
              <a:t>nya</a:t>
            </a:r>
            <a:endParaRPr lang="en-US" dirty="0"/>
          </a:p>
          <a:p>
            <a:pPr lvl="1" eaLnBrk="1" hangingPunct="1"/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i="1" dirty="0"/>
              <a:t>modal </a:t>
            </a:r>
            <a:r>
              <a:rPr lang="en-US" dirty="0"/>
              <a:t>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i="1" dirty="0"/>
              <a:t>modeless</a:t>
            </a:r>
            <a:endParaRPr lang="en-US" dirty="0"/>
          </a:p>
          <a:p>
            <a:pPr eaLnBrk="1" hangingPunct="1"/>
            <a:r>
              <a:rPr lang="en-US" i="1" dirty="0"/>
              <a:t>Dialog box</a:t>
            </a:r>
          </a:p>
          <a:p>
            <a:pPr lvl="1" eaLnBrk="1" hangingPunct="1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memperluas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melengkapi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aksi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terbatas</a:t>
            </a:r>
            <a:endParaRPr lang="en-US" dirty="0"/>
          </a:p>
          <a:p>
            <a:pPr lvl="1" eaLnBrk="1" hangingPunct="1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, </a:t>
            </a:r>
            <a:r>
              <a:rPr lang="en-US" dirty="0" err="1"/>
              <a:t>aksi</a:t>
            </a:r>
            <a:r>
              <a:rPr lang="en-US" dirty="0"/>
              <a:t> </a:t>
            </a:r>
            <a:r>
              <a:rPr lang="en-US" dirty="0" err="1"/>
              <a:t>singkat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 </a:t>
            </a:r>
            <a:r>
              <a:rPr lang="en-US" i="1" dirty="0"/>
              <a:t>command</a:t>
            </a:r>
            <a:r>
              <a:rPr lang="en-US" dirty="0"/>
              <a:t> (OK, </a:t>
            </a:r>
            <a:r>
              <a:rPr lang="en-US" i="1" dirty="0"/>
              <a:t>cancel</a:t>
            </a:r>
            <a:r>
              <a:rPr lang="en-US" dirty="0"/>
              <a:t>, </a:t>
            </a:r>
            <a:r>
              <a:rPr lang="en-US" dirty="0" err="1"/>
              <a:t>dll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Primary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</a:t>
            </a:r>
            <a:r>
              <a:rPr lang="en-US" sz="1800" dirty="0" err="1"/>
              <a:t>independen</a:t>
            </a:r>
            <a:r>
              <a:rPr lang="en-US" sz="1800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komponen</a:t>
            </a:r>
            <a:r>
              <a:rPr lang="en-US" sz="1800" dirty="0"/>
              <a:t>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kontrol</a:t>
            </a:r>
            <a:r>
              <a:rPr lang="en-US" sz="1800" dirty="0"/>
              <a:t> window yang </a:t>
            </a:r>
            <a:r>
              <a:rPr lang="en-US" sz="1800" dirty="0" err="1"/>
              <a:t>terus</a:t>
            </a:r>
            <a:r>
              <a:rPr lang="en-US" sz="1800" dirty="0"/>
              <a:t> </a:t>
            </a:r>
            <a:r>
              <a:rPr lang="en-US" sz="1800" dirty="0" err="1"/>
              <a:t>dipakai</a:t>
            </a:r>
            <a:r>
              <a:rPr lang="en-US" sz="1800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informasi</a:t>
            </a:r>
            <a:r>
              <a:rPr lang="en-US" sz="1800" dirty="0"/>
              <a:t> yang </a:t>
            </a:r>
            <a:r>
              <a:rPr lang="en-US" sz="1800" dirty="0" err="1"/>
              <a:t>terus</a:t>
            </a:r>
            <a:r>
              <a:rPr lang="en-US" sz="1800" dirty="0"/>
              <a:t> di-</a:t>
            </a:r>
            <a:r>
              <a:rPr lang="en-US" sz="1800" i="1" dirty="0"/>
              <a:t>update</a:t>
            </a:r>
            <a:r>
              <a:rPr lang="en-US" sz="1800" dirty="0"/>
              <a:t>, </a:t>
            </a:r>
            <a:r>
              <a:rPr lang="en-US" sz="1800" dirty="0" err="1"/>
              <a:t>misal</a:t>
            </a:r>
            <a:r>
              <a:rPr lang="en-US" sz="1800" dirty="0"/>
              <a:t> : </a:t>
            </a:r>
            <a:r>
              <a:rPr lang="en-US" sz="1800" dirty="0" err="1"/>
              <a:t>tanggal</a:t>
            </a:r>
            <a:r>
              <a:rPr lang="en-US" sz="1800" dirty="0"/>
              <a:t>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waktu</a:t>
            </a:r>
            <a:r>
              <a:rPr lang="en-US" sz="1800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menunjukkan</a:t>
            </a:r>
            <a:r>
              <a:rPr lang="en-US" sz="1800" dirty="0"/>
              <a:t> </a:t>
            </a:r>
            <a:r>
              <a:rPr lang="en-US" sz="1800" dirty="0" err="1"/>
              <a:t>konteks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i="1" dirty="0"/>
              <a:t>dependent windows.</a:t>
            </a:r>
          </a:p>
          <a:p>
            <a:pPr algn="just">
              <a:spcBef>
                <a:spcPts val="0"/>
              </a:spcBef>
            </a:pPr>
            <a:r>
              <a:rPr lang="en-US" sz="1800" dirty="0" err="1"/>
              <a:t>Jangan</a:t>
            </a:r>
            <a:r>
              <a:rPr lang="en-US" sz="1800" dirty="0"/>
              <a:t> </a:t>
            </a:r>
            <a:r>
              <a:rPr lang="en-US" sz="1800" dirty="0" err="1"/>
              <a:t>membagi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</a:t>
            </a:r>
            <a:r>
              <a:rPr lang="en-US" sz="1800" dirty="0" err="1"/>
              <a:t>independen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2 /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i="1" dirty="0"/>
              <a:t>primary windows.</a:t>
            </a:r>
            <a:endParaRPr lang="en-US" sz="1800" dirty="0"/>
          </a:p>
          <a:p>
            <a:pPr algn="just">
              <a:spcBef>
                <a:spcPts val="0"/>
              </a:spcBef>
            </a:pPr>
            <a:r>
              <a:rPr lang="en-US" sz="1800" dirty="0" err="1"/>
              <a:t>Jangan</a:t>
            </a:r>
            <a:r>
              <a:rPr lang="en-US" sz="1800" dirty="0"/>
              <a:t> </a:t>
            </a:r>
            <a:r>
              <a:rPr lang="en-US" sz="1800" dirty="0" err="1"/>
              <a:t>menampilkan</a:t>
            </a:r>
            <a:r>
              <a:rPr lang="en-US" sz="1800" dirty="0"/>
              <a:t> </a:t>
            </a:r>
            <a:r>
              <a:rPr lang="en-US" sz="1800" dirty="0" err="1"/>
              <a:t>fungsi-fungsi</a:t>
            </a:r>
            <a:r>
              <a:rPr lang="en-US" sz="1800" dirty="0"/>
              <a:t> yang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berkaitan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 </a:t>
            </a:r>
            <a:r>
              <a:rPr lang="en-US" sz="1800" dirty="0" err="1"/>
              <a:t>satu</a:t>
            </a:r>
            <a:r>
              <a:rPr lang="en-US" sz="1800" dirty="0"/>
              <a:t> </a:t>
            </a:r>
            <a:r>
              <a:rPr lang="en-US" sz="1800" i="1" dirty="0"/>
              <a:t>primary window.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32893" y="3949961"/>
            <a:ext cx="4495800" cy="25019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79152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Secondary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aksi</a:t>
            </a:r>
            <a:r>
              <a:rPr lang="en-US" sz="1600" dirty="0"/>
              <a:t> </a:t>
            </a:r>
            <a:r>
              <a:rPr lang="en-US" sz="1600" dirty="0" err="1"/>
              <a:t>lanjutan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tambahan</a:t>
            </a:r>
            <a:r>
              <a:rPr lang="en-US" sz="1600" dirty="0"/>
              <a:t> yang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kompleks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berkaitan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i="1" dirty="0"/>
              <a:t>primary window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komponen</a:t>
            </a:r>
            <a:r>
              <a:rPr lang="en-US" sz="1600" dirty="0"/>
              <a:t> window yang </a:t>
            </a:r>
            <a:r>
              <a:rPr lang="en-US" sz="1600" dirty="0" err="1"/>
              <a:t>jarang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/>
              <a:t>Sebaiknya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muncul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i="1" dirty="0"/>
              <a:t>entry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taskbar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err="1"/>
              <a:t>Sebaiknya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263x263 dialog units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i="1" dirty="0"/>
              <a:t>Modal VS Modeless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i="1" dirty="0"/>
              <a:t>Modal</a:t>
            </a:r>
            <a:r>
              <a:rPr lang="en-US" sz="1400" dirty="0"/>
              <a:t>: </a:t>
            </a:r>
            <a:r>
              <a:rPr lang="en-US" sz="1400" dirty="0" err="1"/>
              <a:t>Interaksi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diselesaikan</a:t>
            </a:r>
            <a:r>
              <a:rPr lang="en-US" sz="1400" dirty="0"/>
              <a:t>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berpindah</a:t>
            </a:r>
            <a:r>
              <a:rPr lang="en-US" sz="1400" dirty="0"/>
              <a:t> window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i="1" dirty="0"/>
              <a:t>Modeless</a:t>
            </a:r>
            <a:r>
              <a:rPr lang="en-US" sz="1400" dirty="0"/>
              <a:t>: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paralel</a:t>
            </a:r>
            <a:endParaRPr lang="en-US" sz="1400"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i="1" dirty="0"/>
              <a:t>Cascading VS Unfolding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1400" i="1" dirty="0"/>
              <a:t>Cascading</a:t>
            </a:r>
            <a:r>
              <a:rPr lang="en-US" sz="1400" dirty="0"/>
              <a:t>: </a:t>
            </a:r>
            <a:r>
              <a:rPr lang="en-US" sz="1400" dirty="0" err="1"/>
              <a:t>beberapa</a:t>
            </a:r>
            <a:r>
              <a:rPr lang="en-US" sz="1400" dirty="0"/>
              <a:t> </a:t>
            </a:r>
            <a:r>
              <a:rPr lang="en-US" sz="1400" i="1" dirty="0"/>
              <a:t>secondary windows </a:t>
            </a:r>
            <a:r>
              <a:rPr lang="en-US" sz="1400" dirty="0" err="1"/>
              <a:t>ditampilkan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i="1" dirty="0"/>
              <a:t>cascading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1400" i="1" dirty="0"/>
              <a:t>Unfolding</a:t>
            </a:r>
            <a:r>
              <a:rPr lang="en-US" sz="1400" dirty="0"/>
              <a:t>: </a:t>
            </a:r>
            <a:r>
              <a:rPr lang="en-US" sz="1400" dirty="0" err="1"/>
              <a:t>tambahan</a:t>
            </a:r>
            <a:r>
              <a:rPr lang="en-US" sz="1400" dirty="0"/>
              <a:t> </a:t>
            </a:r>
            <a:r>
              <a:rPr lang="en-US" sz="1400" dirty="0" err="1"/>
              <a:t>fungsi</a:t>
            </a:r>
            <a:r>
              <a:rPr lang="en-US" sz="1400" dirty="0"/>
              <a:t> </a:t>
            </a:r>
            <a:r>
              <a:rPr lang="en-US" sz="1400" dirty="0" err="1"/>
              <a:t>ditampilkan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bagian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window</a:t>
            </a:r>
            <a:endParaRPr lang="en-US" sz="1400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1" y="2438877"/>
            <a:ext cx="2561224" cy="21331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91836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9B64B54-8821-DEEF-ECD5-BD334B84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061"/>
            <a:ext cx="9144000" cy="515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9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Dialog 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menyampaikan</a:t>
            </a:r>
            <a:r>
              <a:rPr lang="en-US" sz="1800" dirty="0"/>
              <a:t> </a:t>
            </a:r>
            <a:r>
              <a:rPr lang="en-US" sz="1800" dirty="0" err="1"/>
              <a:t>pesan</a:t>
            </a:r>
            <a:r>
              <a:rPr lang="en-US" sz="1800" dirty="0"/>
              <a:t> </a:t>
            </a:r>
            <a:r>
              <a:rPr lang="en-US" sz="1800" dirty="0" err="1"/>
              <a:t>singkat</a:t>
            </a:r>
            <a:endParaRPr lang="en-US" sz="1800" dirty="0"/>
          </a:p>
          <a:p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meminta</a:t>
            </a:r>
            <a:r>
              <a:rPr lang="en-US" sz="1800" dirty="0"/>
              <a:t> </a:t>
            </a:r>
            <a:r>
              <a:rPr lang="en-US" sz="1800" dirty="0" err="1"/>
              <a:t>aksi</a:t>
            </a:r>
            <a:r>
              <a:rPr lang="en-US" sz="1800" dirty="0"/>
              <a:t> </a:t>
            </a:r>
            <a:r>
              <a:rPr lang="en-US" sz="1800" dirty="0" err="1"/>
              <a:t>spesifik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pengguna</a:t>
            </a:r>
            <a:endParaRPr lang="en-US" sz="1800" dirty="0"/>
          </a:p>
          <a:p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menampilkan</a:t>
            </a:r>
            <a:r>
              <a:rPr lang="en-US" sz="1800" dirty="0"/>
              <a:t> </a:t>
            </a:r>
            <a:r>
              <a:rPr lang="en-US" sz="1800" dirty="0" err="1"/>
              <a:t>aksi</a:t>
            </a:r>
            <a:r>
              <a:rPr lang="en-US" sz="1800" dirty="0"/>
              <a:t> yang</a:t>
            </a:r>
          </a:p>
          <a:p>
            <a:pPr lvl="1"/>
            <a:r>
              <a:rPr lang="en-US" sz="1800" dirty="0" err="1"/>
              <a:t>Singkat</a:t>
            </a:r>
            <a:endParaRPr lang="en-US" sz="1800" dirty="0"/>
          </a:p>
          <a:p>
            <a:pPr lvl="1"/>
            <a:r>
              <a:rPr lang="en-US" sz="1800" dirty="0" err="1"/>
              <a:t>Jarang</a:t>
            </a:r>
            <a:r>
              <a:rPr lang="en-US" sz="1800" dirty="0"/>
              <a:t> </a:t>
            </a:r>
            <a:r>
              <a:rPr lang="en-US" sz="1800" dirty="0" err="1"/>
              <a:t>dilakukan</a:t>
            </a:r>
            <a:endParaRPr lang="en-US" sz="1800" dirty="0"/>
          </a:p>
          <a:p>
            <a:r>
              <a:rPr lang="en-US" sz="1800" dirty="0" err="1"/>
              <a:t>Tombol</a:t>
            </a:r>
            <a:r>
              <a:rPr lang="en-US" sz="1800" dirty="0"/>
              <a:t> </a:t>
            </a:r>
            <a:r>
              <a:rPr lang="en-US" sz="1800" i="1" dirty="0"/>
              <a:t>command</a:t>
            </a:r>
            <a:r>
              <a:rPr lang="en-US" sz="1800" dirty="0"/>
              <a:t> yang </a:t>
            </a:r>
            <a:r>
              <a:rPr lang="en-US" sz="1800" dirty="0" err="1"/>
              <a:t>berisi</a:t>
            </a:r>
            <a:endParaRPr lang="en-US" sz="1800" dirty="0"/>
          </a:p>
          <a:p>
            <a:pPr lvl="1"/>
            <a:r>
              <a:rPr lang="en-US" sz="1800" dirty="0"/>
              <a:t>OK</a:t>
            </a:r>
          </a:p>
          <a:p>
            <a:pPr lvl="1"/>
            <a:r>
              <a:rPr lang="en-US" sz="1800" dirty="0"/>
              <a:t>Cancel</a:t>
            </a:r>
          </a:p>
          <a:p>
            <a:pPr lvl="1"/>
            <a:r>
              <a:rPr lang="en-US" sz="1800" dirty="0" err="1"/>
              <a:t>dll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274710"/>
            <a:ext cx="3491425" cy="271462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2374635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Pop-Up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220866" y="1140497"/>
            <a:ext cx="5496515" cy="5094197"/>
          </a:xfrm>
        </p:spPr>
        <p:txBody>
          <a:bodyPr>
            <a:normAutofit/>
          </a:bodyPr>
          <a:lstStyle/>
          <a:p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di Web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1996</a:t>
            </a:r>
          </a:p>
          <a:p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seksama</a:t>
            </a:r>
            <a:r>
              <a:rPr lang="en-US" dirty="0"/>
              <a:t>!</a:t>
            </a:r>
          </a:p>
          <a:p>
            <a:r>
              <a:rPr lang="en-US" dirty="0" err="1">
                <a:solidFill>
                  <a:srgbClr val="FF0000"/>
                </a:solidFill>
              </a:rPr>
              <a:t>Anekdot</a:t>
            </a:r>
            <a:r>
              <a:rPr lang="en-US" dirty="0">
                <a:solidFill>
                  <a:srgbClr val="FF0000"/>
                </a:solidFill>
              </a:rPr>
              <a:t>: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i="1" dirty="0">
                <a:solidFill>
                  <a:srgbClr val="FF0000"/>
                </a:solidFill>
              </a:rPr>
              <a:t>When a pop-up window begins to appear, most people close them before they are rendered.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1371600"/>
            <a:ext cx="2819400" cy="375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74618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07503" y="3429000"/>
            <a:ext cx="8326438" cy="641239"/>
          </a:xfrm>
        </p:spPr>
        <p:txBody>
          <a:bodyPr>
            <a:normAutofit fontScale="90000"/>
          </a:bodyPr>
          <a:lstStyle/>
          <a:p>
            <a:pPr algn="ctr"/>
            <a:r>
              <a:rPr lang="en-ID" dirty="0" err="1"/>
              <a:t>Pengorganisasian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Windows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482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Penyebab</a:t>
            </a:r>
            <a:r>
              <a:rPr lang="en-US" sz="2400" dirty="0"/>
              <a:t> </a:t>
            </a:r>
            <a:r>
              <a:rPr lang="en-US" sz="2400" dirty="0" err="1"/>
              <a:t>Organisasi</a:t>
            </a:r>
            <a:r>
              <a:rPr lang="en-US" sz="2400" dirty="0"/>
              <a:t> </a:t>
            </a:r>
            <a:r>
              <a:rPr lang="en-US" sz="2400" dirty="0" err="1"/>
              <a:t>Fungsional</a:t>
            </a:r>
            <a:r>
              <a:rPr lang="en-US" sz="2400" dirty="0"/>
              <a:t> yang </a:t>
            </a:r>
            <a:r>
              <a:rPr lang="en-US" sz="2400" dirty="0" err="1"/>
              <a:t>Buruk</a:t>
            </a:r>
            <a:endParaRPr lang="en-US" sz="2400" dirty="0"/>
          </a:p>
        </p:txBody>
      </p:sp>
      <p:sp>
        <p:nvSpPr>
          <p:cNvPr id="24581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dirty="0"/>
              <a:t>(Mayhew, 1992)</a:t>
            </a:r>
          </a:p>
          <a:p>
            <a:pPr eaLnBrk="1" hangingPunct="1"/>
            <a:r>
              <a:rPr lang="en-US" dirty="0" err="1"/>
              <a:t>Penekanan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kemudahan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mendalam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i="1" dirty="0"/>
              <a:t>user tasks</a:t>
            </a:r>
            <a:endParaRPr lang="en-US" dirty="0"/>
          </a:p>
          <a:p>
            <a:pPr eaLnBrk="1" hangingPunct="1"/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, </a:t>
            </a:r>
            <a:r>
              <a:rPr lang="en-US" dirty="0" err="1"/>
              <a:t>fitur</a:t>
            </a:r>
            <a:r>
              <a:rPr lang="en-US" dirty="0"/>
              <a:t>,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daripada</a:t>
            </a:r>
            <a:r>
              <a:rPr lang="en-US" dirty="0"/>
              <a:t> </a:t>
            </a:r>
            <a:r>
              <a:rPr lang="en-US" i="1" dirty="0"/>
              <a:t>tasks</a:t>
            </a:r>
          </a:p>
          <a:p>
            <a:pPr eaLnBrk="1" hangingPunct="1"/>
            <a:r>
              <a:rPr lang="en-US" dirty="0"/>
              <a:t>Tim </a:t>
            </a:r>
            <a:r>
              <a:rPr lang="en-US" dirty="0" err="1"/>
              <a:t>desain</a:t>
            </a:r>
            <a:r>
              <a:rPr lang="en-US" dirty="0"/>
              <a:t> </a:t>
            </a:r>
            <a:r>
              <a:rPr lang="en-US" dirty="0" err="1"/>
              <a:t>terbagi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komunikasi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yang </a:t>
            </a:r>
            <a:r>
              <a:rPr lang="en-US" dirty="0" err="1"/>
              <a:t>rendah</a:t>
            </a:r>
            <a:endParaRPr lang="en-US" dirty="0"/>
          </a:p>
          <a:p>
            <a:pPr eaLnBrk="1" hangingPunct="1"/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petunjuk</a:t>
            </a:r>
            <a:r>
              <a:rPr lang="en-US" dirty="0"/>
              <a:t> manual </a:t>
            </a:r>
            <a:r>
              <a:rPr lang="en-US" dirty="0" err="1"/>
              <a:t>beserta</a:t>
            </a:r>
            <a:r>
              <a:rPr lang="en-US" dirty="0"/>
              <a:t> in-</a:t>
            </a:r>
            <a:r>
              <a:rPr lang="en-US" dirty="0" err="1"/>
              <a:t>efisiensi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711034" y="293210"/>
            <a:ext cx="5721930" cy="7735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Penentuan</a:t>
            </a:r>
            <a:r>
              <a:rPr lang="en-US" dirty="0"/>
              <a:t> Type Windows</a:t>
            </a:r>
          </a:p>
        </p:txBody>
      </p:sp>
      <p:sp>
        <p:nvSpPr>
          <p:cNvPr id="23557" name="Content Placeholder 8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i="1" dirty="0"/>
              <a:t>primary windows </a:t>
            </a:r>
            <a:r>
              <a:rPr lang="en-US" dirty="0" err="1"/>
              <a:t>untuk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Memulai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i="1" dirty="0"/>
              <a:t>top-level context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dependent windows</a:t>
            </a:r>
          </a:p>
          <a:p>
            <a:pPr lvl="1" eaLnBrk="1" hangingPunct="1"/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utama</a:t>
            </a:r>
            <a:endParaRPr lang="en-US" dirty="0"/>
          </a:p>
          <a:p>
            <a:pPr eaLnBrk="1" hangingPunct="1"/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i="1" dirty="0"/>
              <a:t>secondary windows </a:t>
            </a:r>
            <a:r>
              <a:rPr lang="en-US" dirty="0" err="1"/>
              <a:t>untuk</a:t>
            </a:r>
            <a:endParaRPr lang="en-US" dirty="0"/>
          </a:p>
          <a:p>
            <a:pPr lvl="1" eaLnBrk="1" hangingPunct="1"/>
            <a:r>
              <a:rPr lang="en-US" dirty="0" err="1"/>
              <a:t>Perluasan</a:t>
            </a:r>
            <a:r>
              <a:rPr lang="en-US" dirty="0"/>
              <a:t> </a:t>
            </a:r>
            <a:r>
              <a:rPr lang="en-US" dirty="0" err="1"/>
              <a:t>interaksi</a:t>
            </a:r>
            <a:endParaRPr lang="en-US" dirty="0"/>
          </a:p>
          <a:p>
            <a:pPr lvl="1" eaLnBrk="1" hangingPunct="1"/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i="1" dirty="0"/>
              <a:t>primary window</a:t>
            </a:r>
            <a:endParaRPr lang="en-US" dirty="0"/>
          </a:p>
          <a:p>
            <a:pPr eaLnBrk="1" hangingPunct="1"/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i="1" dirty="0"/>
              <a:t>dialog boxes</a:t>
            </a:r>
            <a:r>
              <a:rPr lang="en-US" dirty="0"/>
              <a:t> </a:t>
            </a:r>
            <a:r>
              <a:rPr lang="en-US" dirty="0" err="1"/>
              <a:t>untuk</a:t>
            </a:r>
            <a:endParaRPr lang="en-US" dirty="0"/>
          </a:p>
          <a:p>
            <a:pPr lvl="1" eaLnBrk="1" hangingPunct="1"/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jarang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diperlukan</a:t>
            </a:r>
            <a:endParaRPr lang="en-US" dirty="0"/>
          </a:p>
          <a:p>
            <a:pPr lvl="1" eaLnBrk="1" hangingPunct="1"/>
            <a:r>
              <a:rPr lang="en-US" dirty="0" err="1"/>
              <a:t>Informasi</a:t>
            </a:r>
            <a:r>
              <a:rPr lang="en-US" dirty="0"/>
              <a:t> yang “</a:t>
            </a:r>
            <a:r>
              <a:rPr lang="en-US" i="1" dirty="0"/>
              <a:t>nice to know”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4" y="743230"/>
            <a:ext cx="5721930" cy="7735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Pengorganisasian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Windows</a:t>
            </a:r>
          </a:p>
        </p:txBody>
      </p:sp>
      <p:sp>
        <p:nvSpPr>
          <p:cNvPr id="25605" name="Content Placeholder 2"/>
          <p:cNvSpPr>
            <a:spLocks noGrp="1"/>
          </p:cNvSpPr>
          <p:nvPr>
            <p:ph type="body" idx="1"/>
          </p:nvPr>
        </p:nvSpPr>
        <p:spPr>
          <a:xfrm>
            <a:off x="220866" y="2590800"/>
            <a:ext cx="8706656" cy="42672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/>
              <a:t>Pengorganisasian</a:t>
            </a:r>
            <a:r>
              <a:rPr lang="en-US" sz="2000" dirty="0"/>
              <a:t> windows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mendukung</a:t>
            </a:r>
            <a:r>
              <a:rPr lang="en-US" sz="2000" dirty="0"/>
              <a:t> task </a:t>
            </a:r>
            <a:r>
              <a:rPr lang="en-US" sz="2000" dirty="0" err="1"/>
              <a:t>pengguna</a:t>
            </a:r>
            <a:r>
              <a:rPr lang="en-US" sz="2000" dirty="0"/>
              <a:t>; </a:t>
            </a:r>
            <a:r>
              <a:rPr lang="en-US" sz="2000" dirty="0" err="1"/>
              <a:t>yaitu</a:t>
            </a:r>
            <a:r>
              <a:rPr lang="en-US" sz="2000" dirty="0"/>
              <a:t> </a:t>
            </a:r>
            <a:r>
              <a:rPr lang="en-US" sz="2000" dirty="0" err="1"/>
              <a:t>mendukung</a:t>
            </a:r>
            <a:r>
              <a:rPr lang="en-US" sz="2000" dirty="0"/>
              <a:t> </a:t>
            </a:r>
            <a:r>
              <a:rPr lang="en-US" sz="2000" i="1" dirty="0"/>
              <a:t>the most common tasks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i="1" dirty="0"/>
              <a:t>the most efficient sequence of steps</a:t>
            </a:r>
            <a:endParaRPr lang="en-US" sz="2000" dirty="0"/>
          </a:p>
          <a:p>
            <a:pPr eaLnBrk="1" hangingPunct="1"/>
            <a:r>
              <a:rPr lang="en-US" sz="2000" b="1" dirty="0" err="1"/>
              <a:t>Minimalkan</a:t>
            </a:r>
            <a:r>
              <a:rPr lang="en-US" sz="2000" b="1" dirty="0"/>
              <a:t> </a:t>
            </a:r>
            <a:r>
              <a:rPr lang="en-US" sz="2000" b="1" dirty="0" err="1"/>
              <a:t>jumlah</a:t>
            </a:r>
            <a:r>
              <a:rPr lang="en-US" sz="2000" b="1" dirty="0"/>
              <a:t> windows </a:t>
            </a:r>
            <a:r>
              <a:rPr lang="en-US" sz="2000" dirty="0"/>
              <a:t>yang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tujuan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endParaRPr lang="en-US" sz="2000" dirty="0"/>
          </a:p>
          <a:p>
            <a:pPr eaLnBrk="1" hangingPunct="1"/>
            <a:r>
              <a:rPr lang="en-US" sz="2000" dirty="0" err="1"/>
              <a:t>Sebisa</a:t>
            </a:r>
            <a:r>
              <a:rPr lang="en-US" sz="2000" dirty="0"/>
              <a:t> </a:t>
            </a:r>
            <a:r>
              <a:rPr lang="en-US" sz="2000" dirty="0" err="1"/>
              <a:t>mungkin</a:t>
            </a:r>
            <a:r>
              <a:rPr lang="en-US" sz="2000" dirty="0"/>
              <a:t>, </a:t>
            </a:r>
            <a:r>
              <a:rPr lang="en-US" sz="2000" dirty="0" err="1"/>
              <a:t>gunakan</a:t>
            </a:r>
            <a:r>
              <a:rPr lang="en-US" sz="2000" dirty="0"/>
              <a:t> </a:t>
            </a:r>
            <a:r>
              <a:rPr lang="en-US" sz="2000" b="1" dirty="0"/>
              <a:t>window </a:t>
            </a:r>
            <a:r>
              <a:rPr lang="en-US" sz="2000" b="1" dirty="0" err="1"/>
              <a:t>tunggal</a:t>
            </a:r>
            <a:endParaRPr lang="en-US" sz="2000" b="1" dirty="0"/>
          </a:p>
          <a:p>
            <a:pPr eaLnBrk="1" hangingPunct="1"/>
            <a:r>
              <a:rPr lang="en-US" sz="2000" dirty="0" err="1"/>
              <a:t>Pertimbangkan</a:t>
            </a:r>
            <a:r>
              <a:rPr lang="en-US" sz="2000" dirty="0"/>
              <a:t> </a:t>
            </a:r>
            <a:r>
              <a:rPr lang="en-US" sz="2000" i="1" dirty="0"/>
              <a:t>user tasks</a:t>
            </a:r>
          </a:p>
          <a:p>
            <a:pPr eaLnBrk="1" hangingPunct="1"/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memenuhi</a:t>
            </a:r>
            <a:r>
              <a:rPr lang="en-US" sz="2000" dirty="0"/>
              <a:t> window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informasi</a:t>
            </a:r>
            <a:r>
              <a:rPr lang="en-US" sz="2000" dirty="0"/>
              <a:t> yang </a:t>
            </a:r>
            <a:r>
              <a:rPr lang="en-US" sz="2000" dirty="0" err="1"/>
              <a:t>jarang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; </a:t>
            </a:r>
            <a:r>
              <a:rPr lang="en-US" sz="2000" dirty="0" err="1"/>
              <a:t>letakkan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i="1" dirty="0"/>
              <a:t>secondary window</a:t>
            </a:r>
            <a:r>
              <a:rPr lang="en-US" sz="2000" dirty="0"/>
              <a:t> yang </a:t>
            </a:r>
            <a:r>
              <a:rPr lang="en-US" sz="2000" dirty="0" err="1"/>
              <a:t>jarang</a:t>
            </a:r>
            <a:r>
              <a:rPr lang="en-US" sz="2000" dirty="0"/>
              <a:t> </a:t>
            </a:r>
            <a:r>
              <a:rPr lang="en-US" sz="2000" dirty="0" err="1"/>
              <a:t>diakses</a:t>
            </a:r>
            <a:endParaRPr lang="en-US" sz="2000" dirty="0"/>
          </a:p>
          <a:p>
            <a:pPr eaLnBrk="1" hangingPunct="1">
              <a:buFontTx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 err="1"/>
              <a:t>Sediakan</a:t>
            </a:r>
            <a:r>
              <a:rPr lang="en-US" sz="1600" dirty="0"/>
              <a:t> windows yang </a:t>
            </a:r>
            <a:r>
              <a:rPr lang="en-US" sz="1600" dirty="0" err="1"/>
              <a:t>cukup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endParaRPr lang="en-US" sz="1600" dirty="0"/>
          </a:p>
          <a:p>
            <a:pPr lvl="1"/>
            <a:r>
              <a:rPr lang="en-US" sz="1400" dirty="0" err="1"/>
              <a:t>Menampilkan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yang </a:t>
            </a:r>
            <a:r>
              <a:rPr lang="en-US" sz="1400" dirty="0" err="1"/>
              <a:t>relevan</a:t>
            </a:r>
            <a:r>
              <a:rPr lang="en-US" sz="1400" dirty="0"/>
              <a:t> </a:t>
            </a:r>
            <a:r>
              <a:rPr lang="en-US" sz="1400" dirty="0" err="1"/>
              <a:t>sesuai</a:t>
            </a:r>
            <a:r>
              <a:rPr lang="en-US" sz="1400" dirty="0"/>
              <a:t> </a:t>
            </a:r>
            <a:r>
              <a:rPr lang="en-US" sz="1400" i="1" dirty="0"/>
              <a:t>task</a:t>
            </a:r>
            <a:endParaRPr lang="en-US" sz="1400" dirty="0"/>
          </a:p>
          <a:p>
            <a:pPr lvl="1"/>
            <a:r>
              <a:rPr lang="en-US" sz="1400" dirty="0" err="1"/>
              <a:t>Hindari</a:t>
            </a:r>
            <a:r>
              <a:rPr lang="en-US" sz="1400" dirty="0"/>
              <a:t> </a:t>
            </a:r>
            <a:r>
              <a:rPr lang="en-US" sz="1400" dirty="0" err="1"/>
              <a:t>menyembunyikan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penting</a:t>
            </a:r>
            <a:endParaRPr lang="en-US" sz="1400" dirty="0"/>
          </a:p>
          <a:p>
            <a:pPr lvl="1"/>
            <a:r>
              <a:rPr lang="en-US" sz="1400" dirty="0" err="1"/>
              <a:t>Hindari</a:t>
            </a:r>
            <a:r>
              <a:rPr lang="en-US" sz="1400" dirty="0"/>
              <a:t> </a:t>
            </a:r>
            <a:r>
              <a:rPr lang="en-US" sz="1400" dirty="0" err="1"/>
              <a:t>memenuhi</a:t>
            </a:r>
            <a:r>
              <a:rPr lang="en-US" sz="1400" dirty="0"/>
              <a:t> </a:t>
            </a:r>
            <a:r>
              <a:rPr lang="en-US" sz="1400" dirty="0" err="1"/>
              <a:t>layar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menyebabkan</a:t>
            </a:r>
            <a:r>
              <a:rPr lang="en-US" sz="1400" dirty="0"/>
              <a:t> </a:t>
            </a:r>
            <a:r>
              <a:rPr lang="en-US" sz="1400" dirty="0" err="1"/>
              <a:t>kebingungan</a:t>
            </a:r>
            <a:r>
              <a:rPr lang="en-US" sz="1400" dirty="0"/>
              <a:t> visual</a:t>
            </a:r>
          </a:p>
          <a:p>
            <a:pPr lvl="1"/>
            <a:r>
              <a:rPr lang="en-US" sz="1400" dirty="0" err="1"/>
              <a:t>Minimalkan</a:t>
            </a:r>
            <a:r>
              <a:rPr lang="en-US" sz="1400" dirty="0"/>
              <a:t> </a:t>
            </a:r>
            <a:r>
              <a:rPr lang="en-US" sz="1400" dirty="0" err="1"/>
              <a:t>kebutuhan</a:t>
            </a:r>
            <a:r>
              <a:rPr lang="en-US" sz="1400" dirty="0"/>
              <a:t> </a:t>
            </a:r>
            <a:r>
              <a:rPr lang="en-US" sz="1400" i="1" dirty="0"/>
              <a:t>scrolling</a:t>
            </a:r>
            <a:r>
              <a:rPr lang="en-US" sz="1400" dirty="0"/>
              <a:t>; </a:t>
            </a:r>
            <a:r>
              <a:rPr lang="en-US" sz="1400" dirty="0" err="1"/>
              <a:t>gunakan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layar</a:t>
            </a:r>
            <a:endParaRPr lang="en-US" sz="1400" dirty="0"/>
          </a:p>
          <a:p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window </a:t>
            </a:r>
            <a:r>
              <a:rPr lang="en-US" sz="1600" dirty="0" err="1"/>
              <a:t>terlalu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, </a:t>
            </a:r>
            <a:r>
              <a:rPr lang="en-US" sz="1600" dirty="0" err="1"/>
              <a:t>tentukan</a:t>
            </a:r>
            <a:endParaRPr lang="en-US" sz="1600" dirty="0"/>
          </a:p>
          <a:p>
            <a:pPr lvl="1"/>
            <a:r>
              <a:rPr lang="en-US" sz="1400" dirty="0" err="1"/>
              <a:t>Apakah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diperlukan</a:t>
            </a:r>
            <a:r>
              <a:rPr lang="en-US" sz="1400" dirty="0"/>
              <a:t>?</a:t>
            </a:r>
          </a:p>
          <a:p>
            <a:pPr lvl="1"/>
            <a:r>
              <a:rPr lang="en-US" sz="1400" dirty="0" err="1"/>
              <a:t>Apakah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berhubungan</a:t>
            </a:r>
            <a:r>
              <a:rPr lang="en-US" sz="1400" dirty="0"/>
              <a:t>?</a:t>
            </a:r>
          </a:p>
          <a:p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, </a:t>
            </a:r>
            <a:r>
              <a:rPr lang="en-US" sz="1600" dirty="0" err="1"/>
              <a:t>buat</a:t>
            </a:r>
            <a:r>
              <a:rPr lang="en-US" sz="1600" dirty="0"/>
              <a:t> window </a:t>
            </a:r>
            <a:r>
              <a:rPr lang="en-US" sz="1600" dirty="0" err="1"/>
              <a:t>sekecil</a:t>
            </a:r>
            <a:r>
              <a:rPr lang="en-US" sz="1600" dirty="0"/>
              <a:t> </a:t>
            </a:r>
            <a:r>
              <a:rPr lang="en-US" sz="1600" dirty="0" err="1"/>
              <a:t>mungkin</a:t>
            </a:r>
            <a:endParaRPr lang="en-US" sz="1600" dirty="0"/>
          </a:p>
          <a:p>
            <a:pPr lvl="1">
              <a:buNone/>
            </a:pPr>
            <a:r>
              <a:rPr lang="en-US" sz="1400" dirty="0" err="1"/>
              <a:t>Ukuran</a:t>
            </a:r>
            <a:r>
              <a:rPr lang="en-US" sz="1400" dirty="0"/>
              <a:t> window optimal:</a:t>
            </a:r>
          </a:p>
          <a:p>
            <a:pPr lvl="1"/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teks</a:t>
            </a:r>
            <a:r>
              <a:rPr lang="en-US" sz="1400" dirty="0"/>
              <a:t>, </a:t>
            </a:r>
            <a:r>
              <a:rPr lang="en-US" sz="1400" dirty="0" err="1"/>
              <a:t>sekitar</a:t>
            </a:r>
            <a:r>
              <a:rPr lang="en-US" sz="1400" dirty="0"/>
              <a:t> 12 </a:t>
            </a:r>
            <a:r>
              <a:rPr lang="en-US" sz="1400" dirty="0" err="1"/>
              <a:t>baris</a:t>
            </a:r>
            <a:endParaRPr lang="en-US" sz="1400" dirty="0"/>
          </a:p>
          <a:p>
            <a:pPr lvl="1"/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informasi</a:t>
            </a:r>
            <a:r>
              <a:rPr lang="en-US" sz="1400" dirty="0"/>
              <a:t> </a:t>
            </a:r>
            <a:r>
              <a:rPr lang="en-US" sz="1400" dirty="0" err="1"/>
              <a:t>alfanumerik</a:t>
            </a:r>
            <a:r>
              <a:rPr lang="en-US" sz="1400" dirty="0"/>
              <a:t>, </a:t>
            </a:r>
            <a:r>
              <a:rPr lang="en-US" sz="1400" dirty="0" err="1"/>
              <a:t>sekitar</a:t>
            </a:r>
            <a:r>
              <a:rPr lang="en-US" sz="1400" dirty="0"/>
              <a:t> 7 </a:t>
            </a:r>
            <a:r>
              <a:rPr lang="en-US" sz="1400" dirty="0" err="1"/>
              <a:t>baris</a:t>
            </a:r>
            <a:endParaRPr lang="en-US" sz="1400" dirty="0"/>
          </a:p>
          <a:p>
            <a:endParaRPr lang="id-ID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err="1"/>
              <a:t>Panduan</a:t>
            </a:r>
            <a:r>
              <a:rPr lang="en-US" dirty="0"/>
              <a:t> </a:t>
            </a:r>
            <a:r>
              <a:rPr lang="en-US" dirty="0" err="1"/>
              <a:t>Letak</a:t>
            </a:r>
            <a:r>
              <a:rPr lang="en-US" dirty="0"/>
              <a:t> Window</a:t>
            </a:r>
          </a:p>
        </p:txBody>
      </p:sp>
      <p:sp>
        <p:nvSpPr>
          <p:cNvPr id="2765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hangingPunct="1"/>
            <a:r>
              <a:rPr lang="en-US" sz="3000" dirty="0" err="1"/>
              <a:t>Dalam</a:t>
            </a:r>
            <a:r>
              <a:rPr lang="en-US" sz="3000" dirty="0"/>
              <a:t> </a:t>
            </a:r>
            <a:r>
              <a:rPr lang="en-US" sz="3000" dirty="0" err="1"/>
              <a:t>meletakkan</a:t>
            </a:r>
            <a:r>
              <a:rPr lang="en-US" sz="3000" dirty="0"/>
              <a:t> window di </a:t>
            </a:r>
            <a:r>
              <a:rPr lang="en-US" sz="3000" dirty="0" err="1"/>
              <a:t>layar</a:t>
            </a:r>
            <a:r>
              <a:rPr lang="en-US" sz="3000" dirty="0"/>
              <a:t>, </a:t>
            </a:r>
            <a:r>
              <a:rPr lang="en-US" sz="3000" dirty="0" err="1"/>
              <a:t>pertimbangkan</a:t>
            </a:r>
            <a:r>
              <a:rPr lang="en-US" sz="3000" dirty="0"/>
              <a:t> </a:t>
            </a:r>
            <a:r>
              <a:rPr lang="en-US" sz="3000" dirty="0" err="1"/>
              <a:t>penggunaan</a:t>
            </a:r>
            <a:r>
              <a:rPr lang="en-US" sz="3000" dirty="0"/>
              <a:t> window, </a:t>
            </a:r>
            <a:r>
              <a:rPr lang="en-US" sz="3000" dirty="0" err="1"/>
              <a:t>dimensi</a:t>
            </a:r>
            <a:r>
              <a:rPr lang="en-US" sz="3000" dirty="0"/>
              <a:t> total </a:t>
            </a:r>
            <a:r>
              <a:rPr lang="en-US" sz="3000" dirty="0" err="1"/>
              <a:t>layar</a:t>
            </a:r>
            <a:r>
              <a:rPr lang="en-US" sz="3000" dirty="0"/>
              <a:t>, </a:t>
            </a:r>
            <a:r>
              <a:rPr lang="en-US" sz="3000" dirty="0" err="1"/>
              <a:t>dan</a:t>
            </a:r>
            <a:r>
              <a:rPr lang="en-US" sz="3000" dirty="0"/>
              <a:t> </a:t>
            </a:r>
            <a:r>
              <a:rPr lang="en-US" sz="3000" dirty="0" err="1"/>
              <a:t>alasan</a:t>
            </a:r>
            <a:r>
              <a:rPr lang="en-US" sz="3000" dirty="0"/>
              <a:t> </a:t>
            </a:r>
            <a:r>
              <a:rPr lang="en-US" sz="3000" dirty="0" err="1"/>
              <a:t>kemunculan</a:t>
            </a:r>
            <a:r>
              <a:rPr lang="en-US" sz="3000" dirty="0"/>
              <a:t> window</a:t>
            </a:r>
          </a:p>
          <a:p>
            <a:pPr eaLnBrk="1" hangingPunct="1"/>
            <a:r>
              <a:rPr lang="en-US" sz="3000" dirty="0" err="1"/>
              <a:t>Panduan</a:t>
            </a:r>
            <a:r>
              <a:rPr lang="en-US" sz="3000" dirty="0"/>
              <a:t> </a:t>
            </a:r>
            <a:r>
              <a:rPr lang="en-US" sz="3000" dirty="0" err="1"/>
              <a:t>umum</a:t>
            </a:r>
            <a:r>
              <a:rPr lang="en-US" sz="3000" dirty="0"/>
              <a:t>:</a:t>
            </a:r>
          </a:p>
          <a:p>
            <a:pPr lvl="1" eaLnBrk="1" hangingPunct="1"/>
            <a:r>
              <a:rPr lang="en-US" sz="3000" dirty="0" err="1"/>
              <a:t>Letakkan</a:t>
            </a:r>
            <a:r>
              <a:rPr lang="en-US" sz="3000" dirty="0"/>
              <a:t> window </a:t>
            </a:r>
            <a:r>
              <a:rPr lang="en-US" sz="3000" dirty="0" err="1"/>
              <a:t>sehingga</a:t>
            </a:r>
            <a:r>
              <a:rPr lang="en-US" sz="3000" dirty="0"/>
              <a:t> </a:t>
            </a:r>
            <a:r>
              <a:rPr lang="en-US" sz="3000" dirty="0" err="1"/>
              <a:t>tampak</a:t>
            </a:r>
            <a:r>
              <a:rPr lang="en-US" sz="3000" dirty="0"/>
              <a:t> </a:t>
            </a:r>
            <a:r>
              <a:rPr lang="en-US" sz="3000" dirty="0" err="1"/>
              <a:t>secara</a:t>
            </a:r>
            <a:r>
              <a:rPr lang="en-US" sz="3000" dirty="0"/>
              <a:t> </a:t>
            </a:r>
            <a:r>
              <a:rPr lang="en-US" sz="3000" dirty="0" err="1"/>
              <a:t>keseluruhan</a:t>
            </a:r>
            <a:endParaRPr lang="en-US" sz="3000" dirty="0"/>
          </a:p>
          <a:p>
            <a:pPr lvl="1" eaLnBrk="1" hangingPunct="1"/>
            <a:r>
              <a:rPr lang="en-US" sz="3000" dirty="0" err="1"/>
              <a:t>Jika</a:t>
            </a:r>
            <a:r>
              <a:rPr lang="en-US" sz="3000" dirty="0"/>
              <a:t> window di-</a:t>
            </a:r>
            <a:r>
              <a:rPr lang="en-US" sz="3000" i="1" dirty="0"/>
              <a:t>restore</a:t>
            </a:r>
            <a:r>
              <a:rPr lang="en-US" sz="3000" dirty="0"/>
              <a:t>, </a:t>
            </a:r>
            <a:r>
              <a:rPr lang="en-US" sz="3000" dirty="0" err="1"/>
              <a:t>letakkan</a:t>
            </a:r>
            <a:r>
              <a:rPr lang="en-US" sz="3000" dirty="0"/>
              <a:t> di </a:t>
            </a:r>
            <a:r>
              <a:rPr lang="en-US" sz="3000" dirty="0" err="1"/>
              <a:t>tempat</a:t>
            </a:r>
            <a:r>
              <a:rPr lang="en-US" sz="3000" dirty="0"/>
              <a:t> </a:t>
            </a:r>
            <a:r>
              <a:rPr lang="en-US" sz="3000" dirty="0" err="1"/>
              <a:t>muncul</a:t>
            </a:r>
            <a:r>
              <a:rPr lang="en-US" sz="3000" dirty="0"/>
              <a:t> </a:t>
            </a:r>
            <a:r>
              <a:rPr lang="en-US" sz="3000" dirty="0" err="1"/>
              <a:t>terakhirnya</a:t>
            </a:r>
            <a:endParaRPr lang="en-US" sz="3000" dirty="0"/>
          </a:p>
          <a:p>
            <a:pPr lvl="1" eaLnBrk="1" hangingPunct="1"/>
            <a:r>
              <a:rPr lang="en-US" sz="3000" dirty="0" err="1"/>
              <a:t>Jika</a:t>
            </a:r>
            <a:r>
              <a:rPr lang="en-US" sz="3000" dirty="0"/>
              <a:t> window </a:t>
            </a:r>
            <a:r>
              <a:rPr lang="en-US" sz="3000" dirty="0" err="1"/>
              <a:t>baru</a:t>
            </a:r>
            <a:r>
              <a:rPr lang="en-US" sz="3000" dirty="0"/>
              <a:t> </a:t>
            </a:r>
            <a:r>
              <a:rPr lang="en-US" sz="3000" dirty="0" err="1"/>
              <a:t>dibuka</a:t>
            </a:r>
            <a:r>
              <a:rPr lang="en-US" sz="3000" dirty="0"/>
              <a:t>, </a:t>
            </a:r>
            <a:r>
              <a:rPr lang="en-US" sz="3000" dirty="0" err="1"/>
              <a:t>letakkan</a:t>
            </a:r>
            <a:endParaRPr lang="en-US" sz="3000" dirty="0"/>
          </a:p>
          <a:p>
            <a:pPr lvl="2" eaLnBrk="1" hangingPunct="1"/>
            <a:r>
              <a:rPr lang="en-US" sz="3000" dirty="0"/>
              <a:t>Di </a:t>
            </a:r>
            <a:r>
              <a:rPr lang="en-US" sz="3000" dirty="0" err="1"/>
              <a:t>titik</a:t>
            </a:r>
            <a:r>
              <a:rPr lang="en-US" sz="3000" dirty="0"/>
              <a:t> </a:t>
            </a:r>
            <a:r>
              <a:rPr lang="en-US" sz="3000" dirty="0" err="1"/>
              <a:t>perhatian</a:t>
            </a:r>
            <a:r>
              <a:rPr lang="en-US" sz="3000" dirty="0"/>
              <a:t> </a:t>
            </a:r>
            <a:r>
              <a:rPr lang="en-US" sz="3000" dirty="0" err="1"/>
              <a:t>pengguna</a:t>
            </a:r>
            <a:r>
              <a:rPr lang="en-US" sz="3000" dirty="0"/>
              <a:t>, </a:t>
            </a:r>
            <a:r>
              <a:rPr lang="en-US" sz="3000" dirty="0" err="1"/>
              <a:t>biasanya</a:t>
            </a:r>
            <a:r>
              <a:rPr lang="en-US" sz="3000" dirty="0"/>
              <a:t> </a:t>
            </a:r>
            <a:r>
              <a:rPr lang="en-US" sz="3000" dirty="0" err="1"/>
              <a:t>pada</a:t>
            </a:r>
            <a:r>
              <a:rPr lang="en-US" sz="3000" dirty="0"/>
              <a:t> </a:t>
            </a:r>
            <a:r>
              <a:rPr lang="en-US" sz="3000" dirty="0" err="1"/>
              <a:t>kursor</a:t>
            </a:r>
            <a:r>
              <a:rPr lang="en-US" sz="3000" dirty="0"/>
              <a:t> / pointer</a:t>
            </a:r>
          </a:p>
          <a:p>
            <a:pPr lvl="2" eaLnBrk="1" hangingPunct="1"/>
            <a:r>
              <a:rPr lang="en-US" sz="3000" dirty="0" err="1"/>
              <a:t>Pada</a:t>
            </a:r>
            <a:r>
              <a:rPr lang="en-US" sz="3000" dirty="0"/>
              <a:t> </a:t>
            </a:r>
            <a:r>
              <a:rPr lang="en-US" sz="3000" dirty="0" err="1"/>
              <a:t>posisi</a:t>
            </a:r>
            <a:r>
              <a:rPr lang="en-US" sz="3000" dirty="0"/>
              <a:t> yang </a:t>
            </a:r>
            <a:r>
              <a:rPr lang="en-US" sz="3000" dirty="0" err="1"/>
              <a:t>mudah</a:t>
            </a:r>
            <a:r>
              <a:rPr lang="en-US" sz="3000" dirty="0"/>
              <a:t> </a:t>
            </a:r>
            <a:r>
              <a:rPr lang="en-US" sz="3000" dirty="0" err="1"/>
              <a:t>dinavigasi</a:t>
            </a:r>
            <a:endParaRPr lang="en-US" sz="3000" dirty="0"/>
          </a:p>
          <a:p>
            <a:pPr lvl="2" eaLnBrk="1" hangingPunct="1"/>
            <a:r>
              <a:rPr lang="en-US" sz="3000" dirty="0" err="1"/>
              <a:t>Tidak</a:t>
            </a:r>
            <a:r>
              <a:rPr lang="en-US" sz="3000" dirty="0"/>
              <a:t> </a:t>
            </a:r>
            <a:r>
              <a:rPr lang="en-US" sz="3000" dirty="0" err="1"/>
              <a:t>menutupi</a:t>
            </a:r>
            <a:r>
              <a:rPr lang="en-US" sz="3000" dirty="0"/>
              <a:t> window lain yang </a:t>
            </a:r>
            <a:r>
              <a:rPr lang="en-US" sz="3000" dirty="0" err="1"/>
              <a:t>penting</a:t>
            </a:r>
            <a:r>
              <a:rPr lang="en-US" sz="3000" dirty="0"/>
              <a:t>/ </a:t>
            </a:r>
            <a:r>
              <a:rPr lang="en-US" sz="3000" dirty="0" err="1"/>
              <a:t>berkaitan</a:t>
            </a:r>
            <a:endParaRPr lang="en-US" sz="3000" dirty="0"/>
          </a:p>
          <a:p>
            <a:pPr lvl="1" eaLnBrk="1" hangingPunct="1"/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dirty="0" err="1"/>
              <a:t>banyak</a:t>
            </a:r>
            <a:r>
              <a:rPr lang="en-US" sz="3000" dirty="0"/>
              <a:t> windows, </a:t>
            </a:r>
            <a:r>
              <a:rPr lang="en-US" sz="3000" dirty="0" err="1"/>
              <a:t>berikan</a:t>
            </a:r>
            <a:r>
              <a:rPr lang="en-US" sz="3000" dirty="0"/>
              <a:t> </a:t>
            </a:r>
            <a:r>
              <a:rPr lang="en-US" sz="3000" dirty="0" err="1"/>
              <a:t>posisi</a:t>
            </a:r>
            <a:r>
              <a:rPr lang="en-US" sz="3000" dirty="0"/>
              <a:t> </a:t>
            </a:r>
            <a:r>
              <a:rPr lang="en-US" sz="3000" dirty="0" err="1"/>
              <a:t>unik</a:t>
            </a:r>
            <a:r>
              <a:rPr lang="en-US" sz="3000" dirty="0"/>
              <a:t> </a:t>
            </a:r>
            <a:r>
              <a:rPr lang="en-US" sz="3000" dirty="0" err="1"/>
              <a:t>untuk</a:t>
            </a:r>
            <a:r>
              <a:rPr lang="en-US" sz="3000" dirty="0"/>
              <a:t> </a:t>
            </a:r>
            <a:r>
              <a:rPr lang="en-US" sz="3000" dirty="0" err="1"/>
              <a:t>tiap</a:t>
            </a:r>
            <a:r>
              <a:rPr lang="en-US" sz="3000" dirty="0"/>
              <a:t> window (</a:t>
            </a:r>
            <a:r>
              <a:rPr lang="en-US" sz="3000" i="1" dirty="0"/>
              <a:t>cascade</a:t>
            </a:r>
            <a:r>
              <a:rPr lang="en-US" sz="3000" dirty="0"/>
              <a:t>)</a:t>
            </a:r>
          </a:p>
          <a:p>
            <a:pPr lvl="1" eaLnBrk="1" hangingPunct="1"/>
            <a:r>
              <a:rPr lang="en-US" sz="3000" dirty="0" err="1"/>
              <a:t>Jika</a:t>
            </a:r>
            <a:r>
              <a:rPr lang="en-US" sz="3000" dirty="0"/>
              <a:t> </a:t>
            </a:r>
            <a:r>
              <a:rPr lang="en-US" sz="3000" dirty="0" err="1"/>
              <a:t>konfigurasi</a:t>
            </a:r>
            <a:r>
              <a:rPr lang="en-US" sz="3000" dirty="0"/>
              <a:t> monitor </a:t>
            </a:r>
            <a:r>
              <a:rPr lang="en-US" sz="3000" dirty="0" err="1"/>
              <a:t>beragam</a:t>
            </a:r>
            <a:r>
              <a:rPr lang="en-US" sz="3000" dirty="0"/>
              <a:t>, </a:t>
            </a:r>
            <a:r>
              <a:rPr lang="en-US" sz="3000" dirty="0" err="1"/>
              <a:t>tampilkan</a:t>
            </a:r>
            <a:r>
              <a:rPr lang="en-US" sz="3000" dirty="0"/>
              <a:t> </a:t>
            </a:r>
            <a:r>
              <a:rPr lang="en-US" sz="3000" i="1" dirty="0"/>
              <a:t>secondary window</a:t>
            </a:r>
            <a:r>
              <a:rPr lang="en-US" sz="3000" dirty="0"/>
              <a:t> </a:t>
            </a:r>
            <a:r>
              <a:rPr lang="en-US" sz="3000" dirty="0" err="1"/>
              <a:t>pada</a:t>
            </a:r>
            <a:r>
              <a:rPr lang="en-US" sz="3000" dirty="0"/>
              <a:t> monitor yang </a:t>
            </a:r>
            <a:r>
              <a:rPr lang="en-US" sz="3000" dirty="0" err="1"/>
              <a:t>sama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i="1" dirty="0"/>
              <a:t>primary window</a:t>
            </a:r>
            <a:endParaRPr lang="en-US" sz="3000" dirty="0"/>
          </a:p>
          <a:p>
            <a:pPr lvl="1" eaLnBrk="1" hangingPunct="1"/>
            <a:r>
              <a:rPr lang="en-US" sz="3000" dirty="0" err="1"/>
              <a:t>Jika</a:t>
            </a:r>
            <a:r>
              <a:rPr lang="en-US" sz="3000" dirty="0"/>
              <a:t> </a:t>
            </a:r>
            <a:r>
              <a:rPr lang="en-US" sz="3000" dirty="0" err="1"/>
              <a:t>tidak</a:t>
            </a:r>
            <a:r>
              <a:rPr lang="en-US" sz="3000" dirty="0"/>
              <a:t>, </a:t>
            </a:r>
            <a:r>
              <a:rPr lang="en-US" sz="3000" dirty="0" err="1"/>
              <a:t>letakkan</a:t>
            </a:r>
            <a:r>
              <a:rPr lang="en-US" sz="3000" dirty="0"/>
              <a:t> </a:t>
            </a:r>
            <a:r>
              <a:rPr lang="en-US" sz="3000" i="1" dirty="0"/>
              <a:t>secondary window</a:t>
            </a:r>
            <a:r>
              <a:rPr lang="en-US" sz="3000" dirty="0"/>
              <a:t> di </a:t>
            </a:r>
            <a:r>
              <a:rPr lang="en-US" sz="3000" dirty="0" err="1"/>
              <a:t>tengah</a:t>
            </a:r>
            <a:r>
              <a:rPr lang="en-US" sz="3000" dirty="0"/>
              <a:t> </a:t>
            </a:r>
            <a:r>
              <a:rPr lang="en-US" sz="3000" i="1" dirty="0"/>
              <a:t>primary window</a:t>
            </a:r>
            <a:r>
              <a:rPr lang="en-US" sz="3000" dirty="0"/>
              <a:t> </a:t>
            </a:r>
            <a:r>
              <a:rPr lang="en-US" sz="3000" dirty="0" err="1"/>
              <a:t>secara</a:t>
            </a:r>
            <a:r>
              <a:rPr lang="en-US" sz="3000" dirty="0"/>
              <a:t> horizontal</a:t>
            </a:r>
          </a:p>
          <a:p>
            <a:pPr lvl="1" eaLnBrk="1" hangingPunct="1"/>
            <a:r>
              <a:rPr lang="en-US" sz="3000" dirty="0" err="1"/>
              <a:t>Cegah</a:t>
            </a:r>
            <a:r>
              <a:rPr lang="en-US" sz="3000" dirty="0"/>
              <a:t> </a:t>
            </a:r>
            <a:r>
              <a:rPr lang="en-US" sz="3000" dirty="0" err="1"/>
              <a:t>pengguna</a:t>
            </a:r>
            <a:r>
              <a:rPr lang="en-US" sz="3000" dirty="0"/>
              <a:t> </a:t>
            </a:r>
            <a:r>
              <a:rPr lang="en-US" sz="3000" dirty="0" err="1"/>
              <a:t>memindahkan</a:t>
            </a:r>
            <a:r>
              <a:rPr lang="en-US" sz="3000" dirty="0"/>
              <a:t> window </a:t>
            </a:r>
            <a:r>
              <a:rPr lang="en-US" sz="3000" dirty="0" err="1"/>
              <a:t>ke</a:t>
            </a:r>
            <a:r>
              <a:rPr lang="en-US" sz="3000" dirty="0"/>
              <a:t> </a:t>
            </a:r>
            <a:r>
              <a:rPr lang="en-US" sz="3000" dirty="0" err="1"/>
              <a:t>posisi</a:t>
            </a:r>
            <a:r>
              <a:rPr lang="en-US" sz="3000" dirty="0"/>
              <a:t> yang </a:t>
            </a:r>
            <a:r>
              <a:rPr lang="en-US" sz="3000" dirty="0" err="1"/>
              <a:t>sulit</a:t>
            </a:r>
            <a:r>
              <a:rPr lang="en-US" sz="3000" dirty="0"/>
              <a:t> di-</a:t>
            </a:r>
            <a:r>
              <a:rPr lang="en-US" sz="3000" dirty="0" err="1"/>
              <a:t>reposisi</a:t>
            </a:r>
            <a:endParaRPr lang="en-US" sz="3000" dirty="0"/>
          </a:p>
          <a:p>
            <a:r>
              <a:rPr lang="en-US" sz="3000" dirty="0"/>
              <a:t>Dialog box:</a:t>
            </a:r>
          </a:p>
          <a:p>
            <a:pPr lvl="1"/>
            <a:r>
              <a:rPr lang="en-US" sz="3000" dirty="0" err="1"/>
              <a:t>Jika</a:t>
            </a:r>
            <a:r>
              <a:rPr lang="en-US" sz="3000" dirty="0"/>
              <a:t> dialog box </a:t>
            </a:r>
            <a:r>
              <a:rPr lang="en-US" sz="3000" dirty="0" err="1"/>
              <a:t>berkaitan</a:t>
            </a:r>
            <a:r>
              <a:rPr lang="en-US" sz="3000" dirty="0"/>
              <a:t> </a:t>
            </a:r>
            <a:r>
              <a:rPr lang="en-US" sz="3000" dirty="0" err="1"/>
              <a:t>dengan</a:t>
            </a:r>
            <a:r>
              <a:rPr lang="en-US" sz="3000" dirty="0"/>
              <a:t> </a:t>
            </a:r>
            <a:r>
              <a:rPr lang="en-US" sz="3000" dirty="0" err="1"/>
              <a:t>seluruh</a:t>
            </a:r>
            <a:r>
              <a:rPr lang="en-US" sz="3000" dirty="0"/>
              <a:t> </a:t>
            </a:r>
            <a:r>
              <a:rPr lang="en-US" sz="3000" dirty="0" err="1"/>
              <a:t>sistem</a:t>
            </a:r>
            <a:r>
              <a:rPr lang="en-US" sz="3000" dirty="0"/>
              <a:t>, </a:t>
            </a:r>
            <a:r>
              <a:rPr lang="en-US" sz="3000" dirty="0" err="1"/>
              <a:t>letakkan</a:t>
            </a:r>
            <a:r>
              <a:rPr lang="en-US" sz="3000" dirty="0"/>
              <a:t> di </a:t>
            </a:r>
            <a:r>
              <a:rPr lang="en-US" sz="3000" dirty="0" err="1"/>
              <a:t>tengah</a:t>
            </a:r>
            <a:r>
              <a:rPr lang="en-US" sz="3000" dirty="0"/>
              <a:t> </a:t>
            </a:r>
            <a:r>
              <a:rPr lang="en-US" sz="3000" dirty="0" err="1"/>
              <a:t>layar</a:t>
            </a:r>
            <a:endParaRPr lang="en-US" sz="3000" dirty="0"/>
          </a:p>
          <a:p>
            <a:pPr lvl="1"/>
            <a:r>
              <a:rPr lang="en-US" sz="3000" dirty="0" err="1"/>
              <a:t>Jaga</a:t>
            </a:r>
            <a:r>
              <a:rPr lang="en-US" sz="3000" dirty="0"/>
              <a:t> </a:t>
            </a:r>
            <a:r>
              <a:rPr lang="en-US" sz="3000" dirty="0" err="1"/>
              <a:t>informasi</a:t>
            </a:r>
            <a:r>
              <a:rPr lang="en-US" sz="3000" dirty="0"/>
              <a:t> di </a:t>
            </a:r>
            <a:r>
              <a:rPr lang="en-US" sz="3000" dirty="0" err="1"/>
              <a:t>layar</a:t>
            </a:r>
            <a:r>
              <a:rPr lang="en-US" sz="3000" dirty="0"/>
              <a:t> </a:t>
            </a:r>
            <a:r>
              <a:rPr lang="en-US" sz="3000" dirty="0" err="1"/>
              <a:t>tetap</a:t>
            </a:r>
            <a:r>
              <a:rPr lang="en-US" sz="3000" dirty="0"/>
              <a:t> </a:t>
            </a:r>
            <a:r>
              <a:rPr lang="en-US" sz="3000" dirty="0" err="1"/>
              <a:t>tampak</a:t>
            </a:r>
            <a:endParaRPr lang="en-US" sz="3000" dirty="0"/>
          </a:p>
          <a:p>
            <a:pPr lvl="1"/>
            <a:r>
              <a:rPr lang="en-US" sz="2500" dirty="0" err="1"/>
              <a:t>Jika</a:t>
            </a:r>
            <a:r>
              <a:rPr lang="en-US" sz="2500" dirty="0"/>
              <a:t> </a:t>
            </a:r>
            <a:r>
              <a:rPr lang="en-US" sz="2500" dirty="0" err="1"/>
              <a:t>sebuah</a:t>
            </a:r>
            <a:r>
              <a:rPr lang="en-US" sz="2500" dirty="0"/>
              <a:t> dialog box </a:t>
            </a:r>
            <a:r>
              <a:rPr lang="en-US" sz="2500" dirty="0" err="1"/>
              <a:t>memanggil</a:t>
            </a:r>
            <a:r>
              <a:rPr lang="en-US" sz="2500" dirty="0"/>
              <a:t> dialog box lain, </a:t>
            </a:r>
            <a:r>
              <a:rPr lang="en-US" sz="2500" dirty="0" err="1"/>
              <a:t>buat</a:t>
            </a:r>
            <a:r>
              <a:rPr lang="en-US" sz="2500" dirty="0"/>
              <a:t> box yang </a:t>
            </a:r>
            <a:r>
              <a:rPr lang="en-US" sz="2500" dirty="0" err="1"/>
              <a:t>pertama</a:t>
            </a:r>
            <a:r>
              <a:rPr lang="en-US" sz="2500" dirty="0"/>
              <a:t> </a:t>
            </a:r>
            <a:r>
              <a:rPr lang="en-US" sz="2500" dirty="0" err="1"/>
              <a:t>dapat</a:t>
            </a:r>
            <a:r>
              <a:rPr lang="en-US" sz="2500" dirty="0"/>
              <a:t> </a:t>
            </a:r>
            <a:r>
              <a:rPr lang="en-US" sz="2500" dirty="0" err="1"/>
              <a:t>dipindahkan</a:t>
            </a:r>
            <a:r>
              <a:rPr lang="en-US" sz="2500" dirty="0"/>
              <a:t> </a:t>
            </a:r>
            <a:r>
              <a:rPr lang="en-US" sz="2500" dirty="0" err="1"/>
              <a:t>kapanpun</a:t>
            </a:r>
            <a:endParaRPr lang="en-US" sz="2500" dirty="0"/>
          </a:p>
          <a:p>
            <a:pPr marL="163512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200" y="3505200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/>
              <a:t>Supplementary..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Istilah</a:t>
            </a:r>
            <a:r>
              <a:rPr lang="en-US" dirty="0"/>
              <a:t> Window </a:t>
            </a:r>
            <a:r>
              <a:rPr lang="en-US" dirty="0" err="1"/>
              <a:t>pada</a:t>
            </a:r>
            <a:r>
              <a:rPr lang="en-US" dirty="0"/>
              <a:t> Mac OS)</a:t>
            </a:r>
          </a:p>
        </p:txBody>
      </p:sp>
    </p:spTree>
    <p:extLst>
      <p:ext uri="{BB962C8B-B14F-4D97-AF65-F5344CB8AC3E}">
        <p14:creationId xmlns:p14="http://schemas.microsoft.com/office/powerpoint/2010/main" val="31930809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EA5B2-8945-4546-92CF-CF7ECF62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662043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Tipe-tipe</a:t>
            </a:r>
            <a:r>
              <a:rPr lang="en-US" dirty="0"/>
              <a:t> Window pada Mac OS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B4A13B-B5AE-4635-B35C-42C673AA33D8}"/>
              </a:ext>
            </a:extLst>
          </p:cNvPr>
          <p:cNvGraphicFramePr>
            <a:graphicFrameLocks noGrp="1"/>
          </p:cNvGraphicFramePr>
          <p:nvPr/>
        </p:nvGraphicFramePr>
        <p:xfrm>
          <a:off x="556854" y="1860439"/>
          <a:ext cx="8375750" cy="4354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692">
                  <a:extLst>
                    <a:ext uri="{9D8B030D-6E8A-4147-A177-3AD203B41FA5}">
                      <a16:colId xmlns:a16="http://schemas.microsoft.com/office/drawing/2014/main" val="26828663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4025492206"/>
                    </a:ext>
                  </a:extLst>
                </a:gridCol>
                <a:gridCol w="1831458">
                  <a:extLst>
                    <a:ext uri="{9D8B030D-6E8A-4147-A177-3AD203B41FA5}">
                      <a16:colId xmlns:a16="http://schemas.microsoft.com/office/drawing/2014/main" val="1801337178"/>
                    </a:ext>
                  </a:extLst>
                </a:gridCol>
              </a:tblGrid>
              <a:tr h="528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effectLst/>
                        </a:rPr>
                        <a:t>Element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effectLst/>
                        </a:rPr>
                        <a:t>Description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dirty="0">
                          <a:effectLst/>
                        </a:rPr>
                        <a:t>Examples</a:t>
                      </a:r>
                      <a:endParaRPr lang="en-US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extLst>
                  <a:ext uri="{0D108BD9-81ED-4DB2-BD59-A6C34878D82A}">
                    <a16:rowId xmlns:a16="http://schemas.microsoft.com/office/drawing/2014/main" val="4063981208"/>
                  </a:ext>
                </a:extLst>
              </a:tr>
              <a:tr h="8565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Document window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Presents data for viewing, editing, and printing by the user.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A TextEdit document,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a Keynote document,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a PDF in Preview,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and a window displaying a website in Safari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extLst>
                  <a:ext uri="{0D108BD9-81ED-4DB2-BD59-A6C34878D82A}">
                    <a16:rowId xmlns:a16="http://schemas.microsoft.com/office/drawing/2014/main" val="1980819221"/>
                  </a:ext>
                </a:extLst>
              </a:tr>
              <a:tr h="6121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App window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Presents content and functions that aren’t document-related. The primary window in an app is considered the main app window.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The Calendar window,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the Contacts window,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and a Finder window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extLst>
                  <a:ext uri="{0D108BD9-81ED-4DB2-BD59-A6C34878D82A}">
                    <a16:rowId xmlns:a16="http://schemas.microsoft.com/office/drawing/2014/main" val="957261380"/>
                  </a:ext>
                </a:extLst>
              </a:tr>
              <a:tr h="8565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Panel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Floats above other windows to provide information, configuration options, or tools for interacting with content in another window. For guidance, see </a:t>
                      </a:r>
                      <a:r>
                        <a:rPr lang="en-US" sz="900" u="sng" dirty="0">
                          <a:effectLst/>
                          <a:hlinkClick r:id="rId2"/>
                        </a:rPr>
                        <a:t>Panels</a:t>
                      </a:r>
                      <a:r>
                        <a:rPr lang="en-US" sz="900" dirty="0">
                          <a:effectLst/>
                        </a:rPr>
                        <a:t>.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The standard color panel,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the standard Fonts panel,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and the document inspector in Preview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extLst>
                  <a:ext uri="{0D108BD9-81ED-4DB2-BD59-A6C34878D82A}">
                    <a16:rowId xmlns:a16="http://schemas.microsoft.com/office/drawing/2014/main" val="2421311493"/>
                  </a:ext>
                </a:extLst>
              </a:tr>
              <a:tr h="6121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Dialog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Appears in response to a user action and requires user action, such as a button click, to dismiss or proceed with an action. See </a:t>
                      </a:r>
                      <a:r>
                        <a:rPr lang="en-US" sz="900" u="sng" dirty="0">
                          <a:effectLst/>
                          <a:hlinkClick r:id="rId3"/>
                        </a:rPr>
                        <a:t>Dialogs</a:t>
                      </a:r>
                      <a:r>
                        <a:rPr lang="en-US" sz="900" dirty="0">
                          <a:effectLst/>
                        </a:rPr>
                        <a:t>.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An open file dialog,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a save file dialog,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and a print dialog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extLst>
                  <a:ext uri="{0D108BD9-81ED-4DB2-BD59-A6C34878D82A}">
                    <a16:rowId xmlns:a16="http://schemas.microsoft.com/office/drawing/2014/main" val="700937000"/>
                  </a:ext>
                </a:extLst>
              </a:tr>
              <a:tr h="88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Alert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>
                          <a:effectLst/>
                        </a:rPr>
                        <a:t>A type of dialog that appears modally to provide important information about an error condition or warn the user about a potentially hazardous situation or consequence. For guidance, see </a:t>
                      </a:r>
                      <a:r>
                        <a:rPr lang="en-US" sz="900" u="sng">
                          <a:effectLst/>
                          <a:hlinkClick r:id="rId4"/>
                        </a:rPr>
                        <a:t>Alerts</a:t>
                      </a:r>
                      <a:r>
                        <a:rPr lang="en-US" sz="900">
                          <a:effectLst/>
                        </a:rPr>
                        <a:t>.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dirty="0">
                          <a:effectLst/>
                        </a:rPr>
                        <a:t>A warning when emptying the trash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900" dirty="0">
                          <a:effectLst/>
                        </a:rPr>
                        <a:t>and an alert calling your attention to a server connection error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326" marR="29326" marT="14663" marB="14663" anchor="ctr"/>
                </a:tc>
                <a:extLst>
                  <a:ext uri="{0D108BD9-81ED-4DB2-BD59-A6C34878D82A}">
                    <a16:rowId xmlns:a16="http://schemas.microsoft.com/office/drawing/2014/main" val="3500818411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622923D8-8080-4EAD-A8F4-C4D88A02F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075" y="19780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35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AD1B-89FF-46B4-B5ED-DC199FD0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 Frame pada Mac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F692-964D-49CB-80CB-E9FF9EF85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window yang </a:t>
            </a:r>
            <a:r>
              <a:rPr lang="en-US" dirty="0" err="1"/>
              <a:t>mengelilingi</a:t>
            </a:r>
            <a:r>
              <a:rPr lang="en-US" dirty="0"/>
              <a:t> </a:t>
            </a:r>
            <a:r>
              <a:rPr lang="en-US" i="1" dirty="0"/>
              <a:t>body content.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window frame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i="1" dirty="0"/>
              <a:t>title bar, toolbar, tab bar dan bottom bar.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584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0CA3-9087-40D5-B7F2-92C516546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Title Bar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E3F7AD-5FA9-4FB9-9A5F-23B307D39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8" y="1576894"/>
            <a:ext cx="7315200" cy="7810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12AA15-B847-4D3A-BF6A-92E8E6BCE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31" y="3136363"/>
            <a:ext cx="5257800" cy="125968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A08B1F-A275-414C-A101-FE914F151D38}"/>
              </a:ext>
            </a:extLst>
          </p:cNvPr>
          <p:cNvSpPr txBox="1">
            <a:spLocks/>
          </p:cNvSpPr>
          <p:nvPr/>
        </p:nvSpPr>
        <p:spPr bwMode="auto">
          <a:xfrm>
            <a:off x="-1359079" y="2778764"/>
            <a:ext cx="83264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800" b="1" dirty="0"/>
              <a:t>Tool Bar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A539E8-8388-4038-A6F8-5146DC59E9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125139"/>
            <a:ext cx="5257800" cy="1115913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D659030-C88C-49E9-8ACF-5F0D7A8F1690}"/>
              </a:ext>
            </a:extLst>
          </p:cNvPr>
          <p:cNvSpPr txBox="1">
            <a:spLocks/>
          </p:cNvSpPr>
          <p:nvPr/>
        </p:nvSpPr>
        <p:spPr bwMode="auto">
          <a:xfrm>
            <a:off x="-1305719" y="4747706"/>
            <a:ext cx="83264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en-US" sz="1800" b="1" dirty="0"/>
              <a:t>Tab Bar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2B23A9-B8A0-47B1-8A2D-BEEAA1C274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723" y="3259255"/>
            <a:ext cx="3505200" cy="21812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BFC4595-6965-4532-8068-769666119F98}"/>
              </a:ext>
            </a:extLst>
          </p:cNvPr>
          <p:cNvSpPr/>
          <p:nvPr/>
        </p:nvSpPr>
        <p:spPr>
          <a:xfrm>
            <a:off x="6967359" y="2808191"/>
            <a:ext cx="1657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+mj-lt"/>
              </a:rPr>
              <a:t>Bottom Bar</a:t>
            </a:r>
          </a:p>
        </p:txBody>
      </p:sp>
    </p:spTree>
    <p:extLst>
      <p:ext uri="{BB962C8B-B14F-4D97-AF65-F5344CB8AC3E}">
        <p14:creationId xmlns:p14="http://schemas.microsoft.com/office/powerpoint/2010/main" val="42632705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5D3E-68D4-4661-AC6E-BA322F44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 Body pada Mac OS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53B9B-5CEA-40DA-8938-394C33B9A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000" dirty="0"/>
              <a:t>Area </a:t>
            </a:r>
            <a:r>
              <a:rPr lang="en-US" sz="2000" i="1" dirty="0"/>
              <a:t>body</a:t>
            </a:r>
            <a:r>
              <a:rPr lang="en-US" sz="2000" dirty="0"/>
              <a:t> </a:t>
            </a:r>
            <a:r>
              <a:rPr lang="en-US" sz="2000" dirty="0" err="1"/>
              <a:t>menampilkan</a:t>
            </a:r>
            <a:r>
              <a:rPr lang="en-US" sz="2000" dirty="0"/>
              <a:t> </a:t>
            </a:r>
            <a:r>
              <a:rPr lang="en-US" sz="2000" dirty="0" err="1"/>
              <a:t>konten</a:t>
            </a:r>
            <a:r>
              <a:rPr lang="en-US" sz="2000" dirty="0"/>
              <a:t> </a:t>
            </a:r>
            <a:r>
              <a:rPr lang="en-US" sz="2000" dirty="0" err="1"/>
              <a:t>utama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window. </a:t>
            </a:r>
            <a:r>
              <a:rPr lang="en-US" sz="2000" dirty="0" err="1"/>
              <a:t>Konten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mengisi</a:t>
            </a:r>
            <a:r>
              <a:rPr lang="en-US" sz="2000" dirty="0"/>
              <a:t>/</a:t>
            </a:r>
            <a:r>
              <a:rPr lang="en-US" sz="2000" dirty="0" err="1"/>
              <a:t>memenuhi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area,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aplikasi</a:t>
            </a:r>
            <a:r>
              <a:rPr lang="en-US" sz="2000" dirty="0"/>
              <a:t> Safari pada full screen, </a:t>
            </a:r>
            <a:r>
              <a:rPr lang="en-US" sz="2000" dirty="0" err="1"/>
              <a:t>gambar</a:t>
            </a:r>
            <a:r>
              <a:rPr lang="en-US" sz="2000" dirty="0"/>
              <a:t> yang </a:t>
            </a:r>
            <a:r>
              <a:rPr lang="en-US" sz="2000" dirty="0" err="1"/>
              <a:t>sedang</a:t>
            </a:r>
            <a:r>
              <a:rPr lang="en-US" sz="2000" dirty="0"/>
              <a:t> di-</a:t>
            </a:r>
            <a:r>
              <a:rPr lang="en-US" sz="2000" i="1" dirty="0"/>
              <a:t>preview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juga </a:t>
            </a:r>
            <a:r>
              <a:rPr lang="en-US" sz="2000" dirty="0" err="1"/>
              <a:t>konten</a:t>
            </a:r>
            <a:r>
              <a:rPr lang="en-US" sz="2000" dirty="0"/>
              <a:t> yang </a:t>
            </a:r>
            <a:r>
              <a:rPr lang="en-US" sz="2000" dirty="0" err="1"/>
              <a:t>dapat</a:t>
            </a:r>
            <a:r>
              <a:rPr lang="en-US" sz="2000" dirty="0"/>
              <a:t> di </a:t>
            </a:r>
            <a:r>
              <a:rPr lang="en-US" sz="2000" dirty="0" err="1"/>
              <a:t>pecah</a:t>
            </a:r>
            <a:r>
              <a:rPr lang="en-US" sz="2000" dirty="0"/>
              <a:t> ke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i="1" dirty="0" err="1"/>
              <a:t>subviews</a:t>
            </a:r>
            <a:r>
              <a:rPr lang="en-US" sz="2000" i="1" dirty="0"/>
              <a:t>. </a:t>
            </a:r>
            <a:r>
              <a:rPr lang="en-US" sz="2000" dirty="0" err="1"/>
              <a:t>Contoh</a:t>
            </a:r>
            <a:r>
              <a:rPr lang="en-US" sz="2000" dirty="0"/>
              <a:t>: pada </a:t>
            </a:r>
            <a:r>
              <a:rPr lang="en-US" sz="2000" dirty="0" err="1"/>
              <a:t>gambar</a:t>
            </a:r>
            <a:r>
              <a:rPr lang="en-US" sz="20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77DA45-7877-4033-87A0-215DFBC9F7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1"/>
          <a:stretch/>
        </p:blipFill>
        <p:spPr>
          <a:xfrm>
            <a:off x="1120606" y="3299351"/>
            <a:ext cx="7448006" cy="30171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889207-EE8A-4A9F-B900-73672D26CB7F}"/>
              </a:ext>
            </a:extLst>
          </p:cNvPr>
          <p:cNvSpPr txBox="1"/>
          <p:nvPr/>
        </p:nvSpPr>
        <p:spPr>
          <a:xfrm>
            <a:off x="1412170" y="6021893"/>
            <a:ext cx="1102429" cy="36933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sidebar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0FE95-E401-4C4B-AC34-DC7ABE6D58CB}"/>
              </a:ext>
            </a:extLst>
          </p:cNvPr>
          <p:cNvSpPr txBox="1"/>
          <p:nvPr/>
        </p:nvSpPr>
        <p:spPr>
          <a:xfrm>
            <a:off x="3739709" y="5951331"/>
            <a:ext cx="2209800" cy="461665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column view</a:t>
            </a:r>
          </a:p>
        </p:txBody>
      </p:sp>
    </p:spTree>
    <p:extLst>
      <p:ext uri="{BB962C8B-B14F-4D97-AF65-F5344CB8AC3E}">
        <p14:creationId xmlns:p14="http://schemas.microsoft.com/office/powerpoint/2010/main" val="21447447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C9C3-DFEF-425F-99C4-3323C7DA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 States pada Mac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C1CBF-B72A-46DB-BF14-F72B7C56F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Windows yang </a:t>
            </a:r>
            <a:r>
              <a:rPr lang="en-US" dirty="0" err="1"/>
              <a:t>ditampilkan</a:t>
            </a:r>
            <a:r>
              <a:rPr lang="en-US" dirty="0"/>
              <a:t> di </a:t>
            </a:r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pada </a:t>
            </a:r>
            <a:r>
              <a:rPr lang="en-US" dirty="0" err="1"/>
              <a:t>lapisan-lapisan</a:t>
            </a:r>
            <a:r>
              <a:rPr lang="en-US" dirty="0"/>
              <a:t> </a:t>
            </a:r>
            <a:r>
              <a:rPr lang="en-US" dirty="0" err="1"/>
              <a:t>hirarki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kapan</a:t>
            </a:r>
            <a:r>
              <a:rPr lang="en-US" dirty="0"/>
              <a:t> window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. Window yang paling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diakses</a:t>
            </a:r>
            <a:r>
              <a:rPr lang="en-US" dirty="0"/>
              <a:t> di </a:t>
            </a:r>
            <a:r>
              <a:rPr lang="en-US" dirty="0" err="1"/>
              <a:t>letakan</a:t>
            </a:r>
            <a:r>
              <a:rPr lang="en-US" dirty="0"/>
              <a:t> di </a:t>
            </a:r>
            <a:r>
              <a:rPr lang="en-US" dirty="0" err="1"/>
              <a:t>lapisan</a:t>
            </a:r>
            <a:r>
              <a:rPr lang="en-US" dirty="0"/>
              <a:t> paling </a:t>
            </a:r>
            <a:r>
              <a:rPr lang="en-US" dirty="0" err="1"/>
              <a:t>depan</a:t>
            </a:r>
            <a:r>
              <a:rPr lang="en-US" dirty="0"/>
              <a:t>, status </a:t>
            </a:r>
            <a:r>
              <a:rPr lang="en-US" dirty="0" err="1"/>
              <a:t>hirarki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user. </a:t>
            </a:r>
            <a:r>
              <a:rPr lang="en-US" dirty="0" err="1"/>
              <a:t>Terdapat</a:t>
            </a:r>
            <a:r>
              <a:rPr lang="en-US" dirty="0"/>
              <a:t> 3 window state pada </a:t>
            </a:r>
            <a:r>
              <a:rPr lang="en-US" dirty="0" err="1"/>
              <a:t>hirarki</a:t>
            </a:r>
            <a:r>
              <a:rPr lang="en-US" dirty="0"/>
              <a:t> window.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Main Window State</a:t>
            </a:r>
            <a:r>
              <a:rPr lang="en-US" sz="1800" dirty="0">
                <a:latin typeface="+mj-lt"/>
              </a:rPr>
              <a:t>, window </a:t>
            </a:r>
            <a:r>
              <a:rPr lang="en-US" sz="1800" dirty="0" err="1">
                <a:latin typeface="+mj-lt"/>
              </a:rPr>
              <a:t>dengan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posisi</a:t>
            </a:r>
            <a:r>
              <a:rPr lang="en-US" sz="1800" dirty="0">
                <a:latin typeface="+mj-lt"/>
              </a:rPr>
              <a:t> paling </a:t>
            </a:r>
            <a:r>
              <a:rPr lang="en-US" sz="1800" dirty="0" err="1">
                <a:latin typeface="+mj-lt"/>
              </a:rPr>
              <a:t>depan</a:t>
            </a:r>
            <a:r>
              <a:rPr lang="en-US" sz="1800" dirty="0">
                <a:latin typeface="+mj-lt"/>
              </a:rPr>
              <a:t> yang </a:t>
            </a:r>
            <a:r>
              <a:rPr lang="en-US" sz="1800" dirty="0" err="1">
                <a:latin typeface="+mj-lt"/>
              </a:rPr>
              <a:t>menjadi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fokus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pengguna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hanya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ada</a:t>
            </a:r>
            <a:r>
              <a:rPr lang="en-US" sz="1800" dirty="0">
                <a:latin typeface="+mj-lt"/>
              </a:rPr>
              <a:t> 1 main window per </a:t>
            </a:r>
            <a:r>
              <a:rPr lang="en-US" sz="1800" dirty="0" err="1">
                <a:latin typeface="+mj-lt"/>
              </a:rPr>
              <a:t>aplikasi</a:t>
            </a:r>
            <a:r>
              <a:rPr lang="en-US" sz="1800" dirty="0">
                <a:latin typeface="+mj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Key Window State, </a:t>
            </a:r>
            <a:r>
              <a:rPr lang="en-US" sz="1800" dirty="0">
                <a:latin typeface="+mj-lt"/>
              </a:rPr>
              <a:t>window yang </a:t>
            </a:r>
            <a:r>
              <a:rPr lang="en-US" sz="1800" dirty="0" err="1">
                <a:latin typeface="+mj-lt"/>
              </a:rPr>
              <a:t>sedang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menerima</a:t>
            </a:r>
            <a:r>
              <a:rPr lang="en-US" sz="1800" dirty="0">
                <a:latin typeface="+mj-lt"/>
              </a:rPr>
              <a:t> input user.</a:t>
            </a:r>
            <a:endParaRPr lang="en-US" sz="1800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+mj-lt"/>
              </a:rPr>
              <a:t>Inactive Window State, </a:t>
            </a:r>
            <a:r>
              <a:rPr lang="en-US" sz="1800" dirty="0">
                <a:latin typeface="+mj-lt"/>
              </a:rPr>
              <a:t>window yang </a:t>
            </a:r>
            <a:r>
              <a:rPr lang="en-US" sz="1800" dirty="0" err="1">
                <a:latin typeface="+mj-lt"/>
              </a:rPr>
              <a:t>sedang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tidak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aktif</a:t>
            </a:r>
            <a:r>
              <a:rPr lang="en-US" sz="1800" dirty="0">
                <a:latin typeface="+mj-lt"/>
              </a:rPr>
              <a:t> dan </a:t>
            </a:r>
            <a:r>
              <a:rPr lang="en-US" sz="1800" dirty="0" err="1">
                <a:latin typeface="+mj-lt"/>
              </a:rPr>
              <a:t>tidak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ada</a:t>
            </a:r>
            <a:r>
              <a:rPr lang="en-US" sz="1800" dirty="0">
                <a:latin typeface="+mj-lt"/>
              </a:rPr>
              <a:t> di </a:t>
            </a:r>
            <a:r>
              <a:rPr lang="en-US" sz="1800" i="1" dirty="0">
                <a:latin typeface="+mj-lt"/>
              </a:rPr>
              <a:t>foreground.</a:t>
            </a:r>
            <a:endParaRPr lang="en-US" sz="1800" b="1" dirty="0">
              <a:latin typeface="+mj-lt"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614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233DF3-CD91-4693-985B-DFDBED425A4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34" y="1860897"/>
            <a:ext cx="6257925" cy="4351338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543FA9-98CC-40B6-94A2-E0C3072BA6F7}"/>
              </a:ext>
            </a:extLst>
          </p:cNvPr>
          <p:cNvSpPr/>
          <p:nvPr/>
        </p:nvSpPr>
        <p:spPr>
          <a:xfrm>
            <a:off x="7010400" y="2071174"/>
            <a:ext cx="1122989" cy="297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C194DB-5ADC-4339-A362-0F893490AE0D}"/>
              </a:ext>
            </a:extLst>
          </p:cNvPr>
          <p:cNvSpPr/>
          <p:nvPr/>
        </p:nvSpPr>
        <p:spPr>
          <a:xfrm>
            <a:off x="7263723" y="2576718"/>
            <a:ext cx="1042075" cy="297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48CFF8-6387-44A4-9540-E35C02C58B86}"/>
              </a:ext>
            </a:extLst>
          </p:cNvPr>
          <p:cNvSpPr/>
          <p:nvPr/>
        </p:nvSpPr>
        <p:spPr>
          <a:xfrm>
            <a:off x="7263724" y="3920367"/>
            <a:ext cx="1042075" cy="297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CE074-C953-442B-992C-BB9DCFE6330D}"/>
              </a:ext>
            </a:extLst>
          </p:cNvPr>
          <p:cNvSpPr/>
          <p:nvPr/>
        </p:nvSpPr>
        <p:spPr>
          <a:xfrm>
            <a:off x="1524000" y="1345234"/>
            <a:ext cx="2368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Window States</a:t>
            </a:r>
          </a:p>
        </p:txBody>
      </p:sp>
    </p:spTree>
    <p:extLst>
      <p:ext uri="{BB962C8B-B14F-4D97-AF65-F5344CB8AC3E}">
        <p14:creationId xmlns:p14="http://schemas.microsoft.com/office/powerpoint/2010/main" val="31477362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200" y="3505200"/>
            <a:ext cx="8326438" cy="641239"/>
          </a:xfrm>
        </p:spPr>
        <p:txBody>
          <a:bodyPr>
            <a:normAutofit fontScale="90000"/>
          </a:bodyPr>
          <a:lstStyle/>
          <a:p>
            <a:r>
              <a:rPr lang="en-US" dirty="0"/>
              <a:t>Supplementary..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Istilah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Web Browser)</a:t>
            </a:r>
          </a:p>
        </p:txBody>
      </p:sp>
    </p:spTree>
    <p:extLst>
      <p:ext uri="{BB962C8B-B14F-4D97-AF65-F5344CB8AC3E}">
        <p14:creationId xmlns:p14="http://schemas.microsoft.com/office/powerpoint/2010/main" val="39891629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Web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Web Browser</a:t>
            </a:r>
          </a:p>
        </p:txBody>
      </p:sp>
      <p:sp>
        <p:nvSpPr>
          <p:cNvPr id="29701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i="1" dirty="0"/>
              <a:t>Browser</a:t>
            </a:r>
            <a:r>
              <a:rPr lang="en-US" dirty="0"/>
              <a:t>: </a:t>
            </a:r>
            <a:r>
              <a:rPr lang="en-US" i="1" dirty="0"/>
              <a:t>user interface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World Wide Web</a:t>
            </a:r>
          </a:p>
          <a:p>
            <a:pPr eaLnBrk="1" hangingPunct="1"/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browser:</a:t>
            </a:r>
          </a:p>
          <a:p>
            <a:pPr lvl="1" eaLnBrk="1" hangingPunct="1"/>
            <a:r>
              <a:rPr lang="en-US" i="1" dirty="0"/>
              <a:t>back, forward, stop, refresh, home, search, favorites, history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eaLnBrk="1" hangingPunct="1"/>
            <a:r>
              <a:rPr lang="en-US" i="1" dirty="0"/>
              <a:t>Content area</a:t>
            </a:r>
            <a:r>
              <a:rPr lang="en-US" dirty="0"/>
              <a:t>,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/>
              <a:t>Panel </a:t>
            </a:r>
            <a:r>
              <a:rPr lang="en-US" dirty="0" err="1"/>
              <a:t>navigasi</a:t>
            </a:r>
            <a:r>
              <a:rPr lang="en-US" dirty="0"/>
              <a:t> global, di </a:t>
            </a:r>
            <a:r>
              <a:rPr lang="en-US" dirty="0" err="1"/>
              <a:t>atas</a:t>
            </a:r>
            <a:endParaRPr lang="en-US" dirty="0"/>
          </a:p>
          <a:p>
            <a:pPr lvl="1" eaLnBrk="1" hangingPunct="1"/>
            <a:r>
              <a:rPr lang="en-US" dirty="0"/>
              <a:t>Panel </a:t>
            </a:r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, di </a:t>
            </a:r>
            <a:r>
              <a:rPr lang="en-US" dirty="0" err="1"/>
              <a:t>kiri</a:t>
            </a:r>
            <a:endParaRPr lang="en-US" dirty="0"/>
          </a:p>
          <a:p>
            <a:pPr lvl="1" eaLnBrk="1" hangingPunct="1"/>
            <a:r>
              <a:rPr lang="en-US" dirty="0"/>
              <a:t>Panel </a:t>
            </a:r>
            <a:r>
              <a:rPr lang="en-US" dirty="0" err="1"/>
              <a:t>navigasi</a:t>
            </a:r>
            <a:r>
              <a:rPr lang="en-US" dirty="0"/>
              <a:t> </a:t>
            </a:r>
            <a:r>
              <a:rPr lang="en-US" dirty="0" err="1"/>
              <a:t>bawah</a:t>
            </a:r>
            <a:endParaRPr lang="en-US" dirty="0"/>
          </a:p>
          <a:p>
            <a:pPr lvl="1" eaLnBrk="1" hangingPunct="1"/>
            <a:r>
              <a:rPr lang="en-US" dirty="0" err="1"/>
              <a:t>Informasi</a:t>
            </a:r>
            <a:r>
              <a:rPr lang="en-US" dirty="0"/>
              <a:t>, </a:t>
            </a:r>
            <a:r>
              <a:rPr lang="en-US" i="1" dirty="0"/>
              <a:t>data fields</a:t>
            </a:r>
            <a:r>
              <a:rPr lang="en-US" dirty="0"/>
              <a:t>, </a:t>
            </a:r>
            <a:r>
              <a:rPr lang="en-US" dirty="0" err="1"/>
              <a:t>tombol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lang="en-US" dirty="0"/>
          </a:p>
          <a:p>
            <a:pPr eaLnBrk="1" hangingPunct="1"/>
            <a:r>
              <a:rPr lang="en-US" dirty="0" err="1"/>
              <a:t>Kemampuan</a:t>
            </a:r>
            <a:r>
              <a:rPr lang="en-US" dirty="0"/>
              <a:t> windowing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i="1" dirty="0"/>
              <a:t>content area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:</a:t>
            </a:r>
          </a:p>
          <a:p>
            <a:pPr lvl="1" eaLnBrk="1" hangingPunct="1"/>
            <a:r>
              <a:rPr lang="en-US" i="1" dirty="0"/>
              <a:t>Frames</a:t>
            </a:r>
          </a:p>
          <a:p>
            <a:pPr lvl="1" eaLnBrk="1" hangingPunct="1"/>
            <a:r>
              <a:rPr lang="en-US" i="1" dirty="0"/>
              <a:t>Java scripts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2970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362200"/>
            <a:ext cx="7182130" cy="840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 dirty="0"/>
              <a:t>Frames</a:t>
            </a:r>
          </a:p>
        </p:txBody>
      </p:sp>
      <p:sp>
        <p:nvSpPr>
          <p:cNvPr id="30725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dirty="0" err="1"/>
              <a:t>Deskripsi</a:t>
            </a:r>
            <a:r>
              <a:rPr lang="en-US" dirty="0"/>
              <a:t>: </a:t>
            </a:r>
          </a:p>
          <a:p>
            <a:pPr lvl="1" eaLnBrk="1" hangingPunct="1"/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layar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.</a:t>
            </a:r>
          </a:p>
          <a:p>
            <a:pPr lvl="1" eaLnBrk="1" hangingPunct="1"/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, di-</a:t>
            </a:r>
            <a:r>
              <a:rPr lang="en-US" i="1" dirty="0"/>
              <a:t>scroll </a:t>
            </a:r>
            <a:r>
              <a:rPr lang="en-US" dirty="0" err="1"/>
              <a:t>dan</a:t>
            </a:r>
            <a:r>
              <a:rPr lang="en-US" dirty="0"/>
              <a:t> di-</a:t>
            </a:r>
            <a:r>
              <a:rPr lang="en-US" i="1" dirty="0"/>
              <a:t>update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independen</a:t>
            </a:r>
            <a:endParaRPr lang="en-US" dirty="0"/>
          </a:p>
          <a:p>
            <a:pPr lvl="1" eaLnBrk="1" hangingPunct="1"/>
            <a:r>
              <a:rPr lang="en-US" dirty="0" err="1"/>
              <a:t>Dokumen</a:t>
            </a:r>
            <a:r>
              <a:rPr lang="en-US" dirty="0"/>
              <a:t>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format </a:t>
            </a:r>
            <a:r>
              <a:rPr lang="en-US" i="1" dirty="0"/>
              <a:t>tiled</a:t>
            </a:r>
            <a:r>
              <a:rPr lang="en-US" dirty="0"/>
              <a:t> </a:t>
            </a:r>
          </a:p>
          <a:p>
            <a:pPr eaLnBrk="1" hangingPunct="1"/>
            <a:r>
              <a:rPr lang="en-US" dirty="0" err="1"/>
              <a:t>Penggunaan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content</a:t>
            </a:r>
            <a:r>
              <a:rPr lang="en-US" dirty="0"/>
              <a:t> yang 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berubah</a:t>
            </a:r>
            <a:endParaRPr lang="en-US" dirty="0"/>
          </a:p>
          <a:p>
            <a:pPr lvl="1" eaLnBrk="1" hangingPunct="1"/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i="1" dirty="0"/>
              <a:t>content </a:t>
            </a:r>
            <a:r>
              <a:rPr lang="en-US" dirty="0"/>
              <a:t> </a:t>
            </a:r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parsial</a:t>
            </a:r>
            <a:endParaRPr lang="en-US" dirty="0"/>
          </a:p>
          <a:p>
            <a:pPr lvl="1" eaLnBrk="1" hangingPunct="1"/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US" dirty="0"/>
          </a:p>
          <a:p>
            <a:pPr eaLnBrk="1" hangingPunct="1"/>
            <a:r>
              <a:rPr lang="en-US" dirty="0" err="1"/>
              <a:t>Panduan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frame (max 3)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waktu</a:t>
            </a:r>
            <a:endParaRPr lang="en-US" dirty="0"/>
          </a:p>
          <a:p>
            <a:pPr lvl="1" eaLnBrk="1" hangingPunct="1"/>
            <a:r>
              <a:rPr lang="en-US" dirty="0" err="1"/>
              <a:t>Pilih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ditampilkan</a:t>
            </a:r>
            <a:endParaRPr lang="en-US" dirty="0"/>
          </a:p>
          <a:p>
            <a:pPr lvl="1" eaLnBrk="1" hangingPunct="1"/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frame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US" dirty="0"/>
          </a:p>
          <a:p>
            <a:pPr lvl="1" eaLnBrk="1" hangingPunct="1"/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i="1" dirty="0"/>
              <a:t>scrolling region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halaman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Referensi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d-ID" dirty="0"/>
              <a:t>Wilbert O. Galitz,2007,</a:t>
            </a:r>
            <a:r>
              <a:rPr lang="en-US" b="1" dirty="0"/>
              <a:t>The Essential Guide to User Interface Design: An Introduction to GUI Design Principles and</a:t>
            </a:r>
            <a:r>
              <a:rPr lang="id-ID" b="1" dirty="0"/>
              <a:t> Techniques, Third Edition,</a:t>
            </a:r>
            <a:r>
              <a:rPr lang="id-ID" dirty="0"/>
              <a:t> Wiley Publishing</a:t>
            </a:r>
            <a:endParaRPr lang="en-ID" dirty="0"/>
          </a:p>
          <a:p>
            <a:r>
              <a:rPr lang="en-US" dirty="0"/>
              <a:t>Mac OS : </a:t>
            </a:r>
            <a:r>
              <a:rPr lang="en-US" dirty="0">
                <a:hlinkClick r:id="rId2"/>
              </a:rPr>
              <a:t>https://developer.apple.com/design/human-interface-guidelines/macos/overview/themes/</a:t>
            </a:r>
            <a:endParaRPr lang="en-US" dirty="0"/>
          </a:p>
          <a:p>
            <a:r>
              <a:rPr lang="en-US" dirty="0">
                <a:hlinkClick r:id="rId3"/>
              </a:rPr>
              <a:t>https://developer.android.com/guide/navigation/navigation-principles</a:t>
            </a:r>
            <a:endParaRPr lang="en-US" dirty="0"/>
          </a:p>
          <a:p>
            <a:r>
              <a:rPr lang="en-US" dirty="0">
                <a:hlinkClick r:id="rId4"/>
              </a:rPr>
              <a:t>http://panduanim.com/struktur-internal-link/</a:t>
            </a:r>
            <a:endParaRPr lang="en-US" dirty="0"/>
          </a:p>
          <a:p>
            <a:endParaRPr lang="en-US" dirty="0"/>
          </a:p>
          <a:p>
            <a:endParaRPr lang="en-ID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639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9368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0e431fc48c9469a187c0f830c45f439daf6f"/>
</p:tagLst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f theme" id="{F87EA711-521A-4946-B019-DC3D372964CE}" vid="{B3398939-BCCF-43BB-B8C5-63A70CAAD60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EAFF4A131874088A6625F3ADD53C4" ma:contentTypeVersion="0" ma:contentTypeDescription="Create a new document." ma:contentTypeScope="" ma:versionID="780deb29eeb7a5b1c709d6584340df7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CEC749-9E4F-4418-AA9C-CA9E0C795141}"/>
</file>

<file path=customXml/itemProps2.xml><?xml version="1.0" encoding="utf-8"?>
<ds:datastoreItem xmlns:ds="http://schemas.openxmlformats.org/officeDocument/2006/customXml" ds:itemID="{C5C0A6C1-67CE-40C1-AC3F-05AFD7D60A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03CCD0-B42B-4E97-A354-0C00888F416B}">
  <ds:schemaRefs>
    <ds:schemaRef ds:uri="http://schemas.microsoft.com/office/2006/metadata/properties"/>
    <ds:schemaRef ds:uri="http://schemas.microsoft.com/office/infopath/2007/PartnerControls"/>
    <ds:schemaRef ds:uri="da944019-e0c0-4cbe-b9e1-79848028e4af"/>
    <ds:schemaRef ds:uri="4a4cec7d-c36e-444e-b338-a48af7a4be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Fif theme</Template>
  <TotalTime>31541</TotalTime>
  <Words>3305</Words>
  <Application>Microsoft Office PowerPoint</Application>
  <PresentationFormat>On-screen Show (4:3)</PresentationFormat>
  <Paragraphs>477</Paragraphs>
  <Slides>69</Slides>
  <Notes>17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Barlow</vt:lpstr>
      <vt:lpstr>Calibri</vt:lpstr>
      <vt:lpstr>Carlito</vt:lpstr>
      <vt:lpstr>Fjalla One</vt:lpstr>
      <vt:lpstr>Verdana</vt:lpstr>
      <vt:lpstr>Wingdings</vt:lpstr>
      <vt:lpstr>Fif theme</vt:lpstr>
      <vt:lpstr>Interaksi Manusia dan Komputer (IMK)</vt:lpstr>
      <vt:lpstr>Interaksi Manusia dan Komputer (IMK)</vt:lpstr>
      <vt:lpstr>Tujuan</vt:lpstr>
      <vt:lpstr>Outline</vt:lpstr>
      <vt:lpstr>Struktur dan Fungsi Menu</vt:lpstr>
      <vt:lpstr>Menu</vt:lpstr>
      <vt:lpstr>Menu (cont.)</vt:lpstr>
      <vt:lpstr>Struktur Menu</vt:lpstr>
      <vt:lpstr>Struktur Menu</vt:lpstr>
      <vt:lpstr>Fungsi Menu</vt:lpstr>
      <vt:lpstr>Format Menu</vt:lpstr>
      <vt:lpstr>Isi Menu</vt:lpstr>
      <vt:lpstr>Formatting Menu’s Guideline</vt:lpstr>
      <vt:lpstr>Formatting Menu’s Guideline (cont.)</vt:lpstr>
      <vt:lpstr>Formatting Menu’s Guideline (cont.)</vt:lpstr>
      <vt:lpstr>Formatting Menu’s Guideline (cont.)</vt:lpstr>
      <vt:lpstr>Navigasi Website</vt:lpstr>
      <vt:lpstr>Navigasi untuk Web site</vt:lpstr>
      <vt:lpstr>Website Navigation Goals</vt:lpstr>
      <vt:lpstr>Panduan Perancangan Navigasi Website</vt:lpstr>
      <vt:lpstr>Panduan Perancangan Navigasi Website</vt:lpstr>
      <vt:lpstr>Panduan Perancangan Navigasi Website</vt:lpstr>
      <vt:lpstr>Panduan Perancangan Navigasi Website</vt:lpstr>
      <vt:lpstr>Make Links Obvious </vt:lpstr>
      <vt:lpstr>Browsing and Searching </vt:lpstr>
      <vt:lpstr>Jenis Menu Grafis</vt:lpstr>
      <vt:lpstr>Interaksi Manusia dan Komputer (IMK)</vt:lpstr>
      <vt:lpstr>Tujuan</vt:lpstr>
      <vt:lpstr>Outline</vt:lpstr>
      <vt:lpstr>Karakteristik &amp; Komponen Windows</vt:lpstr>
      <vt:lpstr>Window</vt:lpstr>
      <vt:lpstr>Perbedaan Istilah pada beberapa platform</vt:lpstr>
      <vt:lpstr>Window</vt:lpstr>
      <vt:lpstr>Karakteristik Window</vt:lpstr>
      <vt:lpstr>Dukungan Window</vt:lpstr>
      <vt:lpstr>Tampilan Windows</vt:lpstr>
      <vt:lpstr>Pertimbangan Historis</vt:lpstr>
      <vt:lpstr>Batasan Hardware dan Manusia</vt:lpstr>
      <vt:lpstr>Komponen-komponen Windows</vt:lpstr>
      <vt:lpstr>Type dan Gaya Tampilan Windows</vt:lpstr>
      <vt:lpstr>Gaya Penampilan Windows</vt:lpstr>
      <vt:lpstr>Tiled Windows</vt:lpstr>
      <vt:lpstr>Overlapping Windows</vt:lpstr>
      <vt:lpstr>Cascading Windows</vt:lpstr>
      <vt:lpstr>Pemilihan Gaya Tampilan Windows</vt:lpstr>
      <vt:lpstr>Tipe-tipe Windows</vt:lpstr>
      <vt:lpstr>Primary Windows</vt:lpstr>
      <vt:lpstr>Secondary Windows</vt:lpstr>
      <vt:lpstr>PowerPoint Presentation</vt:lpstr>
      <vt:lpstr>Dialog Box</vt:lpstr>
      <vt:lpstr>Pop-Up Windows</vt:lpstr>
      <vt:lpstr>Pengorganisasian Fungsi Windows</vt:lpstr>
      <vt:lpstr>Faktor Penyebab Organisasi Fungsional yang Buruk</vt:lpstr>
      <vt:lpstr>Panduan Umum Penentuan Type Windows</vt:lpstr>
      <vt:lpstr>Panduan Umum Pengorganisasian Fungsi Windows</vt:lpstr>
      <vt:lpstr>Panduan Ukuran Windows</vt:lpstr>
      <vt:lpstr>Panduan Letak Window</vt:lpstr>
      <vt:lpstr>Supplementary.. (Istilah Window pada Mac OS)</vt:lpstr>
      <vt:lpstr>Tipe-tipe Window pada Mac OS</vt:lpstr>
      <vt:lpstr>Window Frame pada Mac OS</vt:lpstr>
      <vt:lpstr>PowerPoint Presentation</vt:lpstr>
      <vt:lpstr>Window Body pada Mac OS </vt:lpstr>
      <vt:lpstr>Window States pada Mac OS</vt:lpstr>
      <vt:lpstr>PowerPoint Presentation</vt:lpstr>
      <vt:lpstr>Supplementary.. (Istilah pada Web Browser)</vt:lpstr>
      <vt:lpstr>Web dan Web Browser</vt:lpstr>
      <vt:lpstr>Frames</vt:lpstr>
      <vt:lpstr>Referensi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Pemilihan Tipe Windows</dc:title>
  <dc:creator>Mira Kania Sabariah</dc:creator>
  <cp:lastModifiedBy>GEDE AGUNG ARY WISUDIAWAN</cp:lastModifiedBy>
  <cp:revision>189</cp:revision>
  <dcterms:created xsi:type="dcterms:W3CDTF">2009-07-18T02:29:31Z</dcterms:created>
  <dcterms:modified xsi:type="dcterms:W3CDTF">2026-02-02T04:33:33Z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0x010100283EAFF4A131874088A6625F3ADD53C4</vt:lpwstr>
  </property>
  <property fmtid="{D5CDD505-2E9C-101B-9397-08002B2CF9AE}" pid="3" name="MediaServiceImageTags">
    <vt:lpwstr/>
  </property>
</Properties>
</file>