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1" r:id="rId4"/>
  </p:sldMasterIdLst>
  <p:notesMasterIdLst>
    <p:notesMasterId r:id="rId42"/>
  </p:notesMasterIdLst>
  <p:handoutMasterIdLst>
    <p:handoutMasterId r:id="rId43"/>
  </p:handoutMasterIdLst>
  <p:sldIdLst>
    <p:sldId id="348" r:id="rId5"/>
    <p:sldId id="361" r:id="rId6"/>
    <p:sldId id="366" r:id="rId7"/>
    <p:sldId id="367" r:id="rId8"/>
    <p:sldId id="368" r:id="rId9"/>
    <p:sldId id="362" r:id="rId10"/>
    <p:sldId id="358" r:id="rId11"/>
    <p:sldId id="312" r:id="rId12"/>
    <p:sldId id="313" r:id="rId13"/>
    <p:sldId id="314" r:id="rId14"/>
    <p:sldId id="315" r:id="rId15"/>
    <p:sldId id="316" r:id="rId16"/>
    <p:sldId id="353" r:id="rId17"/>
    <p:sldId id="354" r:id="rId18"/>
    <p:sldId id="317" r:id="rId19"/>
    <p:sldId id="318" r:id="rId20"/>
    <p:sldId id="319" r:id="rId21"/>
    <p:sldId id="321" r:id="rId22"/>
    <p:sldId id="322" r:id="rId23"/>
    <p:sldId id="320" r:id="rId24"/>
    <p:sldId id="328" r:id="rId25"/>
    <p:sldId id="329" r:id="rId26"/>
    <p:sldId id="363" r:id="rId27"/>
    <p:sldId id="330" r:id="rId28"/>
    <p:sldId id="350" r:id="rId29"/>
    <p:sldId id="364" r:id="rId30"/>
    <p:sldId id="331" r:id="rId31"/>
    <p:sldId id="332" r:id="rId32"/>
    <p:sldId id="355" r:id="rId33"/>
    <p:sldId id="337" r:id="rId34"/>
    <p:sldId id="338" r:id="rId35"/>
    <p:sldId id="339" r:id="rId36"/>
    <p:sldId id="356" r:id="rId37"/>
    <p:sldId id="357" r:id="rId38"/>
    <p:sldId id="365" r:id="rId39"/>
    <p:sldId id="344" r:id="rId40"/>
    <p:sldId id="345" r:id="rId41"/>
  </p:sldIdLst>
  <p:sldSz cx="9144000" cy="6858000" type="screen4x3"/>
  <p:notesSz cx="6858000" cy="9144000"/>
  <p:custDataLst>
    <p:tags r:id="rId44"/>
  </p:custDataLst>
  <p:defaultTextStyle>
    <a:defPPr>
      <a:defRPr lang="id-ID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238" autoAdjust="0"/>
    <p:restoredTop sz="94719"/>
  </p:normalViewPr>
  <p:slideViewPr>
    <p:cSldViewPr>
      <p:cViewPr varScale="1">
        <p:scale>
          <a:sx n="101" d="100"/>
          <a:sy n="101" d="100"/>
        </p:scale>
        <p:origin x="180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notesMaster" Target="notesMasters/notesMaster1.xml"/><Relationship Id="rId47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handoutMaster" Target="handoutMasters/handoutMaster1.xml"/><Relationship Id="rId48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viewProps" Target="view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8909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id-ID"/>
          </a:p>
        </p:txBody>
      </p:sp>
      <p:sp>
        <p:nvSpPr>
          <p:cNvPr id="8909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B30B1A8-AF91-4E5B-8594-2B9BE3CEB90C}" type="slidenum">
              <a:rPr lang="id-ID"/>
              <a:pPr>
                <a:defRPr/>
              </a:pPr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5984044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111E0B42-DCB7-41CE-B23D-F58964CAC925}" type="datetimeFigureOut">
              <a:rPr lang="en-US"/>
              <a:pPr>
                <a:defRPr/>
              </a:pPr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D2DAB0B-57B3-4B4C-86BF-2388465A822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563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34BABC4-D3F8-4FEC-A081-17F891AA9F9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45335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0C5E626-9DF7-4CE2-9072-65C2892B8BB4}" type="slidenum">
              <a:rPr lang="id-ID" altLang="en-US">
                <a:solidFill>
                  <a:prstClr val="black"/>
                </a:solidFill>
              </a:rPr>
              <a:pPr/>
              <a:t>36</a:t>
            </a:fld>
            <a:endParaRPr lang="id-ID" altLang="en-US">
              <a:solidFill>
                <a:prstClr val="black"/>
              </a:solidFill>
            </a:endParaRPr>
          </a:p>
        </p:txBody>
      </p:sp>
      <p:sp>
        <p:nvSpPr>
          <p:cNvPr id="296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r>
              <a:rPr lang="id-ID" altLang="en-US"/>
              <a:t>Sebuah halaman website agar sesuai untuk ditampilkan pada layar sebuah mobile device, perlu adanya re-design.</a:t>
            </a:r>
          </a:p>
          <a:p>
            <a:pPr eaLnBrk="1" hangingPunct="1"/>
            <a:r>
              <a:rPr lang="id-ID" altLang="en-US"/>
              <a:t>Adakah website yang telah menyediakan auto-converting tampilan website menyesuaikan dengan perangkat mobile yang mengaksesnya?</a:t>
            </a:r>
          </a:p>
        </p:txBody>
      </p:sp>
    </p:spTree>
    <p:extLst>
      <p:ext uri="{BB962C8B-B14F-4D97-AF65-F5344CB8AC3E}">
        <p14:creationId xmlns:p14="http://schemas.microsoft.com/office/powerpoint/2010/main" val="155278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oogle Shape;11;p2" descr="A building with a sign on i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l="4762"/>
          <a:stretch/>
        </p:blipFill>
        <p:spPr>
          <a:xfrm>
            <a:off x="0" y="2006600"/>
            <a:ext cx="3315974" cy="4851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2"/>
          <p:cNvSpPr/>
          <p:nvPr/>
        </p:nvSpPr>
        <p:spPr>
          <a:xfrm rot="10800000" flipH="1">
            <a:off x="0" y="5074920"/>
            <a:ext cx="9144000" cy="1783073"/>
          </a:xfrm>
          <a:prstGeom prst="rect">
            <a:avLst/>
          </a:prstGeom>
          <a:gradFill>
            <a:gsLst>
              <a:gs pos="0">
                <a:schemeClr val="lt1"/>
              </a:gs>
              <a:gs pos="25000">
                <a:schemeClr val="lt1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grpSp>
        <p:nvGrpSpPr>
          <p:cNvPr id="13" name="Google Shape;13;p2"/>
          <p:cNvGrpSpPr/>
          <p:nvPr/>
        </p:nvGrpSpPr>
        <p:grpSpPr>
          <a:xfrm>
            <a:off x="4572000" y="6528817"/>
            <a:ext cx="4594860" cy="658366"/>
            <a:chOff x="6566098" y="6529395"/>
            <a:chExt cx="5625902" cy="658365"/>
          </a:xfrm>
        </p:grpSpPr>
        <p:sp>
          <p:nvSpPr>
            <p:cNvPr id="14" name="Google Shape;14;p2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16" name="Google Shape;16;p2"/>
          <p:cNvGrpSpPr/>
          <p:nvPr/>
        </p:nvGrpSpPr>
        <p:grpSpPr>
          <a:xfrm flipH="1">
            <a:off x="0" y="6527465"/>
            <a:ext cx="4594860" cy="658366"/>
            <a:chOff x="6566098" y="6529395"/>
            <a:chExt cx="5625902" cy="658365"/>
          </a:xfrm>
        </p:grpSpPr>
        <p:sp>
          <p:nvSpPr>
            <p:cNvPr id="17" name="Google Shape;17;p2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3532908" y="1702118"/>
            <a:ext cx="5248189" cy="17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3532908" y="3468456"/>
            <a:ext cx="5248189" cy="119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1" name="Google Shape;21;p2" descr="A black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230" y="223036"/>
            <a:ext cx="757142" cy="345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" name="Google Shape;22;p2"/>
          <p:cNvGrpSpPr/>
          <p:nvPr/>
        </p:nvGrpSpPr>
        <p:grpSpPr>
          <a:xfrm>
            <a:off x="6821313" y="113327"/>
            <a:ext cx="2032457" cy="503420"/>
            <a:chOff x="9320766" y="88308"/>
            <a:chExt cx="2709943" cy="503420"/>
          </a:xfrm>
        </p:grpSpPr>
        <p:pic>
          <p:nvPicPr>
            <p:cNvPr id="23" name="Google Shape;23;p2" descr="A yellow text on a black background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95000" y="158222"/>
              <a:ext cx="1235709" cy="37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" name="Google Shape;24;p2" descr="A person holding a microphone&#10;&#10;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320766" y="88308"/>
              <a:ext cx="1404190" cy="5034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5" name="Google Shape;25;p2" descr="A black background with yellow and grey text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2038" y="154187"/>
            <a:ext cx="1447800" cy="4832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" name="Google Shape;26;p2"/>
          <p:cNvGrpSpPr/>
          <p:nvPr/>
        </p:nvGrpSpPr>
        <p:grpSpPr>
          <a:xfrm>
            <a:off x="3315974" y="126998"/>
            <a:ext cx="2562463" cy="498680"/>
            <a:chOff x="4421298" y="126998"/>
            <a:chExt cx="3416617" cy="498680"/>
          </a:xfrm>
        </p:grpSpPr>
        <p:sp>
          <p:nvSpPr>
            <p:cNvPr id="27" name="Google Shape;27;p2"/>
            <p:cNvSpPr txBox="1"/>
            <p:nvPr/>
          </p:nvSpPr>
          <p:spPr>
            <a:xfrm>
              <a:off x="5766211" y="222450"/>
              <a:ext cx="2071704" cy="253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50" b="1" i="0" u="none" strike="noStrike" cap="none">
                  <a:solidFill>
                    <a:srgbClr val="996600"/>
                  </a:solidFill>
                  <a:latin typeface="Calibri"/>
                  <a:ea typeface="Calibri"/>
                  <a:cs typeface="Calibri"/>
                  <a:sym typeface="Calibri"/>
                </a:rPr>
                <a:t>#InformatikaBerkarakter</a:t>
              </a:r>
              <a:endParaRPr sz="10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28" name="Google Shape;28;p2" descr="A logo with a black background&#10;&#10;AI-generated content may be incorrect."/>
            <p:cNvPicPr preferRelativeResize="0"/>
            <p:nvPr/>
          </p:nvPicPr>
          <p:blipFill rotWithShape="1">
            <a:blip r:embed="rId7">
              <a:alphaModFix/>
            </a:blip>
            <a:srcRect l="7304" t="24481" r="5732" b="29999"/>
            <a:stretch/>
          </p:blipFill>
          <p:spPr>
            <a:xfrm>
              <a:off x="4421298" y="126998"/>
              <a:ext cx="1347134" cy="4986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29" name="Google Shape;29;p2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96295" y="6116054"/>
            <a:ext cx="4851313" cy="32311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019769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3"/>
          <p:cNvSpPr/>
          <p:nvPr/>
        </p:nvSpPr>
        <p:spPr>
          <a:xfrm>
            <a:off x="0" y="6465866"/>
            <a:ext cx="8706656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8662610" y="6465526"/>
            <a:ext cx="48005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33;p3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47" y="102871"/>
            <a:ext cx="1554416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34" name="Google Shape;34;p3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8038488" y="104158"/>
            <a:ext cx="1010351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3"/>
          <p:cNvSpPr txBox="1">
            <a:spLocks noGrp="1"/>
          </p:cNvSpPr>
          <p:nvPr>
            <p:ph type="title"/>
          </p:nvPr>
        </p:nvSpPr>
        <p:spPr>
          <a:xfrm>
            <a:off x="1711034" y="119924"/>
            <a:ext cx="572193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" name="Google Shape;36;p3"/>
          <p:cNvSpPr txBox="1">
            <a:spLocks noGrp="1"/>
          </p:cNvSpPr>
          <p:nvPr>
            <p:ph type="body" idx="1"/>
          </p:nvPr>
        </p:nvSpPr>
        <p:spPr>
          <a:xfrm>
            <a:off x="220866" y="1140497"/>
            <a:ext cx="4214345" cy="509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7" name="Google Shape;37;p3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508307" y="1427758"/>
            <a:ext cx="2127386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3"/>
          <p:cNvSpPr txBox="1"/>
          <p:nvPr/>
        </p:nvSpPr>
        <p:spPr>
          <a:xfrm>
            <a:off x="8662610" y="6541115"/>
            <a:ext cx="37737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39" name="Google Shape;39;p3"/>
          <p:cNvSpPr txBox="1"/>
          <p:nvPr/>
        </p:nvSpPr>
        <p:spPr>
          <a:xfrm>
            <a:off x="7959436" y="580608"/>
            <a:ext cx="1143002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3"/>
          <p:cNvSpPr txBox="1">
            <a:spLocks noGrp="1"/>
          </p:cNvSpPr>
          <p:nvPr>
            <p:ph type="body" idx="2"/>
          </p:nvPr>
        </p:nvSpPr>
        <p:spPr>
          <a:xfrm>
            <a:off x="4681081" y="1132252"/>
            <a:ext cx="4214345" cy="509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1" name="Google Shape;41;p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2" y="6509218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5356680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4" descr="A building with a sign on i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 l="4762"/>
          <a:stretch/>
        </p:blipFill>
        <p:spPr>
          <a:xfrm>
            <a:off x="0" y="2006600"/>
            <a:ext cx="3315974" cy="4851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4"/>
          <p:cNvSpPr/>
          <p:nvPr/>
        </p:nvSpPr>
        <p:spPr>
          <a:xfrm rot="10800000" flipH="1">
            <a:off x="0" y="5074920"/>
            <a:ext cx="9144000" cy="1783073"/>
          </a:xfrm>
          <a:prstGeom prst="rect">
            <a:avLst/>
          </a:prstGeom>
          <a:gradFill>
            <a:gsLst>
              <a:gs pos="0">
                <a:schemeClr val="lt1"/>
              </a:gs>
              <a:gs pos="25000">
                <a:schemeClr val="lt1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Fjalla One"/>
              <a:ea typeface="Fjalla One"/>
              <a:cs typeface="Fjalla One"/>
              <a:sym typeface="Fjalla One"/>
            </a:endParaRPr>
          </a:p>
        </p:txBody>
      </p:sp>
      <p:grpSp>
        <p:nvGrpSpPr>
          <p:cNvPr id="45" name="Google Shape;45;p4"/>
          <p:cNvGrpSpPr/>
          <p:nvPr/>
        </p:nvGrpSpPr>
        <p:grpSpPr>
          <a:xfrm>
            <a:off x="4572001" y="6528817"/>
            <a:ext cx="4594859" cy="658366"/>
            <a:chOff x="6566098" y="6529395"/>
            <a:chExt cx="5625901" cy="658365"/>
          </a:xfrm>
        </p:grpSpPr>
        <p:sp>
          <p:nvSpPr>
            <p:cNvPr id="46" name="Google Shape;46;p4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47" name="Google Shape;47;p4"/>
            <p:cNvSpPr/>
            <p:nvPr/>
          </p:nvSpPr>
          <p:spPr>
            <a:xfrm>
              <a:off x="6870700" y="6529395"/>
              <a:ext cx="5321299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grpSp>
        <p:nvGrpSpPr>
          <p:cNvPr id="48" name="Google Shape;48;p4"/>
          <p:cNvGrpSpPr/>
          <p:nvPr/>
        </p:nvGrpSpPr>
        <p:grpSpPr>
          <a:xfrm flipH="1">
            <a:off x="0" y="6527465"/>
            <a:ext cx="4594860" cy="658366"/>
            <a:chOff x="6566098" y="6529395"/>
            <a:chExt cx="5625902" cy="658365"/>
          </a:xfrm>
        </p:grpSpPr>
        <p:sp>
          <p:nvSpPr>
            <p:cNvPr id="49" name="Google Shape;49;p4"/>
            <p:cNvSpPr/>
            <p:nvPr/>
          </p:nvSpPr>
          <p:spPr>
            <a:xfrm>
              <a:off x="6566098" y="6530553"/>
              <a:ext cx="627328" cy="657207"/>
            </a:xfrm>
            <a:prstGeom prst="pie">
              <a:avLst>
                <a:gd name="adj1" fmla="val 10800000"/>
                <a:gd name="adj2" fmla="val 16200000"/>
              </a:avLst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  <p:sp>
          <p:nvSpPr>
            <p:cNvPr id="50" name="Google Shape;50;p4"/>
            <p:cNvSpPr/>
            <p:nvPr/>
          </p:nvSpPr>
          <p:spPr>
            <a:xfrm>
              <a:off x="6870700" y="6529395"/>
              <a:ext cx="5321300" cy="328596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350" b="0" i="0" u="none" strike="noStrike" cap="none">
                <a:solidFill>
                  <a:schemeClr val="lt1"/>
                </a:solidFill>
                <a:latin typeface="Fjalla One"/>
                <a:ea typeface="Fjalla One"/>
                <a:cs typeface="Fjalla One"/>
                <a:sym typeface="Fjalla One"/>
              </a:endParaRPr>
            </a:p>
          </p:txBody>
        </p:sp>
      </p:grpSp>
      <p:sp>
        <p:nvSpPr>
          <p:cNvPr id="51" name="Google Shape;51;p4"/>
          <p:cNvSpPr txBox="1">
            <a:spLocks noGrp="1"/>
          </p:cNvSpPr>
          <p:nvPr>
            <p:ph type="ctrTitle"/>
          </p:nvPr>
        </p:nvSpPr>
        <p:spPr>
          <a:xfrm>
            <a:off x="3532908" y="1702118"/>
            <a:ext cx="5248189" cy="1726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subTitle" idx="1"/>
          </p:nvPr>
        </p:nvSpPr>
        <p:spPr>
          <a:xfrm>
            <a:off x="3532908" y="3468456"/>
            <a:ext cx="5248189" cy="1197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800"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lvl="3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lvl="4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lvl="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lvl="6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lvl="7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lvl="8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53" name="Google Shape;53;p4" descr="A black text on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90230" y="223036"/>
            <a:ext cx="757142" cy="34553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4" name="Google Shape;54;p4"/>
          <p:cNvGrpSpPr/>
          <p:nvPr/>
        </p:nvGrpSpPr>
        <p:grpSpPr>
          <a:xfrm>
            <a:off x="6821313" y="113327"/>
            <a:ext cx="2032457" cy="503420"/>
            <a:chOff x="9320766" y="88308"/>
            <a:chExt cx="2709943" cy="503420"/>
          </a:xfrm>
        </p:grpSpPr>
        <p:pic>
          <p:nvPicPr>
            <p:cNvPr id="55" name="Google Shape;55;p4" descr="A yellow text on a black background&#10;&#10;AI-generated content may be incorrect.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10795000" y="158222"/>
              <a:ext cx="1235709" cy="37149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6" name="Google Shape;56;p4" descr="A person holding a microphone&#10;&#10;AI-generated content may be incorrect.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9320766" y="88308"/>
              <a:ext cx="1404190" cy="50342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57" name="Google Shape;57;p4" descr="A black background with yellow and grey text&#10;&#10;AI-generated content may be incorrect.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42038" y="154187"/>
            <a:ext cx="1447800" cy="48322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8" name="Google Shape;58;p4"/>
          <p:cNvGrpSpPr/>
          <p:nvPr/>
        </p:nvGrpSpPr>
        <p:grpSpPr>
          <a:xfrm>
            <a:off x="3315974" y="126998"/>
            <a:ext cx="2562463" cy="498680"/>
            <a:chOff x="4421298" y="126998"/>
            <a:chExt cx="3416617" cy="498680"/>
          </a:xfrm>
        </p:grpSpPr>
        <p:sp>
          <p:nvSpPr>
            <p:cNvPr id="59" name="Google Shape;59;p4"/>
            <p:cNvSpPr txBox="1"/>
            <p:nvPr/>
          </p:nvSpPr>
          <p:spPr>
            <a:xfrm>
              <a:off x="5766211" y="222450"/>
              <a:ext cx="2071704" cy="25387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lang="en-US" sz="1050" b="1" i="0" u="none" strike="noStrike" cap="none">
                  <a:solidFill>
                    <a:srgbClr val="996600"/>
                  </a:solidFill>
                  <a:latin typeface="Calibri"/>
                  <a:ea typeface="Calibri"/>
                  <a:cs typeface="Calibri"/>
                  <a:sym typeface="Calibri"/>
                </a:rPr>
                <a:t>#InformatikaBerkarakter</a:t>
              </a:r>
              <a:endParaRPr sz="105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60" name="Google Shape;60;p4" descr="A logo with a black background&#10;&#10;AI-generated content may be incorrect."/>
            <p:cNvPicPr preferRelativeResize="0"/>
            <p:nvPr/>
          </p:nvPicPr>
          <p:blipFill rotWithShape="1">
            <a:blip r:embed="rId7">
              <a:alphaModFix/>
            </a:blip>
            <a:srcRect l="7304" t="24481" r="5732" b="29999"/>
            <a:stretch/>
          </p:blipFill>
          <p:spPr>
            <a:xfrm>
              <a:off x="4421298" y="126998"/>
              <a:ext cx="1347134" cy="49868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1" name="Google Shape;61;p4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228418" y="6149139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2019502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5"/>
          <p:cNvSpPr/>
          <p:nvPr/>
        </p:nvSpPr>
        <p:spPr>
          <a:xfrm>
            <a:off x="0" y="6465866"/>
            <a:ext cx="8706656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8662610" y="6465526"/>
            <a:ext cx="48005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5" name="Google Shape;65;p5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47" y="102871"/>
            <a:ext cx="1554416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5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8038488" y="104158"/>
            <a:ext cx="1010351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5"/>
          <p:cNvSpPr txBox="1">
            <a:spLocks noGrp="1"/>
          </p:cNvSpPr>
          <p:nvPr>
            <p:ph type="title"/>
          </p:nvPr>
        </p:nvSpPr>
        <p:spPr>
          <a:xfrm>
            <a:off x="1711034" y="119924"/>
            <a:ext cx="572193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5"/>
          <p:cNvSpPr txBox="1">
            <a:spLocks noGrp="1"/>
          </p:cNvSpPr>
          <p:nvPr>
            <p:ph type="body" idx="1"/>
          </p:nvPr>
        </p:nvSpPr>
        <p:spPr>
          <a:xfrm>
            <a:off x="220866" y="1140497"/>
            <a:ext cx="8706656" cy="50941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342900" lvl="0" indent="-304800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Barlow"/>
                <a:ea typeface="Barlow"/>
                <a:cs typeface="Barlow"/>
                <a:sym typeface="Barlow"/>
              </a:defRPr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9" name="Google Shape;69;p5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508307" y="1427758"/>
            <a:ext cx="2127386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5"/>
          <p:cNvSpPr txBox="1"/>
          <p:nvPr/>
        </p:nvSpPr>
        <p:spPr>
          <a:xfrm>
            <a:off x="8662610" y="6541115"/>
            <a:ext cx="37737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71" name="Google Shape;71;p5"/>
          <p:cNvSpPr txBox="1"/>
          <p:nvPr/>
        </p:nvSpPr>
        <p:spPr>
          <a:xfrm>
            <a:off x="7959436" y="580608"/>
            <a:ext cx="1143002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2" y="6509218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204741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Title and Content">
  <p:cSld name="2_Title and Conten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6"/>
          <p:cNvSpPr/>
          <p:nvPr/>
        </p:nvSpPr>
        <p:spPr>
          <a:xfrm>
            <a:off x="0" y="6465866"/>
            <a:ext cx="8706656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8662610" y="6465526"/>
            <a:ext cx="48005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6" name="Google Shape;76;p6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47" y="102871"/>
            <a:ext cx="1554416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6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8038488" y="104158"/>
            <a:ext cx="1010351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6"/>
          <p:cNvSpPr txBox="1">
            <a:spLocks noGrp="1"/>
          </p:cNvSpPr>
          <p:nvPr>
            <p:ph type="title"/>
          </p:nvPr>
        </p:nvSpPr>
        <p:spPr>
          <a:xfrm>
            <a:off x="1711034" y="119924"/>
            <a:ext cx="572193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79" name="Google Shape;79;p6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522161" y="1427758"/>
            <a:ext cx="2127386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6"/>
          <p:cNvSpPr txBox="1"/>
          <p:nvPr/>
        </p:nvSpPr>
        <p:spPr>
          <a:xfrm>
            <a:off x="8662610" y="6541115"/>
            <a:ext cx="37737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7959436" y="580608"/>
            <a:ext cx="1143002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 txBox="1">
            <a:spLocks noGrp="1"/>
          </p:cNvSpPr>
          <p:nvPr>
            <p:ph type="body" idx="1"/>
          </p:nvPr>
        </p:nvSpPr>
        <p:spPr>
          <a:xfrm>
            <a:off x="223435" y="1060992"/>
            <a:ext cx="2743601" cy="518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83" name="Google Shape;83;p6"/>
          <p:cNvCxnSpPr/>
          <p:nvPr/>
        </p:nvCxnSpPr>
        <p:spPr>
          <a:xfrm>
            <a:off x="3072633" y="1039103"/>
            <a:ext cx="0" cy="520438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cxnSp>
        <p:nvCxnSpPr>
          <p:cNvPr id="84" name="Google Shape;84;p6"/>
          <p:cNvCxnSpPr/>
          <p:nvPr/>
        </p:nvCxnSpPr>
        <p:spPr>
          <a:xfrm>
            <a:off x="6024639" y="1039103"/>
            <a:ext cx="0" cy="5204380"/>
          </a:xfrm>
          <a:prstGeom prst="straightConnector1">
            <a:avLst/>
          </a:prstGeom>
          <a:noFill/>
          <a:ln w="19050" cap="flat" cmpd="sng">
            <a:solidFill>
              <a:srgbClr val="D8D8D8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85" name="Google Shape;85;p6"/>
          <p:cNvSpPr txBox="1">
            <a:spLocks noGrp="1"/>
          </p:cNvSpPr>
          <p:nvPr>
            <p:ph type="body" idx="2"/>
          </p:nvPr>
        </p:nvSpPr>
        <p:spPr>
          <a:xfrm>
            <a:off x="3176836" y="1050048"/>
            <a:ext cx="2743601" cy="518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Google Shape;86;p6"/>
          <p:cNvSpPr txBox="1">
            <a:spLocks noGrp="1"/>
          </p:cNvSpPr>
          <p:nvPr>
            <p:ph type="body" idx="3"/>
          </p:nvPr>
        </p:nvSpPr>
        <p:spPr>
          <a:xfrm>
            <a:off x="6130237" y="1039103"/>
            <a:ext cx="2743601" cy="5182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342900" lvl="0" indent="-257175" algn="l">
              <a:lnSpc>
                <a:spcPct val="10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685800" lvl="1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028700" lvl="2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371600" lvl="3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1714500" lvl="4" indent="-257175" algn="l">
              <a:lnSpc>
                <a:spcPct val="10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057400" lvl="5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2400300" lvl="6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2743200" lvl="7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3086100" lvl="8" indent="-257175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7" name="Google Shape;87;p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2" y="6509218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5303764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Title and Content">
  <p:cSld name="4_Title and Content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7"/>
          <p:cNvSpPr/>
          <p:nvPr/>
        </p:nvSpPr>
        <p:spPr>
          <a:xfrm>
            <a:off x="0" y="6465866"/>
            <a:ext cx="8706656" cy="3921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7"/>
          <p:cNvSpPr/>
          <p:nvPr/>
        </p:nvSpPr>
        <p:spPr>
          <a:xfrm>
            <a:off x="8662610" y="6465526"/>
            <a:ext cx="480059" cy="39247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68569" tIns="34275" rIns="68569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35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7" descr="A black background with yellow and grey text&#10;&#10;AI-generated content may be incorrect.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5247" y="102871"/>
            <a:ext cx="1554416" cy="518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7" descr="A logo with a black background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 l="7304" t="24481" r="5732" b="29999"/>
          <a:stretch/>
        </p:blipFill>
        <p:spPr>
          <a:xfrm>
            <a:off x="8038488" y="104158"/>
            <a:ext cx="1010351" cy="49868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7"/>
          <p:cNvSpPr txBox="1">
            <a:spLocks noGrp="1"/>
          </p:cNvSpPr>
          <p:nvPr>
            <p:ph type="title"/>
          </p:nvPr>
        </p:nvSpPr>
        <p:spPr>
          <a:xfrm>
            <a:off x="1711034" y="119924"/>
            <a:ext cx="5721930" cy="7735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>
                <a:latin typeface="Fjalla One"/>
                <a:ea typeface="Fjalla One"/>
                <a:cs typeface="Fjalla One"/>
                <a:sym typeface="Fjalla One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94" name="Google Shape;94;p7" descr="A logo with a red and black letter u&#10;&#10;AI-generated content may be incorrect."/>
          <p:cNvPicPr preferRelativeResize="0"/>
          <p:nvPr/>
        </p:nvPicPr>
        <p:blipFill rotWithShape="1">
          <a:blip r:embed="rId4">
            <a:alphaModFix amt="10000"/>
          </a:blip>
          <a:srcRect/>
          <a:stretch/>
        </p:blipFill>
        <p:spPr>
          <a:xfrm>
            <a:off x="3508307" y="1427758"/>
            <a:ext cx="2127386" cy="4002484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7"/>
          <p:cNvSpPr txBox="1"/>
          <p:nvPr/>
        </p:nvSpPr>
        <p:spPr>
          <a:xfrm>
            <a:off x="8662610" y="6541115"/>
            <a:ext cx="37737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28575" marR="0" lvl="0" indent="0" algn="r" rtl="0">
              <a:lnSpc>
                <a:spcPct val="100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fld id="{00000000-1234-1234-1234-123412341234}" type="slidenum">
              <a:rPr lang="en-US" sz="1500" b="0" i="0" u="none" strike="noStrike" cap="none">
                <a:solidFill>
                  <a:schemeClr val="lt1"/>
                </a:solidFill>
                <a:latin typeface="Carlito"/>
                <a:ea typeface="Carlito"/>
                <a:cs typeface="Carlito"/>
                <a:sym typeface="Carlito"/>
              </a:rPr>
              <a:pPr marL="28575" marR="0" lvl="0" indent="0" algn="r" rtl="0">
                <a:lnSpc>
                  <a:spcPct val="10025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t>‹#›</a:t>
            </a:fld>
            <a:endParaRPr sz="1500" b="0" i="0" u="none" strike="noStrike" cap="none">
              <a:solidFill>
                <a:schemeClr val="lt1"/>
              </a:solidFill>
              <a:latin typeface="Carlito"/>
              <a:ea typeface="Carlito"/>
              <a:cs typeface="Carlito"/>
              <a:sym typeface="Carlito"/>
            </a:endParaRPr>
          </a:p>
        </p:txBody>
      </p:sp>
      <p:sp>
        <p:nvSpPr>
          <p:cNvPr id="96" name="Google Shape;96;p7"/>
          <p:cNvSpPr txBox="1"/>
          <p:nvPr/>
        </p:nvSpPr>
        <p:spPr>
          <a:xfrm>
            <a:off x="7959436" y="580608"/>
            <a:ext cx="1143002" cy="1846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69" tIns="34275" rIns="68569" bIns="3427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750" b="1" i="0" u="none" strike="noStrike" cap="none">
                <a:solidFill>
                  <a:srgbClr val="996600"/>
                </a:solidFill>
                <a:latin typeface="Calibri"/>
                <a:ea typeface="Calibri"/>
                <a:cs typeface="Calibri"/>
                <a:sym typeface="Calibri"/>
              </a:rPr>
              <a:t>#InformatikaBerkarakter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7" name="Google Shape;97;p7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7702" y="6498585"/>
            <a:ext cx="4850865" cy="32560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01232571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34684" y="1269242"/>
            <a:ext cx="7909316" cy="765053"/>
          </a:xfrm>
          <a:prstGeom prst="rect">
            <a:avLst/>
          </a:prstGeom>
        </p:spPr>
        <p:txBody>
          <a:bodyPr/>
          <a:lstStyle>
            <a:lvl1pPr algn="l">
              <a:lnSpc>
                <a:spcPct val="90000"/>
              </a:lnSpc>
              <a:defRPr sz="2800" b="1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34684" y="2227425"/>
            <a:ext cx="7909316" cy="4297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90000"/>
              </a:lnSpc>
              <a:buFont typeface="Wingdings" pitchFamily="28" charset="2"/>
              <a:buNone/>
              <a:defRPr sz="2000" b="0" baseline="0">
                <a:solidFill>
                  <a:schemeClr val="tx1"/>
                </a:solidFill>
                <a:latin typeface="Verdana"/>
                <a:cs typeface="Verdana"/>
              </a:defRPr>
            </a:lvl1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Text Placeholder 15"/>
          <p:cNvSpPr>
            <a:spLocks noGrp="1"/>
          </p:cNvSpPr>
          <p:nvPr>
            <p:ph type="body" sz="quarter" idx="13"/>
          </p:nvPr>
        </p:nvSpPr>
        <p:spPr>
          <a:xfrm>
            <a:off x="1234684" y="2875084"/>
            <a:ext cx="7918022" cy="378005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Verdana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FDC2234C-00C3-4948-AB70-B54C7CF1585B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2" name="Slide Number Placeholder 2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673521EA-92C8-41C7-9E4C-1B5753AEF01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2492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 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521EA-92C8-41C7-9E4C-1B5753AEF01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4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3DB291-E565-4973-9EF5-66630558DEB8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136210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4F09DC-4894-42C9-8ED1-3FE74F5B5486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EB80E8-87EB-44F5-9EB2-FD24F4256E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5994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558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981075"/>
            <a:ext cx="4038600" cy="5472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81075"/>
            <a:ext cx="4038600" cy="54721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367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anks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45477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>
          <a:xfrm>
            <a:off x="365760" y="2009550"/>
            <a:ext cx="8326438" cy="402549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Slide Number Placeholder 1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521EA-92C8-41C7-9E4C-1B5753AEF01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6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4F7CFF-898F-43B8-AB0D-7B1FD9E2EAA6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6372189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3"/>
          </p:nvPr>
        </p:nvSpPr>
        <p:spPr>
          <a:xfrm>
            <a:off x="374826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4"/>
          </p:nvPr>
        </p:nvSpPr>
        <p:spPr>
          <a:xfrm>
            <a:off x="4738863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521EA-92C8-41C7-9E4C-1B5753AEF01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93F57-9597-42DC-B4CB-21DDFBD1B265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5124" y="1336417"/>
            <a:ext cx="8409163" cy="64123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90521237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type="body" idx="1"/>
          </p:nvPr>
        </p:nvSpPr>
        <p:spPr>
          <a:xfrm>
            <a:off x="366889" y="1645920"/>
            <a:ext cx="4035247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idx="17"/>
          </p:nvPr>
        </p:nvSpPr>
        <p:spPr>
          <a:xfrm>
            <a:off x="4703762" y="1645920"/>
            <a:ext cx="4045126" cy="789828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 algn="ctr">
              <a:lnSpc>
                <a:spcPts val="3000"/>
              </a:lnSpc>
              <a:spcBef>
                <a:spcPts val="0"/>
              </a:spcBef>
              <a:buNone/>
              <a:defRPr sz="26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4"/>
          </p:nvPr>
        </p:nvSpPr>
        <p:spPr>
          <a:xfrm>
            <a:off x="357187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25"/>
          </p:nvPr>
        </p:nvSpPr>
        <p:spPr>
          <a:xfrm>
            <a:off x="4703762" y="2659063"/>
            <a:ext cx="4044950" cy="3352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Slide Number Placeholder 1"/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521EA-92C8-41C7-9E4C-1B5753AEF01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9" name="Date Placeholder 2"/>
          <p:cNvSpPr>
            <a:spLocks noGrp="1"/>
          </p:cNvSpPr>
          <p:nvPr>
            <p:ph type="dt" sz="half" idx="27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09E919-DEA0-4506-8B6B-5FE6E21A64DA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038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21"/>
          </p:nvPr>
        </p:nvSpPr>
        <p:spPr>
          <a:xfrm>
            <a:off x="4678538" y="2009550"/>
            <a:ext cx="4035425" cy="4002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22"/>
          </p:nvPr>
        </p:nvSpPr>
        <p:spPr>
          <a:xfrm>
            <a:off x="365125" y="2009550"/>
            <a:ext cx="3997325" cy="4002313"/>
          </a:xfrm>
        </p:spPr>
        <p:txBody>
          <a:bodyPr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Tx/>
              <a:buSzPct val="135000"/>
              <a:buFontTx/>
              <a:buNone/>
              <a:tabLst/>
              <a:defRPr sz="2000"/>
            </a:lvl1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6" name="Slide Number Placeholder 1"/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3521EA-92C8-41C7-9E4C-1B5753AEF01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7F3966-355D-49EA-9CF3-EC05B6531D03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0" y="1242940"/>
            <a:ext cx="9144000" cy="2530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18152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Fjalla One"/>
              <a:buNone/>
              <a:defRPr sz="4400" b="0" i="0" u="none" strike="noStrike" cap="none">
                <a:solidFill>
                  <a:schemeClr val="dk1"/>
                </a:solidFill>
                <a:latin typeface="Fjalla One"/>
                <a:ea typeface="Fjalla One"/>
                <a:cs typeface="Fjalla One"/>
                <a:sym typeface="Fjalla One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35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defRPr/>
            </a:pPr>
            <a:fld id="{941DB02C-4F98-4DD9-A9B1-1422893368D6}" type="datetime1">
              <a:rPr lang="en-US" smtClean="0"/>
              <a:t>2/3/2026</a:t>
            </a:fld>
            <a:endParaRPr lang="en-US" dirty="0"/>
          </a:p>
        </p:txBody>
      </p:sp>
      <p:sp>
        <p:nvSpPr>
          <p:cNvPr id="9" name="Google Shape;9;p1"/>
          <p:cNvSpPr txBox="1">
            <a:spLocks noGrp="1"/>
          </p:cNvSpPr>
          <p:nvPr>
            <p:ph type="sldNum" idx="12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900" b="0" i="0" u="none" strike="noStrike" cap="none">
                <a:solidFill>
                  <a:srgbClr val="757575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>
              <a:defRPr/>
            </a:pPr>
            <a:fld id="{673521EA-92C8-41C7-9E4C-1B5753AEF01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027580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82" r:id="rId1"/>
    <p:sldLayoutId id="2147483783" r:id="rId2"/>
    <p:sldLayoutId id="2147483784" r:id="rId3"/>
    <p:sldLayoutId id="2147483785" r:id="rId4"/>
    <p:sldLayoutId id="2147483786" r:id="rId5"/>
    <p:sldLayoutId id="2147483787" r:id="rId6"/>
    <p:sldLayoutId id="2147483788" r:id="rId7"/>
    <p:sldLayoutId id="2147483789" r:id="rId8"/>
    <p:sldLayoutId id="2147483790" r:id="rId9"/>
    <p:sldLayoutId id="2147483791" r:id="rId10"/>
    <p:sldLayoutId id="2147483792" r:id="rId11"/>
    <p:sldLayoutId id="2147483761" r:id="rId12"/>
    <p:sldLayoutId id="2147483763" r:id="rId13"/>
    <p:sldLayoutId id="2147483764" r:id="rId14"/>
    <p:sldLayoutId id="2147483765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05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survei.apjii.or.id/survei/group/11" TargetMode="External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urvei.apjii.or.id/survei/group/11" TargetMode="Externa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urvei.apjii.or.id/survei/group/11" TargetMode="Externa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survei.apjii.or.id/survei/group/11" TargetMode="External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(IMK)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3851920" y="3253089"/>
            <a:ext cx="5112568" cy="1543436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+mj-lt"/>
              </a:rPr>
              <a:t>THE USER INTERFACE  (UI)</a:t>
            </a:r>
            <a:br>
              <a:rPr lang="en-US" sz="2400" b="1" dirty="0">
                <a:latin typeface="+mj-lt"/>
              </a:rPr>
            </a:br>
            <a:r>
              <a:rPr lang="en-US" sz="2400" b="1" dirty="0">
                <a:latin typeface="+mj-lt"/>
              </a:rPr>
              <a:t>DESIGN PROCESS</a:t>
            </a:r>
          </a:p>
          <a:p>
            <a:endParaRPr lang="en-US" sz="2000" b="1" dirty="0">
              <a:latin typeface="+mj-lt"/>
            </a:endParaRPr>
          </a:p>
          <a:p>
            <a:pPr>
              <a:lnSpc>
                <a:spcPct val="150000"/>
              </a:lnSpc>
            </a:pPr>
            <a:r>
              <a:rPr lang="id-ID" altLang="en-US" sz="2000" b="1" dirty="0">
                <a:latin typeface="+mj-lt"/>
              </a:rPr>
              <a:t>Web-Based</a:t>
            </a:r>
            <a:r>
              <a:rPr lang="en-US" altLang="en-US" sz="2000" b="1" dirty="0">
                <a:latin typeface="+mj-lt"/>
              </a:rPr>
              <a:t> </a:t>
            </a:r>
            <a:r>
              <a:rPr lang="id-ID" altLang="en-US" sz="2000" b="1" dirty="0">
                <a:latin typeface="+mj-lt"/>
              </a:rPr>
              <a:t>User Interface</a:t>
            </a:r>
            <a:endParaRPr lang="en-US" sz="20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065112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21E2C1E-4642-4BC2-BAE4-A3E2659A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035" y="2420888"/>
            <a:ext cx="5721930" cy="77359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27573222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B479EEC-06B9-4E39-8238-DA0BEFB3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0328"/>
            <a:ext cx="9144000" cy="5037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0AE3A8F-F768-36B4-4AC3-05BAC595A9E9}"/>
              </a:ext>
            </a:extLst>
          </p:cNvPr>
          <p:cNvSpPr txBox="1"/>
          <p:nvPr/>
        </p:nvSpPr>
        <p:spPr>
          <a:xfrm>
            <a:off x="-4762" y="6021288"/>
            <a:ext cx="6016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/>
              <a:t>Sumber: </a:t>
            </a:r>
            <a:r>
              <a:rPr lang="en-ID">
                <a:hlinkClick r:id="rId3"/>
              </a:rPr>
              <a:t>apjii 2025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853354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E584BA5-7079-0809-7047-981468D8C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6752"/>
            <a:ext cx="9144000" cy="51252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DAEC90-CD70-464E-1383-A84B4D148F4F}"/>
              </a:ext>
            </a:extLst>
          </p:cNvPr>
          <p:cNvSpPr txBox="1"/>
          <p:nvPr/>
        </p:nvSpPr>
        <p:spPr>
          <a:xfrm>
            <a:off x="107504" y="838433"/>
            <a:ext cx="6016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/>
              <a:t>Sumber: </a:t>
            </a:r>
            <a:r>
              <a:rPr lang="en-ID">
                <a:hlinkClick r:id="rId3"/>
              </a:rPr>
              <a:t>apjii 2025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247322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52E4C11-C9BC-7772-02A6-79209E21D6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12166"/>
            <a:ext cx="9144000" cy="503366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1AF9D4C-79A4-9DED-6E6B-CD3884C93C1A}"/>
              </a:ext>
            </a:extLst>
          </p:cNvPr>
          <p:cNvSpPr txBox="1"/>
          <p:nvPr/>
        </p:nvSpPr>
        <p:spPr>
          <a:xfrm>
            <a:off x="-4762" y="6021288"/>
            <a:ext cx="6016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/>
              <a:t>Sumber: </a:t>
            </a:r>
            <a:r>
              <a:rPr lang="en-ID">
                <a:hlinkClick r:id="rId3"/>
              </a:rPr>
              <a:t>apjii 2025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77435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21E2C1E-4642-4BC2-BAE4-A3E2659A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035" y="2420888"/>
            <a:ext cx="5721930" cy="77359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Web Design Principles</a:t>
            </a:r>
          </a:p>
        </p:txBody>
      </p:sp>
    </p:spTree>
    <p:extLst>
      <p:ext uri="{BB962C8B-B14F-4D97-AF65-F5344CB8AC3E}">
        <p14:creationId xmlns:p14="http://schemas.microsoft.com/office/powerpoint/2010/main" val="2299423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2800"/>
              <a:t>Atribut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0" y="1825625"/>
            <a:ext cx="7886700" cy="4351338"/>
          </a:xfrm>
        </p:spPr>
        <p:txBody>
          <a:bodyPr/>
          <a:lstStyle/>
          <a:p>
            <a:r>
              <a:rPr lang="id-ID" altLang="en-US" dirty="0"/>
              <a:t>Bagaimana mendesain antar muka sistem berbasis web untuk membangun website dengan halaman yang efektif?</a:t>
            </a:r>
          </a:p>
          <a:p>
            <a:r>
              <a:rPr lang="id-ID" altLang="en-US" dirty="0"/>
              <a:t>Beberapa atribut yang perlu diperhatikan:</a:t>
            </a:r>
          </a:p>
          <a:p>
            <a:pPr lvl="1"/>
            <a:r>
              <a:rPr lang="id-ID" altLang="en-US" dirty="0"/>
              <a:t>Textual content</a:t>
            </a:r>
          </a:p>
          <a:p>
            <a:pPr lvl="1"/>
            <a:r>
              <a:rPr lang="id-ID" altLang="en-US" dirty="0"/>
              <a:t>Graphic design</a:t>
            </a:r>
          </a:p>
          <a:p>
            <a:pPr lvl="1"/>
            <a:r>
              <a:rPr lang="id-ID" altLang="en-US" dirty="0"/>
              <a:t>Navigation</a:t>
            </a:r>
          </a:p>
          <a:p>
            <a:pPr lvl="1"/>
            <a:r>
              <a:rPr lang="id-ID" altLang="en-US" dirty="0"/>
              <a:t>Structure</a:t>
            </a:r>
          </a:p>
          <a:p>
            <a:pPr lvl="1"/>
            <a:r>
              <a:rPr lang="id-ID" altLang="en-US" dirty="0"/>
              <a:t>Links</a:t>
            </a:r>
          </a:p>
          <a:p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479243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2800" i="1" dirty="0"/>
              <a:t>Textual Content</a:t>
            </a:r>
            <a:r>
              <a:rPr lang="id-ID" altLang="en-US" sz="2800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825625"/>
            <a:ext cx="7886700" cy="435133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id-ID" altLang="en-US" sz="1800" i="1" dirty="0"/>
              <a:t>Content</a:t>
            </a:r>
            <a:r>
              <a:rPr lang="id-ID" altLang="en-US" sz="1800" dirty="0"/>
              <a:t> yang ditampilkan dalam sebuah </a:t>
            </a:r>
            <a:r>
              <a:rPr lang="id-ID" altLang="en-US" sz="1800" i="1" dirty="0"/>
              <a:t>website</a:t>
            </a:r>
            <a:r>
              <a:rPr lang="id-ID" altLang="en-US" sz="1800" dirty="0"/>
              <a:t> memiliki nilai yang lebih penting dibandingkan desain dari </a:t>
            </a:r>
            <a:r>
              <a:rPr lang="id-ID" altLang="en-US" sz="1800" i="1" dirty="0"/>
              <a:t>website</a:t>
            </a:r>
            <a:r>
              <a:rPr lang="id-ID" altLang="en-US" sz="1800" dirty="0"/>
              <a:t> itu sendiri.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Informasi yang sesuai merupakan hal yang sangat penting dalam sebuah </a:t>
            </a:r>
            <a:r>
              <a:rPr lang="id-ID" altLang="en-US" sz="1800" i="1" dirty="0"/>
              <a:t>website</a:t>
            </a:r>
            <a:r>
              <a:rPr lang="id-ID" altLang="en-US" sz="1800" dirty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id-ID" altLang="en-US" sz="1800" b="1" dirty="0"/>
              <a:t>Hal yang perlu diperhatikan</a:t>
            </a:r>
            <a:r>
              <a:rPr lang="id-ID" altLang="en-US" sz="1800" dirty="0"/>
              <a:t>: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Membaca pada monitor lebih lambat dibandingkan pada kertas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Mata relatif lebih cepat lelah saat membaca narasi yang panjang pada monitor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i="1" dirty="0"/>
              <a:t>User</a:t>
            </a:r>
            <a:r>
              <a:rPr lang="id-ID" altLang="en-US" sz="1800" dirty="0"/>
              <a:t> cenderung hanya membaca header, highlights dan paragraf tertentu</a:t>
            </a:r>
            <a:endParaRPr lang="id-ID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2800" i="1" dirty="0"/>
              <a:t>Graphic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825625"/>
            <a:ext cx="7886700" cy="435133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Tampilan grafis harus memperhatikan masalah konsistensi, susunan antara teks dan gambar, kontras, warna dan fungsionalitas dari gambar yang ditampilkan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id-ID" altLang="en-US" sz="1800" b="1" dirty="0"/>
              <a:t>Hal yang perlu diperhatikan: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Pemilihan format gambar yang sesuai dan pertimbangan masalah ukuran file gambar yang akan mempengaruhi kecepatan akses dan waktu tunggu (</a:t>
            </a:r>
            <a:r>
              <a:rPr lang="id-ID" altLang="en-US" sz="1800" i="1" dirty="0"/>
              <a:t>delay</a:t>
            </a:r>
            <a:r>
              <a:rPr lang="id-ID" altLang="en-US" sz="1800" dirty="0"/>
              <a:t>)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Menyesuaikan tampilan grafis dengan dimensi halaman website yang akan ditampilkan di layar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id-ID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2800" i="1" dirty="0"/>
              <a:t>Graphic Design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2805113"/>
            <a:ext cx="8229600" cy="3500437"/>
          </a:xfrm>
          <a:noFill/>
        </p:spPr>
        <p:txBody>
          <a:bodyPr/>
          <a:lstStyle/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Apabila monitor menampilkan resolusi 640 x 480 </a:t>
            </a:r>
            <a:r>
              <a:rPr lang="id-ID" altLang="en-US" sz="1800" i="1" dirty="0"/>
              <a:t>pixel</a:t>
            </a:r>
            <a:r>
              <a:rPr lang="id-ID" altLang="en-US" sz="1800" dirty="0"/>
              <a:t> maka dimensi rata-rata yang dapat digunakan untuk tampilan halaman </a:t>
            </a:r>
            <a:r>
              <a:rPr lang="id-ID" altLang="en-US" sz="1800" i="1" dirty="0"/>
              <a:t>website</a:t>
            </a:r>
            <a:r>
              <a:rPr lang="id-ID" altLang="en-US" sz="1800" dirty="0"/>
              <a:t> pada sebuah </a:t>
            </a:r>
            <a:r>
              <a:rPr lang="id-ID" altLang="en-US" sz="1800" i="1" dirty="0"/>
              <a:t>web browser</a:t>
            </a:r>
            <a:r>
              <a:rPr lang="id-ID" altLang="en-US" sz="1800" dirty="0"/>
              <a:t> yakni 595 x 295 pixel.</a:t>
            </a:r>
          </a:p>
          <a:p>
            <a:pPr algn="just" eaLnBrk="1" hangingPunct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Dimensi umum yang digunakan untuk halaman </a:t>
            </a:r>
            <a:r>
              <a:rPr lang="id-ID" altLang="en-US" sz="1800" i="1" dirty="0"/>
              <a:t>website</a:t>
            </a:r>
            <a:r>
              <a:rPr lang="id-ID" altLang="en-US" sz="1800" dirty="0"/>
              <a:t> yaitu 800 x 640 </a:t>
            </a:r>
            <a:r>
              <a:rPr lang="id-ID" altLang="en-US" sz="1800" i="1" dirty="0"/>
              <a:t>pixel</a:t>
            </a:r>
            <a:r>
              <a:rPr lang="id-ID" altLang="en-US" sz="1800" dirty="0"/>
              <a:t>, untuk </a:t>
            </a:r>
            <a:r>
              <a:rPr lang="id-ID" altLang="en-US" sz="1800" i="1" dirty="0"/>
              <a:t>website</a:t>
            </a:r>
            <a:r>
              <a:rPr lang="id-ID" altLang="en-US" sz="1800" dirty="0"/>
              <a:t> dengan informasi yang sangat banyak dapat menggunakan ukuran yang lebih besar.</a:t>
            </a:r>
          </a:p>
        </p:txBody>
      </p:sp>
      <p:graphicFrame>
        <p:nvGraphicFramePr>
          <p:cNvPr id="23556" name="Object 5"/>
          <p:cNvGraphicFramePr>
            <a:graphicFrameLocks noGrp="1" noChangeAspect="1"/>
          </p:cNvGraphicFramePr>
          <p:nvPr>
            <p:ph sz="half" idx="4294967295"/>
            <p:extLst>
              <p:ext uri="{D42A27DB-BD31-4B8C-83A1-F6EECF244321}">
                <p14:modId xmlns:p14="http://schemas.microsoft.com/office/powerpoint/2010/main" val="2751452375"/>
              </p:ext>
            </p:extLst>
          </p:nvPr>
        </p:nvGraphicFramePr>
        <p:xfrm>
          <a:off x="2375693" y="1119063"/>
          <a:ext cx="4392612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3495238" imgH="1162212" progId="Paint.Picture">
                  <p:embed/>
                </p:oleObj>
              </mc:Choice>
              <mc:Fallback>
                <p:oleObj name="Bitmap Image" r:id="rId2" imgW="3495238" imgH="1162212" progId="Paint.Picture">
                  <p:embed/>
                  <p:pic>
                    <p:nvPicPr>
                      <p:cNvPr id="0" name="Object 5"/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75693" y="1119063"/>
                        <a:ext cx="4392612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3000" i="1" dirty="0"/>
              <a:t>Graphic Design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0" y="1825625"/>
            <a:ext cx="7886700" cy="4351338"/>
          </a:xfrm>
        </p:spPr>
        <p:txBody>
          <a:bodyPr/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Usahakan setiap halaman hanya menggunakan satu layar, hindari </a:t>
            </a:r>
            <a:r>
              <a:rPr lang="id-ID" altLang="en-US" sz="1800" i="1" dirty="0"/>
              <a:t>scrolling</a:t>
            </a:r>
            <a:r>
              <a:rPr lang="id-ID" altLang="en-US" sz="1800" dirty="0"/>
              <a:t> layar jika memungkinkan. 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Jika tidak memungkinkan, scrolling hanya sesuai untuk </a:t>
            </a:r>
            <a:r>
              <a:rPr lang="id-ID" altLang="en-US" sz="1800" i="1" dirty="0"/>
              <a:t>content</a:t>
            </a:r>
            <a:r>
              <a:rPr lang="id-ID" altLang="en-US" sz="1800" dirty="0"/>
              <a:t>, hindari </a:t>
            </a:r>
            <a:r>
              <a:rPr lang="id-ID" altLang="en-US" sz="1800" i="1" dirty="0"/>
              <a:t>scrolling</a:t>
            </a:r>
            <a:r>
              <a:rPr lang="id-ID" altLang="en-US" sz="1800" dirty="0"/>
              <a:t> untuk halaman navigasi. Gunakan </a:t>
            </a:r>
            <a:r>
              <a:rPr lang="id-ID" altLang="en-US" sz="1800" i="1" dirty="0"/>
              <a:t>scrolling</a:t>
            </a:r>
            <a:r>
              <a:rPr lang="id-ID" altLang="en-US" sz="1800" dirty="0"/>
              <a:t> layar ke atas/bawah, jangan ke samping (kiri/kanan).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Letakkan </a:t>
            </a:r>
            <a:r>
              <a:rPr lang="id-ID" altLang="en-US" sz="1800" i="1" dirty="0"/>
              <a:t>link</a:t>
            </a:r>
            <a:r>
              <a:rPr lang="id-ID" altLang="en-US" sz="1800" dirty="0"/>
              <a:t> yang penting pada bagian atas halaman </a:t>
            </a:r>
            <a:r>
              <a:rPr lang="id-ID" altLang="en-US" sz="1800" i="1" dirty="0"/>
              <a:t>website</a:t>
            </a:r>
            <a:r>
              <a:rPr lang="id-ID" altLang="en-US" sz="1800" dirty="0"/>
              <a:t>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Adopsi tren yang relevan untuk diterapkan, misalnya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i="1" dirty="0"/>
              <a:t>Accordeon</a:t>
            </a:r>
            <a:r>
              <a:rPr lang="id-ID" altLang="en-US" sz="1800" dirty="0"/>
              <a:t>, untuk meringkas konten sesuai pilihan</a:t>
            </a:r>
          </a:p>
          <a:p>
            <a:pPr lvl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i="1" dirty="0"/>
              <a:t>Burger menu</a:t>
            </a:r>
            <a:r>
              <a:rPr lang="id-ID" altLang="en-US" sz="1800" dirty="0"/>
              <a:t>, untuk meringkas daftar menu yang terlalu banyak tulisan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id-ID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2800" i="1" dirty="0"/>
              <a:t>Graphic Design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2205038"/>
            <a:ext cx="3816350" cy="3671887"/>
          </a:xfrm>
        </p:spPr>
        <p:txBody>
          <a:bodyPr/>
          <a:lstStyle/>
          <a:p>
            <a:pPr eaLnBrk="1" hangingPunct="1"/>
            <a:r>
              <a:rPr lang="id-ID" altLang="en-US" dirty="0"/>
              <a:t>Meskipun monitor telah mampu menampilkan jutaan warna, namun hanya 216 warna yang biasa digunakan untuk aktivitas </a:t>
            </a:r>
            <a:r>
              <a:rPr lang="id-ID" altLang="en-US" i="1" dirty="0"/>
              <a:t>browsing</a:t>
            </a:r>
            <a:r>
              <a:rPr lang="id-ID" altLang="en-US" dirty="0"/>
              <a:t>.</a:t>
            </a:r>
          </a:p>
        </p:txBody>
      </p:sp>
      <p:pic>
        <p:nvPicPr>
          <p:cNvPr id="25633" name="Picture 3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99992" y="1497994"/>
            <a:ext cx="4114428" cy="45752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4525144" y="6073238"/>
            <a:ext cx="2964273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id-ID" sz="1100" dirty="0"/>
              <a:t>Sumber </a:t>
            </a:r>
            <a:r>
              <a:rPr lang="id-ID" sz="1100" b="1" dirty="0"/>
              <a:t>webdesignstutorial.blogspot.com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9" name="Picture 3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77800" y="1719026"/>
            <a:ext cx="8642672" cy="4230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539872" y="6093296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sz="1100" dirty="0"/>
              <a:t>Sumber </a:t>
            </a:r>
            <a:r>
              <a:rPr lang="id-ID" sz="1100" b="1" dirty="0"/>
              <a:t>color.adobe.com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CC045D-247C-4A61-B815-FDA340338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7556385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dirty="0"/>
              <a:t>Dimana letak perbedaannya?</a:t>
            </a:r>
          </a:p>
        </p:txBody>
      </p:sp>
      <p:pic>
        <p:nvPicPr>
          <p:cNvPr id="31746" name="Picture 2" descr="C:\Users\A S U S\Documents\blu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80112" y="4296415"/>
            <a:ext cx="2880000" cy="179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7" name="Picture 3" descr="C:\Users\A S U S\Documents\green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39952" y="2132856"/>
            <a:ext cx="2880000" cy="179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8" name="Picture 4" descr="C:\Users\A S U S\Documents\red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0032" y="4296415"/>
            <a:ext cx="2880000" cy="179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749" name="Picture 5" descr="C:\Users\A S U S\Documents\yellow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872" y="2132856"/>
            <a:ext cx="2880000" cy="17968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/>
          <p:cNvSpPr/>
          <p:nvPr/>
        </p:nvSpPr>
        <p:spPr>
          <a:xfrm>
            <a:off x="539872" y="6093296"/>
            <a:ext cx="4572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id-ID" sz="1100" dirty="0"/>
              <a:t>Sumber </a:t>
            </a:r>
            <a:r>
              <a:rPr lang="id-ID" sz="1100" b="1" dirty="0"/>
              <a:t>http://ingridsundberg.com/2014/02/04/the-color-thesaurus</a:t>
            </a:r>
            <a:r>
              <a:rPr lang="id-ID" sz="1100" dirty="0"/>
              <a:t>/</a:t>
            </a:r>
          </a:p>
        </p:txBody>
      </p:sp>
    </p:spTree>
    <p:extLst>
      <p:ext uri="{BB962C8B-B14F-4D97-AF65-F5344CB8AC3E}">
        <p14:creationId xmlns:p14="http://schemas.microsoft.com/office/powerpoint/2010/main" val="30777387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2800" i="1" dirty="0"/>
              <a:t>Graphic Design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825625"/>
            <a:ext cx="7886700" cy="4351338"/>
          </a:xfrm>
        </p:spPr>
        <p:txBody>
          <a:bodyPr rtlCol="0">
            <a:noAutofit/>
          </a:bodyPr>
          <a:lstStyle/>
          <a:p>
            <a:pPr marL="0" indent="0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id-ID" sz="14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Pemilihan format file gambar yang sesuai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GIF – Graphic Interchange Format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Compressed, lossless format</a:t>
            </a: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, 8-bit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Keuntungan: memungkinkan warna transparan dan animasi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Cocok untuk icon atau gambar dengan warna yang solid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JPEG – Joint Photographic Expert’s Group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Compressed, lossy, </a:t>
            </a: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24-bit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Keuntungan: memungkinkan memilih faktor kompresi dan menentukan kualitas gambar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Cocok untuk fotografi dan gambar dengan warna kompleks</a:t>
            </a: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PNG – New Universal Format</a:t>
            </a: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Seperti halnya </a:t>
            </a:r>
            <a:r>
              <a:rPr lang="id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JPEG</a:t>
            </a:r>
            <a:endParaRPr lang="en-ID" sz="14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en-ID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Lebih</a:t>
            </a:r>
            <a:r>
              <a:rPr lang="en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unggul</a:t>
            </a:r>
            <a:r>
              <a:rPr lang="en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untuk</a:t>
            </a:r>
            <a:r>
              <a:rPr lang="en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menampilkan</a:t>
            </a:r>
            <a:r>
              <a:rPr lang="en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warna</a:t>
            </a:r>
            <a:r>
              <a:rPr lang="en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transaran</a:t>
            </a:r>
            <a:r>
              <a:rPr lang="en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ID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dibandingka</a:t>
            </a:r>
            <a:r>
              <a:rPr lang="en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JPEG </a:t>
            </a:r>
            <a:r>
              <a:rPr lang="en-ID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dan</a:t>
            </a:r>
            <a:r>
              <a:rPr lang="en-ID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GIF</a:t>
            </a:r>
            <a:endParaRPr lang="id-ID" sz="14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3200" i="1" dirty="0"/>
              <a:t>Navigation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825625"/>
            <a:ext cx="7886700" cy="4351338"/>
          </a:xfrm>
        </p:spPr>
        <p:txBody>
          <a:bodyPr/>
          <a:lstStyle/>
          <a:p>
            <a:pPr eaLnBrk="1" hangingPunct="1"/>
            <a:r>
              <a:rPr lang="id-ID" altLang="en-US" sz="2000" dirty="0"/>
              <a:t>Navigasi merupakan elemen kritis dalam menentukan efektivitas antarmuka sebuah </a:t>
            </a:r>
            <a:r>
              <a:rPr lang="id-ID" altLang="en-US" sz="2000" i="1" dirty="0"/>
              <a:t>website</a:t>
            </a:r>
          </a:p>
          <a:p>
            <a:pPr eaLnBrk="1" hangingPunct="1"/>
            <a:r>
              <a:rPr lang="id-ID" altLang="en-US" sz="2000" dirty="0"/>
              <a:t>Navigasi harus memberikan penjelasan tentang struktur informasi pada website, dengan menyediakan:</a:t>
            </a:r>
          </a:p>
          <a:p>
            <a:pPr lvl="1" eaLnBrk="1" hangingPunct="1"/>
            <a:r>
              <a:rPr lang="id-ID" altLang="en-US" sz="2000" dirty="0"/>
              <a:t>Daftar isi (</a:t>
            </a:r>
            <a:r>
              <a:rPr lang="id-ID" altLang="en-US" sz="2000" i="1" dirty="0"/>
              <a:t>site map</a:t>
            </a:r>
            <a:r>
              <a:rPr lang="id-ID" altLang="en-US" sz="2000" dirty="0"/>
              <a:t>)</a:t>
            </a:r>
          </a:p>
          <a:p>
            <a:pPr lvl="1" eaLnBrk="1" hangingPunct="1"/>
            <a:r>
              <a:rPr lang="id-ID" altLang="en-US" sz="2000" i="1" dirty="0"/>
              <a:t>Index</a:t>
            </a:r>
          </a:p>
          <a:p>
            <a:pPr lvl="1" eaLnBrk="1" hangingPunct="1"/>
            <a:r>
              <a:rPr lang="id-ID" altLang="en-US" sz="2000" i="1" dirty="0"/>
              <a:t>Navigation bar</a:t>
            </a:r>
          </a:p>
          <a:p>
            <a:pPr lvl="1" eaLnBrk="1" hangingPunct="1"/>
            <a:r>
              <a:rPr lang="id-ID" altLang="en-US" sz="2000" dirty="0"/>
              <a:t>Kemampuan </a:t>
            </a:r>
            <a:r>
              <a:rPr lang="id-ID" altLang="en-US" sz="2000" i="1" dirty="0"/>
              <a:t>Searching</a:t>
            </a:r>
          </a:p>
          <a:p>
            <a:pPr eaLnBrk="1" hangingPunct="1"/>
            <a:endParaRPr lang="id-ID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2800" i="1"/>
              <a:t>Structure</a:t>
            </a:r>
            <a:endParaRPr lang="id-ID" altLang="en-US" sz="2800" i="1" dirty="0"/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sz="half" idx="4294967295"/>
          </p:nvPr>
        </p:nvSpPr>
        <p:spPr>
          <a:xfrm>
            <a:off x="0" y="1916113"/>
            <a:ext cx="7416800" cy="4032250"/>
          </a:xfrm>
        </p:spPr>
        <p:txBody>
          <a:bodyPr/>
          <a:lstStyle/>
          <a:p>
            <a:pPr eaLnBrk="1" hangingPunct="1"/>
            <a:r>
              <a:rPr lang="id-ID" altLang="en-US" dirty="0"/>
              <a:t>Struktur </a:t>
            </a:r>
            <a:r>
              <a:rPr lang="id-ID" altLang="en-US" i="1" dirty="0"/>
              <a:t>website</a:t>
            </a:r>
            <a:r>
              <a:rPr lang="id-ID" altLang="en-US" dirty="0"/>
              <a:t> yang diperhatikan:</a:t>
            </a:r>
          </a:p>
          <a:p>
            <a:pPr lvl="1" eaLnBrk="1" hangingPunct="1"/>
            <a:r>
              <a:rPr lang="id-ID" altLang="en-US" sz="2000" i="1"/>
              <a:t>Connectivity and compactness</a:t>
            </a:r>
          </a:p>
          <a:p>
            <a:pPr lvl="1" eaLnBrk="1" hangingPunct="1"/>
            <a:r>
              <a:rPr lang="id-ID" altLang="en-US" sz="2000" i="1"/>
              <a:t>Branching factor</a:t>
            </a:r>
          </a:p>
          <a:p>
            <a:pPr lvl="1" eaLnBrk="1" hangingPunct="1"/>
            <a:r>
              <a:rPr lang="id-ID" altLang="en-US" sz="2000" i="1"/>
              <a:t>Page length</a:t>
            </a:r>
          </a:p>
          <a:p>
            <a:pPr lvl="1" eaLnBrk="1" hangingPunct="1"/>
            <a:r>
              <a:rPr lang="id-ID" altLang="en-US" sz="2000" i="1"/>
              <a:t>Number of links</a:t>
            </a:r>
          </a:p>
          <a:p>
            <a:pPr eaLnBrk="1" hangingPunct="1"/>
            <a:endParaRPr lang="id-ID" altLang="en-US" sz="2000" dirty="0"/>
          </a:p>
        </p:txBody>
      </p:sp>
      <p:pic>
        <p:nvPicPr>
          <p:cNvPr id="28700" name="Picture 28"/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31840" y="2503512"/>
            <a:ext cx="5695950" cy="3733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3200" i="1" dirty="0"/>
              <a:t>Structure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825625"/>
            <a:ext cx="7886700" cy="4351338"/>
          </a:xfrm>
        </p:spPr>
        <p:txBody>
          <a:bodyPr/>
          <a:lstStyle/>
          <a:p>
            <a:pPr algn="just" eaLnBrk="1" hangingPunct="1"/>
            <a:r>
              <a:rPr lang="id-ID" altLang="en-US" sz="1800" i="1" dirty="0"/>
              <a:t>Homepage</a:t>
            </a:r>
            <a:r>
              <a:rPr lang="id-ID" altLang="en-US" sz="1800" dirty="0"/>
              <a:t> merupakan halaman yang terpenting dalam </a:t>
            </a:r>
            <a:r>
              <a:rPr lang="id-ID" altLang="en-US" sz="1800" i="1" dirty="0"/>
              <a:t>website</a:t>
            </a:r>
          </a:p>
          <a:p>
            <a:pPr algn="just" eaLnBrk="1" hangingPunct="1"/>
            <a:r>
              <a:rPr lang="id-ID" altLang="en-US" sz="1800" dirty="0"/>
              <a:t>Berikan tampilan yang menarik pada homepage dan penjelasan tentang informasi apa saja yang dapat ditemukan pada </a:t>
            </a:r>
            <a:r>
              <a:rPr lang="id-ID" altLang="en-US" sz="1800" i="1" dirty="0"/>
              <a:t>website</a:t>
            </a:r>
          </a:p>
          <a:p>
            <a:pPr algn="just" eaLnBrk="1" hangingPunct="1"/>
            <a:r>
              <a:rPr lang="id-ID" altLang="en-US" sz="1800" dirty="0"/>
              <a:t>Tampilkan beberapa </a:t>
            </a:r>
            <a:r>
              <a:rPr lang="id-ID" altLang="en-US" sz="1800" i="1" dirty="0"/>
              <a:t>real content</a:t>
            </a:r>
            <a:r>
              <a:rPr lang="id-ID" altLang="en-US" sz="1800" dirty="0"/>
              <a:t> maupun berita aktual pada </a:t>
            </a:r>
            <a:r>
              <a:rPr lang="id-ID" altLang="en-US" sz="1800" i="1" dirty="0"/>
              <a:t>homepage</a:t>
            </a:r>
          </a:p>
          <a:p>
            <a:pPr algn="just" eaLnBrk="1" hangingPunct="1"/>
            <a:r>
              <a:rPr lang="id-ID" altLang="en-US" sz="1800" dirty="0"/>
              <a:t>Jika </a:t>
            </a:r>
            <a:r>
              <a:rPr lang="id-ID" altLang="en-US" sz="1800" i="1" dirty="0"/>
              <a:t>link</a:t>
            </a:r>
            <a:r>
              <a:rPr lang="id-ID" altLang="en-US" sz="1800" dirty="0"/>
              <a:t> yang dibuat pada </a:t>
            </a:r>
            <a:r>
              <a:rPr lang="id-ID" altLang="en-US" sz="1800" i="1" dirty="0"/>
              <a:t>homepage</a:t>
            </a:r>
            <a:r>
              <a:rPr lang="id-ID" altLang="en-US" sz="1800" dirty="0"/>
              <a:t> menggunakan gambar, maka berikan pula label berupa teks</a:t>
            </a:r>
          </a:p>
          <a:p>
            <a:pPr algn="just" eaLnBrk="1" hangingPunct="1"/>
            <a:r>
              <a:rPr lang="id-ID" altLang="en-US" sz="1800" dirty="0"/>
              <a:t>Tampilkan informasi dinamis pada </a:t>
            </a:r>
            <a:r>
              <a:rPr lang="id-ID" altLang="en-US" sz="1800" i="1" dirty="0"/>
              <a:t>homepage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2800" i="1" dirty="0"/>
              <a:t>Links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825625"/>
            <a:ext cx="7886700" cy="4351338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i="1" dirty="0"/>
              <a:t>Link</a:t>
            </a:r>
            <a:r>
              <a:rPr lang="id-ID" altLang="en-US" sz="1800" dirty="0"/>
              <a:t> sama seperti gaya dialog </a:t>
            </a:r>
            <a:r>
              <a:rPr lang="id-ID" altLang="en-US" sz="1800" i="1" dirty="0"/>
              <a:t>buttons</a:t>
            </a:r>
            <a:r>
              <a:rPr lang="id-ID" altLang="en-US" sz="1800" dirty="0"/>
              <a:t>, harus memberikan penjelasan tentang apa yang dapat dilakukan pada halaman berikutnya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Sebuah link yang baik berpedoman pada: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Bagaimana </a:t>
            </a:r>
            <a:r>
              <a:rPr lang="id-ID" altLang="en-US" sz="1800" i="1" dirty="0"/>
              <a:t>user</a:t>
            </a:r>
            <a:r>
              <a:rPr lang="id-ID" altLang="en-US" sz="1800" dirty="0"/>
              <a:t> dapat memprediksi tujuan sebuah </a:t>
            </a:r>
            <a:r>
              <a:rPr lang="id-ID" altLang="en-US" sz="1800" i="1" dirty="0"/>
              <a:t>link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Bagaimana </a:t>
            </a:r>
            <a:r>
              <a:rPr lang="id-ID" altLang="en-US" sz="1800" i="1" dirty="0"/>
              <a:t>user</a:t>
            </a:r>
            <a:r>
              <a:rPr lang="id-ID" altLang="en-US" sz="1800" dirty="0"/>
              <a:t> dapat membedakan antara sebuah </a:t>
            </a:r>
            <a:r>
              <a:rPr lang="id-ID" altLang="en-US" sz="1800" i="1" dirty="0"/>
              <a:t>link</a:t>
            </a:r>
            <a:r>
              <a:rPr lang="id-ID" altLang="en-US" sz="1800" dirty="0"/>
              <a:t> dengan </a:t>
            </a:r>
            <a:r>
              <a:rPr lang="id-ID" altLang="en-US" sz="1800" i="1" dirty="0"/>
              <a:t>link</a:t>
            </a:r>
            <a:r>
              <a:rPr lang="id-ID" altLang="en-US" sz="1800" dirty="0"/>
              <a:t> lainnya yang memiliki kemiripan</a:t>
            </a:r>
          </a:p>
          <a:p>
            <a:pPr lvl="1" eaLnBrk="1" hangingPunct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Sesuai tidaknya </a:t>
            </a:r>
            <a:r>
              <a:rPr lang="id-ID" altLang="en-US" sz="1800" i="1" dirty="0"/>
              <a:t>content</a:t>
            </a:r>
            <a:r>
              <a:rPr lang="id-ID" altLang="en-US" sz="1800" dirty="0"/>
              <a:t> yang ditampilkan oleh </a:t>
            </a:r>
            <a:r>
              <a:rPr lang="id-ID" altLang="en-US" sz="1800" i="1" dirty="0"/>
              <a:t>link</a:t>
            </a:r>
          </a:p>
          <a:p>
            <a:pPr eaLnBrk="1" hangingPunct="1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Pastikan semua </a:t>
            </a:r>
            <a:r>
              <a:rPr lang="id-ID" altLang="en-US" sz="1800" i="1" dirty="0"/>
              <a:t>link</a:t>
            </a:r>
            <a:r>
              <a:rPr lang="id-ID" altLang="en-US" sz="1800" dirty="0"/>
              <a:t> pada </a:t>
            </a:r>
            <a:r>
              <a:rPr lang="id-ID" altLang="en-US" sz="1800" i="1" dirty="0"/>
              <a:t>website</a:t>
            </a:r>
            <a:r>
              <a:rPr lang="id-ID" altLang="en-US" sz="1800" dirty="0"/>
              <a:t> dapat bekerja sesuai dengan fungsi masing-masing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id-ID" altLang="en-US" sz="3200"/>
              <a:t>Links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1825625"/>
            <a:ext cx="7886700" cy="4351338"/>
          </a:xfrm>
        </p:spPr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Hati-hati terhadap penggunaan kata “here”/”disini” pada sebuah link: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Klik </a:t>
            </a:r>
            <a:r>
              <a:rPr lang="id-ID" sz="2000" u="sng" dirty="0">
                <a:solidFill>
                  <a:srgbClr val="0066FF"/>
                </a:solidFill>
              </a:rPr>
              <a:t>disini</a:t>
            </a:r>
            <a:r>
              <a:rPr lang="id-ID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untuk menampilkan Artikel.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Dapatkan informasi detail pada </a:t>
            </a:r>
            <a:r>
              <a:rPr lang="id-ID" sz="2000" u="sng" dirty="0">
                <a:solidFill>
                  <a:srgbClr val="0066FF"/>
                </a:solidFill>
              </a:rPr>
              <a:t>Artikel</a:t>
            </a:r>
            <a:r>
              <a:rPr lang="id-ID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.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Penulisan sebuah link harus pada satu baris yang sama.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id-ID" sz="2000" u="sng" dirty="0">
                <a:solidFill>
                  <a:srgbClr val="0066FF"/>
                </a:solidFill>
              </a:rPr>
              <a:t>Profil Kota Bandung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id-ID" sz="2000" u="sng" dirty="0">
                <a:solidFill>
                  <a:srgbClr val="0066FF"/>
                </a:solidFill>
              </a:rPr>
              <a:t>Kawasan Wisata di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id-ID" sz="2000" u="sng" dirty="0">
                <a:solidFill>
                  <a:srgbClr val="0066FF"/>
                </a:solidFill>
              </a:rPr>
              <a:t>Kota Bandung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</a:t>
            </a:r>
            <a:r>
              <a:rPr lang="id-ID" sz="2000" u="sng" dirty="0">
                <a:solidFill>
                  <a:srgbClr val="0066FF"/>
                </a:solidFill>
              </a:rPr>
              <a:t>Informasi Hotel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Ada 3 atau 4 link?</a:t>
            </a:r>
          </a:p>
          <a:p>
            <a:pPr eaLnBrk="1" fontAlgn="auto" hangingPunct="1">
              <a:spcAft>
                <a:spcPts val="0"/>
              </a:spcAft>
              <a:buFont typeface="Wingdings 3" charset="2"/>
              <a:buChar char=""/>
              <a:defRPr/>
            </a:pPr>
            <a:endParaRPr lang="id-ID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Interaksi</a:t>
            </a:r>
            <a:r>
              <a:rPr lang="en-US" dirty="0"/>
              <a:t> </a:t>
            </a:r>
            <a:r>
              <a:rPr lang="en-US" dirty="0" err="1"/>
              <a:t>Manusia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Komputer</a:t>
            </a:r>
            <a:r>
              <a:rPr lang="en-US" dirty="0"/>
              <a:t> (IMK)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114800" y="3350983"/>
            <a:ext cx="4599295" cy="1877437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prstClr val="black"/>
                </a:solidFill>
                <a:latin typeface="+mj-lt"/>
              </a:rPr>
              <a:t>THE USER INTERFACE (UI)</a:t>
            </a:r>
            <a:br>
              <a:rPr lang="en-US" sz="2400" b="1" dirty="0">
                <a:solidFill>
                  <a:prstClr val="black"/>
                </a:solidFill>
                <a:latin typeface="+mj-lt"/>
              </a:rPr>
            </a:br>
            <a:r>
              <a:rPr lang="en-US" sz="2400" b="1" dirty="0">
                <a:solidFill>
                  <a:prstClr val="black"/>
                </a:solidFill>
                <a:latin typeface="+mj-lt"/>
              </a:rPr>
              <a:t>DESIGN PROCESS</a:t>
            </a:r>
          </a:p>
          <a:p>
            <a:endParaRPr lang="en-US" sz="2000" b="1" dirty="0">
              <a:solidFill>
                <a:prstClr val="black"/>
              </a:solidFill>
            </a:endParaRPr>
          </a:p>
          <a:p>
            <a:pPr>
              <a:lnSpc>
                <a:spcPct val="150000"/>
              </a:lnSpc>
            </a:pPr>
            <a:r>
              <a:rPr lang="id-ID" altLang="en-US" sz="1600" b="1" dirty="0">
                <a:solidFill>
                  <a:prstClr val="black"/>
                </a:solidFill>
                <a:latin typeface="Verdana"/>
              </a:rPr>
              <a:t>Mobile Device User Interface</a:t>
            </a:r>
            <a:endParaRPr lang="en-US" sz="1600" b="1" dirty="0">
              <a:solidFill>
                <a:prstClr val="black"/>
              </a:solidFill>
              <a:latin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3717762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Tujuan</a:t>
            </a:r>
            <a:endParaRPr lang="en-US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4294967295"/>
          </p:nvPr>
        </p:nvSpPr>
        <p:spPr>
          <a:xfrm>
            <a:off x="0" y="2009775"/>
            <a:ext cx="8326438" cy="4025900"/>
          </a:xfrm>
        </p:spPr>
        <p:txBody>
          <a:bodyPr/>
          <a:lstStyle/>
          <a:p>
            <a:r>
              <a:rPr lang="en-US" noProof="1"/>
              <a:t>Setelah mengikuti materi ini mahasiswa dapat:</a:t>
            </a:r>
            <a:endParaRPr lang="id-ID" noProof="1"/>
          </a:p>
          <a:p>
            <a:pPr lvl="1"/>
            <a:r>
              <a:rPr lang="en-US" dirty="0" err="1"/>
              <a:t>Mahasiswa</a:t>
            </a:r>
            <a:r>
              <a:rPr lang="en-US" dirty="0"/>
              <a:t>/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memahami</a:t>
            </a:r>
            <a:r>
              <a:rPr lang="en-US" dirty="0"/>
              <a:t> </a:t>
            </a:r>
            <a:r>
              <a:rPr lang="en-US" dirty="0" err="1"/>
              <a:t>konsep</a:t>
            </a:r>
            <a:r>
              <a:rPr lang="en-US" dirty="0"/>
              <a:t> </a:t>
            </a:r>
            <a:r>
              <a:rPr lang="en-US" dirty="0" err="1"/>
              <a:t>desain</a:t>
            </a:r>
            <a:r>
              <a:rPr lang="en-US" dirty="0"/>
              <a:t> UI </a:t>
            </a:r>
            <a:r>
              <a:rPr lang="en-US" dirty="0" err="1"/>
              <a:t>berbasis</a:t>
            </a:r>
            <a:r>
              <a:rPr lang="en-US" dirty="0"/>
              <a:t> web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perangkat</a:t>
            </a:r>
            <a:r>
              <a:rPr lang="en-US" dirty="0"/>
              <a:t> </a:t>
            </a:r>
            <a:r>
              <a:rPr lang="en-US" dirty="0" err="1"/>
              <a:t>bergerak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6615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21E2C1E-4642-4BC2-BAE4-A3E2659A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035" y="2621155"/>
            <a:ext cx="5721930" cy="77359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Overview</a:t>
            </a:r>
          </a:p>
        </p:txBody>
      </p:sp>
    </p:spTree>
    <p:extLst>
      <p:ext uri="{BB962C8B-B14F-4D97-AF65-F5344CB8AC3E}">
        <p14:creationId xmlns:p14="http://schemas.microsoft.com/office/powerpoint/2010/main" val="3809969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Mobile Device</a:t>
            </a:r>
          </a:p>
        </p:txBody>
      </p:sp>
      <p:pic>
        <p:nvPicPr>
          <p:cNvPr id="26626" name="Picture 2" descr="Hasil gambar untuk mobile phone and tablet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3728" y="1528354"/>
            <a:ext cx="5478215" cy="3692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012160" y="5888305"/>
            <a:ext cx="2520280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200" dirty="0"/>
              <a:t>Sumber </a:t>
            </a:r>
            <a:r>
              <a:rPr lang="id-ID" sz="1200" b="1" dirty="0"/>
              <a:t>thedroidguy.com</a:t>
            </a:r>
          </a:p>
        </p:txBody>
      </p:sp>
    </p:spTree>
    <p:extLst>
      <p:ext uri="{BB962C8B-B14F-4D97-AF65-F5344CB8AC3E}">
        <p14:creationId xmlns:p14="http://schemas.microsoft.com/office/powerpoint/2010/main" val="10911284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A5813AF-F819-1454-B8B4-17B135AF8B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257" y="1666629"/>
            <a:ext cx="7773485" cy="352474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E78B4785-873F-4379-7C87-0C0700A5A95F}"/>
              </a:ext>
            </a:extLst>
          </p:cNvPr>
          <p:cNvSpPr txBox="1"/>
          <p:nvPr/>
        </p:nvSpPr>
        <p:spPr>
          <a:xfrm>
            <a:off x="-4762" y="6021288"/>
            <a:ext cx="601692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/>
              <a:t>Sumber: </a:t>
            </a:r>
            <a:r>
              <a:rPr lang="en-ID">
                <a:hlinkClick r:id="rId3"/>
              </a:rPr>
              <a:t>apjii 2025</a:t>
            </a:r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4253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21E2C1E-4642-4BC2-BAE4-A3E2659A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7664" y="2420888"/>
            <a:ext cx="5721930" cy="77359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Mobile User Interface Principles</a:t>
            </a:r>
          </a:p>
        </p:txBody>
      </p:sp>
    </p:spTree>
    <p:extLst>
      <p:ext uri="{BB962C8B-B14F-4D97-AF65-F5344CB8AC3E}">
        <p14:creationId xmlns:p14="http://schemas.microsoft.com/office/powerpoint/2010/main" val="82941409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id-ID" altLang="en-US" sz="2800" dirty="0"/>
              <a:t>Apa yang Berbeda pada Perangkat Mobile?</a:t>
            </a:r>
          </a:p>
        </p:txBody>
      </p:sp>
      <p:sp>
        <p:nvSpPr>
          <p:cNvPr id="18534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408781" y="1268760"/>
            <a:ext cx="8326438" cy="4897090"/>
          </a:xfrm>
        </p:spPr>
        <p:txBody>
          <a:bodyPr/>
          <a:lstStyle/>
          <a:p>
            <a:r>
              <a:rPr lang="id-ID" altLang="en-US" sz="1800" dirty="0"/>
              <a:t>Perbedaan </a:t>
            </a:r>
            <a:r>
              <a:rPr lang="id-ID" altLang="en-US" sz="1800" i="1" dirty="0"/>
              <a:t>input</a:t>
            </a:r>
          </a:p>
          <a:p>
            <a:pPr lvl="1"/>
            <a:r>
              <a:rPr lang="id-ID" altLang="en-US" sz="1800" i="1" dirty="0"/>
              <a:t>One-handed, keypad, camera, pens, soft keyboard</a:t>
            </a:r>
          </a:p>
          <a:p>
            <a:r>
              <a:rPr lang="id-ID" altLang="en-US" sz="1800" dirty="0"/>
              <a:t>Digunakan pada tempat berbeda-beda</a:t>
            </a:r>
          </a:p>
          <a:p>
            <a:r>
              <a:rPr lang="id-ID" altLang="en-US" sz="1800" i="1" dirty="0"/>
              <a:t>Power</a:t>
            </a:r>
            <a:r>
              <a:rPr lang="id-ID" altLang="en-US" sz="1800" dirty="0"/>
              <a:t>/daya energi yang terbatas</a:t>
            </a:r>
          </a:p>
          <a:p>
            <a:r>
              <a:rPr lang="id-ID" altLang="en-US" sz="1800" dirty="0"/>
              <a:t>Mudah rusak</a:t>
            </a:r>
          </a:p>
          <a:p>
            <a:r>
              <a:rPr lang="id-ID" altLang="en-US" sz="1800" i="1" dirty="0"/>
              <a:t>Bandwidth</a:t>
            </a:r>
            <a:r>
              <a:rPr lang="id-ID" altLang="en-US" sz="1800" dirty="0"/>
              <a:t> yang rendah</a:t>
            </a:r>
          </a:p>
          <a:p>
            <a:r>
              <a:rPr lang="id-ID" altLang="en-US" sz="1800" dirty="0"/>
              <a:t>Layar yang kecil</a:t>
            </a:r>
          </a:p>
          <a:p>
            <a:r>
              <a:rPr lang="id-ID" altLang="en-US" sz="1800" dirty="0"/>
              <a:t>Sangat mungkin muncul desain interaksi baru dalam waktu dekat</a:t>
            </a:r>
          </a:p>
        </p:txBody>
      </p:sp>
    </p:spTree>
    <p:extLst>
      <p:ext uri="{BB962C8B-B14F-4D97-AF65-F5344CB8AC3E}">
        <p14:creationId xmlns:p14="http://schemas.microsoft.com/office/powerpoint/2010/main" val="1049338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altLang="en-US" sz="3200" i="1" dirty="0"/>
              <a:t>Interface</a:t>
            </a:r>
            <a:r>
              <a:rPr lang="id-ID" altLang="en-US" sz="3200" dirty="0"/>
              <a:t> Perangkat Mobile [1]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2187575"/>
            <a:ext cx="8326438" cy="4054475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Memungkinkan pemakai menggunakan </a:t>
            </a:r>
            <a:r>
              <a:rPr lang="id-ID" altLang="en-US" sz="1800" i="1" dirty="0"/>
              <a:t>shortcut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Pemakai cenderung lebih suka mengurangi jumlah interaksi.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Pengurangan jumlah operasi untuk melakukan aktivitas.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i="1" dirty="0"/>
              <a:t>Shortcut</a:t>
            </a:r>
            <a:r>
              <a:rPr lang="id-ID" altLang="en-US" sz="1800" dirty="0"/>
              <a:t> untuk memudahkan pengoperasian fungsi tertentu.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Tombol yang mudah digunakan.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Menawarkan umpan balik informasi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Terdapan umpan balik atas setiap tindakan/aksi, misalnya dengan suara beep ketika tombol ditekan atau terjadi kesalahan.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Umpan balik harus mudah dipahami oleh pengguna.</a:t>
            </a:r>
          </a:p>
        </p:txBody>
      </p:sp>
    </p:spTree>
    <p:extLst>
      <p:ext uri="{BB962C8B-B14F-4D97-AF65-F5344CB8AC3E}">
        <p14:creationId xmlns:p14="http://schemas.microsoft.com/office/powerpoint/2010/main" val="1138734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altLang="en-US" sz="3200" i="1" dirty="0"/>
              <a:t>Interface</a:t>
            </a:r>
            <a:r>
              <a:rPr lang="id-ID" altLang="en-US" sz="3200" dirty="0"/>
              <a:t> Perangkat Mobile [2]</a:t>
            </a:r>
          </a:p>
        </p:txBody>
      </p:sp>
      <p:sp>
        <p:nvSpPr>
          <p:cNvPr id="164867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2187575"/>
            <a:ext cx="8326438" cy="4054475"/>
          </a:xfrm>
        </p:spPr>
        <p:txBody>
          <a:bodyPr/>
          <a:lstStyle/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Mendesain dialog yang mudah digunakan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Urutan aksi dan fungsionalitas sistem harus diorganisasikan dalam grup/kategori.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Pemakai akan lebih nyaman jika menemukan gaya dialog yang sama antara penggunaan PC dengan perangkat </a:t>
            </a:r>
            <a:r>
              <a:rPr lang="id-ID" altLang="en-US" sz="1800" i="1" dirty="0"/>
              <a:t>mobile</a:t>
            </a:r>
            <a:r>
              <a:rPr lang="id-ID" altLang="en-US" sz="1800" dirty="0"/>
              <a:t>.</a:t>
            </a:r>
          </a:p>
          <a:p>
            <a:pPr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Mendukung kendali internal</a:t>
            </a:r>
          </a:p>
          <a:p>
            <a:pPr lvl="1" algn="just">
              <a:lnSpc>
                <a:spcPct val="150000"/>
              </a:lnSpc>
              <a:spcBef>
                <a:spcPts val="0"/>
              </a:spcBef>
            </a:pPr>
            <a:r>
              <a:rPr lang="id-ID" altLang="en-US" sz="1800" dirty="0"/>
              <a:t>Pemakai akan lebih suka apabila sistem memberikan respon terhadap aksi mereka, daripada sistem yang mengontrol mereka.</a:t>
            </a: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id-ID" altLang="en-US" sz="1800" dirty="0"/>
          </a:p>
        </p:txBody>
      </p:sp>
    </p:spTree>
    <p:extLst>
      <p:ext uri="{BB962C8B-B14F-4D97-AF65-F5344CB8AC3E}">
        <p14:creationId xmlns:p14="http://schemas.microsoft.com/office/powerpoint/2010/main" val="783331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altLang="en-US" sz="3200"/>
              <a:t>Hal yang Diperhatikan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0" y="1978025"/>
            <a:ext cx="8326438" cy="4054475"/>
          </a:xfrm>
        </p:spPr>
        <p:txBody>
          <a:bodyPr/>
          <a:lstStyle/>
          <a:p>
            <a:pPr algn="just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2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Gaya dialog yang memungkinkan penggunaan layar yang terbatas.</a:t>
            </a:r>
          </a:p>
          <a:p>
            <a:pPr algn="just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Konsistensi</a:t>
            </a:r>
          </a:p>
          <a:p>
            <a:pPr lvl="1" algn="just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Tampilan dan gaya dialog suatu aplikasi harus sama pada lintas </a:t>
            </a:r>
            <a:r>
              <a:rPr lang="id-ID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platform</a:t>
            </a:r>
            <a:r>
              <a:rPr lang="id-ID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maupun ketika ditampilkan pada perangkat </a:t>
            </a:r>
            <a:r>
              <a:rPr lang="id-ID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mobile</a:t>
            </a:r>
            <a:r>
              <a:rPr lang="id-ID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yang berbeda-beda.</a:t>
            </a:r>
          </a:p>
          <a:p>
            <a:pPr lvl="1" algn="just" fontAlgn="auto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Mobile device</a:t>
            </a:r>
            <a:r>
              <a:rPr lang="id-ID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harus dibekali dengan kemampuan metodologi I/O ketika menampilkan sebuah dokumen untuk menjaga konsistensi ketika ditampilkan pada mesin/komputer </a:t>
            </a:r>
            <a:r>
              <a:rPr lang="id-ID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desktop</a:t>
            </a:r>
            <a:r>
              <a:rPr lang="id-ID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dan perangkat </a:t>
            </a:r>
            <a:r>
              <a:rPr lang="id-ID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mobile </a:t>
            </a:r>
            <a:r>
              <a:rPr lang="id-ID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itu sendiri.</a:t>
            </a:r>
          </a:p>
          <a:p>
            <a:endParaRPr lang="id-ID" sz="2000" dirty="0"/>
          </a:p>
        </p:txBody>
      </p:sp>
    </p:spTree>
    <p:extLst>
      <p:ext uri="{BB962C8B-B14F-4D97-AF65-F5344CB8AC3E}">
        <p14:creationId xmlns:p14="http://schemas.microsoft.com/office/powerpoint/2010/main" val="398159945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altLang="en-US" sz="3200"/>
              <a:t>Hal yang Diperhatikan (lanjutan)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0" y="1978025"/>
            <a:ext cx="8326438" cy="40544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id-ID" altLang="en-US" sz="1800" dirty="0"/>
              <a:t>Pencegahan kesalahan dengan error handling yang sederhana	</a:t>
            </a:r>
          </a:p>
          <a:p>
            <a:pPr>
              <a:lnSpc>
                <a:spcPct val="150000"/>
              </a:lnSpc>
            </a:pPr>
            <a:r>
              <a:rPr lang="id-ID" altLang="en-US" sz="1800" dirty="0"/>
              <a:t>Efisiensi dan optimasi penggunaan memori internal</a:t>
            </a:r>
          </a:p>
          <a:p>
            <a:pPr lvl="1">
              <a:lnSpc>
                <a:spcPct val="150000"/>
              </a:lnSpc>
            </a:pPr>
            <a:r>
              <a:rPr lang="id-ID" altLang="en-US" sz="1800" dirty="0"/>
              <a:t>Aplikasi mobile device harus memiliki desain antarmuka yang menggunakan memori sangat kecil selama menjalankan berbagai tugas</a:t>
            </a:r>
          </a:p>
          <a:p>
            <a:pPr>
              <a:lnSpc>
                <a:spcPct val="150000"/>
              </a:lnSpc>
            </a:pPr>
            <a:r>
              <a:rPr lang="id-ID" altLang="en-US" sz="1800" dirty="0"/>
              <a:t>Stabilitas koneksi jaringan dan pemanfaatan akses jaringan yang seminimal mungkin.</a:t>
            </a:r>
          </a:p>
          <a:p>
            <a:pPr>
              <a:lnSpc>
                <a:spcPct val="150000"/>
              </a:lnSpc>
            </a:pPr>
            <a:endParaRPr lang="id-ID" sz="1800" dirty="0"/>
          </a:p>
        </p:txBody>
      </p:sp>
    </p:spTree>
    <p:extLst>
      <p:ext uri="{BB962C8B-B14F-4D97-AF65-F5344CB8AC3E}">
        <p14:creationId xmlns:p14="http://schemas.microsoft.com/office/powerpoint/2010/main" val="207905658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altLang="en-US" sz="2400" dirty="0"/>
              <a:t>Prinsip Desain Antarmuka Perangkat </a:t>
            </a:r>
            <a:r>
              <a:rPr lang="id-ID" altLang="en-US" sz="2400" i="1" dirty="0"/>
              <a:t>Mobile</a:t>
            </a:r>
            <a:r>
              <a:rPr lang="id-ID" altLang="en-US" sz="2400" dirty="0"/>
              <a:t> [1]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0" y="1978025"/>
            <a:ext cx="8326438" cy="4054475"/>
          </a:xfr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id-ID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Desain konteks multiple dan dinamis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Memungkinkan user mengatur konfigurasi yang diinginkan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Memungkinkan pengoperasian dengan satu tangan/</a:t>
            </a:r>
            <a:r>
              <a:rPr lang="id-ID" sz="18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hand-free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Memungkinkan aplikasi beradaptasi otomatis sesuai lingkungan kerja pemakai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id-ID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Desain perangkat dengan ukuran kecil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Memanfaatkan layar yang terbatas dengan menyusun fungsi berdasarkan urutan aktivitas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Menyediakan pemilihan huruf atau kata saat mengisikan teks</a:t>
            </a:r>
          </a:p>
        </p:txBody>
      </p:sp>
    </p:spTree>
    <p:extLst>
      <p:ext uri="{BB962C8B-B14F-4D97-AF65-F5344CB8AC3E}">
        <p14:creationId xmlns:p14="http://schemas.microsoft.com/office/powerpoint/2010/main" val="2651411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d-ID" altLang="en-US" sz="2400" dirty="0"/>
              <a:t>Prinsip Desain Antarmuka Perangkat </a:t>
            </a:r>
            <a:r>
              <a:rPr lang="id-ID" altLang="en-US" sz="2400" i="1" dirty="0"/>
              <a:t>Mobile</a:t>
            </a:r>
            <a:r>
              <a:rPr lang="id-ID" altLang="en-US" sz="2400" dirty="0"/>
              <a:t> [2]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0" y="1978025"/>
            <a:ext cx="8326438" cy="4054475"/>
          </a:xfr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id-ID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Desain dengan perhatian khusus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Menyediakan suara dan opsi keluaran sebagai umpan balik sistem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id-ID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Desain kecepatan dan </a:t>
            </a:r>
            <a:r>
              <a:rPr lang="id-ID" sz="18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recovery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Memungkinkan aplikasi dihentikan, dimulai maupun dilanjutkan tanpa masalah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Aplikasi harus dapat berjalan cepat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id-ID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Desain interaksi </a:t>
            </a:r>
            <a:r>
              <a:rPr lang="id-ID" sz="1800" b="1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top-down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Menampilkan struktur informasi yang dapat dipilih detail informasi mana saja yang akan ditampilkan</a:t>
            </a:r>
          </a:p>
        </p:txBody>
      </p:sp>
    </p:spTree>
    <p:extLst>
      <p:ext uri="{BB962C8B-B14F-4D97-AF65-F5344CB8AC3E}">
        <p14:creationId xmlns:p14="http://schemas.microsoft.com/office/powerpoint/2010/main" val="11453728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1711035" y="438705"/>
            <a:ext cx="5721930" cy="773590"/>
          </a:xfrm>
        </p:spPr>
        <p:txBody>
          <a:bodyPr/>
          <a:lstStyle/>
          <a:p>
            <a:r>
              <a:rPr lang="id-ID" altLang="en-US" sz="2400" dirty="0"/>
              <a:t>Prinsip Desain Antarmuka Perangkat </a:t>
            </a:r>
            <a:r>
              <a:rPr lang="id-ID" altLang="en-US" sz="2400" i="1" dirty="0"/>
              <a:t>Mobile</a:t>
            </a:r>
            <a:r>
              <a:rPr lang="id-ID" altLang="en-US" sz="2400" dirty="0"/>
              <a:t> [3]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4294967295"/>
          </p:nvPr>
        </p:nvSpPr>
        <p:spPr>
          <a:xfrm>
            <a:off x="0" y="1978025"/>
            <a:ext cx="8326438" cy="4054475"/>
          </a:xfrm>
        </p:spPr>
        <p:txBody>
          <a:bodyPr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id-ID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Desain personalisasi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Menyediakan personalisasi aturan dan desain sesuai yang diinginkan pemakai</a:t>
            </a:r>
          </a:p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itchFamily="2" charset="2"/>
              <a:buChar char="Ø"/>
              <a:defRPr/>
            </a:pPr>
            <a:r>
              <a:rPr lang="id-ID" sz="18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Desain yang menyenangkan</a:t>
            </a:r>
          </a:p>
          <a:p>
            <a:pPr lvl="1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id-ID" sz="1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Aplikasi harus memiliki tampilan yang menarik dan interaktif saat digunakan</a:t>
            </a:r>
          </a:p>
          <a:p>
            <a:pPr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Ø"/>
            </a:pPr>
            <a:endParaRPr lang="id-ID" sz="1800" dirty="0"/>
          </a:p>
        </p:txBody>
      </p:sp>
    </p:spTree>
    <p:extLst>
      <p:ext uri="{BB962C8B-B14F-4D97-AF65-F5344CB8AC3E}">
        <p14:creationId xmlns:p14="http://schemas.microsoft.com/office/powerpoint/2010/main" val="276027700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721E2C1E-4642-4BC2-BAE4-A3E2659AC8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1035" y="2348880"/>
            <a:ext cx="5721930" cy="773590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Responsive Design</a:t>
            </a:r>
          </a:p>
        </p:txBody>
      </p:sp>
    </p:spTree>
    <p:extLst>
      <p:ext uri="{BB962C8B-B14F-4D97-AF65-F5344CB8AC3E}">
        <p14:creationId xmlns:p14="http://schemas.microsoft.com/office/powerpoint/2010/main" val="41152610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800" i="1" dirty="0"/>
              <a:t>Browsing</a:t>
            </a:r>
            <a:r>
              <a:rPr lang="en-US" altLang="en-US" sz="2800" dirty="0"/>
              <a:t> </a:t>
            </a:r>
            <a:r>
              <a:rPr lang="id-ID" altLang="en-US" sz="2800" dirty="0"/>
              <a:t>Menggunakan</a:t>
            </a:r>
            <a:r>
              <a:rPr lang="en-US" altLang="en-US" sz="2800" dirty="0"/>
              <a:t> </a:t>
            </a:r>
            <a:r>
              <a:rPr lang="en-US" altLang="en-US" sz="2800" i="1" dirty="0"/>
              <a:t>Mobile</a:t>
            </a:r>
            <a:r>
              <a:rPr lang="id-ID" altLang="en-US" sz="2800" i="1" dirty="0"/>
              <a:t> </a:t>
            </a:r>
            <a:r>
              <a:rPr lang="en-US" altLang="en-US" sz="2800" i="1" dirty="0"/>
              <a:t>Device</a:t>
            </a:r>
          </a:p>
        </p:txBody>
      </p:sp>
      <p:sp>
        <p:nvSpPr>
          <p:cNvPr id="28675" name="AutoShape 3"/>
          <p:cNvSpPr>
            <a:spLocks noGrp="1" noChangeAspect="1" noChangeArrowheads="1"/>
          </p:cNvSpPr>
          <p:nvPr>
            <p:ph idx="4294967295"/>
          </p:nvPr>
        </p:nvSpPr>
        <p:spPr>
          <a:xfrm>
            <a:off x="0" y="1989138"/>
            <a:ext cx="2879725" cy="1655762"/>
          </a:xfrm>
        </p:spPr>
        <p:txBody>
          <a:bodyPr/>
          <a:lstStyle/>
          <a:p>
            <a:pPr marL="0" indent="0">
              <a:buNone/>
            </a:pPr>
            <a:r>
              <a:rPr lang="id-ID" altLang="en-US" sz="2000" dirty="0"/>
              <a:t>Berikut ini merupakan </a:t>
            </a:r>
            <a:r>
              <a:rPr lang="id-ID" altLang="en-US" sz="2000" i="1" dirty="0"/>
              <a:t>layout</a:t>
            </a:r>
            <a:r>
              <a:rPr lang="id-ID" altLang="en-US" sz="2000" dirty="0"/>
              <a:t> halaman </a:t>
            </a:r>
            <a:r>
              <a:rPr lang="id-ID" altLang="en-US" sz="2000" i="1" dirty="0"/>
              <a:t>website</a:t>
            </a:r>
            <a:r>
              <a:rPr lang="id-ID" altLang="en-US" sz="2000" dirty="0"/>
              <a:t> yang ditampilkan melalui </a:t>
            </a:r>
            <a:r>
              <a:rPr lang="id-ID" altLang="en-US" sz="2000" i="1" dirty="0"/>
              <a:t>web browser</a:t>
            </a:r>
            <a:r>
              <a:rPr lang="id-ID" altLang="en-US" sz="2000" dirty="0"/>
              <a:t>.</a:t>
            </a:r>
            <a:endParaRPr lang="en-US" altLang="en-US" sz="2000" dirty="0"/>
          </a:p>
        </p:txBody>
      </p:sp>
      <p:sp>
        <p:nvSpPr>
          <p:cNvPr id="10" name="TextBox 9"/>
          <p:cNvSpPr txBox="1"/>
          <p:nvPr/>
        </p:nvSpPr>
        <p:spPr>
          <a:xfrm>
            <a:off x="6012160" y="6032321"/>
            <a:ext cx="2520280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200" dirty="0"/>
              <a:t>Sumber </a:t>
            </a:r>
            <a:r>
              <a:rPr lang="id-ID" sz="1200" b="1" dirty="0"/>
              <a:t>tripadvisor.co.id</a:t>
            </a:r>
          </a:p>
        </p:txBody>
      </p:sp>
      <p:pic>
        <p:nvPicPr>
          <p:cNvPr id="27652" name="Picture 4" descr="C:\Users\A S U S\Downloads\FireShot\FireShot Capture 193 - TripAdvisor_ Baca Ulasan, Bandingkan Harga,_ - https___www.tripadvisor.co.id_.pn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886720" y="2060848"/>
            <a:ext cx="4680000" cy="3739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53859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2400" i="1" dirty="0"/>
              <a:t>Browsing</a:t>
            </a:r>
            <a:r>
              <a:rPr lang="en-US" altLang="en-US" sz="2400" dirty="0"/>
              <a:t> </a:t>
            </a:r>
            <a:r>
              <a:rPr lang="id-ID" altLang="en-US" sz="2400" dirty="0"/>
              <a:t>Menggunakan</a:t>
            </a:r>
            <a:r>
              <a:rPr lang="en-US" altLang="en-US" sz="2400" dirty="0"/>
              <a:t> </a:t>
            </a:r>
            <a:r>
              <a:rPr lang="en-US" altLang="en-US" sz="2400" i="1" dirty="0"/>
              <a:t>Mobile</a:t>
            </a:r>
            <a:r>
              <a:rPr lang="id-ID" altLang="en-US" sz="2400" i="1" dirty="0"/>
              <a:t> </a:t>
            </a:r>
            <a:r>
              <a:rPr lang="en-US" altLang="en-US" sz="2400" i="1" dirty="0"/>
              <a:t>Device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4294967295"/>
          </p:nvPr>
        </p:nvSpPr>
        <p:spPr>
          <a:xfrm>
            <a:off x="0" y="2570163"/>
            <a:ext cx="5267325" cy="2863850"/>
          </a:xfrm>
        </p:spPr>
        <p:txBody>
          <a:bodyPr/>
          <a:lstStyle/>
          <a:p>
            <a:r>
              <a:rPr lang="id-ID" altLang="en-US" sz="2000" i="1" dirty="0"/>
              <a:t>Auto-converting</a:t>
            </a:r>
            <a:r>
              <a:rPr lang="id-ID" altLang="en-US" sz="2000" dirty="0"/>
              <a:t> dari tampilan web menjadi tampilan pada perangkat</a:t>
            </a:r>
            <a:r>
              <a:rPr lang="en-US" altLang="en-US" sz="2000" dirty="0"/>
              <a:t> </a:t>
            </a:r>
            <a:r>
              <a:rPr lang="id-ID" altLang="en-US" sz="2000" i="1" dirty="0"/>
              <a:t>mobile</a:t>
            </a:r>
            <a:r>
              <a:rPr lang="id-ID" altLang="en-US" sz="2000" dirty="0"/>
              <a:t> tidak selamanya dapat bekerja dengan baik</a:t>
            </a:r>
          </a:p>
          <a:p>
            <a:r>
              <a:rPr lang="id-ID" altLang="en-US" sz="2000" dirty="0"/>
              <a:t>Pengembang </a:t>
            </a:r>
            <a:r>
              <a:rPr lang="id-ID" altLang="en-US" sz="2000" i="1" dirty="0"/>
              <a:t>website</a:t>
            </a:r>
            <a:r>
              <a:rPr lang="id-ID" altLang="en-US" sz="2000" dirty="0"/>
              <a:t> perlu bekerja sama dengan desainer perlu</a:t>
            </a:r>
            <a:r>
              <a:rPr lang="en-US" altLang="en-US" sz="2000" dirty="0"/>
              <a:t> </a:t>
            </a:r>
            <a:r>
              <a:rPr lang="id-ID" altLang="en-US" sz="2000" dirty="0"/>
              <a:t>mempersiapkan </a:t>
            </a:r>
            <a:r>
              <a:rPr lang="id-ID" altLang="en-US" sz="2000" i="1" dirty="0"/>
              <a:t>re-design</a:t>
            </a:r>
            <a:r>
              <a:rPr lang="id-ID" altLang="en-US" sz="2000" dirty="0"/>
              <a:t>.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 sz="2000" dirty="0"/>
          </a:p>
        </p:txBody>
      </p:sp>
      <p:pic>
        <p:nvPicPr>
          <p:cNvPr id="11" name="Picture 2" descr="C:\Users\A S U S\Downloads\FireShot\FireShot Capture 194 - TripAdvisor_ Baca Ulasan, Bandingkan Harga,_ - https___www.tripadvisor.co.id_.pn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817815" y="1916832"/>
            <a:ext cx="2714625" cy="416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6012160" y="6032321"/>
            <a:ext cx="2520280" cy="276999"/>
          </a:xfrm>
          <a:prstGeom prst="rect">
            <a:avLst/>
          </a:prstGeom>
          <a:ln>
            <a:noFill/>
          </a:ln>
        </p:spPr>
        <p:txBody>
          <a:bodyPr wrap="square" rtlCol="0">
            <a:spAutoFit/>
          </a:bodyPr>
          <a:lstStyle/>
          <a:p>
            <a:r>
              <a:rPr lang="id-ID" sz="1200" dirty="0"/>
              <a:t>Sumber </a:t>
            </a:r>
            <a:r>
              <a:rPr lang="id-ID" sz="1200" b="1" dirty="0"/>
              <a:t>tripadvisor.co.id</a:t>
            </a:r>
          </a:p>
        </p:txBody>
      </p:sp>
    </p:spTree>
    <p:extLst>
      <p:ext uri="{BB962C8B-B14F-4D97-AF65-F5344CB8AC3E}">
        <p14:creationId xmlns:p14="http://schemas.microsoft.com/office/powerpoint/2010/main" val="152083111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82a443e810c831204495043beb211afe3773bb1"/>
</p:tagLst>
</file>

<file path=ppt/theme/theme1.xml><?xml version="1.0" encoding="utf-8"?>
<a:theme xmlns:a="http://schemas.openxmlformats.org/drawingml/2006/main" name="Fif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if theme" id="{F87EA711-521A-4946-B019-DC3D372964CE}" vid="{B3398939-BCCF-43BB-B8C5-63A70CAAD60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3EAFF4A131874088A6625F3ADD53C4" ma:contentTypeVersion="0" ma:contentTypeDescription="Create a new document." ma:contentTypeScope="" ma:versionID="780deb29eeb7a5b1c709d6584340df73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DD7E97C-C246-456A-B418-F09B52C084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CDDF3E7-D282-4B02-9532-4ED71DD86B2C}"/>
</file>

<file path=customXml/itemProps3.xml><?xml version="1.0" encoding="utf-8"?>
<ds:datastoreItem xmlns:ds="http://schemas.openxmlformats.org/officeDocument/2006/customXml" ds:itemID="{609BAB37-E2F0-4D86-A279-559E413F1306}">
  <ds:schemaRefs>
    <ds:schemaRef ds:uri="http://schemas.microsoft.com/office/2006/metadata/properties"/>
    <ds:schemaRef ds:uri="http://schemas.microsoft.com/office/infopath/2007/PartnerControls"/>
    <ds:schemaRef ds:uri="da944019-e0c0-4cbe-b9e1-79848028e4af"/>
    <ds:schemaRef ds:uri="4a4cec7d-c36e-444e-b338-a48af7a4be82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Template Informatika(1)</Template>
  <TotalTime>1200</TotalTime>
  <Words>1271</Words>
  <Application>Microsoft Office PowerPoint</Application>
  <PresentationFormat>On-screen Show (4:3)</PresentationFormat>
  <Paragraphs>173</Paragraphs>
  <Slides>37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7" baseType="lpstr">
      <vt:lpstr>Arial</vt:lpstr>
      <vt:lpstr>Barlow</vt:lpstr>
      <vt:lpstr>Calibri</vt:lpstr>
      <vt:lpstr>Carlito</vt:lpstr>
      <vt:lpstr>Fjalla One</vt:lpstr>
      <vt:lpstr>Verdana</vt:lpstr>
      <vt:lpstr>Wingdings</vt:lpstr>
      <vt:lpstr>Wingdings 3</vt:lpstr>
      <vt:lpstr>Fif theme</vt:lpstr>
      <vt:lpstr>Bitmap Image</vt:lpstr>
      <vt:lpstr>Interaksi Manusia dan Komputer (IMK)</vt:lpstr>
      <vt:lpstr>Overview</vt:lpstr>
      <vt:lpstr>PowerPoint Presentation</vt:lpstr>
      <vt:lpstr>PowerPoint Presentation</vt:lpstr>
      <vt:lpstr>PowerPoint Presentation</vt:lpstr>
      <vt:lpstr>Web Design Principles</vt:lpstr>
      <vt:lpstr>Atribut</vt:lpstr>
      <vt:lpstr>Textual Content </vt:lpstr>
      <vt:lpstr>Graphic Design</vt:lpstr>
      <vt:lpstr>Graphic Design</vt:lpstr>
      <vt:lpstr>Graphic Design</vt:lpstr>
      <vt:lpstr>Graphic Design</vt:lpstr>
      <vt:lpstr>PowerPoint Presentation</vt:lpstr>
      <vt:lpstr>Dimana letak perbedaannya?</vt:lpstr>
      <vt:lpstr>Graphic Design</vt:lpstr>
      <vt:lpstr>Navigation</vt:lpstr>
      <vt:lpstr>Structure</vt:lpstr>
      <vt:lpstr>Structure</vt:lpstr>
      <vt:lpstr>Links</vt:lpstr>
      <vt:lpstr>Links</vt:lpstr>
      <vt:lpstr>Interaksi Manusia dan Komputer (IMK)</vt:lpstr>
      <vt:lpstr>Tujuan</vt:lpstr>
      <vt:lpstr>Overview</vt:lpstr>
      <vt:lpstr>Mobile Device</vt:lpstr>
      <vt:lpstr>PowerPoint Presentation</vt:lpstr>
      <vt:lpstr>Mobile User Interface Principles</vt:lpstr>
      <vt:lpstr>Apa yang Berbeda pada Perangkat Mobile?</vt:lpstr>
      <vt:lpstr>Interface Perangkat Mobile [1]</vt:lpstr>
      <vt:lpstr>Interface Perangkat Mobile [2]</vt:lpstr>
      <vt:lpstr>Hal yang Diperhatikan</vt:lpstr>
      <vt:lpstr>Hal yang Diperhatikan (lanjutan)</vt:lpstr>
      <vt:lpstr>Prinsip Desain Antarmuka Perangkat Mobile [1]</vt:lpstr>
      <vt:lpstr>Prinsip Desain Antarmuka Perangkat Mobile [2]</vt:lpstr>
      <vt:lpstr>Prinsip Desain Antarmuka Perangkat Mobile [3]</vt:lpstr>
      <vt:lpstr>Responsive Design</vt:lpstr>
      <vt:lpstr>Browsing Menggunakan Mobile Device</vt:lpstr>
      <vt:lpstr>Browsing Menggunakan Mobile Device</vt:lpstr>
    </vt:vector>
  </TitlesOfParts>
  <Company>eXplore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eXtreme Name</dc:creator>
  <cp:lastModifiedBy>GEDE AGUNG ARY WISUDIAWAN</cp:lastModifiedBy>
  <cp:revision>82</cp:revision>
  <dcterms:created xsi:type="dcterms:W3CDTF">2006-02-19T02:12:03Z</dcterms:created>
  <dcterms:modified xsi:type="dcterms:W3CDTF">2026-02-03T01:49:59Z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0x010100283EAFF4A131874088A6625F3ADD53C4</vt:lpwstr>
  </property>
  <property fmtid="{D5CDD505-2E9C-101B-9397-08002B2CF9AE}" pid="3" name="MediaServiceImageTags">
    <vt:lpwstr/>
  </property>
</Properties>
</file>