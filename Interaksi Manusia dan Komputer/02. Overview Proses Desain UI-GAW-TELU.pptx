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5" r:id="rId4"/>
  </p:sldMasterIdLst>
  <p:notesMasterIdLst>
    <p:notesMasterId r:id="rId55"/>
  </p:notesMasterIdLst>
  <p:handoutMasterIdLst>
    <p:handoutMasterId r:id="rId56"/>
  </p:handoutMasterIdLst>
  <p:sldIdLst>
    <p:sldId id="256" r:id="rId5"/>
    <p:sldId id="370" r:id="rId6"/>
    <p:sldId id="337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1" r:id="rId17"/>
    <p:sldId id="332" r:id="rId18"/>
    <p:sldId id="333" r:id="rId19"/>
    <p:sldId id="334" r:id="rId20"/>
    <p:sldId id="335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57" r:id="rId41"/>
    <p:sldId id="358" r:id="rId42"/>
    <p:sldId id="359" r:id="rId43"/>
    <p:sldId id="360" r:id="rId44"/>
    <p:sldId id="361" r:id="rId45"/>
    <p:sldId id="362" r:id="rId46"/>
    <p:sldId id="363" r:id="rId47"/>
    <p:sldId id="364" r:id="rId48"/>
    <p:sldId id="365" r:id="rId49"/>
    <p:sldId id="366" r:id="rId50"/>
    <p:sldId id="367" r:id="rId51"/>
    <p:sldId id="368" r:id="rId52"/>
    <p:sldId id="369" r:id="rId53"/>
    <p:sldId id="315" r:id="rId54"/>
  </p:sldIdLst>
  <p:sldSz cx="12192000" cy="6858000"/>
  <p:notesSz cx="6858000" cy="9144000"/>
  <p:custDataLst>
    <p:tags r:id="rId5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7"/>
    <p:restoredTop sz="92066" autoAdjust="0"/>
  </p:normalViewPr>
  <p:slideViewPr>
    <p:cSldViewPr snapToGrid="0" snapToObjects="1">
      <p:cViewPr varScale="1">
        <p:scale>
          <a:sx n="98" d="100"/>
          <a:sy n="98" d="100"/>
        </p:scale>
        <p:origin x="26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gs" Target="tags/tag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8FC84B-A62A-42AC-B142-A6F8CC4EA0A9}" type="doc">
      <dgm:prSet loTypeId="urn:microsoft.com/office/officeart/2005/8/layout/vList6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B0D369D-1E74-469D-967D-4CF9B15331DE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1800" b="1" dirty="0">
              <a:latin typeface="Verdana" pitchFamily="34" charset="0"/>
            </a:rPr>
            <a:t>International considerations</a:t>
          </a:r>
        </a:p>
      </dgm:t>
    </dgm:pt>
    <dgm:pt modelId="{BD4B5B73-0090-4B9D-B21A-F934640C7052}" type="parTrans" cxnId="{15E70471-C2FF-49F4-A88C-D1A1776A2A9F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B83AE704-0CCD-4D5E-99F7-68F9541AA5C3}" type="sibTrans" cxnId="{15E70471-C2FF-49F4-A88C-D1A1776A2A9F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EE21F14D-AACF-4349-9C3C-6E535707BA93}">
      <dgm:prSet phldrT="[Text]" custT="1"/>
      <dgm:spPr/>
      <dgm:t>
        <a:bodyPr/>
        <a:lstStyle/>
        <a:p>
          <a:pPr algn="r"/>
          <a:r>
            <a:rPr lang="en-US" sz="1600" dirty="0">
              <a:latin typeface="Verdana" pitchFamily="34" charset="0"/>
            </a:rPr>
            <a:t>Localization</a:t>
          </a:r>
        </a:p>
      </dgm:t>
    </dgm:pt>
    <dgm:pt modelId="{662AFA2B-6CD2-4F78-B449-022D1A12B4F8}" type="parTrans" cxnId="{B3B20189-E919-475A-B0DA-53AA16F390EB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B43B8CC5-BCA5-43E1-8091-F6642B55AB73}" type="sibTrans" cxnId="{B3B20189-E919-475A-B0DA-53AA16F390EB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A5D2BED8-9FF4-49BB-9ABA-7E390B260FA7}">
      <dgm:prSet phldrT="[Text]" custT="1"/>
      <dgm:spPr/>
      <dgm:t>
        <a:bodyPr/>
        <a:lstStyle/>
        <a:p>
          <a:pPr algn="r"/>
          <a:r>
            <a:rPr lang="en-US" sz="1600" dirty="0">
              <a:latin typeface="Verdana" pitchFamily="34" charset="0"/>
            </a:rPr>
            <a:t>Writing text</a:t>
          </a:r>
        </a:p>
      </dgm:t>
    </dgm:pt>
    <dgm:pt modelId="{C21995EC-816C-430E-A74B-5C437638E8E6}" type="parTrans" cxnId="{4A5E3F27-1868-4187-867C-5D43C8F70701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9B269724-5A16-4A86-88E7-5D8BC2B4A858}" type="sibTrans" cxnId="{4A5E3F27-1868-4187-867C-5D43C8F70701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3DC4561E-58AC-47DB-A8E6-5326CDC48059}">
      <dgm:prSet phldrT="[Text]" custT="1"/>
      <dgm:spPr>
        <a:solidFill>
          <a:srgbClr val="FFC000"/>
        </a:solidFill>
      </dgm:spPr>
      <dgm:t>
        <a:bodyPr/>
        <a:lstStyle/>
        <a:p>
          <a:r>
            <a:rPr lang="en-US" sz="1800" b="1" dirty="0">
              <a:latin typeface="Verdana" pitchFamily="34" charset="0"/>
            </a:rPr>
            <a:t>Accessibility considerations</a:t>
          </a:r>
        </a:p>
      </dgm:t>
    </dgm:pt>
    <dgm:pt modelId="{52D3CE38-8B0B-4F91-B05B-5590166D2586}" type="parTrans" cxnId="{D7C1D7DB-C828-4402-B0C7-1BEA0A334139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B047A6EB-8BFE-4D92-A09A-6A378DB6D0BF}" type="sibTrans" cxnId="{D7C1D7DB-C828-4402-B0C7-1BEA0A334139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D0747F0D-F9D4-466D-ADDC-2FF2649C8596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pPr algn="r"/>
          <a:r>
            <a:rPr lang="en-US" sz="1600" dirty="0">
              <a:latin typeface="Verdana" pitchFamily="34" charset="0"/>
            </a:rPr>
            <a:t>Types of disabilities</a:t>
          </a:r>
        </a:p>
      </dgm:t>
    </dgm:pt>
    <dgm:pt modelId="{704A50A0-8B46-47BE-BFCA-739FDAC96B14}" type="parTrans" cxnId="{9708F24A-6B53-41A5-861D-C1046FD809DC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F5EE7DA0-6CEF-4F35-9EFD-523BF84F9649}" type="sibTrans" cxnId="{9708F24A-6B53-41A5-861D-C1046FD809DC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E9E0BCD2-42E0-490A-BD53-9A5068422AD2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pPr algn="r"/>
          <a:r>
            <a:rPr lang="en-US" sz="1600" dirty="0">
              <a:latin typeface="Verdana" pitchFamily="34" charset="0"/>
            </a:rPr>
            <a:t>Designing for accessibility</a:t>
          </a:r>
        </a:p>
      </dgm:t>
    </dgm:pt>
    <dgm:pt modelId="{9F2204AD-F622-4ECD-A941-E5D47FC67CF7}" type="parTrans" cxnId="{1435271C-6C87-47A8-B427-4379AE494A19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04B4BE0A-E281-4CBC-9B10-7D24AE54C6BF}" type="sibTrans" cxnId="{1435271C-6C87-47A8-B427-4379AE494A19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52BD3B0B-D303-484D-9C28-A35C9176C8EE}">
      <dgm:prSet phldrT="[Text]" custT="1"/>
      <dgm:spPr/>
      <dgm:t>
        <a:bodyPr/>
        <a:lstStyle/>
        <a:p>
          <a:pPr algn="r"/>
          <a:r>
            <a:rPr lang="en-US" sz="1600" dirty="0">
              <a:latin typeface="Verdana" pitchFamily="34" charset="0"/>
            </a:rPr>
            <a:t>Cultural considerations</a:t>
          </a:r>
        </a:p>
      </dgm:t>
    </dgm:pt>
    <dgm:pt modelId="{89BE9886-8212-49EA-885A-7B11262CCE0F}" type="parTrans" cxnId="{CCA2A9DD-D639-4420-AB08-4EC64E2B4491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61C244CF-8795-42B7-8796-C72BA88B4B7C}" type="sibTrans" cxnId="{CCA2A9DD-D639-4420-AB08-4EC64E2B4491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6955FA81-16B4-4C97-8A11-1351D109AEEA}">
      <dgm:prSet phldrT="[Text]" custT="1"/>
      <dgm:spPr/>
      <dgm:t>
        <a:bodyPr/>
        <a:lstStyle/>
        <a:p>
          <a:pPr algn="r"/>
          <a:r>
            <a:rPr lang="en-US" sz="1600" dirty="0">
              <a:latin typeface="Verdana" pitchFamily="34" charset="0"/>
            </a:rPr>
            <a:t>Using images and symbols</a:t>
          </a:r>
        </a:p>
      </dgm:t>
    </dgm:pt>
    <dgm:pt modelId="{7C8EB2CE-2E3B-4E89-B0AB-257F862267C2}" type="parTrans" cxnId="{7C866C53-9800-41A1-961C-CC18F7036183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52BEB72B-9FBF-4C79-9925-22583D6D4626}" type="sibTrans" cxnId="{7C866C53-9800-41A1-961C-CC18F7036183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FD55CB2D-46D9-4ED9-AD7F-4199C4B9C2C3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pPr algn="r"/>
          <a:endParaRPr lang="en-US" sz="1600" dirty="0">
            <a:latin typeface="Verdana" pitchFamily="34" charset="0"/>
          </a:endParaRPr>
        </a:p>
      </dgm:t>
    </dgm:pt>
    <dgm:pt modelId="{490D5771-8BE9-48CA-882E-2F65D5FE44A6}" type="parTrans" cxnId="{7D25A7C4-D339-4841-8E84-2142CC6E34CB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8429AD15-77C9-4232-81E0-091BFF2BB3FD}" type="sibTrans" cxnId="{7D25A7C4-D339-4841-8E84-2142CC6E34CB}">
      <dgm:prSet/>
      <dgm:spPr/>
      <dgm:t>
        <a:bodyPr/>
        <a:lstStyle/>
        <a:p>
          <a:endParaRPr lang="en-US" sz="1400">
            <a:latin typeface="Verdana" pitchFamily="34" charset="0"/>
          </a:endParaRPr>
        </a:p>
      </dgm:t>
    </dgm:pt>
    <dgm:pt modelId="{97E48375-EF33-4274-A4CD-EAF6ABA12FE7}">
      <dgm:prSet phldrT="[Text]" custT="1"/>
      <dgm:spPr/>
      <dgm:t>
        <a:bodyPr/>
        <a:lstStyle/>
        <a:p>
          <a:pPr algn="r"/>
          <a:endParaRPr lang="en-US" sz="1100" dirty="0">
            <a:latin typeface="Verdana" pitchFamily="34" charset="0"/>
          </a:endParaRPr>
        </a:p>
      </dgm:t>
    </dgm:pt>
    <dgm:pt modelId="{80D5A17F-A0E8-4FD2-B8D1-6EEDB7AC38A8}" type="parTrans" cxnId="{B7A278DF-15B6-4F13-B989-F47C2F4FA2BC}">
      <dgm:prSet/>
      <dgm:spPr/>
      <dgm:t>
        <a:bodyPr/>
        <a:lstStyle/>
        <a:p>
          <a:endParaRPr lang="en-US"/>
        </a:p>
      </dgm:t>
    </dgm:pt>
    <dgm:pt modelId="{D126C5C8-6569-49CA-BB0D-9E3D673D92E2}" type="sibTrans" cxnId="{B7A278DF-15B6-4F13-B989-F47C2F4FA2BC}">
      <dgm:prSet/>
      <dgm:spPr/>
      <dgm:t>
        <a:bodyPr/>
        <a:lstStyle/>
        <a:p>
          <a:endParaRPr lang="en-US"/>
        </a:p>
      </dgm:t>
    </dgm:pt>
    <dgm:pt modelId="{F6BE98F8-EB6C-4973-A38E-6DA6FE9B2BDC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pPr algn="r"/>
          <a:endParaRPr lang="en-US" sz="1600" dirty="0">
            <a:latin typeface="Verdana" pitchFamily="34" charset="0"/>
          </a:endParaRPr>
        </a:p>
      </dgm:t>
    </dgm:pt>
    <dgm:pt modelId="{B903E586-71FE-4DB9-BAB0-D2F57CBD6484}" type="parTrans" cxnId="{6C7C0EB2-B338-45AB-AA07-9B8CC81628C2}">
      <dgm:prSet/>
      <dgm:spPr/>
      <dgm:t>
        <a:bodyPr/>
        <a:lstStyle/>
        <a:p>
          <a:endParaRPr lang="en-US"/>
        </a:p>
      </dgm:t>
    </dgm:pt>
    <dgm:pt modelId="{502851BC-57C9-4AE2-8E15-3421CF31978C}" type="sibTrans" cxnId="{6C7C0EB2-B338-45AB-AA07-9B8CC81628C2}">
      <dgm:prSet/>
      <dgm:spPr/>
      <dgm:t>
        <a:bodyPr/>
        <a:lstStyle/>
        <a:p>
          <a:endParaRPr lang="en-US"/>
        </a:p>
      </dgm:t>
    </dgm:pt>
    <dgm:pt modelId="{9FF4209F-0760-4D73-8541-3F6114FED2E7}" type="pres">
      <dgm:prSet presAssocID="{3D8FC84B-A62A-42AC-B142-A6F8CC4EA0A9}" presName="Name0" presStyleCnt="0">
        <dgm:presLayoutVars>
          <dgm:dir/>
          <dgm:animLvl val="lvl"/>
          <dgm:resizeHandles/>
        </dgm:presLayoutVars>
      </dgm:prSet>
      <dgm:spPr/>
    </dgm:pt>
    <dgm:pt modelId="{0AA3CD88-FFCA-48DD-9CC3-77FD7F8788D0}" type="pres">
      <dgm:prSet presAssocID="{9B0D369D-1E74-469D-967D-4CF9B15331DE}" presName="linNode" presStyleCnt="0"/>
      <dgm:spPr/>
    </dgm:pt>
    <dgm:pt modelId="{F8EFB0F8-313E-49CC-987E-8D720A76E675}" type="pres">
      <dgm:prSet presAssocID="{9B0D369D-1E74-469D-967D-4CF9B15331DE}" presName="parentShp" presStyleLbl="node1" presStyleIdx="0" presStyleCnt="2">
        <dgm:presLayoutVars>
          <dgm:bulletEnabled val="1"/>
        </dgm:presLayoutVars>
      </dgm:prSet>
      <dgm:spPr/>
    </dgm:pt>
    <dgm:pt modelId="{B07B380C-8369-4226-B7CD-EC6507A92D36}" type="pres">
      <dgm:prSet presAssocID="{9B0D369D-1E74-469D-967D-4CF9B15331DE}" presName="childShp" presStyleLbl="bgAccFollowNode1" presStyleIdx="0" presStyleCnt="2">
        <dgm:presLayoutVars>
          <dgm:bulletEnabled val="1"/>
        </dgm:presLayoutVars>
      </dgm:prSet>
      <dgm:spPr/>
    </dgm:pt>
    <dgm:pt modelId="{90737A8A-B0B9-469C-A41A-EA3AB2CEF0A9}" type="pres">
      <dgm:prSet presAssocID="{B83AE704-0CCD-4D5E-99F7-68F9541AA5C3}" presName="spacing" presStyleCnt="0"/>
      <dgm:spPr/>
    </dgm:pt>
    <dgm:pt modelId="{B5AFD6F8-5765-4119-B252-795BF2A39F67}" type="pres">
      <dgm:prSet presAssocID="{3DC4561E-58AC-47DB-A8E6-5326CDC48059}" presName="linNode" presStyleCnt="0"/>
      <dgm:spPr/>
    </dgm:pt>
    <dgm:pt modelId="{9D782BD9-AD55-492A-AA80-4E328AA633F9}" type="pres">
      <dgm:prSet presAssocID="{3DC4561E-58AC-47DB-A8E6-5326CDC48059}" presName="parentShp" presStyleLbl="node1" presStyleIdx="1" presStyleCnt="2">
        <dgm:presLayoutVars>
          <dgm:bulletEnabled val="1"/>
        </dgm:presLayoutVars>
      </dgm:prSet>
      <dgm:spPr/>
    </dgm:pt>
    <dgm:pt modelId="{BB0D33F1-525C-4D9F-8CB3-F41F5A4AA881}" type="pres">
      <dgm:prSet presAssocID="{3DC4561E-58AC-47DB-A8E6-5326CDC48059}" presName="childShp" presStyleLbl="bgAccFollowNode1" presStyleIdx="1" presStyleCnt="2" custLinFactNeighborX="4598" custLinFactNeighborY="23513">
        <dgm:presLayoutVars>
          <dgm:bulletEnabled val="1"/>
        </dgm:presLayoutVars>
      </dgm:prSet>
      <dgm:spPr/>
    </dgm:pt>
  </dgm:ptLst>
  <dgm:cxnLst>
    <dgm:cxn modelId="{906F4F0A-168D-46F9-9FB8-A74A64C07738}" type="presOf" srcId="{E9E0BCD2-42E0-490A-BD53-9A5068422AD2}" destId="{BB0D33F1-525C-4D9F-8CB3-F41F5A4AA881}" srcOrd="0" destOrd="3" presId="urn:microsoft.com/office/officeart/2005/8/layout/vList6"/>
    <dgm:cxn modelId="{1435271C-6C87-47A8-B427-4379AE494A19}" srcId="{3DC4561E-58AC-47DB-A8E6-5326CDC48059}" destId="{E9E0BCD2-42E0-490A-BD53-9A5068422AD2}" srcOrd="3" destOrd="0" parTransId="{9F2204AD-F622-4ECD-A941-E5D47FC67CF7}" sibTransId="{04B4BE0A-E281-4CBC-9B10-7D24AE54C6BF}"/>
    <dgm:cxn modelId="{FB4DE824-1460-4954-A199-07FE9342ABA3}" type="presOf" srcId="{97E48375-EF33-4274-A4CD-EAF6ABA12FE7}" destId="{B07B380C-8369-4226-B7CD-EC6507A92D36}" srcOrd="0" destOrd="0" presId="urn:microsoft.com/office/officeart/2005/8/layout/vList6"/>
    <dgm:cxn modelId="{4A5E3F27-1868-4187-867C-5D43C8F70701}" srcId="{9B0D369D-1E74-469D-967D-4CF9B15331DE}" destId="{A5D2BED8-9FF4-49BB-9ABA-7E390B260FA7}" srcOrd="3" destOrd="0" parTransId="{C21995EC-816C-430E-A74B-5C437638E8E6}" sibTransId="{9B269724-5A16-4A86-88E7-5D8BC2B4A858}"/>
    <dgm:cxn modelId="{9E992840-980D-46B7-851D-D4994BCFC68E}" type="presOf" srcId="{D0747F0D-F9D4-466D-ADDC-2FF2649C8596}" destId="{BB0D33F1-525C-4D9F-8CB3-F41F5A4AA881}" srcOrd="0" destOrd="2" presId="urn:microsoft.com/office/officeart/2005/8/layout/vList6"/>
    <dgm:cxn modelId="{9708F24A-6B53-41A5-861D-C1046FD809DC}" srcId="{3DC4561E-58AC-47DB-A8E6-5326CDC48059}" destId="{D0747F0D-F9D4-466D-ADDC-2FF2649C8596}" srcOrd="2" destOrd="0" parTransId="{704A50A0-8B46-47BE-BFCA-739FDAC96B14}" sibTransId="{F5EE7DA0-6CEF-4F35-9EFD-523BF84F9649}"/>
    <dgm:cxn modelId="{15E70471-C2FF-49F4-A88C-D1A1776A2A9F}" srcId="{3D8FC84B-A62A-42AC-B142-A6F8CC4EA0A9}" destId="{9B0D369D-1E74-469D-967D-4CF9B15331DE}" srcOrd="0" destOrd="0" parTransId="{BD4B5B73-0090-4B9D-B21A-F934640C7052}" sibTransId="{B83AE704-0CCD-4D5E-99F7-68F9541AA5C3}"/>
    <dgm:cxn modelId="{7C866C53-9800-41A1-961C-CC18F7036183}" srcId="{9B0D369D-1E74-469D-967D-4CF9B15331DE}" destId="{6955FA81-16B4-4C97-8A11-1351D109AEEA}" srcOrd="4" destOrd="0" parTransId="{7C8EB2CE-2E3B-4E89-B0AB-257F862267C2}" sibTransId="{52BEB72B-9FBF-4C79-9925-22583D6D4626}"/>
    <dgm:cxn modelId="{FCA27757-148B-4F31-BA20-BE073AE08398}" type="presOf" srcId="{FD55CB2D-46D9-4ED9-AD7F-4199C4B9C2C3}" destId="{BB0D33F1-525C-4D9F-8CB3-F41F5A4AA881}" srcOrd="0" destOrd="0" presId="urn:microsoft.com/office/officeart/2005/8/layout/vList6"/>
    <dgm:cxn modelId="{B3B20189-E919-475A-B0DA-53AA16F390EB}" srcId="{9B0D369D-1E74-469D-967D-4CF9B15331DE}" destId="{EE21F14D-AACF-4349-9C3C-6E535707BA93}" srcOrd="1" destOrd="0" parTransId="{662AFA2B-6CD2-4F78-B449-022D1A12B4F8}" sibTransId="{B43B8CC5-BCA5-43E1-8091-F6642B55AB73}"/>
    <dgm:cxn modelId="{ACA67594-F1BE-401A-BFEB-03EC462E1FF4}" type="presOf" srcId="{3D8FC84B-A62A-42AC-B142-A6F8CC4EA0A9}" destId="{9FF4209F-0760-4D73-8541-3F6114FED2E7}" srcOrd="0" destOrd="0" presId="urn:microsoft.com/office/officeart/2005/8/layout/vList6"/>
    <dgm:cxn modelId="{73C87E9E-BDC6-43D8-BE18-6A3158CA1E4E}" type="presOf" srcId="{6955FA81-16B4-4C97-8A11-1351D109AEEA}" destId="{B07B380C-8369-4226-B7CD-EC6507A92D36}" srcOrd="0" destOrd="4" presId="urn:microsoft.com/office/officeart/2005/8/layout/vList6"/>
    <dgm:cxn modelId="{5F4FFDA6-8559-4C39-9F87-B76B6FBE820F}" type="presOf" srcId="{9B0D369D-1E74-469D-967D-4CF9B15331DE}" destId="{F8EFB0F8-313E-49CC-987E-8D720A76E675}" srcOrd="0" destOrd="0" presId="urn:microsoft.com/office/officeart/2005/8/layout/vList6"/>
    <dgm:cxn modelId="{6C7C0EB2-B338-45AB-AA07-9B8CC81628C2}" srcId="{3DC4561E-58AC-47DB-A8E6-5326CDC48059}" destId="{F6BE98F8-EB6C-4973-A38E-6DA6FE9B2BDC}" srcOrd="1" destOrd="0" parTransId="{B903E586-71FE-4DB9-BAB0-D2F57CBD6484}" sibTransId="{502851BC-57C9-4AE2-8E15-3421CF31978C}"/>
    <dgm:cxn modelId="{580657BF-3208-4E00-B094-EA028A849C95}" type="presOf" srcId="{52BD3B0B-D303-484D-9C28-A35C9176C8EE}" destId="{B07B380C-8369-4226-B7CD-EC6507A92D36}" srcOrd="0" destOrd="2" presId="urn:microsoft.com/office/officeart/2005/8/layout/vList6"/>
    <dgm:cxn modelId="{7D25A7C4-D339-4841-8E84-2142CC6E34CB}" srcId="{3DC4561E-58AC-47DB-A8E6-5326CDC48059}" destId="{FD55CB2D-46D9-4ED9-AD7F-4199C4B9C2C3}" srcOrd="0" destOrd="0" parTransId="{490D5771-8BE9-48CA-882E-2F65D5FE44A6}" sibTransId="{8429AD15-77C9-4232-81E0-091BFF2BB3FD}"/>
    <dgm:cxn modelId="{D7C1D7DB-C828-4402-B0C7-1BEA0A334139}" srcId="{3D8FC84B-A62A-42AC-B142-A6F8CC4EA0A9}" destId="{3DC4561E-58AC-47DB-A8E6-5326CDC48059}" srcOrd="1" destOrd="0" parTransId="{52D3CE38-8B0B-4F91-B05B-5590166D2586}" sibTransId="{B047A6EB-8BFE-4D92-A09A-6A378DB6D0BF}"/>
    <dgm:cxn modelId="{CCA2A9DD-D639-4420-AB08-4EC64E2B4491}" srcId="{9B0D369D-1E74-469D-967D-4CF9B15331DE}" destId="{52BD3B0B-D303-484D-9C28-A35C9176C8EE}" srcOrd="2" destOrd="0" parTransId="{89BE9886-8212-49EA-885A-7B11262CCE0F}" sibTransId="{61C244CF-8795-42B7-8796-C72BA88B4B7C}"/>
    <dgm:cxn modelId="{B7A278DF-15B6-4F13-B989-F47C2F4FA2BC}" srcId="{9B0D369D-1E74-469D-967D-4CF9B15331DE}" destId="{97E48375-EF33-4274-A4CD-EAF6ABA12FE7}" srcOrd="0" destOrd="0" parTransId="{80D5A17F-A0E8-4FD2-B8D1-6EEDB7AC38A8}" sibTransId="{D126C5C8-6569-49CA-BB0D-9E3D673D92E2}"/>
    <dgm:cxn modelId="{56F865F1-C599-4374-80FF-EEF66CE463DD}" type="presOf" srcId="{EE21F14D-AACF-4349-9C3C-6E535707BA93}" destId="{B07B380C-8369-4226-B7CD-EC6507A92D36}" srcOrd="0" destOrd="1" presId="urn:microsoft.com/office/officeart/2005/8/layout/vList6"/>
    <dgm:cxn modelId="{2FD9E8F4-1D0D-4331-B0CB-D1AF54B2F477}" type="presOf" srcId="{A5D2BED8-9FF4-49BB-9ABA-7E390B260FA7}" destId="{B07B380C-8369-4226-B7CD-EC6507A92D36}" srcOrd="0" destOrd="3" presId="urn:microsoft.com/office/officeart/2005/8/layout/vList6"/>
    <dgm:cxn modelId="{59B8BBF8-988C-47F9-87F1-690B90CDA1EB}" type="presOf" srcId="{F6BE98F8-EB6C-4973-A38E-6DA6FE9B2BDC}" destId="{BB0D33F1-525C-4D9F-8CB3-F41F5A4AA881}" srcOrd="0" destOrd="1" presId="urn:microsoft.com/office/officeart/2005/8/layout/vList6"/>
    <dgm:cxn modelId="{73B8BCFC-EAF1-45C3-AFD2-876BCF6EC98C}" type="presOf" srcId="{3DC4561E-58AC-47DB-A8E6-5326CDC48059}" destId="{9D782BD9-AD55-492A-AA80-4E328AA633F9}" srcOrd="0" destOrd="0" presId="urn:microsoft.com/office/officeart/2005/8/layout/vList6"/>
    <dgm:cxn modelId="{26835715-CBC7-40AF-BDA2-30E04EC9D73C}" type="presParOf" srcId="{9FF4209F-0760-4D73-8541-3F6114FED2E7}" destId="{0AA3CD88-FFCA-48DD-9CC3-77FD7F8788D0}" srcOrd="0" destOrd="0" presId="urn:microsoft.com/office/officeart/2005/8/layout/vList6"/>
    <dgm:cxn modelId="{ED68A5FE-1D82-4B43-8F90-EB30B1219B0B}" type="presParOf" srcId="{0AA3CD88-FFCA-48DD-9CC3-77FD7F8788D0}" destId="{F8EFB0F8-313E-49CC-987E-8D720A76E675}" srcOrd="0" destOrd="0" presId="urn:microsoft.com/office/officeart/2005/8/layout/vList6"/>
    <dgm:cxn modelId="{B366A933-06C5-4BC3-A879-2F2523974FDC}" type="presParOf" srcId="{0AA3CD88-FFCA-48DD-9CC3-77FD7F8788D0}" destId="{B07B380C-8369-4226-B7CD-EC6507A92D36}" srcOrd="1" destOrd="0" presId="urn:microsoft.com/office/officeart/2005/8/layout/vList6"/>
    <dgm:cxn modelId="{6098DEDE-1456-4530-8CF1-D878AE6DA0BE}" type="presParOf" srcId="{9FF4209F-0760-4D73-8541-3F6114FED2E7}" destId="{90737A8A-B0B9-469C-A41A-EA3AB2CEF0A9}" srcOrd="1" destOrd="0" presId="urn:microsoft.com/office/officeart/2005/8/layout/vList6"/>
    <dgm:cxn modelId="{B70A1283-9406-45B5-AFE0-2CC1BC9E5621}" type="presParOf" srcId="{9FF4209F-0760-4D73-8541-3F6114FED2E7}" destId="{B5AFD6F8-5765-4119-B252-795BF2A39F67}" srcOrd="2" destOrd="0" presId="urn:microsoft.com/office/officeart/2005/8/layout/vList6"/>
    <dgm:cxn modelId="{8BCE65F0-CD55-4F37-B240-FFFC04BB9124}" type="presParOf" srcId="{B5AFD6F8-5765-4119-B252-795BF2A39F67}" destId="{9D782BD9-AD55-492A-AA80-4E328AA633F9}" srcOrd="0" destOrd="0" presId="urn:microsoft.com/office/officeart/2005/8/layout/vList6"/>
    <dgm:cxn modelId="{D28D4CFC-504A-4B30-B6CD-CA63BF9D8338}" type="presParOf" srcId="{B5AFD6F8-5765-4119-B252-795BF2A39F67}" destId="{BB0D33F1-525C-4D9F-8CB3-F41F5A4AA881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B380C-8369-4226-B7CD-EC6507A92D36}">
      <dsp:nvSpPr>
        <dsp:cNvPr id="0" name=""/>
        <dsp:cNvSpPr/>
      </dsp:nvSpPr>
      <dsp:spPr>
        <a:xfrm>
          <a:off x="3036326" y="446"/>
          <a:ext cx="4554489" cy="1741289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t" anchorCtr="0">
          <a:noAutofit/>
        </a:bodyPr>
        <a:lstStyle/>
        <a:p>
          <a:pPr marL="57150" lvl="1" indent="-57150" algn="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 dirty="0">
            <a:latin typeface="Verdana" pitchFamily="34" charset="0"/>
          </a:endParaRPr>
        </a:p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Verdana" pitchFamily="34" charset="0"/>
            </a:rPr>
            <a:t>Localization</a:t>
          </a:r>
        </a:p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Verdana" pitchFamily="34" charset="0"/>
            </a:rPr>
            <a:t>Cultural considerations</a:t>
          </a:r>
        </a:p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Verdana" pitchFamily="34" charset="0"/>
            </a:rPr>
            <a:t>Writing text</a:t>
          </a:r>
        </a:p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Verdana" pitchFamily="34" charset="0"/>
            </a:rPr>
            <a:t>Using images and symbols</a:t>
          </a:r>
        </a:p>
      </dsp:txBody>
      <dsp:txXfrm>
        <a:off x="3036326" y="218107"/>
        <a:ext cx="3901506" cy="1305967"/>
      </dsp:txXfrm>
    </dsp:sp>
    <dsp:sp modelId="{F8EFB0F8-313E-49CC-987E-8D720A76E675}">
      <dsp:nvSpPr>
        <dsp:cNvPr id="0" name=""/>
        <dsp:cNvSpPr/>
      </dsp:nvSpPr>
      <dsp:spPr>
        <a:xfrm>
          <a:off x="0" y="446"/>
          <a:ext cx="3036326" cy="1741289"/>
        </a:xfrm>
        <a:prstGeom prst="roundRect">
          <a:avLst/>
        </a:prstGeom>
        <a:solidFill>
          <a:srgbClr val="00B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Verdana" pitchFamily="34" charset="0"/>
            </a:rPr>
            <a:t>International considerations</a:t>
          </a:r>
        </a:p>
      </dsp:txBody>
      <dsp:txXfrm>
        <a:off x="85003" y="85449"/>
        <a:ext cx="2866320" cy="1571283"/>
      </dsp:txXfrm>
    </dsp:sp>
    <dsp:sp modelId="{BB0D33F1-525C-4D9F-8CB3-F41F5A4AA881}">
      <dsp:nvSpPr>
        <dsp:cNvPr id="0" name=""/>
        <dsp:cNvSpPr/>
      </dsp:nvSpPr>
      <dsp:spPr>
        <a:xfrm>
          <a:off x="3036326" y="1916310"/>
          <a:ext cx="4554489" cy="1741289"/>
        </a:xfrm>
        <a:prstGeom prst="rightArrow">
          <a:avLst>
            <a:gd name="adj1" fmla="val 75000"/>
            <a:gd name="adj2" fmla="val 50000"/>
          </a:avLst>
        </a:prstGeom>
        <a:solidFill>
          <a:schemeClr val="bg1">
            <a:lumMod val="95000"/>
            <a:alpha val="9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latin typeface="Verdana" pitchFamily="34" charset="0"/>
          </a:endParaRPr>
        </a:p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latin typeface="Verdana" pitchFamily="34" charset="0"/>
          </a:endParaRPr>
        </a:p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Verdana" pitchFamily="34" charset="0"/>
            </a:rPr>
            <a:t>Types of disabilities</a:t>
          </a:r>
        </a:p>
        <a:p>
          <a:pPr marL="171450" lvl="1" indent="-171450" algn="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Verdana" pitchFamily="34" charset="0"/>
            </a:rPr>
            <a:t>Designing for accessibility</a:t>
          </a:r>
        </a:p>
      </dsp:txBody>
      <dsp:txXfrm>
        <a:off x="3036326" y="2133971"/>
        <a:ext cx="3901506" cy="1305967"/>
      </dsp:txXfrm>
    </dsp:sp>
    <dsp:sp modelId="{9D782BD9-AD55-492A-AA80-4E328AA633F9}">
      <dsp:nvSpPr>
        <dsp:cNvPr id="0" name=""/>
        <dsp:cNvSpPr/>
      </dsp:nvSpPr>
      <dsp:spPr>
        <a:xfrm>
          <a:off x="0" y="1915864"/>
          <a:ext cx="3036326" cy="1741289"/>
        </a:xfrm>
        <a:prstGeom prst="round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Verdana" pitchFamily="34" charset="0"/>
            </a:rPr>
            <a:t>Accessibility considerations</a:t>
          </a:r>
        </a:p>
      </dsp:txBody>
      <dsp:txXfrm>
        <a:off x="85003" y="2000867"/>
        <a:ext cx="2866320" cy="1571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B9219-4A66-4B41-AFAD-B4DCC55121D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9D96-90C2-44B4-8DCF-3216EB4C3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85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6F5A-DA36-4202-8F3F-DA89D043191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BABC4-D3F8-4FEC-A081-17F891AA9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49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4B1341C3-4CDA-44FA-82DD-700EE3E0E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4D38496E-7B3D-4325-9A45-DFF0D575F3DF}" type="slidenum">
              <a:rPr lang="en-US" altLang="en-US"/>
              <a:pPr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1BCCAA1-9315-4FB2-99E0-BD43E43B94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ACF5319A-F694-415B-AB5C-EAA1F67BC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4861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832D1CD2-C738-4E83-B744-FF04502B81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2C9B54CA-6188-4715-94D0-876F039C5CA1}" type="slidenum">
              <a:rPr lang="en-US" altLang="en-US"/>
              <a:pPr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8CC733CA-434E-45F3-82F2-FEEA2A5C52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C63E6EAF-7AA6-4850-BC3D-D05AD628D2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63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8AAC31FD-222D-4FC2-B746-8162DC339C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A6F358F2-404D-4BBB-8B26-F26E8B7F4AFE}" type="slidenum">
              <a:rPr lang="en-US" altLang="en-US"/>
              <a:pPr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763040F-80EF-4919-85A6-7432BB548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7162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F2391797-79EF-43EF-8F16-E058456023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FCF2BE6E-4950-4918-9E5D-8EBE019170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61DEADF8-1FC3-4BC3-8AAC-6BB4EFFE0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461ABAF-01DC-4B52-8436-B2F248D17A12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412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FD6598-5F9B-429E-B045-3F1B4E4F847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27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Too many, confusing</a:t>
            </a:r>
          </a:p>
          <a:p>
            <a:r>
              <a:rPr lang="en-US" dirty="0" err="1"/>
              <a:t>Smua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 err="1">
                <a:sym typeface="Wingdings" pitchFamily="2" charset="2"/>
              </a:rPr>
              <a:t>seharusnya</a:t>
            </a:r>
            <a:r>
              <a:rPr lang="en-US" dirty="0">
                <a:sym typeface="Wingdings" pitchFamily="2" charset="2"/>
              </a:rPr>
              <a:t> yang </a:t>
            </a:r>
            <a:r>
              <a:rPr lang="en-US" dirty="0" err="1">
                <a:sym typeface="Wingdings" pitchFamily="2" charset="2"/>
              </a:rPr>
              <a:t>ditampilkan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adalah</a:t>
            </a:r>
            <a:r>
              <a:rPr lang="en-US" dirty="0">
                <a:sym typeface="Wingdings" pitchFamily="2" charset="2"/>
              </a:rPr>
              <a:t> yang </a:t>
            </a:r>
            <a:r>
              <a:rPr lang="en-US" dirty="0" err="1">
                <a:sym typeface="Wingdings" pitchFamily="2" charset="2"/>
              </a:rPr>
              <a:t>dibutuhkan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saja</a:t>
            </a:r>
            <a:endParaRPr lang="en-US" dirty="0">
              <a:sym typeface="Wingdings" pitchFamily="2" charset="2"/>
            </a:endParaRPr>
          </a:p>
          <a:p>
            <a:r>
              <a:rPr lang="en-US" dirty="0" err="1">
                <a:sym typeface="Wingdings" pitchFamily="2" charset="2"/>
              </a:rPr>
              <a:t>Letak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fungsi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tidak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dikelompokkan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sesuai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domainnya</a:t>
            </a:r>
            <a:r>
              <a:rPr lang="en-US" dirty="0">
                <a:sym typeface="Wingdings" pitchFamily="2" charset="2"/>
              </a:rPr>
              <a:t>…. </a:t>
            </a:r>
          </a:p>
          <a:p>
            <a:r>
              <a:rPr lang="en-US" dirty="0">
                <a:sym typeface="Wingdings" pitchFamily="2" charset="2"/>
              </a:rPr>
              <a:t>Area</a:t>
            </a:r>
            <a:r>
              <a:rPr lang="en-US" baseline="0" dirty="0">
                <a:sym typeface="Wingdings" pitchFamily="2" charset="2"/>
              </a:rPr>
              <a:t> </a:t>
            </a:r>
            <a:r>
              <a:rPr lang="en-US" baseline="0" dirty="0" err="1">
                <a:sym typeface="Wingdings" pitchFamily="2" charset="2"/>
              </a:rPr>
              <a:t>kerja</a:t>
            </a:r>
            <a:r>
              <a:rPr lang="en-US" baseline="0" dirty="0">
                <a:sym typeface="Wingdings" pitchFamily="2" charset="2"/>
              </a:rPr>
              <a:t> </a:t>
            </a:r>
            <a:r>
              <a:rPr lang="en-US" baseline="0" dirty="0" err="1">
                <a:sym typeface="Wingdings" pitchFamily="2" charset="2"/>
              </a:rPr>
              <a:t>jadi</a:t>
            </a:r>
            <a:r>
              <a:rPr lang="en-US" baseline="0" dirty="0">
                <a:sym typeface="Wingdings" pitchFamily="2" charset="2"/>
              </a:rPr>
              <a:t> </a:t>
            </a:r>
            <a:r>
              <a:rPr lang="en-US" baseline="0" dirty="0" err="1">
                <a:sym typeface="Wingdings" pitchFamily="2" charset="2"/>
              </a:rPr>
              <a:t>terbatas</a:t>
            </a:r>
            <a:r>
              <a:rPr lang="en-US" baseline="0" dirty="0">
                <a:sym typeface="Wingdings" pitchFamily="2" charset="2"/>
              </a:rPr>
              <a:t>….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2A14AE-973D-49EB-81AA-0987ABEC494A}" type="slidenum">
              <a:rPr lang="id-ID" smtClean="0"/>
              <a:pPr/>
              <a:t>47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5213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4421299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rot="10800000" flipH="1">
            <a:off x="0" y="5074921"/>
            <a:ext cx="12192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6096000" y="6528817"/>
            <a:ext cx="6126480" cy="658366"/>
            <a:chOff x="6566098" y="6529395"/>
            <a:chExt cx="5625902" cy="658365"/>
          </a:xfrm>
        </p:grpSpPr>
        <p:sp>
          <p:nvSpPr>
            <p:cNvPr id="14" name="Google Shape;14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 flipH="1">
            <a:off x="0" y="6527465"/>
            <a:ext cx="6126480" cy="658366"/>
            <a:chOff x="6566098" y="6529395"/>
            <a:chExt cx="5625902" cy="658365"/>
          </a:xfrm>
        </p:grpSpPr>
        <p:sp>
          <p:nvSpPr>
            <p:cNvPr id="17" name="Google Shape;17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4710545" y="1702118"/>
            <a:ext cx="6997585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4710545" y="3468456"/>
            <a:ext cx="6997585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1" name="Google Shape;21;p2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973" y="223037"/>
            <a:ext cx="1009523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"/>
          <p:cNvGrpSpPr/>
          <p:nvPr/>
        </p:nvGrpSpPr>
        <p:grpSpPr>
          <a:xfrm>
            <a:off x="9095085" y="113327"/>
            <a:ext cx="2709943" cy="503420"/>
            <a:chOff x="9320766" y="88308"/>
            <a:chExt cx="2709943" cy="503420"/>
          </a:xfrm>
        </p:grpSpPr>
        <p:pic>
          <p:nvPicPr>
            <p:cNvPr id="23" name="Google Shape;23;p2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Google Shape;25;p2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2717" y="154187"/>
            <a:ext cx="19304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4421300" y="126998"/>
            <a:ext cx="3416617" cy="498680"/>
            <a:chOff x="4421298" y="126998"/>
            <a:chExt cx="3416617" cy="498680"/>
          </a:xfrm>
        </p:grpSpPr>
        <p:sp>
          <p:nvSpPr>
            <p:cNvPr id="27" name="Google Shape;27;p2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95061" y="6116054"/>
            <a:ext cx="6468417" cy="323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8796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0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1550147" y="6465527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3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329" y="102872"/>
            <a:ext cx="2072555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10717985" y="104158"/>
            <a:ext cx="1347135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294489" y="1140498"/>
            <a:ext cx="5619127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7" name="Google Shape;37;p3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4677743" y="1427758"/>
            <a:ext cx="2836515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11550147" y="6541115"/>
            <a:ext cx="5031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10612581" y="580608"/>
            <a:ext cx="1524003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2"/>
          </p:nvPr>
        </p:nvSpPr>
        <p:spPr>
          <a:xfrm>
            <a:off x="6241442" y="1132253"/>
            <a:ext cx="5619127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603" y="6509218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63965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4421299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 rot="10800000" flipH="1">
            <a:off x="0" y="5074921"/>
            <a:ext cx="12192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45" name="Google Shape;45;p4"/>
          <p:cNvGrpSpPr/>
          <p:nvPr/>
        </p:nvGrpSpPr>
        <p:grpSpPr>
          <a:xfrm>
            <a:off x="6096002" y="6528817"/>
            <a:ext cx="6126479" cy="658366"/>
            <a:chOff x="6566098" y="6529395"/>
            <a:chExt cx="5625901" cy="658365"/>
          </a:xfrm>
        </p:grpSpPr>
        <p:sp>
          <p:nvSpPr>
            <p:cNvPr id="46" name="Google Shape;46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870700" y="6529395"/>
              <a:ext cx="5321299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 flipH="1">
            <a:off x="0" y="6527465"/>
            <a:ext cx="6126480" cy="658366"/>
            <a:chOff x="6566098" y="6529395"/>
            <a:chExt cx="5625902" cy="658365"/>
          </a:xfrm>
        </p:grpSpPr>
        <p:sp>
          <p:nvSpPr>
            <p:cNvPr id="49" name="Google Shape;49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51" name="Google Shape;51;p4"/>
          <p:cNvSpPr txBox="1">
            <a:spLocks noGrp="1"/>
          </p:cNvSpPr>
          <p:nvPr>
            <p:ph type="ctrTitle"/>
          </p:nvPr>
        </p:nvSpPr>
        <p:spPr>
          <a:xfrm>
            <a:off x="4710545" y="1702118"/>
            <a:ext cx="6997585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ubTitle" idx="1"/>
          </p:nvPr>
        </p:nvSpPr>
        <p:spPr>
          <a:xfrm>
            <a:off x="4710545" y="3468456"/>
            <a:ext cx="6997585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3" name="Google Shape;53;p4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973" y="223037"/>
            <a:ext cx="1009523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4"/>
          <p:cNvGrpSpPr/>
          <p:nvPr/>
        </p:nvGrpSpPr>
        <p:grpSpPr>
          <a:xfrm>
            <a:off x="9095085" y="113327"/>
            <a:ext cx="2709943" cy="503420"/>
            <a:chOff x="9320766" y="88308"/>
            <a:chExt cx="2709943" cy="503420"/>
          </a:xfrm>
        </p:grpSpPr>
        <p:pic>
          <p:nvPicPr>
            <p:cNvPr id="55" name="Google Shape;55;p4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4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4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2717" y="154187"/>
            <a:ext cx="19304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>
            <a:off x="4421300" y="126998"/>
            <a:ext cx="3416617" cy="498680"/>
            <a:chOff x="4421298" y="126998"/>
            <a:chExt cx="3416617" cy="498680"/>
          </a:xfrm>
        </p:grpSpPr>
        <p:sp>
          <p:nvSpPr>
            <p:cNvPr id="59" name="Google Shape;59;p4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" name="Google Shape;60;p4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" name="Google Shape;61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37891" y="6149139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8095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1550147" y="6465527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329" y="102872"/>
            <a:ext cx="2072555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10717985" y="104158"/>
            <a:ext cx="1347135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294488" y="1140498"/>
            <a:ext cx="1160887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9" name="Google Shape;69;p5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4677743" y="1427758"/>
            <a:ext cx="2836515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11550147" y="6541115"/>
            <a:ext cx="5031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10612581" y="580608"/>
            <a:ext cx="1524003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603" y="6509218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4676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1550147" y="6465527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6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329" y="102872"/>
            <a:ext cx="2072555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10717985" y="104158"/>
            <a:ext cx="1347135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9" name="Google Shape;79;p6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4696215" y="1427758"/>
            <a:ext cx="2836515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11550147" y="6541115"/>
            <a:ext cx="5031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0612581" y="580608"/>
            <a:ext cx="1524003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297914" y="1060993"/>
            <a:ext cx="3658135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3" name="Google Shape;83;p6"/>
          <p:cNvCxnSpPr/>
          <p:nvPr/>
        </p:nvCxnSpPr>
        <p:spPr>
          <a:xfrm>
            <a:off x="4096844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6"/>
          <p:cNvCxnSpPr/>
          <p:nvPr/>
        </p:nvCxnSpPr>
        <p:spPr>
          <a:xfrm>
            <a:off x="8032852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4235782" y="1050049"/>
            <a:ext cx="3658135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3"/>
          </p:nvPr>
        </p:nvSpPr>
        <p:spPr>
          <a:xfrm>
            <a:off x="8173650" y="1039103"/>
            <a:ext cx="3658135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603" y="6509218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38931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1550147" y="6465527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7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329" y="102872"/>
            <a:ext cx="2072555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10717985" y="104158"/>
            <a:ext cx="1347135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4" name="Google Shape;94;p7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4677743" y="1427758"/>
            <a:ext cx="2836515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11550147" y="6541115"/>
            <a:ext cx="50317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10612581" y="580608"/>
            <a:ext cx="1524003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3603" y="6498585"/>
            <a:ext cx="6467820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74193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46245" y="1269243"/>
            <a:ext cx="10545755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46245" y="2227425"/>
            <a:ext cx="10545755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646245" y="2875085"/>
            <a:ext cx="10557363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063C33D-CDEA-4FD3-AADF-94BB3660F6D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6482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87680" y="2009550"/>
            <a:ext cx="11101917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40539-5CC2-4927-93A4-C700B44AE9D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1"/>
            <a:ext cx="12192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7224218" y="6451601"/>
            <a:ext cx="4421037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CSG2C3 –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Dan </a:t>
            </a:r>
            <a:r>
              <a:rPr lang="en-US" dirty="0" err="1"/>
              <a:t>Komputer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5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25242-6D21-4977-ADF1-71A29A9DCB9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1"/>
            <a:ext cx="12192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7224218" y="6451601"/>
            <a:ext cx="4421037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CSG2C3 –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Dan </a:t>
            </a:r>
            <a:r>
              <a:rPr lang="en-US" dirty="0" err="1"/>
              <a:t>Komputer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5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499769" y="2009551"/>
            <a:ext cx="5380567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6318485" y="2009551"/>
            <a:ext cx="5380567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1CF8B-ED23-44A6-ADB6-28C8CD5F649F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1"/>
            <a:ext cx="12192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33" y="1336418"/>
            <a:ext cx="11212217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7224218" y="6451601"/>
            <a:ext cx="4421037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CSG2C3 –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Dan </a:t>
            </a:r>
            <a:r>
              <a:rPr lang="en-US" dirty="0" err="1"/>
              <a:t>Komputer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4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1EA35-1154-4B76-A8A5-F29002D79682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DED-FD06-4DCF-92DC-B121ECCF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5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20800" y="6402654"/>
            <a:ext cx="1117600" cy="365125"/>
          </a:xfrm>
        </p:spPr>
        <p:txBody>
          <a:bodyPr/>
          <a:lstStyle/>
          <a:p>
            <a:fld id="{A06D98EB-49D6-4F67-95C4-D8766E6112A7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6833" y="6402653"/>
            <a:ext cx="683517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7150780" y="6402652"/>
            <a:ext cx="4421037" cy="365125"/>
          </a:xfrm>
        </p:spPr>
        <p:txBody>
          <a:bodyPr anchor="ctr"/>
          <a:lstStyle>
            <a:lvl1pPr marL="0" indent="0" algn="r">
              <a:buFontTx/>
              <a:buNone/>
              <a:defRPr sz="788">
                <a:solidFill>
                  <a:schemeClr val="bg1"/>
                </a:solidFill>
              </a:defRPr>
            </a:lvl1pPr>
            <a:lvl2pPr>
              <a:defRPr sz="788">
                <a:solidFill>
                  <a:schemeClr val="bg1"/>
                </a:solidFill>
              </a:defRPr>
            </a:lvl2pPr>
            <a:lvl3pPr>
              <a:defRPr sz="788">
                <a:solidFill>
                  <a:schemeClr val="bg1"/>
                </a:solidFill>
              </a:defRPr>
            </a:lvl3pPr>
            <a:lvl4pPr>
              <a:defRPr sz="788">
                <a:solidFill>
                  <a:schemeClr val="bg1"/>
                </a:solidFill>
              </a:defRPr>
            </a:lvl4pPr>
            <a:lvl5pPr>
              <a:defRPr sz="788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497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579398" y="4489332"/>
            <a:ext cx="11101917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5400" dirty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652" y="4670968"/>
            <a:ext cx="12189231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/>
        </p:blipFill>
        <p:spPr bwMode="auto">
          <a:xfrm>
            <a:off x="-3421" y="1"/>
            <a:ext cx="12192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56" y="142947"/>
            <a:ext cx="4052245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000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489186" y="1645920"/>
            <a:ext cx="5380329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6271683" y="1645920"/>
            <a:ext cx="5393501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476249" y="2659063"/>
            <a:ext cx="5393267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6271683" y="2659063"/>
            <a:ext cx="5393267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DB1EE-5BBD-437A-BCA3-01B4B904179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1"/>
            <a:ext cx="12192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7224218" y="6451601"/>
            <a:ext cx="4421037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CSG2C3 –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Dan </a:t>
            </a:r>
            <a:r>
              <a:rPr lang="en-US" dirty="0" err="1"/>
              <a:t>Komputer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0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6238051" y="2009551"/>
            <a:ext cx="5380567" cy="40023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486834" y="2009551"/>
            <a:ext cx="5329767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tabLst/>
              <a:defRPr sz="2000"/>
            </a:lvl1pPr>
          </a:lstStyle>
          <a:p>
            <a:pPr lvl="0"/>
            <a:r>
              <a:rPr lang="en-US" noProof="0" dirty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E22D-D3CF-4693-904F-E2B9DA51C1C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1"/>
            <a:ext cx="12192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7224218" y="6451601"/>
            <a:ext cx="4421037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CSG2C3 –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Dan </a:t>
            </a:r>
            <a:r>
              <a:rPr lang="en-US" dirty="0" err="1"/>
              <a:t>Komputer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19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 sz="44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418A0051-2FA1-4B95-9FD1-E4407FB2DB5D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>
              <a:defRPr/>
            </a:pPr>
            <a:fld id="{02B1F015-1154-6F45-9F5A-29B4836DF7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540AC2-2049-AB7D-2DD5-7BA451F34BB2}"/>
              </a:ext>
            </a:extLst>
          </p:cNvPr>
          <p:cNvSpPr/>
          <p:nvPr userDrawn="1"/>
        </p:nvSpPr>
        <p:spPr>
          <a:xfrm>
            <a:off x="1" y="1"/>
            <a:ext cx="12191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2592990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07" r:id="rId14"/>
    <p:sldLayoutId id="214748370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gi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jpeg"/><Relationship Id="rId9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knowledge.hubspot.com/contacts-user-guide/how-to-create-personas" TargetMode="External"/><Relationship Id="rId2" Type="http://schemas.openxmlformats.org/officeDocument/2006/relationships/hyperlink" Target="https://uxmastery.com/what-does-a-user-centred-design-process-look-like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storyboardthat.com/articles/software-development/using-personas-to-identify-your-target-customers" TargetMode="External"/><Relationship Id="rId5" Type="http://schemas.openxmlformats.org/officeDocument/2006/relationships/hyperlink" Target="http://webdesign.tutsplus.com/articles/defining-and-applying-personas-to-ux-design--webdesign-7561" TargetMode="External"/><Relationship Id="rId4" Type="http://schemas.openxmlformats.org/officeDocument/2006/relationships/hyperlink" Target="http://www.smashingmagazine.com/2014/08/a-closer-look-at-personas-part-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61780" y="3253089"/>
            <a:ext cx="4599295" cy="1938992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Overview User-Centered Design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Overview </a:t>
            </a:r>
            <a:r>
              <a:rPr lang="id-ID" sz="2400" b="1" dirty="0"/>
              <a:t>Proses Desain User Interface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91294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61780" y="3253090"/>
            <a:ext cx="4599295" cy="830997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Overview User-Centered Design</a:t>
            </a:r>
          </a:p>
        </p:txBody>
      </p:sp>
    </p:spTree>
    <p:extLst>
      <p:ext uri="{BB962C8B-B14F-4D97-AF65-F5344CB8AC3E}">
        <p14:creationId xmlns:p14="http://schemas.microsoft.com/office/powerpoint/2010/main" val="1519846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300" noProof="1"/>
              <a:t>Setelah mengikuti materi ini mahasiswa dapat: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300" noProof="1"/>
              <a:t>Mengetahui proses yang dilakukan pada </a:t>
            </a:r>
            <a:r>
              <a:rPr lang="id-ID" sz="2300" noProof="1"/>
              <a:t>desain User Interface</a:t>
            </a:r>
            <a:endParaRPr lang="en-US" sz="2300" noProof="1"/>
          </a:p>
          <a:p>
            <a:pPr marL="0" indent="0">
              <a:buNone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28727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6928D-6E45-4ECD-BF24-D238D1D5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380" y="2882579"/>
            <a:ext cx="7629240" cy="773590"/>
          </a:xfrm>
        </p:spPr>
        <p:txBody>
          <a:bodyPr>
            <a:normAutofit fontScale="90000"/>
          </a:bodyPr>
          <a:lstStyle/>
          <a:p>
            <a:r>
              <a:rPr lang="en-GB" dirty="0"/>
              <a:t>Overview User </a:t>
            </a:r>
            <a:r>
              <a:rPr lang="en-GB" dirty="0" err="1"/>
              <a:t>Centered</a:t>
            </a:r>
            <a:r>
              <a:rPr lang="en-GB" dirty="0"/>
              <a:t> Design (UCD)</a:t>
            </a:r>
          </a:p>
        </p:txBody>
      </p:sp>
    </p:spTree>
    <p:extLst>
      <p:ext uri="{BB962C8B-B14F-4D97-AF65-F5344CB8AC3E}">
        <p14:creationId xmlns:p14="http://schemas.microsoft.com/office/powerpoint/2010/main" val="202209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3845E5B-8FDF-4E02-88B9-6A9744DD6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ea typeface="+mj-ea"/>
              </a:rPr>
              <a:t>What is User-Centered Design?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40EE99B-8EA6-46EC-BF8F-B5A8AF246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An approach to UI development and system development.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Focuses on understanding: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Users,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Their goals and tasks,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The environment (physical, organizational, social)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Pay attention to these throughout development</a:t>
            </a:r>
          </a:p>
        </p:txBody>
      </p:sp>
    </p:spTree>
    <p:extLst>
      <p:ext uri="{BB962C8B-B14F-4D97-AF65-F5344CB8AC3E}">
        <p14:creationId xmlns:p14="http://schemas.microsoft.com/office/powerpoint/2010/main" val="365771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3C4EF60-C0E6-41B7-9C12-ED3BCFCA6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ea typeface="+mj-ea"/>
              </a:rPr>
              <a:t>ISO on User-centered Design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1BCC590-D6D6-41FB-A050-2B4D8FE6A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ISO 13407 describes human-centered design processes for interactive systems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Principles of human-centered design: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Active involvement of users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Appropriate allocation of function between user and system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Iteration of design solutions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Multidisciplinary design teams</a:t>
            </a:r>
          </a:p>
        </p:txBody>
      </p:sp>
    </p:spTree>
    <p:extLst>
      <p:ext uri="{BB962C8B-B14F-4D97-AF65-F5344CB8AC3E}">
        <p14:creationId xmlns:p14="http://schemas.microsoft.com/office/powerpoint/2010/main" val="197880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E4C90A9-8EA5-4430-8549-0C000AC60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200" dirty="0">
                <a:solidFill>
                  <a:schemeClr val="tx1"/>
                </a:solidFill>
                <a:ea typeface="+mj-ea"/>
              </a:rPr>
              <a:t>What is a user-</a:t>
            </a:r>
            <a:r>
              <a:rPr lang="en-GB" sz="3200" dirty="0" err="1">
                <a:solidFill>
                  <a:schemeClr val="tx1"/>
                </a:solidFill>
                <a:ea typeface="+mj-ea"/>
              </a:rPr>
              <a:t>centered</a:t>
            </a:r>
            <a:r>
              <a:rPr lang="en-GB" sz="3200" dirty="0">
                <a:solidFill>
                  <a:schemeClr val="tx1"/>
                </a:solidFill>
                <a:ea typeface="+mj-ea"/>
              </a:rPr>
              <a:t> approach?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C9E57E0-8F4F-47D1-830E-300084E4E4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User-centered approach is based on: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</a:pPr>
            <a:r>
              <a:rPr lang="en-GB" altLang="en-US" b="1">
                <a:ea typeface="ＭＳ Ｐゴシック" panose="020B0600070205080204" pitchFamily="34" charset="-128"/>
              </a:rPr>
              <a:t>Early focus on users and tasks</a:t>
            </a:r>
            <a:r>
              <a:rPr lang="en-GB" altLang="en-US">
                <a:ea typeface="ＭＳ Ｐゴシック" panose="020B0600070205080204" pitchFamily="34" charset="-128"/>
              </a:rPr>
              <a:t>: directly studying cognitive, behavioral, anthropomorphic &amp; attitudinal characteristics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</a:pPr>
            <a:r>
              <a:rPr lang="en-GB" altLang="en-US" b="1">
                <a:ea typeface="ＭＳ Ｐゴシック" panose="020B0600070205080204" pitchFamily="34" charset="-128"/>
              </a:rPr>
              <a:t>Empirical measurement</a:t>
            </a:r>
            <a:r>
              <a:rPr lang="en-GB" altLang="en-US">
                <a:ea typeface="ＭＳ Ｐゴシック" panose="020B0600070205080204" pitchFamily="34" charset="-128"/>
              </a:rPr>
              <a:t>:</a:t>
            </a:r>
            <a:r>
              <a:rPr lang="en-GB" altLang="en-US" i="1">
                <a:ea typeface="ＭＳ Ｐゴシック" panose="020B0600070205080204" pitchFamily="34" charset="-128"/>
              </a:rPr>
              <a:t> </a:t>
            </a:r>
            <a:r>
              <a:rPr lang="en-GB" altLang="en-US">
                <a:ea typeface="ＭＳ Ｐゴシック" panose="020B0600070205080204" pitchFamily="34" charset="-128"/>
              </a:rPr>
              <a:t> users’ reactions and performance to scenarios, manuals, simulations &amp; prototypes are observed, recorded and analysed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</a:pPr>
            <a:r>
              <a:rPr lang="en-GB" altLang="en-US" b="1">
                <a:ea typeface="ＭＳ Ｐゴシック" panose="020B0600070205080204" pitchFamily="34" charset="-128"/>
              </a:rPr>
              <a:t>Iterative design</a:t>
            </a:r>
            <a:r>
              <a:rPr lang="en-GB" altLang="en-US">
                <a:ea typeface="ＭＳ Ｐゴシック" panose="020B0600070205080204" pitchFamily="34" charset="-128"/>
              </a:rPr>
              <a:t>: when problems are found in user testing, fix them and carry out more tests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120000"/>
              </a:lnSpc>
            </a:pPr>
            <a:endParaRPr lang="en-GB" altLang="en-US" sz="20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581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14E6ADDF-E3E0-431A-B740-2969DEF43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263" y="6248400"/>
            <a:ext cx="189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Corbel" panose="020B0503020204020204" pitchFamily="34" charset="0"/>
            </a:endParaRPr>
          </a:p>
        </p:txBody>
      </p:sp>
      <p:sp>
        <p:nvSpPr>
          <p:cNvPr id="18436" name="Rectangle 8">
            <a:extLst>
              <a:ext uri="{FF2B5EF4-FFF2-40B4-BE49-F238E27FC236}">
                <a16:creationId xmlns:a16="http://schemas.microsoft.com/office/drawing/2014/main" id="{73AD8DC9-3244-4CF2-BBFB-7357B58D5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263" y="6248400"/>
            <a:ext cx="189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Corbel" panose="020B0503020204020204" pitchFamily="34" charset="0"/>
            </a:endParaRPr>
          </a:p>
        </p:txBody>
      </p:sp>
      <p:sp>
        <p:nvSpPr>
          <p:cNvPr id="18437" name="Rectangle 9">
            <a:extLst>
              <a:ext uri="{FF2B5EF4-FFF2-40B4-BE49-F238E27FC236}">
                <a16:creationId xmlns:a16="http://schemas.microsoft.com/office/drawing/2014/main" id="{31FFDC22-52DF-4DC4-9478-3FB880E10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475" y="6248400"/>
            <a:ext cx="2813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Corbel" panose="020B0503020204020204" pitchFamily="34" charset="0"/>
            </a:endParaRPr>
          </a:p>
        </p:txBody>
      </p:sp>
      <p:sp>
        <p:nvSpPr>
          <p:cNvPr id="90122" name="Rectangle 10">
            <a:extLst>
              <a:ext uri="{FF2B5EF4-FFF2-40B4-BE49-F238E27FC236}">
                <a16:creationId xmlns:a16="http://schemas.microsoft.com/office/drawing/2014/main" id="{FEEF5E4A-00E8-46AF-AA34-EBF93EC26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05379" y="295636"/>
            <a:ext cx="7629240" cy="422167"/>
          </a:xfrm>
        </p:spPr>
        <p:txBody>
          <a:bodyPr spcFirstLastPara="1" wrap="square" lIns="90488" tIns="44450" rIns="90488" bIns="44450" anchor="ctr" anchorCtr="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ea typeface="+mj-ea"/>
              </a:rPr>
              <a:t>A simple interaction design model</a:t>
            </a:r>
            <a:endParaRPr lang="en-US" sz="2400" i="1" dirty="0">
              <a:solidFill>
                <a:schemeClr val="tx1"/>
              </a:solidFill>
              <a:ea typeface="+mj-e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155DC-D290-EA01-FA25-B2D300F3D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8439" name="Picture 37" descr="9-7">
            <a:extLst>
              <a:ext uri="{FF2B5EF4-FFF2-40B4-BE49-F238E27FC236}">
                <a16:creationId xmlns:a16="http://schemas.microsoft.com/office/drawing/2014/main" id="{61487DBF-F77C-42CD-84F6-A7D62DEEA750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1978026"/>
            <a:ext cx="8280400" cy="3656013"/>
          </a:xfrm>
          <a:noFill/>
        </p:spPr>
      </p:pic>
      <p:sp>
        <p:nvSpPr>
          <p:cNvPr id="18440" name="Text Box 33">
            <a:extLst>
              <a:ext uri="{FF2B5EF4-FFF2-40B4-BE49-F238E27FC236}">
                <a16:creationId xmlns:a16="http://schemas.microsoft.com/office/drawing/2014/main" id="{C336D205-EA29-4CAE-BAA0-02AC7EDC9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6" y="5791200"/>
            <a:ext cx="53992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/>
              <a:t>Exemplifies a user-centered design approach</a:t>
            </a:r>
            <a:r>
              <a:rPr lang="en-US" altLang="en-US" sz="2000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40890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71FEA65-46BE-4A6A-AF50-8B1A9EE69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6281" y="506719"/>
            <a:ext cx="7629240" cy="773590"/>
          </a:xfrm>
        </p:spPr>
        <p:txBody>
          <a:bodyPr>
            <a:normAutofit fontScale="90000"/>
          </a:bodyPr>
          <a:lstStyle/>
          <a:p>
            <a:pPr marL="342900" indent="-342900" algn="just"/>
            <a:r>
              <a:rPr lang="en-GB" alt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1. Identifying needs and establishing requirements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855AD475-29C9-49D2-A2C5-2471CB5E7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4488" y="2490281"/>
            <a:ext cx="11608875" cy="374441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GB" b="1" dirty="0"/>
              <a:t>Some practical issues</a:t>
            </a:r>
            <a:endParaRPr lang="en-GB" b="1" dirty="0">
              <a:ea typeface="ＭＳ Ｐゴシック" pitchFamily="34" charset="-128"/>
            </a:endParaRPr>
          </a:p>
          <a:p>
            <a:pPr eaLnBrk="1" hangingPunct="1">
              <a:defRPr/>
            </a:pPr>
            <a:r>
              <a:rPr lang="en-GB" dirty="0">
                <a:ea typeface="ＭＳ Ｐゴシック" pitchFamily="34" charset="-128"/>
              </a:rPr>
              <a:t>Who are the users?</a:t>
            </a:r>
          </a:p>
          <a:p>
            <a:pPr eaLnBrk="1" hangingPunct="1">
              <a:defRPr/>
            </a:pPr>
            <a:r>
              <a:rPr lang="en-GB" dirty="0">
                <a:ea typeface="ＭＳ Ｐゴシック" pitchFamily="34" charset="-128"/>
              </a:rPr>
              <a:t>What are </a:t>
            </a:r>
            <a:r>
              <a:rPr lang="en-GB" altLang="en-US" dirty="0">
                <a:ea typeface="ＭＳ Ｐゴシック" pitchFamily="34" charset="-128"/>
              </a:rPr>
              <a:t>‘</a:t>
            </a:r>
            <a:r>
              <a:rPr lang="en-GB" dirty="0">
                <a:ea typeface="ＭＳ Ｐゴシック" pitchFamily="34" charset="-128"/>
              </a:rPr>
              <a:t>needs</a:t>
            </a:r>
            <a:r>
              <a:rPr lang="en-GB" altLang="en-US" dirty="0">
                <a:ea typeface="ＭＳ Ｐゴシック" pitchFamily="34" charset="-128"/>
              </a:rPr>
              <a:t>’</a:t>
            </a:r>
            <a:r>
              <a:rPr lang="en-GB" dirty="0">
                <a:ea typeface="ＭＳ Ｐゴシック" pitchFamily="34" charset="-128"/>
              </a:rPr>
              <a:t>?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>
              <a:ea typeface="ＭＳ Ｐゴシック" pitchFamily="34" charset="-128"/>
            </a:endParaRPr>
          </a:p>
          <a:p>
            <a:pPr eaLnBrk="1" hangingPunct="1">
              <a:defRPr/>
            </a:pPr>
            <a:endParaRPr lang="en-GB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867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1264-3EB7-4D77-8296-E9690C455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ea typeface="+mj-ea"/>
              </a:rPr>
              <a:t>Target users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7692C-7681-11B1-6674-EEF564320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20483" name="Content Placeholder 3" descr="dilbert-target_user.gif">
            <a:extLst>
              <a:ext uri="{FF2B5EF4-FFF2-40B4-BE49-F238E27FC236}">
                <a16:creationId xmlns:a16="http://schemas.microsoft.com/office/drawing/2014/main" id="{9CBC5669-EA2B-4D51-BDAC-53AF367C15A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9226" y="2438400"/>
            <a:ext cx="7978775" cy="2819400"/>
          </a:xfrm>
        </p:spPr>
      </p:pic>
    </p:spTree>
    <p:extLst>
      <p:ext uri="{BB962C8B-B14F-4D97-AF65-F5344CB8AC3E}">
        <p14:creationId xmlns:p14="http://schemas.microsoft.com/office/powerpoint/2010/main" val="3829816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dilbert_flaws.gif">
            <a:extLst>
              <a:ext uri="{FF2B5EF4-FFF2-40B4-BE49-F238E27FC236}">
                <a16:creationId xmlns:a16="http://schemas.microsoft.com/office/drawing/2014/main" id="{2C485B41-5C58-4A27-92D3-E35D93901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828800"/>
            <a:ext cx="850582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itle 3">
            <a:extLst>
              <a:ext uri="{FF2B5EF4-FFF2-40B4-BE49-F238E27FC236}">
                <a16:creationId xmlns:a16="http://schemas.microsoft.com/office/drawing/2014/main" id="{D0364042-3764-4CA1-B8CF-FC8B32F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Users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 needs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323CF3-E933-1853-E149-11B385940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7558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61456E0-C7F6-431B-AC3B-FEB407355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1380" y="506719"/>
            <a:ext cx="7629240" cy="77359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ea typeface="+mj-ea"/>
              </a:rPr>
              <a:t>Brief overview of common methods to gather user data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BBF1C01-5718-4F48-92DF-1170CA9E9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2" indent="-441325">
              <a:lnSpc>
                <a:spcPct val="130000"/>
              </a:lnSpc>
              <a:buFont typeface="Symbol" panose="05050102010706020507" pitchFamily="18" charset="2"/>
              <a:buChar char="·"/>
            </a:pPr>
            <a:r>
              <a:rPr lang="en-US" altLang="en-US" sz="3200">
                <a:ea typeface="ＭＳ Ｐゴシック" panose="020B0600070205080204" pitchFamily="34" charset="-128"/>
              </a:rPr>
              <a:t>Interviews</a:t>
            </a:r>
          </a:p>
          <a:p>
            <a:pPr lvl="2" indent="-441325">
              <a:lnSpc>
                <a:spcPct val="130000"/>
              </a:lnSpc>
              <a:buFont typeface="Symbol" panose="05050102010706020507" pitchFamily="18" charset="2"/>
              <a:buChar char="·"/>
            </a:pPr>
            <a:r>
              <a:rPr lang="en-US" altLang="en-US" sz="3200">
                <a:ea typeface="ＭＳ Ｐゴシック" panose="020B0600070205080204" pitchFamily="34" charset="-128"/>
              </a:rPr>
              <a:t>Questionnaires</a:t>
            </a:r>
          </a:p>
          <a:p>
            <a:pPr lvl="2" indent="-441325">
              <a:lnSpc>
                <a:spcPct val="130000"/>
              </a:lnSpc>
              <a:buFont typeface="Symbol" panose="05050102010706020507" pitchFamily="18" charset="2"/>
              <a:buChar char="·"/>
            </a:pPr>
            <a:r>
              <a:rPr lang="en-US" altLang="en-US" sz="3200">
                <a:ea typeface="ＭＳ Ｐゴシック" panose="020B0600070205080204" pitchFamily="34" charset="-128"/>
              </a:rPr>
              <a:t>Observation</a:t>
            </a:r>
          </a:p>
          <a:p>
            <a:pPr lvl="2" indent="-441325">
              <a:lnSpc>
                <a:spcPct val="130000"/>
              </a:lnSpc>
              <a:buFont typeface="Symbol" panose="05050102010706020507" pitchFamily="18" charset="2"/>
              <a:buChar char="·"/>
            </a:pPr>
            <a:r>
              <a:rPr lang="en-US" altLang="en-US" sz="3200">
                <a:ea typeface="ＭＳ Ｐゴシック" panose="020B0600070205080204" pitchFamily="34" charset="-128"/>
              </a:rPr>
              <a:t>Choosing and combining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206985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Title 4">
            <a:extLst>
              <a:ext uri="{FF2B5EF4-FFF2-40B4-BE49-F238E27FC236}">
                <a16:creationId xmlns:a16="http://schemas.microsoft.com/office/drawing/2014/main" id="{3DA7D789-20F2-4159-94BE-4DBC23AB4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GB" altLang="en-US" sz="2400">
                <a:solidFill>
                  <a:schemeClr val="tx1"/>
                </a:solidFill>
                <a:ea typeface="ＭＳ Ｐゴシック" panose="020B0600070205080204" pitchFamily="34" charset="-128"/>
              </a:rPr>
              <a:t>2. Developing alternative designs</a:t>
            </a:r>
            <a:endParaRPr lang="en-US" altLang="en-US" sz="240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0962" name="Content Placeholder 1">
            <a:extLst>
              <a:ext uri="{FF2B5EF4-FFF2-40B4-BE49-F238E27FC236}">
                <a16:creationId xmlns:a16="http://schemas.microsoft.com/office/drawing/2014/main" id="{0C606831-A227-4A4A-966E-D81EED7EB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000" b="1" dirty="0">
                <a:ea typeface="ＭＳ Ｐゴシック" panose="020B0600070205080204" pitchFamily="34" charset="-128"/>
              </a:rPr>
              <a:t>Competitive/Comparative Analysis,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ＭＳ Ｐゴシック" panose="020B0600070205080204" pitchFamily="34" charset="-128"/>
              </a:rPr>
              <a:t>Try using similar services or products in order to find out:</a:t>
            </a:r>
          </a:p>
          <a:p>
            <a:pPr lvl="2"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Current trends in the marketplace</a:t>
            </a:r>
          </a:p>
          <a:p>
            <a:pPr lvl="2"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What expectations your users will have</a:t>
            </a:r>
          </a:p>
          <a:p>
            <a:pPr lvl="2"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What 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to</a:t>
            </a:r>
            <a:r>
              <a:rPr lang="en-US" altLang="en-US" sz="1600" dirty="0">
                <a:ea typeface="ＭＳ Ｐゴシック" panose="020B0600070205080204" pitchFamily="34" charset="-128"/>
              </a:rPr>
              <a:t> do, what 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not </a:t>
            </a:r>
            <a:r>
              <a:rPr lang="en-US" altLang="en-US" sz="1600" dirty="0">
                <a:ea typeface="ＭＳ Ｐゴシック" panose="020B0600070205080204" pitchFamily="34" charset="-128"/>
              </a:rPr>
              <a:t>to do</a:t>
            </a:r>
          </a:p>
          <a:p>
            <a:pPr lvl="2"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Interface conventions</a:t>
            </a:r>
          </a:p>
          <a:p>
            <a:pPr lvl="2"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“Must have” standard features</a:t>
            </a:r>
            <a:endParaRPr lang="id-ID" altLang="en-US" sz="1600" dirty="0">
              <a:ea typeface="ＭＳ Ｐゴシック" panose="020B0600070205080204" pitchFamily="34" charset="-128"/>
            </a:endParaRPr>
          </a:p>
          <a:p>
            <a:pPr lvl="2">
              <a:spcBef>
                <a:spcPts val="0"/>
              </a:spcBef>
            </a:pPr>
            <a:endParaRPr lang="en-US" altLang="en-US" sz="1600" dirty="0">
              <a:ea typeface="ＭＳ Ｐゴシック" panose="020B0600070205080204" pitchFamily="34" charset="-128"/>
            </a:endParaRPr>
          </a:p>
          <a:p>
            <a:pPr>
              <a:spcBef>
                <a:spcPts val="0"/>
              </a:spcBef>
            </a:pPr>
            <a:r>
              <a:rPr lang="en-US" altLang="en-US" sz="2000" b="1" dirty="0">
                <a:ea typeface="ＭＳ Ｐゴシック" panose="020B0600070205080204" pitchFamily="34" charset="-128"/>
              </a:rPr>
              <a:t>Heuristic Evaluation,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Evaluate an existing interface (or new interface concept) based on set of usability criteria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Mostly used to highlight usability problems and deficiencies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May or may not propose usability solutions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Identified problem areas are addressed by subsequent design work</a:t>
            </a:r>
            <a:endParaRPr lang="en-US" altLang="en-US" sz="1600" b="1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Normally done with expert evaluators, but it can be a valuable tool for anyone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600" dirty="0">
                <a:ea typeface="ＭＳ Ｐゴシック" panose="020B0600070205080204" pitchFamily="34" charset="-128"/>
              </a:rPr>
              <a:t>One detailed checklist: </a:t>
            </a:r>
            <a:r>
              <a:rPr lang="en-US" altLang="en-US" sz="1600" dirty="0">
                <a:ea typeface="ＭＳ Ｐゴシック" panose="020B0600070205080204" pitchFamily="34" charset="-128"/>
                <a:hlinkClick r:id="" action="ppaction://noaction"/>
              </a:rPr>
              <a:t>http://www.stcsig.org/usability/topics/articles/he-checklist.html</a:t>
            </a:r>
            <a:r>
              <a:rPr lang="en-US" altLang="en-US" sz="1600" dirty="0"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endParaRPr lang="en-US" altLang="en-US" sz="1600" dirty="0">
              <a:ea typeface="ＭＳ Ｐゴシック" panose="020B0600070205080204" pitchFamily="34" charset="-128"/>
            </a:endParaRPr>
          </a:p>
          <a:p>
            <a:pPr>
              <a:spcBef>
                <a:spcPts val="0"/>
              </a:spcBef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spcBef>
                <a:spcPts val="0"/>
              </a:spcBef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7172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Title 4">
            <a:extLst>
              <a:ext uri="{FF2B5EF4-FFF2-40B4-BE49-F238E27FC236}">
                <a16:creationId xmlns:a16="http://schemas.microsoft.com/office/drawing/2014/main" id="{BC356CBE-79C7-43FC-A8B2-AEC049F2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>
                <a:solidFill>
                  <a:schemeClr val="tx1"/>
                </a:solidFill>
                <a:ea typeface="ＭＳ Ｐゴシック" panose="020B0600070205080204" pitchFamily="34" charset="-128"/>
              </a:rPr>
              <a:t>2. Developing alternative designs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EAA9DF-85E2-455C-A5F3-F27625068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sz="2000" b="1" dirty="0"/>
              <a:t>Persona,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Lucida Grande" charset="0"/>
              <a:buChar char="–"/>
              <a:defRPr/>
            </a:pPr>
            <a:r>
              <a:rPr lang="en-US" sz="1200" dirty="0"/>
              <a:t>Models of “archetypical” users culled from user research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Lucida Grande" charset="0"/>
              <a:buChar char="–"/>
              <a:defRPr/>
            </a:pPr>
            <a:r>
              <a:rPr lang="en-US" sz="1200" dirty="0"/>
              <a:t>Each persona is a description of one particular “typical” user of your system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Lucida Grande" charset="0"/>
              <a:buChar char="–"/>
              <a:defRPr/>
            </a:pPr>
            <a:r>
              <a:rPr lang="en-US" sz="1200" dirty="0"/>
              <a:t>Personas may be combined if they have the same (or sometimes overlapping) goals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Lucida Grande" charset="0"/>
              <a:buChar char="–"/>
              <a:defRPr/>
            </a:pPr>
            <a:r>
              <a:rPr lang="en-US" sz="1200" dirty="0"/>
              <a:t>Places the focus on specific users rather than on "everyone”</a:t>
            </a:r>
            <a:endParaRPr lang="id-ID" sz="1200" dirty="0"/>
          </a:p>
          <a:p>
            <a:pPr lvl="1">
              <a:lnSpc>
                <a:spcPct val="90000"/>
              </a:lnSpc>
              <a:spcBef>
                <a:spcPts val="0"/>
              </a:spcBef>
              <a:buFont typeface="Lucida Grande" charset="0"/>
              <a:buChar char="–"/>
              <a:defRPr/>
            </a:pPr>
            <a:endParaRPr lang="en-US" sz="1200" dirty="0"/>
          </a:p>
          <a:p>
            <a:pPr>
              <a:spcBef>
                <a:spcPts val="0"/>
              </a:spcBef>
              <a:defRPr/>
            </a:pPr>
            <a:r>
              <a:rPr lang="en-US" sz="2000" b="1" dirty="0"/>
              <a:t>Goals, Tasks &amp; Scenarios,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Lucida Grande" charset="0"/>
              <a:buChar char="–"/>
              <a:defRPr/>
            </a:pPr>
            <a:r>
              <a:rPr lang="en-US" sz="1800" b="1" dirty="0"/>
              <a:t>Goals:</a:t>
            </a:r>
            <a:r>
              <a:rPr lang="en-US" b="1" dirty="0"/>
              <a:t> 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charset="0"/>
              <a:buChar char="§"/>
              <a:defRPr/>
            </a:pPr>
            <a:r>
              <a:rPr lang="en-US" sz="1200" dirty="0"/>
              <a:t>Are what the user wants to do, but not how the user achieves them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Lucida Grande" charset="0"/>
              <a:buChar char="–"/>
              <a:defRPr/>
            </a:pPr>
            <a:r>
              <a:rPr lang="en-US" sz="1800" b="1" dirty="0"/>
              <a:t>Tasks: 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charset="0"/>
              <a:buChar char="§"/>
              <a:defRPr/>
            </a:pPr>
            <a:r>
              <a:rPr lang="en-US" sz="1200" dirty="0"/>
              <a:t>Describe the steps necessary to achieve the goals 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charset="0"/>
              <a:buChar char="§"/>
              <a:defRPr/>
            </a:pPr>
            <a:r>
              <a:rPr lang="en-US" sz="1200" dirty="0"/>
              <a:t>Can vary with the available technology 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charset="0"/>
              <a:buChar char="§"/>
              <a:defRPr/>
            </a:pPr>
            <a:r>
              <a:rPr lang="en-US" sz="1200" dirty="0"/>
              <a:t>Are broken down into steps for task analysis, and are recombined into sequence of steps for scenario development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charset="0"/>
              <a:buChar char="§"/>
              <a:defRPr/>
            </a:pPr>
            <a:r>
              <a:rPr lang="en-US" sz="1200" dirty="0"/>
              <a:t>Designers can reorganize, combine, or remove tasks currently performed to help users achieve their goals more efficiently 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Lucida Grande" charset="0"/>
              <a:buChar char="–"/>
              <a:defRPr/>
            </a:pPr>
            <a:r>
              <a:rPr lang="en-US" sz="1800" b="1" dirty="0"/>
              <a:t>Scenarios: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charset="0"/>
              <a:buChar char="§"/>
              <a:defRPr/>
            </a:pPr>
            <a:r>
              <a:rPr lang="en-US" sz="1200" dirty="0"/>
              <a:t>Written description of a persona achieving a goal through a set of tasks in a specific context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charset="0"/>
              <a:buChar char="§"/>
              <a:defRPr/>
            </a:pPr>
            <a:r>
              <a:rPr lang="en-US" sz="1200" dirty="0"/>
              <a:t>Should start technology-neutral and become more specific as the design progresses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26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4" name="Title 4">
            <a:extLst>
              <a:ext uri="{FF2B5EF4-FFF2-40B4-BE49-F238E27FC236}">
                <a16:creationId xmlns:a16="http://schemas.microsoft.com/office/drawing/2014/main" id="{DF8F2618-2F67-4C03-8A00-78296773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2400">
                <a:ea typeface="ＭＳ Ｐゴシック" panose="020B0600070205080204" pitchFamily="34" charset="-128"/>
              </a:rPr>
              <a:t>3. </a:t>
            </a:r>
            <a:r>
              <a:rPr lang="en-GB" altLang="en-US" sz="2400">
                <a:solidFill>
                  <a:schemeClr val="tx1"/>
                </a:solidFill>
                <a:ea typeface="ＭＳ Ｐゴシック" panose="020B0600070205080204" pitchFamily="34" charset="-128"/>
              </a:rPr>
              <a:t>Building interactive versions of the designs</a:t>
            </a:r>
            <a:endParaRPr lang="en-US" altLang="en-US" sz="2400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BA9583-C793-4D54-B9A6-C9E48929D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600" dirty="0"/>
              <a:t>Start rough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600" dirty="0"/>
              <a:t>Explore!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600" dirty="0"/>
              <a:t>Use personas to keep the users in view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600" dirty="0"/>
              <a:t>Use scenarios to inform the design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600" dirty="0"/>
              <a:t>Get frequent feedback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600" dirty="0"/>
              <a:t>Note user conventions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600" dirty="0"/>
              <a:t>Make design artifacts public</a:t>
            </a: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600" dirty="0"/>
              <a:t>May be expressed in a prototype for usability testing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grpSp>
        <p:nvGrpSpPr>
          <p:cNvPr id="43016" name="Group 9">
            <a:extLst>
              <a:ext uri="{FF2B5EF4-FFF2-40B4-BE49-F238E27FC236}">
                <a16:creationId xmlns:a16="http://schemas.microsoft.com/office/drawing/2014/main" id="{97B7C99F-7A6C-4911-932C-C4239CB0FC02}"/>
              </a:ext>
            </a:extLst>
          </p:cNvPr>
          <p:cNvGrpSpPr>
            <a:grpSpLocks/>
          </p:cNvGrpSpPr>
          <p:nvPr/>
        </p:nvGrpSpPr>
        <p:grpSpPr bwMode="auto">
          <a:xfrm>
            <a:off x="5765266" y="2393205"/>
            <a:ext cx="4772289" cy="3192816"/>
            <a:chOff x="6045200" y="2892425"/>
            <a:chExt cx="7030525" cy="4198886"/>
          </a:xfrm>
        </p:grpSpPr>
        <p:grpSp>
          <p:nvGrpSpPr>
            <p:cNvPr id="43017" name="Group 4">
              <a:extLst>
                <a:ext uri="{FF2B5EF4-FFF2-40B4-BE49-F238E27FC236}">
                  <a16:creationId xmlns:a16="http://schemas.microsoft.com/office/drawing/2014/main" id="{FE757A98-4846-481F-83EF-4A710107A3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5400" y="2892425"/>
              <a:ext cx="3886200" cy="3443288"/>
              <a:chOff x="1851" y="1765"/>
              <a:chExt cx="2049" cy="2137"/>
            </a:xfrm>
          </p:grpSpPr>
          <p:sp>
            <p:nvSpPr>
              <p:cNvPr id="43021" name="Freeform 5">
                <a:extLst>
                  <a:ext uri="{FF2B5EF4-FFF2-40B4-BE49-F238E27FC236}">
                    <a16:creationId xmlns:a16="http://schemas.microsoft.com/office/drawing/2014/main" id="{66944340-2B79-4B69-8842-EE9BED1544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2981"/>
                <a:ext cx="1748" cy="921"/>
              </a:xfrm>
              <a:custGeom>
                <a:avLst/>
                <a:gdLst>
                  <a:gd name="T0" fmla="*/ 896 w 1748"/>
                  <a:gd name="T1" fmla="*/ 906 h 921"/>
                  <a:gd name="T2" fmla="*/ 944 w 1748"/>
                  <a:gd name="T3" fmla="*/ 897 h 921"/>
                  <a:gd name="T4" fmla="*/ 981 w 1748"/>
                  <a:gd name="T5" fmla="*/ 888 h 921"/>
                  <a:gd name="T6" fmla="*/ 1021 w 1748"/>
                  <a:gd name="T7" fmla="*/ 877 h 921"/>
                  <a:gd name="T8" fmla="*/ 1059 w 1748"/>
                  <a:gd name="T9" fmla="*/ 863 h 921"/>
                  <a:gd name="T10" fmla="*/ 1105 w 1748"/>
                  <a:gd name="T11" fmla="*/ 845 h 921"/>
                  <a:gd name="T12" fmla="*/ 1148 w 1748"/>
                  <a:gd name="T13" fmla="*/ 826 h 921"/>
                  <a:gd name="T14" fmla="*/ 1190 w 1748"/>
                  <a:gd name="T15" fmla="*/ 805 h 921"/>
                  <a:gd name="T16" fmla="*/ 1225 w 1748"/>
                  <a:gd name="T17" fmla="*/ 783 h 921"/>
                  <a:gd name="T18" fmla="*/ 1261 w 1748"/>
                  <a:gd name="T19" fmla="*/ 760 h 921"/>
                  <a:gd name="T20" fmla="*/ 1301 w 1748"/>
                  <a:gd name="T21" fmla="*/ 732 h 921"/>
                  <a:gd name="T22" fmla="*/ 1336 w 1748"/>
                  <a:gd name="T23" fmla="*/ 706 h 921"/>
                  <a:gd name="T24" fmla="*/ 1389 w 1748"/>
                  <a:gd name="T25" fmla="*/ 661 h 921"/>
                  <a:gd name="T26" fmla="*/ 1440 w 1748"/>
                  <a:gd name="T27" fmla="*/ 607 h 921"/>
                  <a:gd name="T28" fmla="*/ 1478 w 1748"/>
                  <a:gd name="T29" fmla="*/ 562 h 921"/>
                  <a:gd name="T30" fmla="*/ 1519 w 1748"/>
                  <a:gd name="T31" fmla="*/ 510 h 921"/>
                  <a:gd name="T32" fmla="*/ 1559 w 1748"/>
                  <a:gd name="T33" fmla="*/ 450 h 921"/>
                  <a:gd name="T34" fmla="*/ 1563 w 1748"/>
                  <a:gd name="T35" fmla="*/ 0 h 921"/>
                  <a:gd name="T36" fmla="*/ 1166 w 1748"/>
                  <a:gd name="T37" fmla="*/ 220 h 921"/>
                  <a:gd name="T38" fmla="*/ 1131 w 1748"/>
                  <a:gd name="T39" fmla="*/ 266 h 921"/>
                  <a:gd name="T40" fmla="*/ 1095 w 1748"/>
                  <a:gd name="T41" fmla="*/ 307 h 921"/>
                  <a:gd name="T42" fmla="*/ 1064 w 1748"/>
                  <a:gd name="T43" fmla="*/ 339 h 921"/>
                  <a:gd name="T44" fmla="*/ 1026 w 1748"/>
                  <a:gd name="T45" fmla="*/ 368 h 921"/>
                  <a:gd name="T46" fmla="*/ 982 w 1748"/>
                  <a:gd name="T47" fmla="*/ 397 h 921"/>
                  <a:gd name="T48" fmla="*/ 940 w 1748"/>
                  <a:gd name="T49" fmla="*/ 421 h 921"/>
                  <a:gd name="T50" fmla="*/ 899 w 1748"/>
                  <a:gd name="T51" fmla="*/ 436 h 921"/>
                  <a:gd name="T52" fmla="*/ 850 w 1748"/>
                  <a:gd name="T53" fmla="*/ 451 h 921"/>
                  <a:gd name="T54" fmla="*/ 792 w 1748"/>
                  <a:gd name="T55" fmla="*/ 458 h 921"/>
                  <a:gd name="T56" fmla="*/ 693 w 1748"/>
                  <a:gd name="T57" fmla="*/ 461 h 921"/>
                  <a:gd name="T58" fmla="*/ 611 w 1748"/>
                  <a:gd name="T59" fmla="*/ 446 h 921"/>
                  <a:gd name="T60" fmla="*/ 526 w 1748"/>
                  <a:gd name="T61" fmla="*/ 416 h 921"/>
                  <a:gd name="T62" fmla="*/ 450 w 1748"/>
                  <a:gd name="T63" fmla="*/ 373 h 921"/>
                  <a:gd name="T64" fmla="*/ 0 w 1748"/>
                  <a:gd name="T65" fmla="*/ 581 h 921"/>
                  <a:gd name="T66" fmla="*/ 41 w 1748"/>
                  <a:gd name="T67" fmla="*/ 624 h 921"/>
                  <a:gd name="T68" fmla="*/ 81 w 1748"/>
                  <a:gd name="T69" fmla="*/ 663 h 921"/>
                  <a:gd name="T70" fmla="*/ 125 w 1748"/>
                  <a:gd name="T71" fmla="*/ 703 h 921"/>
                  <a:gd name="T72" fmla="*/ 169 w 1748"/>
                  <a:gd name="T73" fmla="*/ 736 h 921"/>
                  <a:gd name="T74" fmla="*/ 218 w 1748"/>
                  <a:gd name="T75" fmla="*/ 769 h 921"/>
                  <a:gd name="T76" fmla="*/ 266 w 1748"/>
                  <a:gd name="T77" fmla="*/ 798 h 921"/>
                  <a:gd name="T78" fmla="*/ 311 w 1748"/>
                  <a:gd name="T79" fmla="*/ 822 h 921"/>
                  <a:gd name="T80" fmla="*/ 369 w 1748"/>
                  <a:gd name="T81" fmla="*/ 848 h 921"/>
                  <a:gd name="T82" fmla="*/ 425 w 1748"/>
                  <a:gd name="T83" fmla="*/ 869 h 921"/>
                  <a:gd name="T84" fmla="*/ 476 w 1748"/>
                  <a:gd name="T85" fmla="*/ 886 h 921"/>
                  <a:gd name="T86" fmla="*/ 528 w 1748"/>
                  <a:gd name="T87" fmla="*/ 899 h 921"/>
                  <a:gd name="T88" fmla="*/ 588 w 1748"/>
                  <a:gd name="T89" fmla="*/ 910 h 921"/>
                  <a:gd name="T90" fmla="*/ 651 w 1748"/>
                  <a:gd name="T91" fmla="*/ 917 h 921"/>
                  <a:gd name="T92" fmla="*/ 708 w 1748"/>
                  <a:gd name="T93" fmla="*/ 920 h 921"/>
                  <a:gd name="T94" fmla="*/ 767 w 1748"/>
                  <a:gd name="T95" fmla="*/ 919 h 921"/>
                  <a:gd name="T96" fmla="*/ 826 w 1748"/>
                  <a:gd name="T97" fmla="*/ 916 h 921"/>
                  <a:gd name="T98" fmla="*/ 878 w 1748"/>
                  <a:gd name="T99" fmla="*/ 909 h 92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748" h="921">
                    <a:moveTo>
                      <a:pt x="878" y="909"/>
                    </a:moveTo>
                    <a:lnTo>
                      <a:pt x="896" y="906"/>
                    </a:lnTo>
                    <a:lnTo>
                      <a:pt x="920" y="902"/>
                    </a:lnTo>
                    <a:lnTo>
                      <a:pt x="944" y="897"/>
                    </a:lnTo>
                    <a:lnTo>
                      <a:pt x="961" y="893"/>
                    </a:lnTo>
                    <a:lnTo>
                      <a:pt x="981" y="888"/>
                    </a:lnTo>
                    <a:lnTo>
                      <a:pt x="1001" y="882"/>
                    </a:lnTo>
                    <a:lnTo>
                      <a:pt x="1021" y="877"/>
                    </a:lnTo>
                    <a:lnTo>
                      <a:pt x="1039" y="871"/>
                    </a:lnTo>
                    <a:lnTo>
                      <a:pt x="1059" y="863"/>
                    </a:lnTo>
                    <a:lnTo>
                      <a:pt x="1084" y="854"/>
                    </a:lnTo>
                    <a:lnTo>
                      <a:pt x="1105" y="845"/>
                    </a:lnTo>
                    <a:lnTo>
                      <a:pt x="1125" y="836"/>
                    </a:lnTo>
                    <a:lnTo>
                      <a:pt x="1148" y="826"/>
                    </a:lnTo>
                    <a:lnTo>
                      <a:pt x="1170" y="815"/>
                    </a:lnTo>
                    <a:lnTo>
                      <a:pt x="1190" y="805"/>
                    </a:lnTo>
                    <a:lnTo>
                      <a:pt x="1208" y="793"/>
                    </a:lnTo>
                    <a:lnTo>
                      <a:pt x="1225" y="783"/>
                    </a:lnTo>
                    <a:lnTo>
                      <a:pt x="1242" y="771"/>
                    </a:lnTo>
                    <a:lnTo>
                      <a:pt x="1261" y="760"/>
                    </a:lnTo>
                    <a:lnTo>
                      <a:pt x="1282" y="746"/>
                    </a:lnTo>
                    <a:lnTo>
                      <a:pt x="1301" y="732"/>
                    </a:lnTo>
                    <a:lnTo>
                      <a:pt x="1320" y="718"/>
                    </a:lnTo>
                    <a:lnTo>
                      <a:pt x="1336" y="706"/>
                    </a:lnTo>
                    <a:lnTo>
                      <a:pt x="1364" y="683"/>
                    </a:lnTo>
                    <a:lnTo>
                      <a:pt x="1389" y="661"/>
                    </a:lnTo>
                    <a:lnTo>
                      <a:pt x="1414" y="636"/>
                    </a:lnTo>
                    <a:lnTo>
                      <a:pt x="1440" y="607"/>
                    </a:lnTo>
                    <a:lnTo>
                      <a:pt x="1458" y="586"/>
                    </a:lnTo>
                    <a:lnTo>
                      <a:pt x="1478" y="562"/>
                    </a:lnTo>
                    <a:lnTo>
                      <a:pt x="1500" y="536"/>
                    </a:lnTo>
                    <a:lnTo>
                      <a:pt x="1519" y="510"/>
                    </a:lnTo>
                    <a:lnTo>
                      <a:pt x="1537" y="482"/>
                    </a:lnTo>
                    <a:lnTo>
                      <a:pt x="1559" y="450"/>
                    </a:lnTo>
                    <a:lnTo>
                      <a:pt x="1747" y="560"/>
                    </a:lnTo>
                    <a:lnTo>
                      <a:pt x="1563" y="0"/>
                    </a:lnTo>
                    <a:lnTo>
                      <a:pt x="965" y="106"/>
                    </a:lnTo>
                    <a:lnTo>
                      <a:pt x="1166" y="220"/>
                    </a:lnTo>
                    <a:lnTo>
                      <a:pt x="1149" y="245"/>
                    </a:lnTo>
                    <a:lnTo>
                      <a:pt x="1131" y="266"/>
                    </a:lnTo>
                    <a:lnTo>
                      <a:pt x="1113" y="287"/>
                    </a:lnTo>
                    <a:lnTo>
                      <a:pt x="1095" y="307"/>
                    </a:lnTo>
                    <a:lnTo>
                      <a:pt x="1080" y="322"/>
                    </a:lnTo>
                    <a:lnTo>
                      <a:pt x="1064" y="339"/>
                    </a:lnTo>
                    <a:lnTo>
                      <a:pt x="1046" y="353"/>
                    </a:lnTo>
                    <a:lnTo>
                      <a:pt x="1026" y="368"/>
                    </a:lnTo>
                    <a:lnTo>
                      <a:pt x="1002" y="384"/>
                    </a:lnTo>
                    <a:lnTo>
                      <a:pt x="982" y="397"/>
                    </a:lnTo>
                    <a:lnTo>
                      <a:pt x="965" y="407"/>
                    </a:lnTo>
                    <a:lnTo>
                      <a:pt x="940" y="421"/>
                    </a:lnTo>
                    <a:lnTo>
                      <a:pt x="918" y="430"/>
                    </a:lnTo>
                    <a:lnTo>
                      <a:pt x="899" y="436"/>
                    </a:lnTo>
                    <a:lnTo>
                      <a:pt x="879" y="443"/>
                    </a:lnTo>
                    <a:lnTo>
                      <a:pt x="850" y="451"/>
                    </a:lnTo>
                    <a:lnTo>
                      <a:pt x="821" y="455"/>
                    </a:lnTo>
                    <a:lnTo>
                      <a:pt x="792" y="458"/>
                    </a:lnTo>
                    <a:lnTo>
                      <a:pt x="749" y="460"/>
                    </a:lnTo>
                    <a:lnTo>
                      <a:pt x="693" y="461"/>
                    </a:lnTo>
                    <a:lnTo>
                      <a:pt x="650" y="455"/>
                    </a:lnTo>
                    <a:lnTo>
                      <a:pt x="611" y="446"/>
                    </a:lnTo>
                    <a:lnTo>
                      <a:pt x="566" y="433"/>
                    </a:lnTo>
                    <a:lnTo>
                      <a:pt x="526" y="416"/>
                    </a:lnTo>
                    <a:lnTo>
                      <a:pt x="486" y="396"/>
                    </a:lnTo>
                    <a:lnTo>
                      <a:pt x="450" y="373"/>
                    </a:lnTo>
                    <a:lnTo>
                      <a:pt x="414" y="342"/>
                    </a:lnTo>
                    <a:lnTo>
                      <a:pt x="0" y="581"/>
                    </a:lnTo>
                    <a:lnTo>
                      <a:pt x="17" y="601"/>
                    </a:lnTo>
                    <a:lnTo>
                      <a:pt x="41" y="624"/>
                    </a:lnTo>
                    <a:lnTo>
                      <a:pt x="61" y="644"/>
                    </a:lnTo>
                    <a:lnTo>
                      <a:pt x="81" y="663"/>
                    </a:lnTo>
                    <a:lnTo>
                      <a:pt x="101" y="682"/>
                    </a:lnTo>
                    <a:lnTo>
                      <a:pt x="125" y="703"/>
                    </a:lnTo>
                    <a:lnTo>
                      <a:pt x="147" y="720"/>
                    </a:lnTo>
                    <a:lnTo>
                      <a:pt x="169" y="736"/>
                    </a:lnTo>
                    <a:lnTo>
                      <a:pt x="194" y="752"/>
                    </a:lnTo>
                    <a:lnTo>
                      <a:pt x="218" y="769"/>
                    </a:lnTo>
                    <a:lnTo>
                      <a:pt x="243" y="785"/>
                    </a:lnTo>
                    <a:lnTo>
                      <a:pt x="266" y="798"/>
                    </a:lnTo>
                    <a:lnTo>
                      <a:pt x="289" y="811"/>
                    </a:lnTo>
                    <a:lnTo>
                      <a:pt x="311" y="822"/>
                    </a:lnTo>
                    <a:lnTo>
                      <a:pt x="341" y="836"/>
                    </a:lnTo>
                    <a:lnTo>
                      <a:pt x="369" y="848"/>
                    </a:lnTo>
                    <a:lnTo>
                      <a:pt x="401" y="860"/>
                    </a:lnTo>
                    <a:lnTo>
                      <a:pt x="425" y="869"/>
                    </a:lnTo>
                    <a:lnTo>
                      <a:pt x="449" y="878"/>
                    </a:lnTo>
                    <a:lnTo>
                      <a:pt x="476" y="886"/>
                    </a:lnTo>
                    <a:lnTo>
                      <a:pt x="502" y="893"/>
                    </a:lnTo>
                    <a:lnTo>
                      <a:pt x="528" y="899"/>
                    </a:lnTo>
                    <a:lnTo>
                      <a:pt x="558" y="905"/>
                    </a:lnTo>
                    <a:lnTo>
                      <a:pt x="588" y="910"/>
                    </a:lnTo>
                    <a:lnTo>
                      <a:pt x="619" y="914"/>
                    </a:lnTo>
                    <a:lnTo>
                      <a:pt x="651" y="917"/>
                    </a:lnTo>
                    <a:lnTo>
                      <a:pt x="675" y="918"/>
                    </a:lnTo>
                    <a:lnTo>
                      <a:pt x="708" y="920"/>
                    </a:lnTo>
                    <a:lnTo>
                      <a:pt x="741" y="920"/>
                    </a:lnTo>
                    <a:lnTo>
                      <a:pt x="767" y="919"/>
                    </a:lnTo>
                    <a:lnTo>
                      <a:pt x="795" y="918"/>
                    </a:lnTo>
                    <a:lnTo>
                      <a:pt x="826" y="916"/>
                    </a:lnTo>
                    <a:lnTo>
                      <a:pt x="854" y="912"/>
                    </a:lnTo>
                    <a:lnTo>
                      <a:pt x="878" y="909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022" name="Freeform 6">
                <a:extLst>
                  <a:ext uri="{FF2B5EF4-FFF2-40B4-BE49-F238E27FC236}">
                    <a16:creationId xmlns:a16="http://schemas.microsoft.com/office/drawing/2014/main" id="{189C07E6-FED8-49ED-B868-53DA2FF99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1987"/>
                <a:ext cx="888" cy="1640"/>
              </a:xfrm>
              <a:custGeom>
                <a:avLst/>
                <a:gdLst>
                  <a:gd name="T0" fmla="*/ 868 w 888"/>
                  <a:gd name="T1" fmla="*/ 3 h 1640"/>
                  <a:gd name="T2" fmla="*/ 823 w 888"/>
                  <a:gd name="T3" fmla="*/ 12 h 1640"/>
                  <a:gd name="T4" fmla="*/ 784 w 888"/>
                  <a:gd name="T5" fmla="*/ 22 h 1640"/>
                  <a:gd name="T6" fmla="*/ 745 w 888"/>
                  <a:gd name="T7" fmla="*/ 33 h 1640"/>
                  <a:gd name="T8" fmla="*/ 706 w 888"/>
                  <a:gd name="T9" fmla="*/ 47 h 1640"/>
                  <a:gd name="T10" fmla="*/ 661 w 888"/>
                  <a:gd name="T11" fmla="*/ 65 h 1640"/>
                  <a:gd name="T12" fmla="*/ 618 w 888"/>
                  <a:gd name="T13" fmla="*/ 84 h 1640"/>
                  <a:gd name="T14" fmla="*/ 576 w 888"/>
                  <a:gd name="T15" fmla="*/ 105 h 1640"/>
                  <a:gd name="T16" fmla="*/ 540 w 888"/>
                  <a:gd name="T17" fmla="*/ 127 h 1640"/>
                  <a:gd name="T18" fmla="*/ 504 w 888"/>
                  <a:gd name="T19" fmla="*/ 150 h 1640"/>
                  <a:gd name="T20" fmla="*/ 464 w 888"/>
                  <a:gd name="T21" fmla="*/ 179 h 1640"/>
                  <a:gd name="T22" fmla="*/ 429 w 888"/>
                  <a:gd name="T23" fmla="*/ 205 h 1640"/>
                  <a:gd name="T24" fmla="*/ 373 w 888"/>
                  <a:gd name="T25" fmla="*/ 255 h 1640"/>
                  <a:gd name="T26" fmla="*/ 325 w 888"/>
                  <a:gd name="T27" fmla="*/ 304 h 1640"/>
                  <a:gd name="T28" fmla="*/ 287 w 888"/>
                  <a:gd name="T29" fmla="*/ 349 h 1640"/>
                  <a:gd name="T30" fmla="*/ 247 w 888"/>
                  <a:gd name="T31" fmla="*/ 401 h 1640"/>
                  <a:gd name="T32" fmla="*/ 210 w 888"/>
                  <a:gd name="T33" fmla="*/ 459 h 1640"/>
                  <a:gd name="T34" fmla="*/ 177 w 888"/>
                  <a:gd name="T35" fmla="*/ 515 h 1640"/>
                  <a:gd name="T36" fmla="*/ 149 w 888"/>
                  <a:gd name="T37" fmla="*/ 578 h 1640"/>
                  <a:gd name="T38" fmla="*/ 125 w 888"/>
                  <a:gd name="T39" fmla="*/ 645 h 1640"/>
                  <a:gd name="T40" fmla="*/ 100 w 888"/>
                  <a:gd name="T41" fmla="*/ 728 h 1640"/>
                  <a:gd name="T42" fmla="*/ 85 w 888"/>
                  <a:gd name="T43" fmla="*/ 809 h 1640"/>
                  <a:gd name="T44" fmla="*/ 73 w 888"/>
                  <a:gd name="T45" fmla="*/ 914 h 1640"/>
                  <a:gd name="T46" fmla="*/ 73 w 888"/>
                  <a:gd name="T47" fmla="*/ 1005 h 1640"/>
                  <a:gd name="T48" fmla="*/ 82 w 888"/>
                  <a:gd name="T49" fmla="*/ 1088 h 1640"/>
                  <a:gd name="T50" fmla="*/ 96 w 888"/>
                  <a:gd name="T51" fmla="*/ 1173 h 1640"/>
                  <a:gd name="T52" fmla="*/ 123 w 888"/>
                  <a:gd name="T53" fmla="*/ 1267 h 1640"/>
                  <a:gd name="T54" fmla="*/ 155 w 888"/>
                  <a:gd name="T55" fmla="*/ 1354 h 1640"/>
                  <a:gd name="T56" fmla="*/ 199 w 888"/>
                  <a:gd name="T57" fmla="*/ 1436 h 1640"/>
                  <a:gd name="T58" fmla="*/ 608 w 888"/>
                  <a:gd name="T59" fmla="*/ 1639 h 1640"/>
                  <a:gd name="T60" fmla="*/ 598 w 888"/>
                  <a:gd name="T61" fmla="*/ 1205 h 1640"/>
                  <a:gd name="T62" fmla="*/ 561 w 888"/>
                  <a:gd name="T63" fmla="*/ 1137 h 1640"/>
                  <a:gd name="T64" fmla="*/ 539 w 888"/>
                  <a:gd name="T65" fmla="*/ 1071 h 1640"/>
                  <a:gd name="T66" fmla="*/ 531 w 888"/>
                  <a:gd name="T67" fmla="*/ 1008 h 1640"/>
                  <a:gd name="T68" fmla="*/ 528 w 888"/>
                  <a:gd name="T69" fmla="*/ 946 h 1640"/>
                  <a:gd name="T70" fmla="*/ 534 w 888"/>
                  <a:gd name="T71" fmla="*/ 873 h 1640"/>
                  <a:gd name="T72" fmla="*/ 551 w 888"/>
                  <a:gd name="T73" fmla="*/ 801 h 1640"/>
                  <a:gd name="T74" fmla="*/ 577 w 888"/>
                  <a:gd name="T75" fmla="*/ 734 h 1640"/>
                  <a:gd name="T76" fmla="*/ 608 w 888"/>
                  <a:gd name="T77" fmla="*/ 681 h 1640"/>
                  <a:gd name="T78" fmla="*/ 636 w 888"/>
                  <a:gd name="T79" fmla="*/ 643 h 1640"/>
                  <a:gd name="T80" fmla="*/ 670 w 888"/>
                  <a:gd name="T81" fmla="*/ 604 h 1640"/>
                  <a:gd name="T82" fmla="*/ 702 w 888"/>
                  <a:gd name="T83" fmla="*/ 572 h 1640"/>
                  <a:gd name="T84" fmla="*/ 739 w 888"/>
                  <a:gd name="T85" fmla="*/ 543 h 1640"/>
                  <a:gd name="T86" fmla="*/ 783 w 888"/>
                  <a:gd name="T87" fmla="*/ 514 h 1640"/>
                  <a:gd name="T88" fmla="*/ 825 w 888"/>
                  <a:gd name="T89" fmla="*/ 490 h 1640"/>
                  <a:gd name="T90" fmla="*/ 887 w 888"/>
                  <a:gd name="T91" fmla="*/ 469 h 1640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888" h="1640">
                    <a:moveTo>
                      <a:pt x="887" y="0"/>
                    </a:moveTo>
                    <a:lnTo>
                      <a:pt x="868" y="3"/>
                    </a:lnTo>
                    <a:lnTo>
                      <a:pt x="849" y="6"/>
                    </a:lnTo>
                    <a:lnTo>
                      <a:pt x="823" y="12"/>
                    </a:lnTo>
                    <a:lnTo>
                      <a:pt x="804" y="16"/>
                    </a:lnTo>
                    <a:lnTo>
                      <a:pt x="784" y="22"/>
                    </a:lnTo>
                    <a:lnTo>
                      <a:pt x="765" y="28"/>
                    </a:lnTo>
                    <a:lnTo>
                      <a:pt x="745" y="33"/>
                    </a:lnTo>
                    <a:lnTo>
                      <a:pt x="726" y="39"/>
                    </a:lnTo>
                    <a:lnTo>
                      <a:pt x="706" y="47"/>
                    </a:lnTo>
                    <a:lnTo>
                      <a:pt x="682" y="56"/>
                    </a:lnTo>
                    <a:lnTo>
                      <a:pt x="661" y="65"/>
                    </a:lnTo>
                    <a:lnTo>
                      <a:pt x="640" y="74"/>
                    </a:lnTo>
                    <a:lnTo>
                      <a:pt x="618" y="84"/>
                    </a:lnTo>
                    <a:lnTo>
                      <a:pt x="596" y="95"/>
                    </a:lnTo>
                    <a:lnTo>
                      <a:pt x="576" y="105"/>
                    </a:lnTo>
                    <a:lnTo>
                      <a:pt x="557" y="117"/>
                    </a:lnTo>
                    <a:lnTo>
                      <a:pt x="540" y="127"/>
                    </a:lnTo>
                    <a:lnTo>
                      <a:pt x="523" y="139"/>
                    </a:lnTo>
                    <a:lnTo>
                      <a:pt x="504" y="150"/>
                    </a:lnTo>
                    <a:lnTo>
                      <a:pt x="483" y="164"/>
                    </a:lnTo>
                    <a:lnTo>
                      <a:pt x="464" y="179"/>
                    </a:lnTo>
                    <a:lnTo>
                      <a:pt x="446" y="193"/>
                    </a:lnTo>
                    <a:lnTo>
                      <a:pt x="429" y="205"/>
                    </a:lnTo>
                    <a:lnTo>
                      <a:pt x="401" y="228"/>
                    </a:lnTo>
                    <a:lnTo>
                      <a:pt x="373" y="255"/>
                    </a:lnTo>
                    <a:lnTo>
                      <a:pt x="351" y="275"/>
                    </a:lnTo>
                    <a:lnTo>
                      <a:pt x="325" y="304"/>
                    </a:lnTo>
                    <a:lnTo>
                      <a:pt x="307" y="325"/>
                    </a:lnTo>
                    <a:lnTo>
                      <a:pt x="287" y="349"/>
                    </a:lnTo>
                    <a:lnTo>
                      <a:pt x="265" y="376"/>
                    </a:lnTo>
                    <a:lnTo>
                      <a:pt x="247" y="401"/>
                    </a:lnTo>
                    <a:lnTo>
                      <a:pt x="229" y="431"/>
                    </a:lnTo>
                    <a:lnTo>
                      <a:pt x="210" y="459"/>
                    </a:lnTo>
                    <a:lnTo>
                      <a:pt x="192" y="489"/>
                    </a:lnTo>
                    <a:lnTo>
                      <a:pt x="177" y="515"/>
                    </a:lnTo>
                    <a:lnTo>
                      <a:pt x="163" y="547"/>
                    </a:lnTo>
                    <a:lnTo>
                      <a:pt x="149" y="578"/>
                    </a:lnTo>
                    <a:lnTo>
                      <a:pt x="137" y="610"/>
                    </a:lnTo>
                    <a:lnTo>
                      <a:pt x="125" y="645"/>
                    </a:lnTo>
                    <a:lnTo>
                      <a:pt x="110" y="688"/>
                    </a:lnTo>
                    <a:lnTo>
                      <a:pt x="100" y="728"/>
                    </a:lnTo>
                    <a:lnTo>
                      <a:pt x="90" y="769"/>
                    </a:lnTo>
                    <a:lnTo>
                      <a:pt x="85" y="809"/>
                    </a:lnTo>
                    <a:lnTo>
                      <a:pt x="78" y="856"/>
                    </a:lnTo>
                    <a:lnTo>
                      <a:pt x="73" y="914"/>
                    </a:lnTo>
                    <a:lnTo>
                      <a:pt x="72" y="960"/>
                    </a:lnTo>
                    <a:lnTo>
                      <a:pt x="73" y="1005"/>
                    </a:lnTo>
                    <a:lnTo>
                      <a:pt x="77" y="1048"/>
                    </a:lnTo>
                    <a:lnTo>
                      <a:pt x="82" y="1088"/>
                    </a:lnTo>
                    <a:lnTo>
                      <a:pt x="87" y="1130"/>
                    </a:lnTo>
                    <a:lnTo>
                      <a:pt x="96" y="1173"/>
                    </a:lnTo>
                    <a:lnTo>
                      <a:pt x="108" y="1219"/>
                    </a:lnTo>
                    <a:lnTo>
                      <a:pt x="123" y="1267"/>
                    </a:lnTo>
                    <a:lnTo>
                      <a:pt x="138" y="1311"/>
                    </a:lnTo>
                    <a:lnTo>
                      <a:pt x="155" y="1354"/>
                    </a:lnTo>
                    <a:lnTo>
                      <a:pt x="175" y="1396"/>
                    </a:lnTo>
                    <a:lnTo>
                      <a:pt x="199" y="1436"/>
                    </a:lnTo>
                    <a:lnTo>
                      <a:pt x="0" y="1549"/>
                    </a:lnTo>
                    <a:lnTo>
                      <a:pt x="608" y="1639"/>
                    </a:lnTo>
                    <a:lnTo>
                      <a:pt x="832" y="1080"/>
                    </a:lnTo>
                    <a:lnTo>
                      <a:pt x="598" y="1205"/>
                    </a:lnTo>
                    <a:lnTo>
                      <a:pt x="575" y="1169"/>
                    </a:lnTo>
                    <a:lnTo>
                      <a:pt x="561" y="1137"/>
                    </a:lnTo>
                    <a:lnTo>
                      <a:pt x="548" y="1104"/>
                    </a:lnTo>
                    <a:lnTo>
                      <a:pt x="539" y="1071"/>
                    </a:lnTo>
                    <a:lnTo>
                      <a:pt x="533" y="1039"/>
                    </a:lnTo>
                    <a:lnTo>
                      <a:pt x="531" y="1008"/>
                    </a:lnTo>
                    <a:lnTo>
                      <a:pt x="528" y="977"/>
                    </a:lnTo>
                    <a:lnTo>
                      <a:pt x="528" y="946"/>
                    </a:lnTo>
                    <a:lnTo>
                      <a:pt x="530" y="909"/>
                    </a:lnTo>
                    <a:lnTo>
                      <a:pt x="534" y="873"/>
                    </a:lnTo>
                    <a:lnTo>
                      <a:pt x="542" y="833"/>
                    </a:lnTo>
                    <a:lnTo>
                      <a:pt x="551" y="801"/>
                    </a:lnTo>
                    <a:lnTo>
                      <a:pt x="565" y="765"/>
                    </a:lnTo>
                    <a:lnTo>
                      <a:pt x="577" y="734"/>
                    </a:lnTo>
                    <a:lnTo>
                      <a:pt x="594" y="704"/>
                    </a:lnTo>
                    <a:lnTo>
                      <a:pt x="608" y="681"/>
                    </a:lnTo>
                    <a:lnTo>
                      <a:pt x="622" y="662"/>
                    </a:lnTo>
                    <a:lnTo>
                      <a:pt x="636" y="643"/>
                    </a:lnTo>
                    <a:lnTo>
                      <a:pt x="652" y="624"/>
                    </a:lnTo>
                    <a:lnTo>
                      <a:pt x="670" y="604"/>
                    </a:lnTo>
                    <a:lnTo>
                      <a:pt x="685" y="590"/>
                    </a:lnTo>
                    <a:lnTo>
                      <a:pt x="702" y="572"/>
                    </a:lnTo>
                    <a:lnTo>
                      <a:pt x="719" y="558"/>
                    </a:lnTo>
                    <a:lnTo>
                      <a:pt x="739" y="543"/>
                    </a:lnTo>
                    <a:lnTo>
                      <a:pt x="763" y="527"/>
                    </a:lnTo>
                    <a:lnTo>
                      <a:pt x="783" y="514"/>
                    </a:lnTo>
                    <a:lnTo>
                      <a:pt x="800" y="504"/>
                    </a:lnTo>
                    <a:lnTo>
                      <a:pt x="825" y="490"/>
                    </a:lnTo>
                    <a:lnTo>
                      <a:pt x="849" y="480"/>
                    </a:lnTo>
                    <a:lnTo>
                      <a:pt x="887" y="469"/>
                    </a:lnTo>
                    <a:lnTo>
                      <a:pt x="887" y="0"/>
                    </a:lnTo>
                  </a:path>
                </a:pathLst>
              </a:custGeom>
              <a:solidFill>
                <a:srgbClr val="008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023" name="Freeform 7">
                <a:extLst>
                  <a:ext uri="{FF2B5EF4-FFF2-40B4-BE49-F238E27FC236}">
                    <a16:creationId xmlns:a16="http://schemas.microsoft.com/office/drawing/2014/main" id="{A458896A-FFB8-4AC6-A3A4-B5337CA47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1765"/>
                <a:ext cx="1318" cy="1485"/>
              </a:xfrm>
              <a:custGeom>
                <a:avLst/>
                <a:gdLst>
                  <a:gd name="T0" fmla="*/ 520 w 1318"/>
                  <a:gd name="T1" fmla="*/ 220 h 1485"/>
                  <a:gd name="T2" fmla="*/ 568 w 1318"/>
                  <a:gd name="T3" fmla="*/ 230 h 1485"/>
                  <a:gd name="T4" fmla="*/ 605 w 1318"/>
                  <a:gd name="T5" fmla="*/ 239 h 1485"/>
                  <a:gd name="T6" fmla="*/ 644 w 1318"/>
                  <a:gd name="T7" fmla="*/ 251 h 1485"/>
                  <a:gd name="T8" fmla="*/ 683 w 1318"/>
                  <a:gd name="T9" fmla="*/ 264 h 1485"/>
                  <a:gd name="T10" fmla="*/ 728 w 1318"/>
                  <a:gd name="T11" fmla="*/ 282 h 1485"/>
                  <a:gd name="T12" fmla="*/ 771 w 1318"/>
                  <a:gd name="T13" fmla="*/ 301 h 1485"/>
                  <a:gd name="T14" fmla="*/ 813 w 1318"/>
                  <a:gd name="T15" fmla="*/ 322 h 1485"/>
                  <a:gd name="T16" fmla="*/ 849 w 1318"/>
                  <a:gd name="T17" fmla="*/ 344 h 1485"/>
                  <a:gd name="T18" fmla="*/ 885 w 1318"/>
                  <a:gd name="T19" fmla="*/ 367 h 1485"/>
                  <a:gd name="T20" fmla="*/ 925 w 1318"/>
                  <a:gd name="T21" fmla="*/ 396 h 1485"/>
                  <a:gd name="T22" fmla="*/ 960 w 1318"/>
                  <a:gd name="T23" fmla="*/ 423 h 1485"/>
                  <a:gd name="T24" fmla="*/ 1016 w 1318"/>
                  <a:gd name="T25" fmla="*/ 472 h 1485"/>
                  <a:gd name="T26" fmla="*/ 1064 w 1318"/>
                  <a:gd name="T27" fmla="*/ 521 h 1485"/>
                  <a:gd name="T28" fmla="*/ 1102 w 1318"/>
                  <a:gd name="T29" fmla="*/ 566 h 1485"/>
                  <a:gd name="T30" fmla="*/ 1142 w 1318"/>
                  <a:gd name="T31" fmla="*/ 619 h 1485"/>
                  <a:gd name="T32" fmla="*/ 1179 w 1318"/>
                  <a:gd name="T33" fmla="*/ 676 h 1485"/>
                  <a:gd name="T34" fmla="*/ 1211 w 1318"/>
                  <a:gd name="T35" fmla="*/ 732 h 1485"/>
                  <a:gd name="T36" fmla="*/ 1240 w 1318"/>
                  <a:gd name="T37" fmla="*/ 795 h 1485"/>
                  <a:gd name="T38" fmla="*/ 1264 w 1318"/>
                  <a:gd name="T39" fmla="*/ 862 h 1485"/>
                  <a:gd name="T40" fmla="*/ 1289 w 1318"/>
                  <a:gd name="T41" fmla="*/ 945 h 1485"/>
                  <a:gd name="T42" fmla="*/ 1304 w 1318"/>
                  <a:gd name="T43" fmla="*/ 1026 h 1485"/>
                  <a:gd name="T44" fmla="*/ 1316 w 1318"/>
                  <a:gd name="T45" fmla="*/ 1132 h 1485"/>
                  <a:gd name="T46" fmla="*/ 1316 w 1318"/>
                  <a:gd name="T47" fmla="*/ 1222 h 1485"/>
                  <a:gd name="T48" fmla="*/ 1307 w 1318"/>
                  <a:gd name="T49" fmla="*/ 1305 h 1485"/>
                  <a:gd name="T50" fmla="*/ 1293 w 1318"/>
                  <a:gd name="T51" fmla="*/ 1390 h 1485"/>
                  <a:gd name="T52" fmla="*/ 1266 w 1318"/>
                  <a:gd name="T53" fmla="*/ 1484 h 1485"/>
                  <a:gd name="T54" fmla="*/ 851 w 1318"/>
                  <a:gd name="T55" fmla="*/ 1272 h 1485"/>
                  <a:gd name="T56" fmla="*/ 861 w 1318"/>
                  <a:gd name="T57" fmla="*/ 1195 h 1485"/>
                  <a:gd name="T58" fmla="*/ 859 w 1318"/>
                  <a:gd name="T59" fmla="*/ 1126 h 1485"/>
                  <a:gd name="T60" fmla="*/ 847 w 1318"/>
                  <a:gd name="T61" fmla="*/ 1050 h 1485"/>
                  <a:gd name="T62" fmla="*/ 824 w 1318"/>
                  <a:gd name="T63" fmla="*/ 982 h 1485"/>
                  <a:gd name="T64" fmla="*/ 795 w 1318"/>
                  <a:gd name="T65" fmla="*/ 921 h 1485"/>
                  <a:gd name="T66" fmla="*/ 767 w 1318"/>
                  <a:gd name="T67" fmla="*/ 879 h 1485"/>
                  <a:gd name="T68" fmla="*/ 737 w 1318"/>
                  <a:gd name="T69" fmla="*/ 841 h 1485"/>
                  <a:gd name="T70" fmla="*/ 704 w 1318"/>
                  <a:gd name="T71" fmla="*/ 807 h 1485"/>
                  <a:gd name="T72" fmla="*/ 670 w 1318"/>
                  <a:gd name="T73" fmla="*/ 775 h 1485"/>
                  <a:gd name="T74" fmla="*/ 626 w 1318"/>
                  <a:gd name="T75" fmla="*/ 745 h 1485"/>
                  <a:gd name="T76" fmla="*/ 589 w 1318"/>
                  <a:gd name="T77" fmla="*/ 722 h 1485"/>
                  <a:gd name="T78" fmla="*/ 542 w 1318"/>
                  <a:gd name="T79" fmla="*/ 699 h 1485"/>
                  <a:gd name="T80" fmla="*/ 503 w 1318"/>
                  <a:gd name="T81" fmla="*/ 685 h 1485"/>
                  <a:gd name="T82" fmla="*/ 445 w 1318"/>
                  <a:gd name="T83" fmla="*/ 673 h 1485"/>
                  <a:gd name="T84" fmla="*/ 387 w 1318"/>
                  <a:gd name="T85" fmla="*/ 668 h 1485"/>
                  <a:gd name="T86" fmla="*/ 371 w 1318"/>
                  <a:gd name="T87" fmla="*/ 908 h 1485"/>
                  <a:gd name="T88" fmla="*/ 370 w 1318"/>
                  <a:gd name="T89" fmla="*/ 0 h 1485"/>
                  <a:gd name="T90" fmla="*/ 390 w 1318"/>
                  <a:gd name="T91" fmla="*/ 208 h 1485"/>
                  <a:gd name="T92" fmla="*/ 449 w 1318"/>
                  <a:gd name="T93" fmla="*/ 211 h 1485"/>
                  <a:gd name="T94" fmla="*/ 502 w 1318"/>
                  <a:gd name="T95" fmla="*/ 217 h 148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318" h="1485">
                    <a:moveTo>
                      <a:pt x="502" y="217"/>
                    </a:moveTo>
                    <a:lnTo>
                      <a:pt x="520" y="220"/>
                    </a:lnTo>
                    <a:lnTo>
                      <a:pt x="544" y="224"/>
                    </a:lnTo>
                    <a:lnTo>
                      <a:pt x="568" y="230"/>
                    </a:lnTo>
                    <a:lnTo>
                      <a:pt x="585" y="234"/>
                    </a:lnTo>
                    <a:lnTo>
                      <a:pt x="605" y="239"/>
                    </a:lnTo>
                    <a:lnTo>
                      <a:pt x="624" y="245"/>
                    </a:lnTo>
                    <a:lnTo>
                      <a:pt x="644" y="251"/>
                    </a:lnTo>
                    <a:lnTo>
                      <a:pt x="662" y="256"/>
                    </a:lnTo>
                    <a:lnTo>
                      <a:pt x="683" y="264"/>
                    </a:lnTo>
                    <a:lnTo>
                      <a:pt x="707" y="274"/>
                    </a:lnTo>
                    <a:lnTo>
                      <a:pt x="728" y="282"/>
                    </a:lnTo>
                    <a:lnTo>
                      <a:pt x="748" y="291"/>
                    </a:lnTo>
                    <a:lnTo>
                      <a:pt x="771" y="301"/>
                    </a:lnTo>
                    <a:lnTo>
                      <a:pt x="793" y="312"/>
                    </a:lnTo>
                    <a:lnTo>
                      <a:pt x="813" y="322"/>
                    </a:lnTo>
                    <a:lnTo>
                      <a:pt x="832" y="334"/>
                    </a:lnTo>
                    <a:lnTo>
                      <a:pt x="849" y="344"/>
                    </a:lnTo>
                    <a:lnTo>
                      <a:pt x="866" y="356"/>
                    </a:lnTo>
                    <a:lnTo>
                      <a:pt x="885" y="367"/>
                    </a:lnTo>
                    <a:lnTo>
                      <a:pt x="906" y="382"/>
                    </a:lnTo>
                    <a:lnTo>
                      <a:pt x="925" y="396"/>
                    </a:lnTo>
                    <a:lnTo>
                      <a:pt x="943" y="410"/>
                    </a:lnTo>
                    <a:lnTo>
                      <a:pt x="960" y="423"/>
                    </a:lnTo>
                    <a:lnTo>
                      <a:pt x="988" y="446"/>
                    </a:lnTo>
                    <a:lnTo>
                      <a:pt x="1016" y="472"/>
                    </a:lnTo>
                    <a:lnTo>
                      <a:pt x="1038" y="492"/>
                    </a:lnTo>
                    <a:lnTo>
                      <a:pt x="1064" y="521"/>
                    </a:lnTo>
                    <a:lnTo>
                      <a:pt x="1082" y="542"/>
                    </a:lnTo>
                    <a:lnTo>
                      <a:pt x="1102" y="566"/>
                    </a:lnTo>
                    <a:lnTo>
                      <a:pt x="1124" y="593"/>
                    </a:lnTo>
                    <a:lnTo>
                      <a:pt x="1142" y="619"/>
                    </a:lnTo>
                    <a:lnTo>
                      <a:pt x="1160" y="648"/>
                    </a:lnTo>
                    <a:lnTo>
                      <a:pt x="1179" y="676"/>
                    </a:lnTo>
                    <a:lnTo>
                      <a:pt x="1195" y="706"/>
                    </a:lnTo>
                    <a:lnTo>
                      <a:pt x="1211" y="732"/>
                    </a:lnTo>
                    <a:lnTo>
                      <a:pt x="1226" y="764"/>
                    </a:lnTo>
                    <a:lnTo>
                      <a:pt x="1240" y="795"/>
                    </a:lnTo>
                    <a:lnTo>
                      <a:pt x="1252" y="827"/>
                    </a:lnTo>
                    <a:lnTo>
                      <a:pt x="1264" y="862"/>
                    </a:lnTo>
                    <a:lnTo>
                      <a:pt x="1279" y="905"/>
                    </a:lnTo>
                    <a:lnTo>
                      <a:pt x="1289" y="945"/>
                    </a:lnTo>
                    <a:lnTo>
                      <a:pt x="1299" y="986"/>
                    </a:lnTo>
                    <a:lnTo>
                      <a:pt x="1304" y="1026"/>
                    </a:lnTo>
                    <a:lnTo>
                      <a:pt x="1311" y="1073"/>
                    </a:lnTo>
                    <a:lnTo>
                      <a:pt x="1316" y="1132"/>
                    </a:lnTo>
                    <a:lnTo>
                      <a:pt x="1317" y="1177"/>
                    </a:lnTo>
                    <a:lnTo>
                      <a:pt x="1316" y="1222"/>
                    </a:lnTo>
                    <a:lnTo>
                      <a:pt x="1312" y="1265"/>
                    </a:lnTo>
                    <a:lnTo>
                      <a:pt x="1307" y="1305"/>
                    </a:lnTo>
                    <a:lnTo>
                      <a:pt x="1302" y="1347"/>
                    </a:lnTo>
                    <a:lnTo>
                      <a:pt x="1293" y="1390"/>
                    </a:lnTo>
                    <a:lnTo>
                      <a:pt x="1281" y="1436"/>
                    </a:lnTo>
                    <a:lnTo>
                      <a:pt x="1266" y="1484"/>
                    </a:lnTo>
                    <a:lnTo>
                      <a:pt x="1180" y="1216"/>
                    </a:lnTo>
                    <a:lnTo>
                      <a:pt x="851" y="1272"/>
                    </a:lnTo>
                    <a:lnTo>
                      <a:pt x="858" y="1225"/>
                    </a:lnTo>
                    <a:lnTo>
                      <a:pt x="861" y="1195"/>
                    </a:lnTo>
                    <a:lnTo>
                      <a:pt x="861" y="1163"/>
                    </a:lnTo>
                    <a:lnTo>
                      <a:pt x="859" y="1126"/>
                    </a:lnTo>
                    <a:lnTo>
                      <a:pt x="854" y="1090"/>
                    </a:lnTo>
                    <a:lnTo>
                      <a:pt x="847" y="1050"/>
                    </a:lnTo>
                    <a:lnTo>
                      <a:pt x="838" y="1018"/>
                    </a:lnTo>
                    <a:lnTo>
                      <a:pt x="824" y="982"/>
                    </a:lnTo>
                    <a:lnTo>
                      <a:pt x="811" y="951"/>
                    </a:lnTo>
                    <a:lnTo>
                      <a:pt x="795" y="921"/>
                    </a:lnTo>
                    <a:lnTo>
                      <a:pt x="781" y="898"/>
                    </a:lnTo>
                    <a:lnTo>
                      <a:pt x="767" y="879"/>
                    </a:lnTo>
                    <a:lnTo>
                      <a:pt x="753" y="860"/>
                    </a:lnTo>
                    <a:lnTo>
                      <a:pt x="737" y="841"/>
                    </a:lnTo>
                    <a:lnTo>
                      <a:pt x="719" y="821"/>
                    </a:lnTo>
                    <a:lnTo>
                      <a:pt x="704" y="807"/>
                    </a:lnTo>
                    <a:lnTo>
                      <a:pt x="687" y="790"/>
                    </a:lnTo>
                    <a:lnTo>
                      <a:pt x="670" y="775"/>
                    </a:lnTo>
                    <a:lnTo>
                      <a:pt x="650" y="760"/>
                    </a:lnTo>
                    <a:lnTo>
                      <a:pt x="626" y="745"/>
                    </a:lnTo>
                    <a:lnTo>
                      <a:pt x="606" y="731"/>
                    </a:lnTo>
                    <a:lnTo>
                      <a:pt x="589" y="722"/>
                    </a:lnTo>
                    <a:lnTo>
                      <a:pt x="564" y="707"/>
                    </a:lnTo>
                    <a:lnTo>
                      <a:pt x="542" y="699"/>
                    </a:lnTo>
                    <a:lnTo>
                      <a:pt x="523" y="692"/>
                    </a:lnTo>
                    <a:lnTo>
                      <a:pt x="503" y="685"/>
                    </a:lnTo>
                    <a:lnTo>
                      <a:pt x="473" y="678"/>
                    </a:lnTo>
                    <a:lnTo>
                      <a:pt x="445" y="673"/>
                    </a:lnTo>
                    <a:lnTo>
                      <a:pt x="416" y="670"/>
                    </a:lnTo>
                    <a:lnTo>
                      <a:pt x="387" y="668"/>
                    </a:lnTo>
                    <a:lnTo>
                      <a:pt x="371" y="667"/>
                    </a:lnTo>
                    <a:lnTo>
                      <a:pt x="371" y="908"/>
                    </a:lnTo>
                    <a:lnTo>
                      <a:pt x="0" y="461"/>
                    </a:lnTo>
                    <a:lnTo>
                      <a:pt x="370" y="0"/>
                    </a:lnTo>
                    <a:lnTo>
                      <a:pt x="370" y="207"/>
                    </a:lnTo>
                    <a:lnTo>
                      <a:pt x="390" y="208"/>
                    </a:lnTo>
                    <a:lnTo>
                      <a:pt x="419" y="209"/>
                    </a:lnTo>
                    <a:lnTo>
                      <a:pt x="449" y="211"/>
                    </a:lnTo>
                    <a:lnTo>
                      <a:pt x="478" y="214"/>
                    </a:lnTo>
                    <a:lnTo>
                      <a:pt x="502" y="217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3018" name="Rectangle 8">
              <a:extLst>
                <a:ext uri="{FF2B5EF4-FFF2-40B4-BE49-F238E27FC236}">
                  <a16:creationId xmlns:a16="http://schemas.microsoft.com/office/drawing/2014/main" id="{FEE45A3C-DA8D-49DB-9960-6C6A9FDFF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000" y="3273425"/>
              <a:ext cx="2153725" cy="769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3200">
                  <a:solidFill>
                    <a:srgbClr val="143464"/>
                  </a:solidFill>
                </a:rPr>
                <a:t>Design</a:t>
              </a:r>
            </a:p>
          </p:txBody>
        </p:sp>
        <p:sp>
          <p:nvSpPr>
            <p:cNvPr id="43019" name="Rectangle 9">
              <a:extLst>
                <a:ext uri="{FF2B5EF4-FFF2-40B4-BE49-F238E27FC236}">
                  <a16:creationId xmlns:a16="http://schemas.microsoft.com/office/drawing/2014/main" id="{9F0DEDEE-6356-43A2-8A7E-6177A4C98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5200" y="3654425"/>
              <a:ext cx="2857464" cy="769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3200">
                  <a:solidFill>
                    <a:srgbClr val="143464"/>
                  </a:solidFill>
                </a:rPr>
                <a:t>Prototype</a:t>
              </a:r>
            </a:p>
          </p:txBody>
        </p:sp>
        <p:sp>
          <p:nvSpPr>
            <p:cNvPr id="43020" name="Rectangle 10">
              <a:extLst>
                <a:ext uri="{FF2B5EF4-FFF2-40B4-BE49-F238E27FC236}">
                  <a16:creationId xmlns:a16="http://schemas.microsoft.com/office/drawing/2014/main" id="{5EFE329A-9E95-4F4C-AC0B-E30AF58B9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599" y="6321425"/>
              <a:ext cx="2623672" cy="769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3200">
                  <a:solidFill>
                    <a:srgbClr val="143464"/>
                  </a:solidFill>
                </a:rPr>
                <a:t>Evaluate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3460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Title 4">
            <a:extLst>
              <a:ext uri="{FF2B5EF4-FFF2-40B4-BE49-F238E27FC236}">
                <a16:creationId xmlns:a16="http://schemas.microsoft.com/office/drawing/2014/main" id="{F567F912-59B3-4DAC-820C-DCF89CEC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4. Evaluating designs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2AF392-3468-4828-AAE6-976201CE1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1800" dirty="0"/>
              <a:t>Let users validate or invalidate the design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1800" dirty="0"/>
              <a:t>Ask the user to complete selected typical tasks (from scenarios) and think aloud while they do it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1800" dirty="0"/>
              <a:t>Test early in the process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1800" dirty="0"/>
              <a:t>Can test with 3-5 users (or less!)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1800" dirty="0"/>
              <a:t>“Formal” testing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1800" dirty="0"/>
              <a:t>Measures “success”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Lucida Grande" charset="0"/>
              <a:buChar char="–"/>
              <a:defRPr/>
            </a:pPr>
            <a:r>
              <a:rPr lang="en-US" sz="1800" dirty="0"/>
              <a:t>Set success criteria prior to testing (best done at the project outset)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Lucida Grande" charset="0"/>
              <a:buChar char="–"/>
              <a:defRPr/>
            </a:pPr>
            <a:r>
              <a:rPr lang="en-US" sz="1800" dirty="0"/>
              <a:t>Compare to baseline if you have one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Font typeface="Lucida Grande" charset="0"/>
              <a:buChar char="–"/>
              <a:defRPr/>
            </a:pPr>
            <a:r>
              <a:rPr lang="en-US" sz="1800" dirty="0"/>
              <a:t>Have usability problems revealed in the heuristic evaluation been addressed?</a:t>
            </a:r>
          </a:p>
          <a:p>
            <a:pPr marL="0" indent="0">
              <a:spcBef>
                <a:spcPts val="600"/>
              </a:spcBef>
              <a:buNone/>
              <a:defRPr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31571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Title 4">
            <a:extLst>
              <a:ext uri="{FF2B5EF4-FFF2-40B4-BE49-F238E27FC236}">
                <a16:creationId xmlns:a16="http://schemas.microsoft.com/office/drawing/2014/main" id="{A4E34809-697A-4171-A9CB-1269E08E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5. Evaluating designs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B10D95-F4BC-4153-B1B9-5ACA80AE0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000" dirty="0"/>
              <a:t>Define what is to be tested</a:t>
            </a:r>
          </a:p>
          <a:p>
            <a:pPr eaLnBrk="1" hangingPunct="1">
              <a:defRPr/>
            </a:pPr>
            <a:r>
              <a:rPr lang="en-US" sz="2000" dirty="0"/>
              <a:t>Select users based on personas</a:t>
            </a:r>
          </a:p>
          <a:p>
            <a:pPr eaLnBrk="1" hangingPunct="1">
              <a:defRPr/>
            </a:pPr>
            <a:r>
              <a:rPr lang="en-US" sz="2000" dirty="0"/>
              <a:t>Administer the tests</a:t>
            </a:r>
          </a:p>
          <a:p>
            <a:pPr eaLnBrk="1" hangingPunct="1">
              <a:defRPr/>
            </a:pPr>
            <a:r>
              <a:rPr lang="en-US" sz="2000" dirty="0"/>
              <a:t>Analyze the data</a:t>
            </a:r>
          </a:p>
          <a:p>
            <a:pPr eaLnBrk="1" hangingPunct="1">
              <a:defRPr/>
            </a:pPr>
            <a:r>
              <a:rPr lang="en-US" sz="2000" dirty="0"/>
              <a:t>Document the findings in a brief</a:t>
            </a:r>
          </a:p>
          <a:p>
            <a:pPr eaLnBrk="1" hangingPunct="1">
              <a:defRPr/>
            </a:pPr>
            <a:r>
              <a:rPr lang="en-US" sz="2000" dirty="0"/>
              <a:t>Share the findings with the development team</a:t>
            </a:r>
          </a:p>
          <a:p>
            <a:pPr eaLnBrk="1" hangingPunct="1">
              <a:defRPr/>
            </a:pPr>
            <a:r>
              <a:rPr lang="en-US" sz="2000" dirty="0"/>
              <a:t>Determine what design changes will be made based on test results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17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294967295"/>
          </p:nvPr>
        </p:nvSpPr>
        <p:spPr>
          <a:xfrm>
            <a:off x="584200" y="1139825"/>
            <a:ext cx="11607800" cy="5094288"/>
          </a:xfrm>
        </p:spPr>
        <p:txBody>
          <a:bodyPr>
            <a:normAutofit/>
          </a:bodyPr>
          <a:lstStyle/>
          <a:p>
            <a:pPr marL="5080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467078" y="3472697"/>
            <a:ext cx="4914029" cy="1508105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800" b="1" dirty="0"/>
          </a:p>
          <a:p>
            <a:pPr algn="just"/>
            <a:r>
              <a:rPr lang="en-US" sz="1600" b="1" dirty="0"/>
              <a:t>Overview Proses </a:t>
            </a:r>
            <a:r>
              <a:rPr lang="en-US" sz="1600" b="1" dirty="0" err="1"/>
              <a:t>Desain</a:t>
            </a:r>
            <a:r>
              <a:rPr lang="en-US" sz="1600" b="1" dirty="0"/>
              <a:t> UI</a:t>
            </a:r>
          </a:p>
        </p:txBody>
      </p:sp>
    </p:spTree>
    <p:extLst>
      <p:ext uri="{BB962C8B-B14F-4D97-AF65-F5344CB8AC3E}">
        <p14:creationId xmlns:p14="http://schemas.microsoft.com/office/powerpoint/2010/main" val="3337941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Proses </a:t>
            </a:r>
            <a:r>
              <a:rPr lang="en-ID" dirty="0" err="1"/>
              <a:t>Desain</a:t>
            </a:r>
            <a:r>
              <a:rPr lang="en-ID" dirty="0"/>
              <a:t> UI (14 Step)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94488" y="1422600"/>
            <a:ext cx="6357086" cy="4219441"/>
          </a:xfrm>
        </p:spPr>
        <p:txBody>
          <a:bodyPr>
            <a:normAutofit fontScale="92500" lnSpcReduction="10000"/>
          </a:bodyPr>
          <a:lstStyle/>
          <a:p>
            <a:r>
              <a:rPr lang="en-ID" b="1" u="sng" dirty="0"/>
              <a:t>Step 1 </a:t>
            </a:r>
            <a:r>
              <a:rPr lang="en-ID" dirty="0"/>
              <a:t>: Know Users</a:t>
            </a:r>
          </a:p>
          <a:p>
            <a:r>
              <a:rPr lang="en-ID" b="1" u="sng" dirty="0"/>
              <a:t>Step 2</a:t>
            </a:r>
            <a:r>
              <a:rPr lang="en-ID" dirty="0"/>
              <a:t> : Understand Business Function</a:t>
            </a:r>
          </a:p>
          <a:p>
            <a:pPr algn="just"/>
            <a:r>
              <a:rPr lang="en-ID" b="1" u="sng" dirty="0"/>
              <a:t>Step 3</a:t>
            </a:r>
            <a:r>
              <a:rPr lang="en-ID" dirty="0"/>
              <a:t> : </a:t>
            </a:r>
            <a:r>
              <a:rPr lang="en-US" dirty="0"/>
              <a:t>Understand the Principles of Good Interface and Screen Design </a:t>
            </a:r>
          </a:p>
          <a:p>
            <a:pPr algn="just"/>
            <a:r>
              <a:rPr lang="en-ID" b="1" u="sng" dirty="0"/>
              <a:t>Step 4 </a:t>
            </a:r>
            <a:r>
              <a:rPr lang="en-ID" dirty="0"/>
              <a:t>: Develop System Menu &amp; Navigation</a:t>
            </a:r>
          </a:p>
          <a:p>
            <a:r>
              <a:rPr lang="en-ID" b="1" u="sng" dirty="0"/>
              <a:t>Step 5</a:t>
            </a:r>
            <a:r>
              <a:rPr lang="en-ID" dirty="0"/>
              <a:t> : Proper Windows</a:t>
            </a:r>
          </a:p>
          <a:p>
            <a:r>
              <a:rPr lang="en-ID" b="1" u="sng" dirty="0"/>
              <a:t>Step 6</a:t>
            </a:r>
            <a:r>
              <a:rPr lang="en-ID" dirty="0"/>
              <a:t> : Proper Interaction Device</a:t>
            </a:r>
          </a:p>
          <a:p>
            <a:r>
              <a:rPr lang="en-ID" b="1" u="sng" dirty="0"/>
              <a:t>Step 7</a:t>
            </a:r>
            <a:r>
              <a:rPr lang="en-ID" dirty="0"/>
              <a:t> : Screen-based controls</a:t>
            </a:r>
            <a:endParaRPr lang="en-ID" i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651574" y="1312070"/>
            <a:ext cx="5352358" cy="492262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2100" b="1" u="sng" dirty="0"/>
              <a:t>Step 8</a:t>
            </a:r>
            <a:r>
              <a:rPr lang="en-ID" sz="2100" dirty="0"/>
              <a:t> : Clear text &amp; message</a:t>
            </a:r>
          </a:p>
          <a:p>
            <a:r>
              <a:rPr lang="en-ID" sz="2100" b="1" u="sng" dirty="0"/>
              <a:t>Step 9</a:t>
            </a:r>
            <a:r>
              <a:rPr lang="en-ID" sz="2100" dirty="0"/>
              <a:t> : Provide Effective Feedback</a:t>
            </a:r>
          </a:p>
          <a:p>
            <a:r>
              <a:rPr lang="en-ID" sz="2100" b="1" u="sng" dirty="0"/>
              <a:t>Step 10</a:t>
            </a:r>
            <a:r>
              <a:rPr lang="en-ID" sz="2100" dirty="0"/>
              <a:t> : </a:t>
            </a:r>
            <a:r>
              <a:rPr lang="en-ID" sz="2100" dirty="0" err="1"/>
              <a:t>Internasionalization</a:t>
            </a:r>
            <a:r>
              <a:rPr lang="en-ID" sz="2100" dirty="0"/>
              <a:t> &amp; Accessibility</a:t>
            </a:r>
          </a:p>
          <a:p>
            <a:r>
              <a:rPr lang="en-ID" sz="2100" b="1" u="sng" dirty="0"/>
              <a:t>Step 11</a:t>
            </a:r>
            <a:r>
              <a:rPr lang="en-ID" sz="2100" dirty="0"/>
              <a:t> : </a:t>
            </a:r>
            <a:r>
              <a:rPr lang="en-US" sz="2100" dirty="0"/>
              <a:t>Create Meaningful Graphics,</a:t>
            </a:r>
            <a:br>
              <a:rPr lang="en-US" sz="2100" dirty="0"/>
            </a:br>
            <a:r>
              <a:rPr lang="en-US" sz="2100" dirty="0"/>
              <a:t>Icons, and Images </a:t>
            </a:r>
            <a:endParaRPr lang="en-ID" sz="2100" dirty="0"/>
          </a:p>
          <a:p>
            <a:r>
              <a:rPr lang="en-ID" sz="2100" b="1" u="sng" dirty="0"/>
              <a:t>Step 12</a:t>
            </a:r>
            <a:r>
              <a:rPr lang="en-ID" sz="2100" dirty="0"/>
              <a:t> : Choose Proper Colours</a:t>
            </a:r>
          </a:p>
          <a:p>
            <a:r>
              <a:rPr lang="en-ID" sz="2100" b="1" u="sng" dirty="0"/>
              <a:t>Step 13</a:t>
            </a:r>
            <a:r>
              <a:rPr lang="en-ID" sz="2100" dirty="0"/>
              <a:t> : Organize &amp; Layout Windows &amp; Page</a:t>
            </a:r>
          </a:p>
          <a:p>
            <a:r>
              <a:rPr lang="en-ID" sz="2100" b="1" u="sng" dirty="0"/>
              <a:t>Step 14</a:t>
            </a:r>
            <a:r>
              <a:rPr lang="en-ID" sz="2100" dirty="0"/>
              <a:t> : Testing </a:t>
            </a:r>
          </a:p>
        </p:txBody>
      </p:sp>
    </p:spTree>
    <p:extLst>
      <p:ext uri="{BB962C8B-B14F-4D97-AF65-F5344CB8AC3E}">
        <p14:creationId xmlns:p14="http://schemas.microsoft.com/office/powerpoint/2010/main" val="2382858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Step 1 Know User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pPr indent="-3429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noProof="1"/>
              <a:t>Memahami pentingnya mengenal pengguna dari aplikasi yang akan dibangun sebagai dasar untuk merancang antarmuka perangkat lunak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 typeface="Verdana" pitchFamily="34" charset="0"/>
              <a:buAutoNum type="arabicPeriod"/>
            </a:pPr>
            <a:r>
              <a:rPr lang="en-US" noProof="1"/>
              <a:t> Mendefinisikan Persona </a:t>
            </a:r>
            <a:r>
              <a:rPr lang="en-US" i="1" noProof="1"/>
              <a:t>User</a:t>
            </a:r>
            <a:r>
              <a:rPr lang="en-US" noProof="1"/>
              <a:t> antarmuka perangkat lunak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19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id-ID" dirty="0"/>
              <a:t>User Persona Example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659B52-DAA2-8461-C482-ACB13C4CD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265" y="1249853"/>
            <a:ext cx="5611434" cy="390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97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id-ID" dirty="0"/>
              <a:t>User Persona Example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19625B-081A-954C-89E0-F8D0208BC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460" y="1791031"/>
            <a:ext cx="5926541" cy="388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51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id-ID" dirty="0"/>
              <a:t>User Persona Example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8BDD11-55C2-2A7F-C77E-5E0C276B6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456" y="1333842"/>
            <a:ext cx="4913195" cy="393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88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Step 2 Understand Business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pPr indent="-3429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noProof="1"/>
              <a:t>Memahami pentingnya mengetahui fungsi bisnis berdasarkan Persona </a:t>
            </a:r>
            <a:r>
              <a:rPr lang="en-US" i="1" noProof="1"/>
              <a:t>user </a:t>
            </a:r>
            <a:r>
              <a:rPr lang="en-US" noProof="1"/>
              <a:t>sebagai acuan dalam merancang antarmuka perangkat lunak.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 typeface="Verdana" pitchFamily="34" charset="0"/>
              <a:buAutoNum type="arabicPeriod"/>
            </a:pPr>
            <a:r>
              <a:rPr lang="en-US" noProof="1"/>
              <a:t>  Mengerti dan menerapkan setiap tahapan dalam mengidentifikasi  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noProof="1"/>
              <a:t>      alur kerja setiap </a:t>
            </a:r>
            <a:r>
              <a:rPr lang="en-US" i="1" noProof="1"/>
              <a:t>task</a:t>
            </a:r>
            <a:r>
              <a:rPr lang="en-US" noProof="1"/>
              <a:t> berdasarkan Persona </a:t>
            </a:r>
            <a:r>
              <a:rPr lang="en-US" i="1" noProof="1"/>
              <a:t>User</a:t>
            </a:r>
            <a:r>
              <a:rPr lang="en-US" noProof="1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124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ork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32416"/>
            <a:ext cx="3169344" cy="223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E983DD-E152-1291-B5D2-E8830C66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792C8-4571-C52B-7199-44A78102C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370389"/>
            <a:ext cx="3994150" cy="1908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234" y="4250937"/>
            <a:ext cx="3536252" cy="2028145"/>
          </a:xfrm>
          <a:prstGeom prst="rect">
            <a:avLst/>
          </a:prstGeom>
        </p:spPr>
      </p:pic>
      <p:pic>
        <p:nvPicPr>
          <p:cNvPr id="1028" name="Picture 4" descr="Image result for model ment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734" y="1275749"/>
            <a:ext cx="3276966" cy="120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public-media.interaction-design.org/images/figures/mental_models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883" y="1884498"/>
            <a:ext cx="3236119" cy="198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model mental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308" y="2509244"/>
            <a:ext cx="2965554" cy="222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149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70" y="1005141"/>
            <a:ext cx="10642060" cy="773590"/>
          </a:xfrm>
        </p:spPr>
        <p:txBody>
          <a:bodyPr>
            <a:normAutofit fontScale="90000"/>
          </a:bodyPr>
          <a:lstStyle/>
          <a:p>
            <a:r>
              <a:rPr lang="en-ID" dirty="0"/>
              <a:t>Step 3 </a:t>
            </a:r>
            <a:r>
              <a:rPr lang="en-US" b="1" dirty="0"/>
              <a:t>Understand the Principles of Good Interface and Screen Design </a:t>
            </a:r>
            <a:br>
              <a:rPr lang="en-US" dirty="0"/>
            </a:br>
            <a:r>
              <a:rPr lang="en-ID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94488" y="2480553"/>
            <a:ext cx="11608875" cy="3754142"/>
          </a:xfrm>
        </p:spPr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US" noProof="1"/>
              <a:t>Menerapkan prinsip design interaksi dalam merancang antarmuka perangkat lunak untuk menghasilkan antarmuka perangkat lunak yang baik.</a:t>
            </a:r>
          </a:p>
          <a:p>
            <a:r>
              <a:rPr lang="en-ID" dirty="0"/>
              <a:t>Basic Design Principles :</a:t>
            </a:r>
          </a:p>
          <a:p>
            <a:pPr marL="0" indent="0">
              <a:buNone/>
            </a:pPr>
            <a:r>
              <a:rPr lang="en-ID" dirty="0"/>
              <a:t>	</a:t>
            </a:r>
            <a:r>
              <a:rPr lang="en-ID" b="1" i="1" u="sng" dirty="0"/>
              <a:t>Consistency, Simplicity, Context</a:t>
            </a:r>
            <a:endParaRPr lang="en-US" b="1" i="1" u="sng" dirty="0"/>
          </a:p>
        </p:txBody>
      </p:sp>
    </p:spTree>
    <p:extLst>
      <p:ext uri="{BB962C8B-B14F-4D97-AF65-F5344CB8AC3E}">
        <p14:creationId xmlns:p14="http://schemas.microsoft.com/office/powerpoint/2010/main" val="2982534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Step 4 Develop System Menu &amp; Navigation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merancang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menu &amp; </a:t>
            </a:r>
            <a:r>
              <a:rPr lang="en-US" dirty="0" err="1"/>
              <a:t>navigasi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UI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416" y="3481708"/>
            <a:ext cx="2213882" cy="1581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593" y="3514302"/>
            <a:ext cx="2961457" cy="16993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245" y="3514302"/>
            <a:ext cx="2191205" cy="181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08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err="1"/>
              <a:t>Struktur</a:t>
            </a:r>
            <a:r>
              <a:rPr lang="en-US" dirty="0"/>
              <a:t> Menu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55764-A364-7D1D-21F3-4E8838973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638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1524000" y="2251075"/>
            <a:ext cx="1943100" cy="1366838"/>
          </a:xfrm>
          <a:noFill/>
        </p:spPr>
      </p:pic>
      <p:pic>
        <p:nvPicPr>
          <p:cNvPr id="1638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8950" y="2116408"/>
            <a:ext cx="2206555" cy="167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56257" y="2132637"/>
            <a:ext cx="211455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01543" y="3636537"/>
            <a:ext cx="2768202" cy="2072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2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838950" y="3596939"/>
            <a:ext cx="2057400" cy="1996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6496050" y="5736886"/>
            <a:ext cx="2743200" cy="20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50" dirty="0"/>
              <a:t>CSG2C3 - INTERAKSI MANUSIA DAN KOMPUTER</a:t>
            </a:r>
          </a:p>
        </p:txBody>
      </p:sp>
    </p:spTree>
    <p:extLst>
      <p:ext uri="{BB962C8B-B14F-4D97-AF65-F5344CB8AC3E}">
        <p14:creationId xmlns:p14="http://schemas.microsoft.com/office/powerpoint/2010/main" val="3645510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Step 5 Proper Windows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 </a:t>
            </a:r>
            <a:r>
              <a:rPr lang="en-US" dirty="0" err="1"/>
              <a:t>merancang</a:t>
            </a:r>
            <a:r>
              <a:rPr lang="en-US" dirty="0"/>
              <a:t> windows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3244" y="3610575"/>
            <a:ext cx="3712371" cy="2793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0092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err="1"/>
              <a:t>Tipe-tipe</a:t>
            </a:r>
            <a:r>
              <a:rPr lang="en-US" dirty="0"/>
              <a:t> Windows</a:t>
            </a:r>
          </a:p>
        </p:txBody>
      </p:sp>
      <p:sp>
        <p:nvSpPr>
          <p:cNvPr id="16389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1600" i="1" dirty="0"/>
              <a:t>Primary windows</a:t>
            </a:r>
          </a:p>
          <a:p>
            <a:pPr lvl="1" eaLnBrk="1" hangingPunct="1"/>
            <a:r>
              <a:rPr lang="en-US" sz="1400" dirty="0"/>
              <a:t>Window </a:t>
            </a:r>
            <a:r>
              <a:rPr lang="en-US" sz="1400" dirty="0" err="1"/>
              <a:t>utama</a:t>
            </a:r>
            <a:r>
              <a:rPr lang="en-US" sz="1400" dirty="0"/>
              <a:t> yang </a:t>
            </a:r>
            <a:r>
              <a:rPr lang="en-US" sz="1400" dirty="0" err="1"/>
              <a:t>muncul</a:t>
            </a:r>
            <a:r>
              <a:rPr lang="en-US" sz="1400" dirty="0"/>
              <a:t> di </a:t>
            </a:r>
            <a:r>
              <a:rPr lang="en-US" sz="1400" dirty="0" err="1"/>
              <a:t>layar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</a:t>
            </a:r>
            <a:r>
              <a:rPr lang="en-US" sz="1400" dirty="0" err="1"/>
              <a:t>aktivitas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aksi</a:t>
            </a:r>
            <a:r>
              <a:rPr lang="en-US" sz="1400" dirty="0"/>
              <a:t> </a:t>
            </a:r>
            <a:r>
              <a:rPr lang="en-US" sz="1400" dirty="0" err="1"/>
              <a:t>dimulai</a:t>
            </a:r>
            <a:endParaRPr lang="en-US" sz="1400" dirty="0"/>
          </a:p>
          <a:p>
            <a:pPr lvl="1" eaLnBrk="1" hangingPunct="1"/>
            <a:r>
              <a:rPr lang="en-US" sz="1400" dirty="0" err="1"/>
              <a:t>Disebut</a:t>
            </a:r>
            <a:r>
              <a:rPr lang="en-US" sz="1400" dirty="0"/>
              <a:t> </a:t>
            </a:r>
            <a:r>
              <a:rPr lang="en-US" sz="1400" dirty="0" err="1"/>
              <a:t>juga</a:t>
            </a:r>
            <a:r>
              <a:rPr lang="en-US" sz="1400" dirty="0"/>
              <a:t> </a:t>
            </a:r>
            <a:r>
              <a:rPr lang="en-US" sz="1400" i="1" dirty="0"/>
              <a:t>application window / main window / parent window</a:t>
            </a:r>
          </a:p>
          <a:p>
            <a:pPr lvl="1" eaLnBrk="1" hangingPunct="1"/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titik</a:t>
            </a:r>
            <a:r>
              <a:rPr lang="en-US" sz="1400" dirty="0"/>
              <a:t> </a:t>
            </a:r>
            <a:r>
              <a:rPr lang="en-US" sz="1400" dirty="0" err="1"/>
              <a:t>utama</a:t>
            </a:r>
            <a:r>
              <a:rPr lang="en-US" sz="1400" dirty="0"/>
              <a:t> </a:t>
            </a:r>
            <a:r>
              <a:rPr lang="en-US" sz="1400" dirty="0" err="1"/>
              <a:t>aktivitas</a:t>
            </a:r>
            <a:r>
              <a:rPr lang="en-US" sz="1400" dirty="0"/>
              <a:t> </a:t>
            </a:r>
            <a:r>
              <a:rPr lang="en-US" sz="1400" dirty="0" err="1"/>
              <a:t>pengguna</a:t>
            </a:r>
            <a:endParaRPr lang="en-US" sz="1400" dirty="0"/>
          </a:p>
          <a:p>
            <a:pPr eaLnBrk="1" hangingPunct="1"/>
            <a:r>
              <a:rPr lang="en-US" sz="1600" i="1" dirty="0"/>
              <a:t>Secondary windows</a:t>
            </a:r>
          </a:p>
          <a:p>
            <a:pPr lvl="1" eaLnBrk="1" hangingPunct="1"/>
            <a:r>
              <a:rPr lang="en-US" sz="1400" dirty="0"/>
              <a:t>Windows </a:t>
            </a:r>
            <a:r>
              <a:rPr lang="en-US" sz="1400" dirty="0" err="1"/>
              <a:t>tambahan</a:t>
            </a:r>
            <a:r>
              <a:rPr lang="en-US" sz="1400" dirty="0"/>
              <a:t>  yang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berupa</a:t>
            </a:r>
            <a:r>
              <a:rPr lang="en-US" sz="1400" dirty="0"/>
              <a:t> </a:t>
            </a:r>
            <a:r>
              <a:rPr lang="en-US" sz="1400" i="1" dirty="0"/>
              <a:t>independent</a:t>
            </a:r>
            <a:r>
              <a:rPr lang="en-US" sz="1400" dirty="0"/>
              <a:t> </a:t>
            </a:r>
            <a:r>
              <a:rPr lang="en-US" sz="1400" dirty="0" err="1"/>
              <a:t>maupun</a:t>
            </a:r>
            <a:r>
              <a:rPr lang="en-US" sz="1400" dirty="0"/>
              <a:t> </a:t>
            </a:r>
            <a:r>
              <a:rPr lang="en-US" sz="1400" i="1" dirty="0"/>
              <a:t>dependent window</a:t>
            </a:r>
            <a:r>
              <a:rPr lang="en-US" sz="1400" dirty="0"/>
              <a:t> </a:t>
            </a:r>
            <a:r>
              <a:rPr lang="en-US" sz="1400" dirty="0" err="1"/>
              <a:t>terhadap</a:t>
            </a:r>
            <a:r>
              <a:rPr lang="en-US" sz="1400" dirty="0"/>
              <a:t> </a:t>
            </a:r>
            <a:r>
              <a:rPr lang="en-US" sz="1400" i="1" dirty="0"/>
              <a:t>primary window</a:t>
            </a:r>
            <a:r>
              <a:rPr lang="en-US" sz="1400" dirty="0"/>
              <a:t>-</a:t>
            </a:r>
            <a:r>
              <a:rPr lang="en-US" sz="1400" dirty="0" err="1"/>
              <a:t>nya</a:t>
            </a:r>
            <a:endParaRPr lang="en-US" sz="1400" dirty="0"/>
          </a:p>
          <a:p>
            <a:pPr lvl="1" eaLnBrk="1" hangingPunct="1"/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berupa</a:t>
            </a:r>
            <a:r>
              <a:rPr lang="en-US" sz="1400" dirty="0"/>
              <a:t> </a:t>
            </a:r>
            <a:r>
              <a:rPr lang="en-US" sz="1400" i="1" dirty="0"/>
              <a:t>modal </a:t>
            </a:r>
            <a:r>
              <a:rPr lang="en-US" sz="1400" dirty="0"/>
              <a:t> </a:t>
            </a:r>
            <a:r>
              <a:rPr lang="en-US" sz="1400" dirty="0" err="1"/>
              <a:t>maupun</a:t>
            </a:r>
            <a:r>
              <a:rPr lang="en-US" sz="1400" dirty="0"/>
              <a:t> </a:t>
            </a:r>
            <a:r>
              <a:rPr lang="en-US" sz="1400" i="1" dirty="0"/>
              <a:t>modeless</a:t>
            </a:r>
            <a:endParaRPr lang="en-US" sz="1400" dirty="0"/>
          </a:p>
          <a:p>
            <a:pPr eaLnBrk="1" hangingPunct="1"/>
            <a:r>
              <a:rPr lang="en-US" sz="1600" i="1" dirty="0"/>
              <a:t>Dialog box</a:t>
            </a:r>
          </a:p>
          <a:p>
            <a:pPr lvl="1" eaLnBrk="1" hangingPunct="1"/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memperluas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melengkapi</a:t>
            </a:r>
            <a:r>
              <a:rPr lang="en-US" sz="1400" dirty="0"/>
              <a:t> </a:t>
            </a:r>
            <a:r>
              <a:rPr lang="en-US" sz="1400" dirty="0" err="1"/>
              <a:t>interaksi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aksi</a:t>
            </a:r>
            <a:r>
              <a:rPr lang="en-US" sz="1400" dirty="0"/>
              <a:t> </a:t>
            </a:r>
            <a:r>
              <a:rPr lang="en-US" sz="1400" dirty="0" err="1"/>
              <a:t>tertentu</a:t>
            </a:r>
            <a:r>
              <a:rPr lang="en-US" sz="1400" dirty="0"/>
              <a:t> yang </a:t>
            </a:r>
            <a:r>
              <a:rPr lang="en-US" sz="1400" dirty="0" err="1"/>
              <a:t>sangat</a:t>
            </a:r>
            <a:r>
              <a:rPr lang="en-US" sz="1400" dirty="0"/>
              <a:t> </a:t>
            </a:r>
            <a:r>
              <a:rPr lang="en-US" sz="1400" dirty="0" err="1"/>
              <a:t>terbatas</a:t>
            </a:r>
            <a:endParaRPr lang="en-US" sz="1400" dirty="0"/>
          </a:p>
          <a:p>
            <a:pPr lvl="1" eaLnBrk="1" hangingPunct="1"/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menampilkan</a:t>
            </a:r>
            <a:r>
              <a:rPr lang="en-US" sz="1400" dirty="0"/>
              <a:t> </a:t>
            </a:r>
            <a:r>
              <a:rPr lang="en-US" sz="1400" dirty="0" err="1"/>
              <a:t>pesan</a:t>
            </a:r>
            <a:r>
              <a:rPr lang="en-US" sz="1400" dirty="0"/>
              <a:t>, </a:t>
            </a:r>
            <a:r>
              <a:rPr lang="en-US" sz="1400" dirty="0" err="1"/>
              <a:t>aksi</a:t>
            </a:r>
            <a:r>
              <a:rPr lang="en-US" sz="1400" dirty="0"/>
              <a:t> </a:t>
            </a:r>
            <a:r>
              <a:rPr lang="en-US" sz="1400" dirty="0" err="1"/>
              <a:t>singkat</a:t>
            </a:r>
            <a:r>
              <a:rPr lang="en-US" sz="1400" dirty="0"/>
              <a:t>,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tombol</a:t>
            </a:r>
            <a:r>
              <a:rPr lang="en-US" sz="1400" dirty="0"/>
              <a:t> </a:t>
            </a:r>
            <a:r>
              <a:rPr lang="en-US" sz="1400" i="1" dirty="0"/>
              <a:t>command</a:t>
            </a:r>
            <a:r>
              <a:rPr lang="en-US" sz="1400" dirty="0"/>
              <a:t> (OK, </a:t>
            </a:r>
            <a:r>
              <a:rPr lang="en-US" sz="1400" i="1" dirty="0"/>
              <a:t>cancel</a:t>
            </a:r>
            <a:r>
              <a:rPr lang="en-US" sz="1400" dirty="0"/>
              <a:t>, </a:t>
            </a:r>
            <a:r>
              <a:rPr lang="en-US" sz="1400" dirty="0" err="1"/>
              <a:t>dll</a:t>
            </a:r>
            <a:r>
              <a:rPr lang="en-US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3260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Gaya </a:t>
            </a:r>
            <a:r>
              <a:rPr lang="en-ID" dirty="0" err="1"/>
              <a:t>tampilan</a:t>
            </a:r>
            <a:r>
              <a:rPr lang="en-ID" dirty="0"/>
              <a:t> windows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B3BD6-7A3E-1FC2-88A8-222CD7154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2651" y="2365683"/>
            <a:ext cx="2719508" cy="15935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0742" y="3959273"/>
            <a:ext cx="2758608" cy="16163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16112" y="3353548"/>
            <a:ext cx="2764631" cy="20577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05007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Step 6 Proper Interaction Device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UI.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734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100" dirty="0">
                <a:solidFill>
                  <a:schemeClr val="tx1"/>
                </a:solidFill>
                <a:latin typeface="+mn-lt"/>
              </a:rPr>
              <a:t>SELECTING THE PROPER  INPUT DEVICE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61843-D7BD-928B-5D17-9F491D88D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 descr="D:\Kuliah\IMK\091001\device\2781722342_c342129cd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2963" y="4608613"/>
            <a:ext cx="1487803" cy="117871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5" descr="D:\Kuliah\IMK\091001\device\logitech-trackbal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16355" y="4415730"/>
            <a:ext cx="1371600" cy="1371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7" descr="D:\Kuliah\IMK\091001\device\keyboard-trackbal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20082" y="4779051"/>
            <a:ext cx="1524000" cy="1143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Picture 9" descr="C:\Documents and Settings\DESIGNER-TODAY\My Documents\My Pictures\Game Wallpaper\key factor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41831" y="2415480"/>
            <a:ext cx="2830064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8574" y="2134193"/>
            <a:ext cx="1414463" cy="130016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971" y="3415606"/>
            <a:ext cx="768463" cy="7023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808" y="3485909"/>
            <a:ext cx="1228725" cy="914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0657" y="1973141"/>
            <a:ext cx="2000250" cy="125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54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Step 7 Screen Based 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i="1" dirty="0"/>
              <a:t>screen-based controls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235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Controls examples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19826-0072-E1B5-DAEE-90BC7D08F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24" name="Content Placeholder 2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637714" y="2276476"/>
            <a:ext cx="1030287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Group 3"/>
          <p:cNvGrpSpPr/>
          <p:nvPr/>
        </p:nvGrpSpPr>
        <p:grpSpPr>
          <a:xfrm>
            <a:off x="1828214" y="2510506"/>
            <a:ext cx="4756338" cy="3281443"/>
            <a:chOff x="-152400" y="1295400"/>
            <a:chExt cx="8382943" cy="5029202"/>
          </a:xfrm>
        </p:grpSpPr>
        <p:sp>
          <p:nvSpPr>
            <p:cNvPr id="5" name="TextBox 11"/>
            <p:cNvSpPr txBox="1"/>
            <p:nvPr/>
          </p:nvSpPr>
          <p:spPr>
            <a:xfrm>
              <a:off x="609599" y="1371600"/>
              <a:ext cx="2382257" cy="3891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dirty="0"/>
                <a:t>Single occurrence</a:t>
              </a:r>
            </a:p>
          </p:txBody>
        </p:sp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292848" y="4166925"/>
              <a:ext cx="2715963" cy="804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23655" y="5325758"/>
              <a:ext cx="3041878" cy="772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07593" y="1796612"/>
              <a:ext cx="2745591" cy="344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94239" y="2548429"/>
              <a:ext cx="1718464" cy="5847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TextBox 12"/>
            <p:cNvSpPr txBox="1"/>
            <p:nvPr/>
          </p:nvSpPr>
          <p:spPr>
            <a:xfrm>
              <a:off x="1434721" y="2143544"/>
              <a:ext cx="602345" cy="3891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dirty="0"/>
                <a:t>Or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8583" y="1295400"/>
              <a:ext cx="3239403" cy="20048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/>
            </a:p>
          </p:txBody>
        </p:sp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805015" y="1942798"/>
              <a:ext cx="3130764" cy="1190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TextBox 13"/>
            <p:cNvSpPr txBox="1"/>
            <p:nvPr/>
          </p:nvSpPr>
          <p:spPr>
            <a:xfrm>
              <a:off x="3726004" y="1462471"/>
              <a:ext cx="2565901" cy="3891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dirty="0"/>
                <a:t>Multiple occurrence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726005" y="1295400"/>
              <a:ext cx="3239403" cy="20048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-152400" y="3538062"/>
              <a:ext cx="5199444" cy="2786540"/>
              <a:chOff x="4114800" y="1447800"/>
              <a:chExt cx="4419600" cy="3352800"/>
            </a:xfrm>
          </p:grpSpPr>
          <p:pic>
            <p:nvPicPr>
              <p:cNvPr id="19" name="Picture 18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4191000" y="1962150"/>
                <a:ext cx="2038350" cy="14668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0" name="Picture 19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4191000" y="3457575"/>
                <a:ext cx="1409700" cy="1266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1" name="TextBox 14"/>
              <p:cNvSpPr txBox="1"/>
              <p:nvPr/>
            </p:nvSpPr>
            <p:spPr>
              <a:xfrm>
                <a:off x="4190999" y="1524000"/>
                <a:ext cx="2111406" cy="468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50" b="1" dirty="0"/>
                  <a:t>Read-only / display</a:t>
                </a:r>
              </a:p>
            </p:txBody>
          </p:sp>
          <p:sp>
            <p:nvSpPr>
              <p:cNvPr id="22" name="TextBox 15"/>
              <p:cNvSpPr txBox="1"/>
              <p:nvPr/>
            </p:nvSpPr>
            <p:spPr>
              <a:xfrm>
                <a:off x="6324601" y="2133603"/>
                <a:ext cx="1842438" cy="19580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00" dirty="0"/>
                  <a:t>If alphanumeric then</a:t>
                </a:r>
              </a:p>
              <a:p>
                <a:r>
                  <a:rPr lang="en-US" sz="900" dirty="0"/>
                  <a:t>left justify</a:t>
                </a:r>
              </a:p>
              <a:p>
                <a:endParaRPr lang="en-US" sz="900" dirty="0"/>
              </a:p>
              <a:p>
                <a:endParaRPr lang="en-US" sz="900" dirty="0"/>
              </a:p>
              <a:p>
                <a:endParaRPr lang="en-US" sz="900" dirty="0"/>
              </a:p>
              <a:p>
                <a:r>
                  <a:rPr lang="en-US" sz="900" dirty="0"/>
                  <a:t>If numeric then right</a:t>
                </a:r>
              </a:p>
              <a:p>
                <a:r>
                  <a:rPr lang="en-US" sz="900" dirty="0"/>
                  <a:t>justify 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4114800" y="1447800"/>
                <a:ext cx="4419600" cy="3352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350"/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5149160" y="3564834"/>
              <a:ext cx="3081383" cy="25895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50"/>
            </a:p>
          </p:txBody>
        </p:sp>
        <p:sp>
          <p:nvSpPr>
            <p:cNvPr id="17" name="TextBox 23"/>
            <p:cNvSpPr txBox="1"/>
            <p:nvPr/>
          </p:nvSpPr>
          <p:spPr>
            <a:xfrm>
              <a:off x="5118887" y="3560004"/>
              <a:ext cx="1893489" cy="3891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dirty="0"/>
                <a:t>Segmentation</a:t>
              </a:r>
            </a:p>
          </p:txBody>
        </p:sp>
        <p:sp>
          <p:nvSpPr>
            <p:cNvPr id="18" name="TextBox 24"/>
            <p:cNvSpPr txBox="1"/>
            <p:nvPr/>
          </p:nvSpPr>
          <p:spPr>
            <a:xfrm>
              <a:off x="6414790" y="4962419"/>
              <a:ext cx="602345" cy="3891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dirty="0"/>
                <a:t>Or</a:t>
              </a:r>
            </a:p>
          </p:txBody>
        </p:sp>
      </p:grpSp>
      <p:pic>
        <p:nvPicPr>
          <p:cNvPr id="25" name="Picture 24"/>
          <p:cNvPicPr>
            <a:picLocks noChangeAspect="1" noChangeArrowheads="1"/>
          </p:cNvPicPr>
          <p:nvPr/>
        </p:nvPicPr>
        <p:blipFill>
          <a:blip r:embed="rId10"/>
          <a:srcRect l="32500" t="24000" r="32500" b="28000"/>
          <a:stretch>
            <a:fillRect/>
          </a:stretch>
        </p:blipFill>
        <p:spPr bwMode="auto">
          <a:xfrm>
            <a:off x="8057493" y="2205614"/>
            <a:ext cx="2228850" cy="1910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Picture 25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739142" y="4398766"/>
            <a:ext cx="3664905" cy="1635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2879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Step 8 Clear Text &amp; Message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merancang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UI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Screen Shot 2017-09-24 at 3.10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611" y="3575168"/>
            <a:ext cx="4028306" cy="1350762"/>
          </a:xfrm>
          <a:prstGeom prst="rect">
            <a:avLst/>
          </a:prstGeom>
        </p:spPr>
      </p:pic>
      <p:pic>
        <p:nvPicPr>
          <p:cNvPr id="5" name="Picture 4" descr="Screen Shot 2017-09-24 at 3.12.55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56"/>
          <a:stretch/>
        </p:blipFill>
        <p:spPr>
          <a:xfrm>
            <a:off x="1704772" y="3620509"/>
            <a:ext cx="4549253" cy="2252799"/>
          </a:xfrm>
          <a:prstGeom prst="rect">
            <a:avLst/>
          </a:prstGeom>
        </p:spPr>
      </p:pic>
      <p:pic>
        <p:nvPicPr>
          <p:cNvPr id="6" name="Picture 5" descr="Screen Shot 2017-09-24 at 3.17.51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146" y="5098901"/>
            <a:ext cx="1667322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74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7-09-24 at 11.58.3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172" y="2140738"/>
            <a:ext cx="4513960" cy="17654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Which you prefer? Why?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15320-73E6-2D89-88F3-762A77023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 descr="Screen Shot 2017-09-24 at 11.48.2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230" y="4370222"/>
            <a:ext cx="3649121" cy="168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53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Step 9 : Provide Effective Feedback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1">
              <a:spcBef>
                <a:spcPts val="750"/>
              </a:spcBef>
            </a:pPr>
            <a:r>
              <a:rPr lang="en-US" dirty="0" err="1"/>
              <a:t>Tujuan</a:t>
            </a:r>
            <a:r>
              <a:rPr lang="en-US" dirty="0"/>
              <a:t> : </a:t>
            </a:r>
          </a:p>
          <a:p>
            <a:pPr marL="0" lvl="1" indent="0">
              <a:spcBef>
                <a:spcPts val="750"/>
              </a:spcBef>
              <a:buNone/>
            </a:pPr>
            <a:r>
              <a:rPr lang="en-US" dirty="0"/>
              <a:t>	</a:t>
            </a:r>
            <a:r>
              <a:rPr lang="en-US" b="1" i="1" dirty="0" err="1"/>
              <a:t>Mampu</a:t>
            </a:r>
            <a:r>
              <a:rPr lang="en-US" b="1" i="1" dirty="0"/>
              <a:t> </a:t>
            </a:r>
            <a:r>
              <a:rPr lang="en-US" b="1" i="1" dirty="0" err="1"/>
              <a:t>merancang</a:t>
            </a:r>
            <a:r>
              <a:rPr lang="en-US" b="1" i="1" dirty="0"/>
              <a:t> feedback, guidance, </a:t>
            </a:r>
            <a:r>
              <a:rPr lang="en-US" b="1" i="1" dirty="0" err="1"/>
              <a:t>dan</a:t>
            </a:r>
            <a:r>
              <a:rPr lang="en-US" b="1" i="1" dirty="0"/>
              <a:t> assistance </a:t>
            </a:r>
            <a:r>
              <a:rPr lang="en-US" b="1" i="1" dirty="0" err="1"/>
              <a:t>dengan</a:t>
            </a:r>
            <a:r>
              <a:rPr lang="en-US" b="1" i="1" dirty="0"/>
              <a:t> </a:t>
            </a:r>
            <a:r>
              <a:rPr lang="en-US" b="1" i="1" dirty="0" err="1"/>
              <a:t>efektif</a:t>
            </a:r>
            <a:r>
              <a:rPr lang="en-US" b="1" i="1" dirty="0"/>
              <a:t> 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21804" y="3184416"/>
            <a:ext cx="6518509" cy="3039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3111558" y="6032501"/>
            <a:ext cx="2457450" cy="201405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/>
          <p:cNvSpPr/>
          <p:nvPr/>
        </p:nvSpPr>
        <p:spPr>
          <a:xfrm>
            <a:off x="7511243" y="4926707"/>
            <a:ext cx="1693889" cy="644495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325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35175" y="1466243"/>
            <a:ext cx="2604600" cy="2332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36324" y="1798878"/>
            <a:ext cx="2166384" cy="369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799258" y="1798878"/>
            <a:ext cx="2171090" cy="369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76F2C-35F8-F7A5-E2CA-4E2AA622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C4174-8539-1D48-43BD-A71FE0430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96470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262A-B2B7-4EA3-F362-372275AB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183" y="428657"/>
            <a:ext cx="8924885" cy="773590"/>
          </a:xfrm>
        </p:spPr>
        <p:txBody>
          <a:bodyPr>
            <a:normAutofit fontScale="90000"/>
          </a:bodyPr>
          <a:lstStyle/>
          <a:p>
            <a:r>
              <a:rPr lang="en-ID"/>
              <a:t>Step 10 Internasionalization &amp; Accessibility</a:t>
            </a:r>
            <a:br>
              <a:rPr lang="en-US"/>
            </a:br>
            <a:endParaRPr lang="en-ID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615560864"/>
              </p:ext>
            </p:extLst>
          </p:nvPr>
        </p:nvGraphicFramePr>
        <p:xfrm>
          <a:off x="2042087" y="1750228"/>
          <a:ext cx="7590816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746203" y="1450172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54875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380" y="753703"/>
            <a:ext cx="7629240" cy="773590"/>
          </a:xfrm>
        </p:spPr>
        <p:txBody>
          <a:bodyPr>
            <a:normAutofit fontScale="90000"/>
          </a:bodyPr>
          <a:lstStyle/>
          <a:p>
            <a:r>
              <a:rPr lang="en-ID" dirty="0"/>
              <a:t>Step 11 </a:t>
            </a:r>
            <a:r>
              <a:rPr lang="en-US" dirty="0"/>
              <a:t>Create Meaningful Graphics,</a:t>
            </a:r>
            <a:br>
              <a:rPr lang="en-US" dirty="0"/>
            </a:br>
            <a:r>
              <a:rPr lang="en-US" dirty="0"/>
              <a:t>Icons, and Images </a:t>
            </a:r>
            <a:br>
              <a:rPr lang="en-ID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94489" y="1140498"/>
            <a:ext cx="7886474" cy="5094197"/>
          </a:xfrm>
        </p:spPr>
        <p:txBody>
          <a:bodyPr>
            <a:noAutofit/>
          </a:bodyPr>
          <a:lstStyle/>
          <a:p>
            <a:pPr marL="171450" lvl="1">
              <a:spcBef>
                <a:spcPts val="750"/>
              </a:spcBef>
            </a:pPr>
            <a:r>
              <a:rPr lang="en-US" sz="1800" dirty="0" err="1"/>
              <a:t>Tujuan</a:t>
            </a:r>
            <a:r>
              <a:rPr lang="en-US" sz="1800" dirty="0"/>
              <a:t> :</a:t>
            </a:r>
          </a:p>
          <a:p>
            <a:pPr marL="0" lvl="1" indent="0">
              <a:spcBef>
                <a:spcPts val="750"/>
              </a:spcBef>
              <a:buNone/>
            </a:pPr>
            <a:r>
              <a:rPr lang="en-US" sz="1800" dirty="0" err="1"/>
              <a:t>Mahasiswa</a:t>
            </a:r>
            <a:r>
              <a:rPr lang="en-US" sz="1800" dirty="0"/>
              <a:t>/I </a:t>
            </a:r>
            <a:r>
              <a:rPr lang="en-US" sz="1800" dirty="0" err="1"/>
              <a:t>mampu</a:t>
            </a:r>
            <a:r>
              <a:rPr lang="en-US" sz="1800" dirty="0"/>
              <a:t> </a:t>
            </a:r>
            <a:r>
              <a:rPr lang="en-US" sz="1800" dirty="0" err="1"/>
              <a:t>menerapkan</a:t>
            </a:r>
            <a:r>
              <a:rPr lang="en-US" sz="1800" dirty="0"/>
              <a:t> </a:t>
            </a:r>
            <a:r>
              <a:rPr lang="en-US" sz="1800" i="1" dirty="0"/>
              <a:t>Graphics, Icons, Images</a:t>
            </a:r>
            <a:r>
              <a:rPr lang="en-US" sz="1800" dirty="0"/>
              <a:t> yang </a:t>
            </a:r>
            <a:r>
              <a:rPr lang="en-US" sz="1800" dirty="0" err="1"/>
              <a:t>sesuai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kebutuhan</a:t>
            </a:r>
            <a:r>
              <a:rPr lang="en-US" sz="1800" dirty="0"/>
              <a:t> </a:t>
            </a:r>
          </a:p>
          <a:p>
            <a:pPr marL="0" lvl="1" indent="0">
              <a:spcBef>
                <a:spcPts val="750"/>
              </a:spcBef>
              <a:buNone/>
            </a:pPr>
            <a:endParaRPr lang="en-US" sz="1800" dirty="0"/>
          </a:p>
          <a:p>
            <a:pPr marL="257175" lvl="1">
              <a:spcBef>
                <a:spcPts val="750"/>
              </a:spcBef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Icons are pictorial images most often used to represent objects and actions with which users can interact with or that they can manipulate.</a:t>
            </a:r>
          </a:p>
          <a:p>
            <a:pPr marL="0" lvl="1" indent="0">
              <a:spcBef>
                <a:spcPts val="750"/>
              </a:spcBef>
              <a:buNone/>
            </a:pPr>
            <a:endParaRPr lang="en-ID" sz="1800" dirty="0"/>
          </a:p>
          <a:p>
            <a:pPr marL="0" lvl="1" indent="0">
              <a:spcBef>
                <a:spcPts val="750"/>
              </a:spcBef>
              <a:buNone/>
            </a:pPr>
            <a:endParaRPr lang="en-US" sz="1800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59399stock-icons-impressions-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353" y="1608469"/>
            <a:ext cx="1813974" cy="4682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9213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should convey their intended messages</a:t>
            </a:r>
          </a:p>
          <a:p>
            <a:pPr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 maps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to provide navigation links to other content</a:t>
            </a:r>
          </a:p>
          <a:p>
            <a:pPr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Photographs/ Pictures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used when every aspect of the image is relevant</a:t>
            </a:r>
          </a:p>
          <a:p>
            <a:pPr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Video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to show things moving/ changing over time</a:t>
            </a:r>
          </a:p>
          <a:p>
            <a:pPr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Diagrams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to show  the structure/ relationship of objects</a:t>
            </a:r>
          </a:p>
          <a:p>
            <a:pPr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Drawings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when selected parts need to be emphasized/ represented</a:t>
            </a:r>
          </a:p>
          <a:p>
            <a:pPr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Animation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to explain ideas involving a change in time/ position</a:t>
            </a:r>
          </a:p>
          <a:p>
            <a:pPr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Audition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as a supplement to text and graphics</a:t>
            </a:r>
          </a:p>
        </p:txBody>
      </p:sp>
    </p:spTree>
    <p:extLst>
      <p:ext uri="{BB962C8B-B14F-4D97-AF65-F5344CB8AC3E}">
        <p14:creationId xmlns:p14="http://schemas.microsoft.com/office/powerpoint/2010/main" val="34903196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Learning Improvements for Various Media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6E83-4734-7F35-2001-451DF44E1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99331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19" y="1140498"/>
            <a:ext cx="11077845" cy="4581801"/>
          </a:xfrm>
        </p:spPr>
      </p:pic>
    </p:spTree>
    <p:extLst>
      <p:ext uri="{BB962C8B-B14F-4D97-AF65-F5344CB8AC3E}">
        <p14:creationId xmlns:p14="http://schemas.microsoft.com/office/powerpoint/2010/main" val="749530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Step 12 Choose Proper </a:t>
            </a:r>
            <a:r>
              <a:rPr lang="en-ID" dirty="0" err="1"/>
              <a:t>Colors</a:t>
            </a:r>
            <a:r>
              <a:rPr lang="en-ID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1">
              <a:spcBef>
                <a:spcPts val="750"/>
              </a:spcBef>
            </a:pPr>
            <a:r>
              <a:rPr lang="en-US" dirty="0" err="1"/>
              <a:t>Tujuan</a:t>
            </a:r>
            <a:r>
              <a:rPr lang="en-US" dirty="0"/>
              <a:t> : </a:t>
            </a:r>
          </a:p>
          <a:p>
            <a:pPr marL="0" lvl="1" indent="0">
              <a:spcBef>
                <a:spcPts val="750"/>
              </a:spcBef>
              <a:buNone/>
            </a:pPr>
            <a:r>
              <a:rPr lang="en-US" dirty="0" err="1"/>
              <a:t>Mahasiswa</a:t>
            </a:r>
            <a:r>
              <a:rPr lang="en-US" dirty="0"/>
              <a:t>/I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197" y="3255171"/>
            <a:ext cx="2628900" cy="223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797" y="3215284"/>
            <a:ext cx="2650331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13495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Color</a:t>
            </a:r>
          </a:p>
        </p:txBody>
      </p:sp>
      <p:sp>
        <p:nvSpPr>
          <p:cNvPr id="100355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Color</a:t>
            </a:r>
            <a:r>
              <a:rPr lang="en-US" sz="1800" dirty="0"/>
              <a:t> adds dimension, or realism, to screen usability. </a:t>
            </a:r>
          </a:p>
          <a:p>
            <a:r>
              <a:rPr lang="en-US" sz="1800" dirty="0"/>
              <a:t>Color draws </a:t>
            </a:r>
            <a:r>
              <a:rPr lang="en-US" sz="1800" b="1" dirty="0"/>
              <a:t>attention</a:t>
            </a:r>
            <a:r>
              <a:rPr lang="en-US" sz="1800" dirty="0"/>
              <a:t> because it attracts a person’s eye. </a:t>
            </a:r>
          </a:p>
          <a:p>
            <a:r>
              <a:rPr lang="en-US" sz="1800" dirty="0"/>
              <a:t>If used </a:t>
            </a:r>
            <a:r>
              <a:rPr lang="en-US" sz="1800" b="1" dirty="0"/>
              <a:t>properly</a:t>
            </a:r>
            <a:r>
              <a:rPr lang="en-US" sz="1800" dirty="0"/>
              <a:t>, it can emphasize the logical organization of information, facilitate the discrimination of screen components, accentuate differences among elements, and make displays more interesting and attractive. </a:t>
            </a:r>
          </a:p>
          <a:p>
            <a:r>
              <a:rPr lang="en-US" sz="1800" dirty="0"/>
              <a:t>If used </a:t>
            </a:r>
            <a:r>
              <a:rPr lang="en-US" sz="1800" b="1" dirty="0"/>
              <a:t>improperly</a:t>
            </a:r>
            <a:r>
              <a:rPr lang="en-US" sz="1800" dirty="0"/>
              <a:t>, color can be distracting and possibly visually fatiguing, impairing the system’s usability.</a:t>
            </a:r>
          </a:p>
        </p:txBody>
      </p:sp>
    </p:spTree>
    <p:extLst>
      <p:ext uri="{BB962C8B-B14F-4D97-AF65-F5344CB8AC3E}">
        <p14:creationId xmlns:p14="http://schemas.microsoft.com/office/powerpoint/2010/main" val="2613279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548" y="119924"/>
            <a:ext cx="8749787" cy="773590"/>
          </a:xfrm>
        </p:spPr>
        <p:txBody>
          <a:bodyPr>
            <a:normAutofit fontScale="90000"/>
          </a:bodyPr>
          <a:lstStyle/>
          <a:p>
            <a:r>
              <a:rPr lang="en-ID" dirty="0"/>
              <a:t>Step 13 Organize &amp; Layout Windows &amp; Page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tataletak</a:t>
            </a:r>
            <a:r>
              <a:rPr lang="en-US" dirty="0"/>
              <a:t> Windows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bermakna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011254" y="3408529"/>
            <a:ext cx="2343150" cy="6286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/>
              <a:t>Mempercepat</a:t>
            </a:r>
            <a:r>
              <a:rPr lang="en-US" sz="1200" b="1" dirty="0"/>
              <a:t> </a:t>
            </a:r>
            <a:r>
              <a:rPr lang="en-US" sz="1200" b="1" dirty="0" err="1"/>
              <a:t>Pemahaman</a:t>
            </a:r>
            <a:r>
              <a:rPr lang="en-US" sz="1200" b="1" dirty="0"/>
              <a:t> </a:t>
            </a:r>
            <a:r>
              <a:rPr lang="en-US" sz="1200" b="1" dirty="0" err="1"/>
              <a:t>Informasi</a:t>
            </a:r>
            <a:endParaRPr lang="en-US" sz="12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7011254" y="4265779"/>
            <a:ext cx="2343150" cy="6286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/>
              <a:t>Mempercepat</a:t>
            </a:r>
            <a:r>
              <a:rPr lang="en-US" sz="1200" b="1" dirty="0"/>
              <a:t> </a:t>
            </a:r>
            <a:r>
              <a:rPr lang="en-US" sz="1200" b="1" dirty="0" err="1"/>
              <a:t>Proses</a:t>
            </a:r>
            <a:r>
              <a:rPr lang="en-US" sz="1200" b="1" dirty="0"/>
              <a:t> </a:t>
            </a:r>
            <a:r>
              <a:rPr lang="en-US" sz="1200" b="1" dirty="0" err="1"/>
              <a:t>Eksekusi</a:t>
            </a:r>
            <a:r>
              <a:rPr lang="en-US" sz="1200" b="1" dirty="0"/>
              <a:t> Task </a:t>
            </a:r>
            <a:r>
              <a:rPr lang="en-US" sz="1200" b="1" dirty="0" err="1"/>
              <a:t>dan</a:t>
            </a:r>
            <a:r>
              <a:rPr lang="en-US" sz="1200" b="1" dirty="0"/>
              <a:t> </a:t>
            </a:r>
            <a:r>
              <a:rPr lang="en-US" sz="1200" b="1" dirty="0" err="1"/>
              <a:t>fungsi</a:t>
            </a:r>
            <a:endParaRPr lang="en-US" sz="12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7011254" y="5065879"/>
            <a:ext cx="2343150" cy="6286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/>
              <a:t>Meningkatkan</a:t>
            </a:r>
            <a:r>
              <a:rPr lang="en-US" sz="1200" b="1" dirty="0"/>
              <a:t> User Acceptance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20388" y="3547994"/>
            <a:ext cx="1943100" cy="2286000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067904" y="3785976"/>
            <a:ext cx="1828800" cy="2000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Pengaturan</a:t>
            </a:r>
            <a:r>
              <a:rPr lang="en-US" sz="1600" dirty="0"/>
              <a:t>/ </a:t>
            </a:r>
            <a:r>
              <a:rPr lang="en-US" sz="1600" dirty="0" err="1"/>
              <a:t>Pengorganisasian</a:t>
            </a:r>
            <a:r>
              <a:rPr lang="en-US" sz="1600" dirty="0"/>
              <a:t> Layout windows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halaman</a:t>
            </a:r>
            <a:r>
              <a:rPr lang="en-US" sz="1600" dirty="0"/>
              <a:t> web yang </a:t>
            </a:r>
            <a:r>
              <a:rPr lang="en-US" sz="1600" dirty="0" err="1"/>
              <a:t>baik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677299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Kuliah\IMK\091001\gambarstep13\tomanyinformation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4817" y="1460311"/>
            <a:ext cx="7892211" cy="4428566"/>
          </a:xfrm>
          <a:prstGeom prst="rect">
            <a:avLst/>
          </a:prstGeom>
          <a:noFill/>
        </p:spPr>
      </p:pic>
      <p:sp>
        <p:nvSpPr>
          <p:cNvPr id="7" name="Rounded Rectangle 6"/>
          <p:cNvSpPr/>
          <p:nvPr/>
        </p:nvSpPr>
        <p:spPr>
          <a:xfrm>
            <a:off x="3765986" y="2503003"/>
            <a:ext cx="4732020" cy="1031767"/>
          </a:xfrm>
          <a:prstGeom prst="roundRect">
            <a:avLst/>
          </a:prstGeom>
          <a:solidFill>
            <a:schemeClr val="accent1">
              <a:alpha val="49000"/>
            </a:schemeClr>
          </a:solidFill>
          <a:ln w="984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FF00"/>
                </a:solidFill>
              </a:rPr>
              <a:t>Bagaimana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menurut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anda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ketika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tampilan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awal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photoshop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adalah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seperti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ini</a:t>
            </a:r>
            <a:r>
              <a:rPr lang="en-US" b="1" dirty="0">
                <a:solidFill>
                  <a:srgbClr val="FFFF00"/>
                </a:solidFill>
              </a:rPr>
              <a:t>??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EC25A-83CB-7095-90AE-3F357559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E86C4-999F-A5C5-3EB1-3D05C19FD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382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Kuliah\IMK\091001\gambarstep13\good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2507" y="1550731"/>
            <a:ext cx="8191693" cy="4590761"/>
          </a:xfrm>
          <a:prstGeom prst="rect">
            <a:avLst/>
          </a:prstGeom>
          <a:noFill/>
        </p:spPr>
      </p:pic>
      <p:sp>
        <p:nvSpPr>
          <p:cNvPr id="7" name="Rounded Rectangle 6"/>
          <p:cNvSpPr/>
          <p:nvPr/>
        </p:nvSpPr>
        <p:spPr>
          <a:xfrm>
            <a:off x="3697487" y="2744804"/>
            <a:ext cx="4172722" cy="1281286"/>
          </a:xfrm>
          <a:prstGeom prst="roundRect">
            <a:avLst/>
          </a:prstGeom>
          <a:solidFill>
            <a:schemeClr val="accent1">
              <a:alpha val="49000"/>
            </a:schemeClr>
          </a:solidFill>
          <a:ln w="984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Bagaimana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menurut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anda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ketika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tampilan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awal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photoshop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adalah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seperti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ini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?? BANDINGKAN!!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84742-4199-DD63-80B4-B0531718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11ED8-9485-0425-661E-5243E6AA1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945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Step 14 Testing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399A7-DD49-D7F2-0E57-CF273641F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669" y="5177715"/>
            <a:ext cx="3066631" cy="11442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122997"/>
            <a:ext cx="2836069" cy="1914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452" y="1307012"/>
            <a:ext cx="2421731" cy="19502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686" y="3260223"/>
            <a:ext cx="3824076" cy="21417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9425" y="1969675"/>
            <a:ext cx="4336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Tujuan</a:t>
            </a:r>
            <a:r>
              <a:rPr lang="en-ID" dirty="0"/>
              <a:t> :</a:t>
            </a:r>
          </a:p>
          <a:p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UI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219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Bahan bacaan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id-ID" sz="1600" dirty="0"/>
              <a:t>Wilbert O. Galitz,2007,</a:t>
            </a:r>
            <a:r>
              <a:rPr lang="en-US" sz="1600" b="1" dirty="0"/>
              <a:t>The Essential Guide to User Interface Design: An Introduction to GUI Design Principles and</a:t>
            </a:r>
            <a:r>
              <a:rPr lang="id-ID" sz="1600" b="1" dirty="0"/>
              <a:t> Techniques, Third Edition,</a:t>
            </a:r>
            <a:r>
              <a:rPr lang="id-ID" sz="1600" dirty="0"/>
              <a:t> Wiley Publishing, p.71-102 (dan untuk pertemuan minggu depan p.103-126)</a:t>
            </a:r>
          </a:p>
          <a:p>
            <a:pPr>
              <a:spcBef>
                <a:spcPts val="600"/>
              </a:spcBef>
            </a:pPr>
            <a:r>
              <a:rPr lang="id-ID" sz="1600" dirty="0">
                <a:hlinkClick r:id="rId2"/>
              </a:rPr>
              <a:t>https://uxmastery.com/what-does-a-user-centred-design-process-look-like/</a:t>
            </a:r>
            <a:r>
              <a:rPr lang="id-ID" sz="1600" dirty="0"/>
              <a:t> </a:t>
            </a:r>
          </a:p>
          <a:p>
            <a:pPr>
              <a:spcBef>
                <a:spcPts val="600"/>
              </a:spcBef>
            </a:pPr>
            <a:r>
              <a:rPr lang="id-ID" sz="1600" dirty="0">
                <a:hlinkClick r:id="rId3"/>
              </a:rPr>
              <a:t>http://knowledge.hubspot.com/contacts-user-guide/how-to-create-personas</a:t>
            </a:r>
            <a:r>
              <a:rPr lang="id-ID" sz="1600" dirty="0"/>
              <a:t> </a:t>
            </a:r>
          </a:p>
          <a:p>
            <a:pPr>
              <a:spcBef>
                <a:spcPts val="600"/>
              </a:spcBef>
            </a:pPr>
            <a:r>
              <a:rPr lang="id-ID" sz="1600" dirty="0">
                <a:hlinkClick r:id="rId4"/>
              </a:rPr>
              <a:t>http://www.smashingmagazine.com/2014/08/a-closer-look-at-personas-part-1/</a:t>
            </a:r>
            <a:r>
              <a:rPr lang="id-ID" sz="1600" dirty="0"/>
              <a:t> </a:t>
            </a:r>
          </a:p>
          <a:p>
            <a:pPr>
              <a:spcBef>
                <a:spcPts val="600"/>
              </a:spcBef>
            </a:pPr>
            <a:r>
              <a:rPr lang="id-ID" sz="1600" dirty="0">
                <a:hlinkClick r:id="rId5"/>
              </a:rPr>
              <a:t>http://webdesign.tutsplus.com/articles/defining-and-applying-personas-to-ux-design--webdesign-7561</a:t>
            </a:r>
            <a:r>
              <a:rPr lang="id-ID" sz="1600" dirty="0"/>
              <a:t> </a:t>
            </a:r>
          </a:p>
          <a:p>
            <a:pPr>
              <a:spcBef>
                <a:spcPts val="600"/>
              </a:spcBef>
            </a:pPr>
            <a:r>
              <a:rPr lang="id-ID" sz="1600" dirty="0">
                <a:hlinkClick r:id="rId6"/>
              </a:rPr>
              <a:t>http://www.storyboardthat.com/articles/software-development/using-personas-to-identify-your-target-customers</a:t>
            </a:r>
            <a:endParaRPr lang="id-ID" sz="1600" dirty="0"/>
          </a:p>
        </p:txBody>
      </p:sp>
    </p:spTree>
    <p:extLst>
      <p:ext uri="{BB962C8B-B14F-4D97-AF65-F5344CB8AC3E}">
        <p14:creationId xmlns:p14="http://schemas.microsoft.com/office/powerpoint/2010/main" val="38891792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baef278ee1cee0baed2218bd40bde239eef692"/>
</p:tagLst>
</file>

<file path=ppt/theme/theme1.xml><?xml version="1.0" encoding="utf-8"?>
<a:theme xmlns:a="http://schemas.openxmlformats.org/drawingml/2006/main" name="Fif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f theme" id="{F87EA711-521A-4946-B019-DC3D372964CE}" vid="{B3398939-BCCF-43BB-B8C5-63A70CAAD6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3EAFF4A131874088A6625F3ADD53C4" ma:contentTypeVersion="0" ma:contentTypeDescription="Create a new document." ma:contentTypeScope="" ma:versionID="780deb29eeb7a5b1c709d6584340df7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0E568A-A01C-4A5D-840A-504013131F60}"/>
</file>

<file path=customXml/itemProps2.xml><?xml version="1.0" encoding="utf-8"?>
<ds:datastoreItem xmlns:ds="http://schemas.openxmlformats.org/officeDocument/2006/customXml" ds:itemID="{D371C192-AE44-4F9E-89D9-8A635A4083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674EE1-1BE6-4AC5-973C-AEF209877CA9}">
  <ds:schemaRefs>
    <ds:schemaRef ds:uri="http://schemas.microsoft.com/office/2006/metadata/properties"/>
    <ds:schemaRef ds:uri="http://schemas.microsoft.com/office/infopath/2007/PartnerControls"/>
    <ds:schemaRef ds:uri="da944019-e0c0-4cbe-b9e1-79848028e4af"/>
    <ds:schemaRef ds:uri="4a4cec7d-c36e-444e-b338-a48af7a4be8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Fif theme</Template>
  <TotalTime>8506</TotalTime>
  <Words>1702</Words>
  <Application>Microsoft Office PowerPoint</Application>
  <PresentationFormat>Widescreen</PresentationFormat>
  <Paragraphs>256</Paragraphs>
  <Slides>50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3" baseType="lpstr">
      <vt:lpstr>ＭＳ Ｐゴシック</vt:lpstr>
      <vt:lpstr>Arial</vt:lpstr>
      <vt:lpstr>Barlow</vt:lpstr>
      <vt:lpstr>Brush Script Std</vt:lpstr>
      <vt:lpstr>Calibri</vt:lpstr>
      <vt:lpstr>Carlito</vt:lpstr>
      <vt:lpstr>Corbel</vt:lpstr>
      <vt:lpstr>Fjalla One</vt:lpstr>
      <vt:lpstr>Lucida Grande</vt:lpstr>
      <vt:lpstr>Symbol</vt:lpstr>
      <vt:lpstr>Verdana</vt:lpstr>
      <vt:lpstr>Wingdings</vt:lpstr>
      <vt:lpstr>Fif theme</vt:lpstr>
      <vt:lpstr>Interaksi Manusia dan Komputer (IMK)</vt:lpstr>
      <vt:lpstr>Interaksi Manusia dan Komputer (IMK)</vt:lpstr>
      <vt:lpstr>Tujuan </vt:lpstr>
      <vt:lpstr>Overview User Centered Design (UCD)</vt:lpstr>
      <vt:lpstr>What is User-Centered Design?</vt:lpstr>
      <vt:lpstr>ISO on User-centered Design</vt:lpstr>
      <vt:lpstr>What is a user-centered approach?</vt:lpstr>
      <vt:lpstr>A simple interaction design model</vt:lpstr>
      <vt:lpstr>1. Identifying needs and establishing requirements</vt:lpstr>
      <vt:lpstr>Target users</vt:lpstr>
      <vt:lpstr>Users’ needs</vt:lpstr>
      <vt:lpstr>Brief overview of common methods to gather user data</vt:lpstr>
      <vt:lpstr>2. Developing alternative designs</vt:lpstr>
      <vt:lpstr>2. Developing alternative designs</vt:lpstr>
      <vt:lpstr>3. Building interactive versions of the designs</vt:lpstr>
      <vt:lpstr>4. Evaluating designs</vt:lpstr>
      <vt:lpstr>5. Evaluating designs</vt:lpstr>
      <vt:lpstr>Interaksi Manusia dan Komputer (IMK)</vt:lpstr>
      <vt:lpstr>Proses Desain UI (14 Step)</vt:lpstr>
      <vt:lpstr>Step 1 Know User</vt:lpstr>
      <vt:lpstr>User Persona Example</vt:lpstr>
      <vt:lpstr>User Persona Example</vt:lpstr>
      <vt:lpstr>User Persona Example</vt:lpstr>
      <vt:lpstr>Step 2 Understand Business Function</vt:lpstr>
      <vt:lpstr>PowerPoint Presentation</vt:lpstr>
      <vt:lpstr>Step 3 Understand the Principles of Good Interface and Screen Design   </vt:lpstr>
      <vt:lpstr>Step 4 Develop System Menu &amp; Navigation </vt:lpstr>
      <vt:lpstr>Struktur Menu</vt:lpstr>
      <vt:lpstr>Step 5 Proper Windows </vt:lpstr>
      <vt:lpstr>Tipe-tipe Windows</vt:lpstr>
      <vt:lpstr>Gaya tampilan windows</vt:lpstr>
      <vt:lpstr>Step 6 Proper Interaction Device</vt:lpstr>
      <vt:lpstr>SELECTING THE PROPER  INPUT DEVICE</vt:lpstr>
      <vt:lpstr>Step 7 Screen Based Controls</vt:lpstr>
      <vt:lpstr>Controls examples</vt:lpstr>
      <vt:lpstr>Step 8 Clear Text &amp; Message</vt:lpstr>
      <vt:lpstr>Which you prefer? Why?</vt:lpstr>
      <vt:lpstr>Step 9 : Provide Effective Feedback</vt:lpstr>
      <vt:lpstr>PowerPoint Presentation</vt:lpstr>
      <vt:lpstr>Step 10 Internasionalization &amp; Accessibility </vt:lpstr>
      <vt:lpstr>Step 11 Create Meaningful Graphics, Icons, and Images  </vt:lpstr>
      <vt:lpstr>Graphics</vt:lpstr>
      <vt:lpstr>Learning Improvements for Various Media</vt:lpstr>
      <vt:lpstr>Step 12 Choose Proper Colors </vt:lpstr>
      <vt:lpstr>Color</vt:lpstr>
      <vt:lpstr>Step 13 Organize &amp; Layout Windows &amp; Page </vt:lpstr>
      <vt:lpstr>PowerPoint Presentation</vt:lpstr>
      <vt:lpstr>PowerPoint Presentation</vt:lpstr>
      <vt:lpstr>Step 14 Testing</vt:lpstr>
      <vt:lpstr>Bahan bacaan</vt:lpstr>
    </vt:vector>
  </TitlesOfParts>
  <Company>IEEE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Engel, Lisa Lisa.</dc:creator>
  <cp:lastModifiedBy>GEDE AGUNG ARY WISUDIAWAN</cp:lastModifiedBy>
  <cp:revision>244</cp:revision>
  <dcterms:created xsi:type="dcterms:W3CDTF">2012-11-14T18:53:32Z</dcterms:created>
  <dcterms:modified xsi:type="dcterms:W3CDTF">2026-02-02T04:10:30Z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0x010100283EAFF4A131874088A6625F3ADD53C4</vt:lpwstr>
  </property>
  <property fmtid="{D5CDD505-2E9C-101B-9397-08002B2CF9AE}" pid="3" name="MediaServiceImageTags">
    <vt:lpwstr/>
  </property>
</Properties>
</file>