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3" r:id="rId4"/>
  </p:sldMasterIdLst>
  <p:notesMasterIdLst>
    <p:notesMasterId r:id="rId62"/>
  </p:notesMasterIdLst>
  <p:handoutMasterIdLst>
    <p:handoutMasterId r:id="rId63"/>
  </p:handoutMasterIdLst>
  <p:sldIdLst>
    <p:sldId id="256" r:id="rId5"/>
    <p:sldId id="337" r:id="rId6"/>
    <p:sldId id="382" r:id="rId7"/>
    <p:sldId id="336" r:id="rId8"/>
    <p:sldId id="317" r:id="rId9"/>
    <p:sldId id="357" r:id="rId10"/>
    <p:sldId id="302" r:id="rId11"/>
    <p:sldId id="358" r:id="rId12"/>
    <p:sldId id="381" r:id="rId13"/>
    <p:sldId id="360" r:id="rId14"/>
    <p:sldId id="361" r:id="rId15"/>
    <p:sldId id="362" r:id="rId16"/>
    <p:sldId id="292" r:id="rId17"/>
    <p:sldId id="293" r:id="rId18"/>
    <p:sldId id="294" r:id="rId19"/>
    <p:sldId id="295" r:id="rId20"/>
    <p:sldId id="307" r:id="rId21"/>
    <p:sldId id="308" r:id="rId22"/>
    <p:sldId id="309" r:id="rId23"/>
    <p:sldId id="310" r:id="rId24"/>
    <p:sldId id="311" r:id="rId25"/>
    <p:sldId id="312" r:id="rId26"/>
    <p:sldId id="296" r:id="rId27"/>
    <p:sldId id="297" r:id="rId28"/>
    <p:sldId id="298" r:id="rId29"/>
    <p:sldId id="299" r:id="rId30"/>
    <p:sldId id="300" r:id="rId31"/>
    <p:sldId id="363"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65" r:id="rId48"/>
    <p:sldId id="364" r:id="rId49"/>
    <p:sldId id="303" r:id="rId50"/>
    <p:sldId id="304" r:id="rId51"/>
    <p:sldId id="305" r:id="rId52"/>
    <p:sldId id="351" r:id="rId53"/>
    <p:sldId id="352" r:id="rId54"/>
    <p:sldId id="355" r:id="rId55"/>
    <p:sldId id="353" r:id="rId56"/>
    <p:sldId id="354" r:id="rId57"/>
    <p:sldId id="356" r:id="rId58"/>
    <p:sldId id="316" r:id="rId59"/>
    <p:sldId id="315" r:id="rId60"/>
    <p:sldId id="258" r:id="rId61"/>
  </p:sldIdLst>
  <p:sldSz cx="9144000" cy="6858000" type="screen4x3"/>
  <p:notesSz cx="6858000" cy="9144000"/>
  <p:custDataLst>
    <p:tags r:id="rId6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7"/>
    <p:restoredTop sz="92066" autoAdjust="0"/>
  </p:normalViewPr>
  <p:slideViewPr>
    <p:cSldViewPr snapToGrid="0" snapToObjects="1">
      <p:cViewPr varScale="1">
        <p:scale>
          <a:sx n="98" d="100"/>
          <a:sy n="98" d="100"/>
        </p:scale>
        <p:origin x="1896" y="8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0DB9219-4A66-4B41-AFAD-B4DCC55121D3}" type="datetimeFigureOut">
              <a:rPr lang="en-US" smtClean="0"/>
              <a:t>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7A99D96-90C2-44B4-8DCF-3216EB4C3627}" type="slidenum">
              <a:rPr lang="en-US" smtClean="0"/>
              <a:t>‹#›</a:t>
            </a:fld>
            <a:endParaRPr lang="en-US"/>
          </a:p>
        </p:txBody>
      </p:sp>
    </p:spTree>
    <p:extLst>
      <p:ext uri="{BB962C8B-B14F-4D97-AF65-F5344CB8AC3E}">
        <p14:creationId xmlns:p14="http://schemas.microsoft.com/office/powerpoint/2010/main" val="3374085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796F5A-DA36-4202-8F3F-DA89D0431918}" type="datetimeFigureOut">
              <a:rPr lang="en-US" smtClean="0"/>
              <a:t>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4BABC4-D3F8-4FEC-A081-17F891AA9F9F}" type="slidenum">
              <a:rPr lang="en-US" smtClean="0"/>
              <a:t>‹#›</a:t>
            </a:fld>
            <a:endParaRPr lang="en-US"/>
          </a:p>
        </p:txBody>
      </p:sp>
    </p:spTree>
    <p:extLst>
      <p:ext uri="{BB962C8B-B14F-4D97-AF65-F5344CB8AC3E}">
        <p14:creationId xmlns:p14="http://schemas.microsoft.com/office/powerpoint/2010/main" val="2167849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4BABC4-D3F8-4FEC-A081-17F891AA9F9F}" type="slidenum">
              <a:rPr lang="en-US" smtClean="0"/>
              <a:t>16</a:t>
            </a:fld>
            <a:endParaRPr lang="en-US"/>
          </a:p>
        </p:txBody>
      </p:sp>
    </p:spTree>
    <p:extLst>
      <p:ext uri="{BB962C8B-B14F-4D97-AF65-F5344CB8AC3E}">
        <p14:creationId xmlns:p14="http://schemas.microsoft.com/office/powerpoint/2010/main" val="3756146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F2391797-79EF-43EF-8F16-E058456023D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FCF2BE6E-4950-4918-9E5D-8EBE019170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53252" name="Slide Number Placeholder 3">
            <a:extLst>
              <a:ext uri="{FF2B5EF4-FFF2-40B4-BE49-F238E27FC236}">
                <a16:creationId xmlns:a16="http://schemas.microsoft.com/office/drawing/2014/main" id="{61DEADF8-1FC3-4BC3-8AAC-6BB4EFFE0B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461ABAF-01DC-4B52-8436-B2F248D17A12}" type="slidenum">
              <a:rPr lang="en-US" altLang="en-US">
                <a:latin typeface="Calibri" panose="020F0502020204030204" pitchFamily="34" charset="0"/>
              </a:rPr>
              <a:pPr eaLnBrk="1" hangingPunct="1"/>
              <a:t>29</a:t>
            </a:fld>
            <a:endParaRPr lang="en-US" altLang="en-US">
              <a:latin typeface="Calibri" panose="020F0502020204030204" pitchFamily="34" charset="0"/>
            </a:endParaRPr>
          </a:p>
        </p:txBody>
      </p:sp>
    </p:spTree>
    <p:extLst>
      <p:ext uri="{BB962C8B-B14F-4D97-AF65-F5344CB8AC3E}">
        <p14:creationId xmlns:p14="http://schemas.microsoft.com/office/powerpoint/2010/main" val="34431998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pic>
        <p:nvPicPr>
          <p:cNvPr id="11" name="Google Shape;11;p2" descr="A building with a sign on it&#10;&#10;AI-generated content may be incorrect."/>
          <p:cNvPicPr preferRelativeResize="0"/>
          <p:nvPr/>
        </p:nvPicPr>
        <p:blipFill rotWithShape="1">
          <a:blip r:embed="rId2">
            <a:alphaModFix/>
          </a:blip>
          <a:srcRect l="4762"/>
          <a:stretch/>
        </p:blipFill>
        <p:spPr>
          <a:xfrm>
            <a:off x="0" y="2006600"/>
            <a:ext cx="3315974" cy="4851400"/>
          </a:xfrm>
          <a:prstGeom prst="rect">
            <a:avLst/>
          </a:prstGeom>
          <a:noFill/>
          <a:ln>
            <a:noFill/>
          </a:ln>
        </p:spPr>
      </p:pic>
      <p:sp>
        <p:nvSpPr>
          <p:cNvPr id="12" name="Google Shape;12;p2"/>
          <p:cNvSpPr/>
          <p:nvPr/>
        </p:nvSpPr>
        <p:spPr>
          <a:xfrm rot="10800000" flipH="1">
            <a:off x="0" y="5074920"/>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nvGrpSpPr>
          <p:cNvPr id="13" name="Google Shape;13;p2"/>
          <p:cNvGrpSpPr/>
          <p:nvPr/>
        </p:nvGrpSpPr>
        <p:grpSpPr>
          <a:xfrm>
            <a:off x="4572000" y="6528817"/>
            <a:ext cx="4594860" cy="658366"/>
            <a:chOff x="6566098" y="6529395"/>
            <a:chExt cx="5625902" cy="658365"/>
          </a:xfrm>
        </p:grpSpPr>
        <p:sp>
          <p:nvSpPr>
            <p:cNvPr id="14" name="Google Shape;14;p2"/>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15" name="Google Shape;15;p2"/>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grpSp>
        <p:nvGrpSpPr>
          <p:cNvPr id="16" name="Google Shape;16;p2"/>
          <p:cNvGrpSpPr/>
          <p:nvPr/>
        </p:nvGrpSpPr>
        <p:grpSpPr>
          <a:xfrm flipH="1">
            <a:off x="0" y="6527465"/>
            <a:ext cx="4594860" cy="658366"/>
            <a:chOff x="6566098" y="6529395"/>
            <a:chExt cx="5625902" cy="658365"/>
          </a:xfrm>
        </p:grpSpPr>
        <p:sp>
          <p:nvSpPr>
            <p:cNvPr id="17" name="Google Shape;17;p2"/>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18" name="Google Shape;18;p2"/>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sp>
        <p:nvSpPr>
          <p:cNvPr id="19" name="Google Shape;19;p2"/>
          <p:cNvSpPr txBox="1">
            <a:spLocks noGrp="1"/>
          </p:cNvSpPr>
          <p:nvPr>
            <p:ph type="ctrTitle"/>
          </p:nvPr>
        </p:nvSpPr>
        <p:spPr>
          <a:xfrm>
            <a:off x="3532908" y="1702118"/>
            <a:ext cx="5248189" cy="17268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0" name="Google Shape;20;p2"/>
          <p:cNvSpPr txBox="1">
            <a:spLocks noGrp="1"/>
          </p:cNvSpPr>
          <p:nvPr>
            <p:ph type="subTitle" idx="1"/>
          </p:nvPr>
        </p:nvSpPr>
        <p:spPr>
          <a:xfrm>
            <a:off x="3532908" y="3468456"/>
            <a:ext cx="5248189" cy="119756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750"/>
              </a:spcBef>
              <a:spcAft>
                <a:spcPts val="0"/>
              </a:spcAft>
              <a:buClr>
                <a:schemeClr val="dk1"/>
              </a:buClr>
              <a:buSzPts val="2400"/>
              <a:buNone/>
              <a:defRPr sz="1800">
                <a:latin typeface="Fjalla One"/>
                <a:ea typeface="Fjalla One"/>
                <a:cs typeface="Fjalla One"/>
                <a:sym typeface="Fjalla One"/>
              </a:defRPr>
            </a:lvl1pPr>
            <a:lvl2pPr lvl="1" algn="l">
              <a:lnSpc>
                <a:spcPct val="100000"/>
              </a:lnSpc>
              <a:spcBef>
                <a:spcPts val="375"/>
              </a:spcBef>
              <a:spcAft>
                <a:spcPts val="0"/>
              </a:spcAft>
              <a:buClr>
                <a:schemeClr val="dk1"/>
              </a:buClr>
              <a:buSzPts val="1800"/>
              <a:buChar char="•"/>
              <a:defRPr/>
            </a:lvl2pPr>
            <a:lvl3pPr lvl="2" algn="l">
              <a:lnSpc>
                <a:spcPct val="100000"/>
              </a:lnSpc>
              <a:spcBef>
                <a:spcPts val="375"/>
              </a:spcBef>
              <a:spcAft>
                <a:spcPts val="0"/>
              </a:spcAft>
              <a:buClr>
                <a:schemeClr val="dk1"/>
              </a:buClr>
              <a:buSzPts val="1800"/>
              <a:buChar char="•"/>
              <a:defRPr/>
            </a:lvl3pPr>
            <a:lvl4pPr lvl="3" algn="l">
              <a:lnSpc>
                <a:spcPct val="100000"/>
              </a:lnSpc>
              <a:spcBef>
                <a:spcPts val="375"/>
              </a:spcBef>
              <a:spcAft>
                <a:spcPts val="0"/>
              </a:spcAft>
              <a:buClr>
                <a:schemeClr val="dk1"/>
              </a:buClr>
              <a:buSzPts val="1800"/>
              <a:buChar char="•"/>
              <a:defRPr/>
            </a:lvl4pPr>
            <a:lvl5pPr lvl="4" algn="l">
              <a:lnSpc>
                <a:spcPct val="100000"/>
              </a:lnSpc>
              <a:spcBef>
                <a:spcPts val="375"/>
              </a:spcBef>
              <a:spcAft>
                <a:spcPts val="0"/>
              </a:spcAft>
              <a:buClr>
                <a:schemeClr val="dk1"/>
              </a:buClr>
              <a:buSzPts val="180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a:r>
              <a:rPr lang="en-US"/>
              <a:t>Click to edit Master subtitle style</a:t>
            </a:r>
            <a:endParaRPr/>
          </a:p>
        </p:txBody>
      </p:sp>
      <p:pic>
        <p:nvPicPr>
          <p:cNvPr id="21" name="Google Shape;21;p2" descr="A black text on a black background&#10;&#10;AI-generated content may be incorrect."/>
          <p:cNvPicPr preferRelativeResize="0"/>
          <p:nvPr/>
        </p:nvPicPr>
        <p:blipFill rotWithShape="1">
          <a:blip r:embed="rId3">
            <a:alphaModFix/>
          </a:blip>
          <a:srcRect/>
          <a:stretch/>
        </p:blipFill>
        <p:spPr>
          <a:xfrm>
            <a:off x="290230" y="223036"/>
            <a:ext cx="757142" cy="345533"/>
          </a:xfrm>
          <a:prstGeom prst="rect">
            <a:avLst/>
          </a:prstGeom>
          <a:noFill/>
          <a:ln>
            <a:noFill/>
          </a:ln>
        </p:spPr>
      </p:pic>
      <p:grpSp>
        <p:nvGrpSpPr>
          <p:cNvPr id="22" name="Google Shape;22;p2"/>
          <p:cNvGrpSpPr/>
          <p:nvPr/>
        </p:nvGrpSpPr>
        <p:grpSpPr>
          <a:xfrm>
            <a:off x="6821313" y="113327"/>
            <a:ext cx="2032457" cy="503420"/>
            <a:chOff x="9320766" y="88308"/>
            <a:chExt cx="2709943" cy="503420"/>
          </a:xfrm>
        </p:grpSpPr>
        <p:pic>
          <p:nvPicPr>
            <p:cNvPr id="23" name="Google Shape;23;p2" descr="A yellow text on a black background&#10;&#10;AI-generated content may be incorrect."/>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24" name="Google Shape;24;p2" descr="A person holding a microphone&#10;&#10;AI-generated content may be incorrect."/>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25" name="Google Shape;25;p2" descr="A black background with yellow and grey text&#10;&#10;AI-generated content may be incorrect."/>
          <p:cNvPicPr preferRelativeResize="0"/>
          <p:nvPr/>
        </p:nvPicPr>
        <p:blipFill rotWithShape="1">
          <a:blip r:embed="rId6">
            <a:alphaModFix/>
          </a:blip>
          <a:srcRect/>
          <a:stretch/>
        </p:blipFill>
        <p:spPr>
          <a:xfrm>
            <a:off x="1142038" y="154187"/>
            <a:ext cx="1447800" cy="483228"/>
          </a:xfrm>
          <a:prstGeom prst="rect">
            <a:avLst/>
          </a:prstGeom>
          <a:noFill/>
          <a:ln>
            <a:noFill/>
          </a:ln>
        </p:spPr>
      </p:pic>
      <p:grpSp>
        <p:nvGrpSpPr>
          <p:cNvPr id="26" name="Google Shape;26;p2"/>
          <p:cNvGrpSpPr/>
          <p:nvPr/>
        </p:nvGrpSpPr>
        <p:grpSpPr>
          <a:xfrm>
            <a:off x="3315974" y="126998"/>
            <a:ext cx="2562463" cy="498680"/>
            <a:chOff x="4421298" y="126998"/>
            <a:chExt cx="3416617" cy="498680"/>
          </a:xfrm>
        </p:grpSpPr>
        <p:sp>
          <p:nvSpPr>
            <p:cNvPr id="27" name="Google Shape;27;p2"/>
            <p:cNvSpPr txBox="1"/>
            <p:nvPr/>
          </p:nvSpPr>
          <p:spPr>
            <a:xfrm>
              <a:off x="5766211" y="222450"/>
              <a:ext cx="2071704" cy="25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0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28" name="Google Shape;28;p2" descr="A logo with a black background&#10;&#10;AI-generated content may be incorrect."/>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29" name="Google Shape;29;p2"/>
          <p:cNvPicPr preferRelativeResize="0"/>
          <p:nvPr/>
        </p:nvPicPr>
        <p:blipFill rotWithShape="1">
          <a:blip r:embed="rId8">
            <a:alphaModFix/>
          </a:blip>
          <a:srcRect/>
          <a:stretch/>
        </p:blipFill>
        <p:spPr>
          <a:xfrm>
            <a:off x="4196295" y="6116054"/>
            <a:ext cx="4851313" cy="323116"/>
          </a:xfrm>
          <a:prstGeom prst="rect">
            <a:avLst/>
          </a:prstGeom>
          <a:noFill/>
          <a:ln>
            <a:noFill/>
          </a:ln>
        </p:spPr>
      </p:pic>
    </p:spTree>
    <p:extLst>
      <p:ext uri="{BB962C8B-B14F-4D97-AF65-F5344CB8AC3E}">
        <p14:creationId xmlns:p14="http://schemas.microsoft.com/office/powerpoint/2010/main" val="29370356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0"/>
        <p:cNvGrpSpPr/>
        <p:nvPr/>
      </p:nvGrpSpPr>
      <p:grpSpPr>
        <a:xfrm>
          <a:off x="0" y="0"/>
          <a:ext cx="0" cy="0"/>
          <a:chOff x="0" y="0"/>
          <a:chExt cx="0" cy="0"/>
        </a:xfrm>
      </p:grpSpPr>
      <p:sp>
        <p:nvSpPr>
          <p:cNvPr id="31" name="Google Shape;31;p3"/>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32" name="Google Shape;32;p3"/>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33" name="Google Shape;33;p3"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34" name="Google Shape;34;p3"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35" name="Google Shape;35;p3"/>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6" name="Google Shape;36;p3"/>
          <p:cNvSpPr txBox="1">
            <a:spLocks noGrp="1"/>
          </p:cNvSpPr>
          <p:nvPr>
            <p:ph type="body" idx="1"/>
          </p:nvPr>
        </p:nvSpPr>
        <p:spPr>
          <a:xfrm>
            <a:off x="220866" y="1140497"/>
            <a:ext cx="4214345"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37" name="Google Shape;37;p3"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38" name="Google Shape;38;p3"/>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39" name="Google Shape;39;p3"/>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sp>
        <p:nvSpPr>
          <p:cNvPr id="40" name="Google Shape;40;p3"/>
          <p:cNvSpPr txBox="1">
            <a:spLocks noGrp="1"/>
          </p:cNvSpPr>
          <p:nvPr>
            <p:ph type="body" idx="2"/>
          </p:nvPr>
        </p:nvSpPr>
        <p:spPr>
          <a:xfrm>
            <a:off x="4681081" y="1132252"/>
            <a:ext cx="4214345"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41" name="Google Shape;41;p3"/>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198301085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42"/>
        <p:cNvGrpSpPr/>
        <p:nvPr/>
      </p:nvGrpSpPr>
      <p:grpSpPr>
        <a:xfrm>
          <a:off x="0" y="0"/>
          <a:ext cx="0" cy="0"/>
          <a:chOff x="0" y="0"/>
          <a:chExt cx="0" cy="0"/>
        </a:xfrm>
      </p:grpSpPr>
      <p:pic>
        <p:nvPicPr>
          <p:cNvPr id="43" name="Google Shape;43;p4" descr="A building with a sign on it&#10;&#10;AI-generated content may be incorrect."/>
          <p:cNvPicPr preferRelativeResize="0"/>
          <p:nvPr/>
        </p:nvPicPr>
        <p:blipFill rotWithShape="1">
          <a:blip r:embed="rId2">
            <a:alphaModFix/>
          </a:blip>
          <a:srcRect l="4762"/>
          <a:stretch/>
        </p:blipFill>
        <p:spPr>
          <a:xfrm>
            <a:off x="0" y="2006600"/>
            <a:ext cx="3315974" cy="4851400"/>
          </a:xfrm>
          <a:prstGeom prst="rect">
            <a:avLst/>
          </a:prstGeom>
          <a:noFill/>
          <a:ln>
            <a:noFill/>
          </a:ln>
        </p:spPr>
      </p:pic>
      <p:sp>
        <p:nvSpPr>
          <p:cNvPr id="44" name="Google Shape;44;p4"/>
          <p:cNvSpPr/>
          <p:nvPr/>
        </p:nvSpPr>
        <p:spPr>
          <a:xfrm rot="10800000" flipH="1">
            <a:off x="0" y="5074920"/>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nvGrpSpPr>
          <p:cNvPr id="45" name="Google Shape;45;p4"/>
          <p:cNvGrpSpPr/>
          <p:nvPr/>
        </p:nvGrpSpPr>
        <p:grpSpPr>
          <a:xfrm>
            <a:off x="4572001" y="6528817"/>
            <a:ext cx="4594859" cy="658366"/>
            <a:chOff x="6566098" y="6529395"/>
            <a:chExt cx="5625901" cy="658365"/>
          </a:xfrm>
        </p:grpSpPr>
        <p:sp>
          <p:nvSpPr>
            <p:cNvPr id="46" name="Google Shape;46;p4"/>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47" name="Google Shape;47;p4"/>
            <p:cNvSpPr/>
            <p:nvPr/>
          </p:nvSpPr>
          <p:spPr>
            <a:xfrm>
              <a:off x="6870700" y="6529395"/>
              <a:ext cx="5321299"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grpSp>
        <p:nvGrpSpPr>
          <p:cNvPr id="48" name="Google Shape;48;p4"/>
          <p:cNvGrpSpPr/>
          <p:nvPr/>
        </p:nvGrpSpPr>
        <p:grpSpPr>
          <a:xfrm flipH="1">
            <a:off x="0" y="6527465"/>
            <a:ext cx="4594860" cy="658366"/>
            <a:chOff x="6566098" y="6529395"/>
            <a:chExt cx="5625902" cy="658365"/>
          </a:xfrm>
        </p:grpSpPr>
        <p:sp>
          <p:nvSpPr>
            <p:cNvPr id="49" name="Google Shape;49;p4"/>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50" name="Google Shape;50;p4"/>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sp>
        <p:nvSpPr>
          <p:cNvPr id="51" name="Google Shape;51;p4"/>
          <p:cNvSpPr txBox="1">
            <a:spLocks noGrp="1"/>
          </p:cNvSpPr>
          <p:nvPr>
            <p:ph type="ctrTitle"/>
          </p:nvPr>
        </p:nvSpPr>
        <p:spPr>
          <a:xfrm>
            <a:off x="3532908" y="1702118"/>
            <a:ext cx="5248189" cy="17268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2" name="Google Shape;52;p4"/>
          <p:cNvSpPr txBox="1">
            <a:spLocks noGrp="1"/>
          </p:cNvSpPr>
          <p:nvPr>
            <p:ph type="subTitle" idx="1"/>
          </p:nvPr>
        </p:nvSpPr>
        <p:spPr>
          <a:xfrm>
            <a:off x="3532908" y="3468456"/>
            <a:ext cx="5248189" cy="119756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750"/>
              </a:spcBef>
              <a:spcAft>
                <a:spcPts val="0"/>
              </a:spcAft>
              <a:buClr>
                <a:schemeClr val="dk1"/>
              </a:buClr>
              <a:buSzPts val="2400"/>
              <a:buNone/>
              <a:defRPr sz="1800">
                <a:latin typeface="Fjalla One"/>
                <a:ea typeface="Fjalla One"/>
                <a:cs typeface="Fjalla One"/>
                <a:sym typeface="Fjalla One"/>
              </a:defRPr>
            </a:lvl1pPr>
            <a:lvl2pPr lvl="1" algn="l">
              <a:lnSpc>
                <a:spcPct val="100000"/>
              </a:lnSpc>
              <a:spcBef>
                <a:spcPts val="375"/>
              </a:spcBef>
              <a:spcAft>
                <a:spcPts val="0"/>
              </a:spcAft>
              <a:buClr>
                <a:schemeClr val="dk1"/>
              </a:buClr>
              <a:buSzPts val="1800"/>
              <a:buChar char="•"/>
              <a:defRPr/>
            </a:lvl2pPr>
            <a:lvl3pPr lvl="2" algn="l">
              <a:lnSpc>
                <a:spcPct val="100000"/>
              </a:lnSpc>
              <a:spcBef>
                <a:spcPts val="375"/>
              </a:spcBef>
              <a:spcAft>
                <a:spcPts val="0"/>
              </a:spcAft>
              <a:buClr>
                <a:schemeClr val="dk1"/>
              </a:buClr>
              <a:buSzPts val="1800"/>
              <a:buChar char="•"/>
              <a:defRPr/>
            </a:lvl3pPr>
            <a:lvl4pPr lvl="3" algn="l">
              <a:lnSpc>
                <a:spcPct val="100000"/>
              </a:lnSpc>
              <a:spcBef>
                <a:spcPts val="375"/>
              </a:spcBef>
              <a:spcAft>
                <a:spcPts val="0"/>
              </a:spcAft>
              <a:buClr>
                <a:schemeClr val="dk1"/>
              </a:buClr>
              <a:buSzPts val="1800"/>
              <a:buChar char="•"/>
              <a:defRPr/>
            </a:lvl4pPr>
            <a:lvl5pPr lvl="4" algn="l">
              <a:lnSpc>
                <a:spcPct val="100000"/>
              </a:lnSpc>
              <a:spcBef>
                <a:spcPts val="375"/>
              </a:spcBef>
              <a:spcAft>
                <a:spcPts val="0"/>
              </a:spcAft>
              <a:buClr>
                <a:schemeClr val="dk1"/>
              </a:buClr>
              <a:buSzPts val="180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a:r>
              <a:rPr lang="en-US"/>
              <a:t>Click to edit Master subtitle style</a:t>
            </a:r>
            <a:endParaRPr/>
          </a:p>
        </p:txBody>
      </p:sp>
      <p:pic>
        <p:nvPicPr>
          <p:cNvPr id="53" name="Google Shape;53;p4" descr="A black text on a black background&#10;&#10;AI-generated content may be incorrect."/>
          <p:cNvPicPr preferRelativeResize="0"/>
          <p:nvPr/>
        </p:nvPicPr>
        <p:blipFill rotWithShape="1">
          <a:blip r:embed="rId3">
            <a:alphaModFix/>
          </a:blip>
          <a:srcRect/>
          <a:stretch/>
        </p:blipFill>
        <p:spPr>
          <a:xfrm>
            <a:off x="290230" y="223036"/>
            <a:ext cx="757142" cy="345533"/>
          </a:xfrm>
          <a:prstGeom prst="rect">
            <a:avLst/>
          </a:prstGeom>
          <a:noFill/>
          <a:ln>
            <a:noFill/>
          </a:ln>
        </p:spPr>
      </p:pic>
      <p:grpSp>
        <p:nvGrpSpPr>
          <p:cNvPr id="54" name="Google Shape;54;p4"/>
          <p:cNvGrpSpPr/>
          <p:nvPr/>
        </p:nvGrpSpPr>
        <p:grpSpPr>
          <a:xfrm>
            <a:off x="6821313" y="113327"/>
            <a:ext cx="2032457" cy="503420"/>
            <a:chOff x="9320766" y="88308"/>
            <a:chExt cx="2709943" cy="503420"/>
          </a:xfrm>
        </p:grpSpPr>
        <p:pic>
          <p:nvPicPr>
            <p:cNvPr id="55" name="Google Shape;55;p4" descr="A yellow text on a black background&#10;&#10;AI-generated content may be incorrect."/>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56" name="Google Shape;56;p4" descr="A person holding a microphone&#10;&#10;AI-generated content may be incorrect."/>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57" name="Google Shape;57;p4" descr="A black background with yellow and grey text&#10;&#10;AI-generated content may be incorrect."/>
          <p:cNvPicPr preferRelativeResize="0"/>
          <p:nvPr/>
        </p:nvPicPr>
        <p:blipFill rotWithShape="1">
          <a:blip r:embed="rId6">
            <a:alphaModFix/>
          </a:blip>
          <a:srcRect/>
          <a:stretch/>
        </p:blipFill>
        <p:spPr>
          <a:xfrm>
            <a:off x="1142038" y="154187"/>
            <a:ext cx="1447800" cy="483228"/>
          </a:xfrm>
          <a:prstGeom prst="rect">
            <a:avLst/>
          </a:prstGeom>
          <a:noFill/>
          <a:ln>
            <a:noFill/>
          </a:ln>
        </p:spPr>
      </p:pic>
      <p:grpSp>
        <p:nvGrpSpPr>
          <p:cNvPr id="58" name="Google Shape;58;p4"/>
          <p:cNvGrpSpPr/>
          <p:nvPr/>
        </p:nvGrpSpPr>
        <p:grpSpPr>
          <a:xfrm>
            <a:off x="3315974" y="126998"/>
            <a:ext cx="2562463" cy="498680"/>
            <a:chOff x="4421298" y="126998"/>
            <a:chExt cx="3416617" cy="498680"/>
          </a:xfrm>
        </p:grpSpPr>
        <p:sp>
          <p:nvSpPr>
            <p:cNvPr id="59" name="Google Shape;59;p4"/>
            <p:cNvSpPr txBox="1"/>
            <p:nvPr/>
          </p:nvSpPr>
          <p:spPr>
            <a:xfrm>
              <a:off x="5766211" y="222450"/>
              <a:ext cx="2071704" cy="25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0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60" name="Google Shape;60;p4" descr="A logo with a black background&#10;&#10;AI-generated content may be incorrect."/>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61" name="Google Shape;61;p4"/>
          <p:cNvPicPr preferRelativeResize="0"/>
          <p:nvPr/>
        </p:nvPicPr>
        <p:blipFill rotWithShape="1">
          <a:blip r:embed="rId8">
            <a:alphaModFix/>
          </a:blip>
          <a:srcRect/>
          <a:stretch/>
        </p:blipFill>
        <p:spPr>
          <a:xfrm>
            <a:off x="4228418" y="6149139"/>
            <a:ext cx="4850865" cy="325602"/>
          </a:xfrm>
          <a:prstGeom prst="rect">
            <a:avLst/>
          </a:prstGeom>
          <a:noFill/>
          <a:ln>
            <a:noFill/>
          </a:ln>
        </p:spPr>
      </p:pic>
    </p:spTree>
    <p:extLst>
      <p:ext uri="{BB962C8B-B14F-4D97-AF65-F5344CB8AC3E}">
        <p14:creationId xmlns:p14="http://schemas.microsoft.com/office/powerpoint/2010/main" val="304859025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2"/>
        <p:cNvGrpSpPr/>
        <p:nvPr/>
      </p:nvGrpSpPr>
      <p:grpSpPr>
        <a:xfrm>
          <a:off x="0" y="0"/>
          <a:ext cx="0" cy="0"/>
          <a:chOff x="0" y="0"/>
          <a:chExt cx="0" cy="0"/>
        </a:xfrm>
      </p:grpSpPr>
      <p:sp>
        <p:nvSpPr>
          <p:cNvPr id="63" name="Google Shape;63;p5"/>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64" name="Google Shape;64;p5"/>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65" name="Google Shape;65;p5"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66" name="Google Shape;66;p5"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67" name="Google Shape;67;p5"/>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68" name="Google Shape;68;p5"/>
          <p:cNvSpPr txBox="1">
            <a:spLocks noGrp="1"/>
          </p:cNvSpPr>
          <p:nvPr>
            <p:ph type="body" idx="1"/>
          </p:nvPr>
        </p:nvSpPr>
        <p:spPr>
          <a:xfrm>
            <a:off x="220866" y="1140497"/>
            <a:ext cx="8706656"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69" name="Google Shape;69;p5"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70" name="Google Shape;70;p5"/>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71" name="Google Shape;71;p5"/>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72" name="Google Shape;72;p5"/>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376469020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73"/>
        <p:cNvGrpSpPr/>
        <p:nvPr/>
      </p:nvGrpSpPr>
      <p:grpSpPr>
        <a:xfrm>
          <a:off x="0" y="0"/>
          <a:ext cx="0" cy="0"/>
          <a:chOff x="0" y="0"/>
          <a:chExt cx="0" cy="0"/>
        </a:xfrm>
      </p:grpSpPr>
      <p:sp>
        <p:nvSpPr>
          <p:cNvPr id="74" name="Google Shape;74;p6"/>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75" name="Google Shape;75;p6"/>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76" name="Google Shape;76;p6"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77" name="Google Shape;77;p6"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78" name="Google Shape;78;p6"/>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pic>
        <p:nvPicPr>
          <p:cNvPr id="79" name="Google Shape;79;p6" descr="A logo with a red and black letter u&#10;&#10;AI-generated content may be incorrect."/>
          <p:cNvPicPr preferRelativeResize="0"/>
          <p:nvPr/>
        </p:nvPicPr>
        <p:blipFill rotWithShape="1">
          <a:blip r:embed="rId4">
            <a:alphaModFix amt="10000"/>
          </a:blip>
          <a:srcRect/>
          <a:stretch/>
        </p:blipFill>
        <p:spPr>
          <a:xfrm>
            <a:off x="3522161" y="1427758"/>
            <a:ext cx="2127386" cy="4002484"/>
          </a:xfrm>
          <a:prstGeom prst="rect">
            <a:avLst/>
          </a:prstGeom>
          <a:noFill/>
          <a:ln>
            <a:noFill/>
          </a:ln>
        </p:spPr>
      </p:pic>
      <p:sp>
        <p:nvSpPr>
          <p:cNvPr id="80" name="Google Shape;80;p6"/>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81" name="Google Shape;81;p6"/>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sp>
        <p:nvSpPr>
          <p:cNvPr id="82" name="Google Shape;82;p6"/>
          <p:cNvSpPr txBox="1">
            <a:spLocks noGrp="1"/>
          </p:cNvSpPr>
          <p:nvPr>
            <p:ph type="body" idx="1"/>
          </p:nvPr>
        </p:nvSpPr>
        <p:spPr>
          <a:xfrm>
            <a:off x="223435" y="1060992"/>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cxnSp>
        <p:nvCxnSpPr>
          <p:cNvPr id="83" name="Google Shape;83;p6"/>
          <p:cNvCxnSpPr/>
          <p:nvPr/>
        </p:nvCxnSpPr>
        <p:spPr>
          <a:xfrm>
            <a:off x="3072633" y="1039103"/>
            <a:ext cx="0" cy="5204380"/>
          </a:xfrm>
          <a:prstGeom prst="straightConnector1">
            <a:avLst/>
          </a:prstGeom>
          <a:noFill/>
          <a:ln w="19050" cap="flat" cmpd="sng">
            <a:solidFill>
              <a:srgbClr val="D8D8D8"/>
            </a:solidFill>
            <a:prstDash val="solid"/>
            <a:miter lim="800000"/>
            <a:headEnd type="none" w="sm" len="sm"/>
            <a:tailEnd type="none" w="sm" len="sm"/>
          </a:ln>
        </p:spPr>
      </p:cxnSp>
      <p:cxnSp>
        <p:nvCxnSpPr>
          <p:cNvPr id="84" name="Google Shape;84;p6"/>
          <p:cNvCxnSpPr/>
          <p:nvPr/>
        </p:nvCxnSpPr>
        <p:spPr>
          <a:xfrm>
            <a:off x="6024639" y="1039103"/>
            <a:ext cx="0" cy="5204380"/>
          </a:xfrm>
          <a:prstGeom prst="straightConnector1">
            <a:avLst/>
          </a:prstGeom>
          <a:noFill/>
          <a:ln w="19050" cap="flat" cmpd="sng">
            <a:solidFill>
              <a:srgbClr val="D8D8D8"/>
            </a:solidFill>
            <a:prstDash val="solid"/>
            <a:miter lim="800000"/>
            <a:headEnd type="none" w="sm" len="sm"/>
            <a:tailEnd type="none" w="sm" len="sm"/>
          </a:ln>
        </p:spPr>
      </p:cxnSp>
      <p:sp>
        <p:nvSpPr>
          <p:cNvPr id="85" name="Google Shape;85;p6"/>
          <p:cNvSpPr txBox="1">
            <a:spLocks noGrp="1"/>
          </p:cNvSpPr>
          <p:nvPr>
            <p:ph type="body" idx="2"/>
          </p:nvPr>
        </p:nvSpPr>
        <p:spPr>
          <a:xfrm>
            <a:off x="3176836" y="1050048"/>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6"/>
          <p:cNvSpPr txBox="1">
            <a:spLocks noGrp="1"/>
          </p:cNvSpPr>
          <p:nvPr>
            <p:ph type="body" idx="3"/>
          </p:nvPr>
        </p:nvSpPr>
        <p:spPr>
          <a:xfrm>
            <a:off x="6130237" y="1039103"/>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87" name="Google Shape;87;p6"/>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7908046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8"/>
        <p:cNvGrpSpPr/>
        <p:nvPr/>
      </p:nvGrpSpPr>
      <p:grpSpPr>
        <a:xfrm>
          <a:off x="0" y="0"/>
          <a:ext cx="0" cy="0"/>
          <a:chOff x="0" y="0"/>
          <a:chExt cx="0" cy="0"/>
        </a:xfrm>
      </p:grpSpPr>
      <p:sp>
        <p:nvSpPr>
          <p:cNvPr id="89" name="Google Shape;89;p7"/>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90" name="Google Shape;90;p7"/>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91" name="Google Shape;91;p7"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92" name="Google Shape;92;p7"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93" name="Google Shape;93;p7"/>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pic>
        <p:nvPicPr>
          <p:cNvPr id="94" name="Google Shape;94;p7"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95" name="Google Shape;95;p7"/>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96" name="Google Shape;96;p7"/>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97" name="Google Shape;97;p7"/>
          <p:cNvPicPr preferRelativeResize="0"/>
          <p:nvPr/>
        </p:nvPicPr>
        <p:blipFill rotWithShape="1">
          <a:blip r:embed="rId5">
            <a:alphaModFix/>
          </a:blip>
          <a:srcRect/>
          <a:stretch/>
        </p:blipFill>
        <p:spPr>
          <a:xfrm>
            <a:off x="167702" y="6498585"/>
            <a:ext cx="4850865" cy="325602"/>
          </a:xfrm>
          <a:prstGeom prst="rect">
            <a:avLst/>
          </a:prstGeom>
          <a:noFill/>
          <a:ln>
            <a:noFill/>
          </a:ln>
        </p:spPr>
      </p:pic>
    </p:spTree>
    <p:extLst>
      <p:ext uri="{BB962C8B-B14F-4D97-AF65-F5344CB8AC3E}">
        <p14:creationId xmlns:p14="http://schemas.microsoft.com/office/powerpoint/2010/main" val="411819290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1234684" y="1269242"/>
            <a:ext cx="7909316" cy="765053"/>
          </a:xfrm>
          <a:prstGeom prst="rect">
            <a:avLst/>
          </a:prstGeom>
        </p:spPr>
        <p:txBody>
          <a:bodyPr/>
          <a:lstStyle>
            <a:lvl1pPr algn="l">
              <a:lnSpc>
                <a:spcPct val="90000"/>
              </a:lnSpc>
              <a:defRPr sz="2800" b="1">
                <a:solidFill>
                  <a:schemeClr val="tx1"/>
                </a:solidFill>
                <a:latin typeface="+mn-lt"/>
              </a:defRPr>
            </a:lvl1pPr>
          </a:lstStyle>
          <a:p>
            <a:r>
              <a:rPr lang="en-US" dirty="0"/>
              <a:t>Click to edit Master title style</a:t>
            </a:r>
          </a:p>
        </p:txBody>
      </p:sp>
      <p:sp>
        <p:nvSpPr>
          <p:cNvPr id="10" name="Rectangle 3"/>
          <p:cNvSpPr>
            <a:spLocks noGrp="1" noChangeArrowheads="1"/>
          </p:cNvSpPr>
          <p:nvPr>
            <p:ph type="subTitle" idx="1"/>
          </p:nvPr>
        </p:nvSpPr>
        <p:spPr>
          <a:xfrm>
            <a:off x="1234684" y="2227425"/>
            <a:ext cx="7909316" cy="429768"/>
          </a:xfrm>
          <a:prstGeom prst="rect">
            <a:avLst/>
          </a:prstGeom>
        </p:spPr>
        <p:txBody>
          <a:bodyPr/>
          <a:lstStyle>
            <a:lvl1pPr marL="0" indent="0">
              <a:lnSpc>
                <a:spcPct val="90000"/>
              </a:lnSpc>
              <a:buFont typeface="Wingdings" pitchFamily="28" charset="2"/>
              <a:buNone/>
              <a:defRPr sz="2000" b="0" baseline="0">
                <a:solidFill>
                  <a:schemeClr val="tx1"/>
                </a:solidFill>
                <a:latin typeface="Verdana"/>
                <a:cs typeface="Verdana"/>
              </a:defRPr>
            </a:lvl1pPr>
          </a:lstStyle>
          <a:p>
            <a:r>
              <a:rPr lang="en-US" dirty="0"/>
              <a:t>Click to edit Master subtitle style</a:t>
            </a:r>
          </a:p>
        </p:txBody>
      </p:sp>
      <p:sp>
        <p:nvSpPr>
          <p:cNvPr id="7" name="Text Placeholder 15"/>
          <p:cNvSpPr>
            <a:spLocks noGrp="1"/>
          </p:cNvSpPr>
          <p:nvPr>
            <p:ph type="body" sz="quarter" idx="13"/>
          </p:nvPr>
        </p:nvSpPr>
        <p:spPr>
          <a:xfrm>
            <a:off x="1234684" y="2875084"/>
            <a:ext cx="7918022" cy="378005"/>
          </a:xfrm>
          <a:prstGeom prst="rect">
            <a:avLst/>
          </a:prstGeom>
        </p:spPr>
        <p:txBody>
          <a:bodyPr/>
          <a:lstStyle>
            <a:lvl1pPr marL="0" indent="0">
              <a:buFontTx/>
              <a:buNone/>
              <a:defRPr sz="1600">
                <a:solidFill>
                  <a:schemeClr val="tx1"/>
                </a:solidFill>
                <a:latin typeface="Verdana"/>
              </a:defRPr>
            </a:lvl1pPr>
          </a:lstStyle>
          <a:p>
            <a:pPr lvl="0"/>
            <a:r>
              <a:rPr lang="en-US" dirty="0"/>
              <a:t>Click to edit Master text styles</a:t>
            </a:r>
          </a:p>
        </p:txBody>
      </p:sp>
      <p:sp>
        <p:nvSpPr>
          <p:cNvPr id="11" name="Date Placeholder 1"/>
          <p:cNvSpPr>
            <a:spLocks noGrp="1"/>
          </p:cNvSpPr>
          <p:nvPr>
            <p:ph type="dt" sz="half" idx="14"/>
          </p:nvPr>
        </p:nvSpPr>
        <p:spPr/>
        <p:txBody>
          <a:bodyPr/>
          <a:lstStyle>
            <a:lvl1pPr>
              <a:defRPr>
                <a:solidFill>
                  <a:schemeClr val="tx1"/>
                </a:solidFill>
              </a:defRPr>
            </a:lvl1pPr>
          </a:lstStyle>
          <a:p>
            <a:pPr>
              <a:defRPr/>
            </a:pPr>
            <a:fld id="{918EA6BD-745F-491A-A8B9-BDC9214682DB}" type="datetime1">
              <a:rPr lang="en-US" smtClean="0"/>
              <a:t>2/2/2026</a:t>
            </a:fld>
            <a:endParaRPr lang="en-US" dirty="0"/>
          </a:p>
        </p:txBody>
      </p:sp>
      <p:sp>
        <p:nvSpPr>
          <p:cNvPr id="12" name="Slide Number Placeholder 2"/>
          <p:cNvSpPr>
            <a:spLocks noGrp="1"/>
          </p:cNvSpPr>
          <p:nvPr>
            <p:ph type="sldNum" sz="quarter" idx="15"/>
          </p:nvPr>
        </p:nvSpPr>
        <p:spPr/>
        <p:txBody>
          <a:bodyPr/>
          <a:lstStyle>
            <a:lvl1pPr>
              <a:defRPr>
                <a:solidFill>
                  <a:schemeClr val="tx1"/>
                </a:solidFill>
              </a:defRPr>
            </a:lvl1pPr>
          </a:lstStyle>
          <a:p>
            <a:pPr>
              <a:defRPr/>
            </a:pPr>
            <a:fld id="{FA0FCE97-1E5D-3942-9893-29D29393C492}" type="slidenum">
              <a:rPr lang="en-US" smtClean="0"/>
              <a:pPr>
                <a:defRPr/>
              </a:pPr>
              <a:t>‹#›</a:t>
            </a:fld>
            <a:endParaRPr lang="en-US" dirty="0"/>
          </a:p>
        </p:txBody>
      </p:sp>
      <p:sp>
        <p:nvSpPr>
          <p:cNvPr id="2" name="Rectangle 1"/>
          <p:cNvSpPr/>
          <p:nvPr userDrawn="1"/>
        </p:nvSpPr>
        <p:spPr>
          <a:xfrm>
            <a:off x="0" y="0"/>
            <a:ext cx="9144000" cy="1269242"/>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27687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1"/>
          <p:cNvSpPr>
            <a:spLocks noGrp="1"/>
          </p:cNvSpPr>
          <p:nvPr>
            <p:ph type="sldNum" sz="quarter" idx="15"/>
          </p:nvPr>
        </p:nvSpPr>
        <p:spPr/>
        <p:txBody>
          <a:bodyPr/>
          <a:lstStyle>
            <a:lvl1pPr>
              <a:defRPr/>
            </a:lvl1pPr>
          </a:lstStyle>
          <a:p>
            <a:pPr>
              <a:defRPr/>
            </a:pPr>
            <a:fld id="{1F2884EB-C6E3-684C-A39B-0E652C4E0E60}" type="slidenum">
              <a:rPr lang="en-US"/>
              <a:pPr>
                <a:defRPr/>
              </a:pPr>
              <a:t>‹#›</a:t>
            </a:fld>
            <a:endParaRPr lang="en-US" dirty="0"/>
          </a:p>
        </p:txBody>
      </p:sp>
      <p:sp>
        <p:nvSpPr>
          <p:cNvPr id="6" name="Date Placeholder 2"/>
          <p:cNvSpPr>
            <a:spLocks noGrp="1"/>
          </p:cNvSpPr>
          <p:nvPr>
            <p:ph type="dt" sz="half" idx="16"/>
          </p:nvPr>
        </p:nvSpPr>
        <p:spPr/>
        <p:txBody>
          <a:bodyPr/>
          <a:lstStyle>
            <a:lvl1pPr>
              <a:defRPr/>
            </a:lvl1pPr>
          </a:lstStyle>
          <a:p>
            <a:pPr>
              <a:defRPr/>
            </a:pPr>
            <a:fld id="{61B8C706-E711-4791-B140-28B305DE4320}" type="datetime1">
              <a:rPr lang="en-US" smtClean="0"/>
              <a:t>2/2/2026</a:t>
            </a:fld>
            <a:endParaRPr lang="en-US" dirty="0"/>
          </a:p>
        </p:txBody>
      </p:sp>
      <p:sp>
        <p:nvSpPr>
          <p:cNvPr id="2" name="Rectangle 1"/>
          <p:cNvSpPr/>
          <p:nvPr userDrawn="1"/>
        </p:nvSpPr>
        <p:spPr>
          <a:xfrm>
            <a:off x="0" y="1242940"/>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itle 12"/>
          <p:cNvSpPr>
            <a:spLocks noGrp="1"/>
          </p:cNvSpPr>
          <p:nvPr>
            <p:ph type="title"/>
          </p:nvPr>
        </p:nvSpPr>
        <p:spPr/>
        <p:txBody>
          <a:bodyPr/>
          <a:lstStyle/>
          <a:p>
            <a:r>
              <a:rPr lang="en-US"/>
              <a:t>Click to edit Master title style</a:t>
            </a:r>
          </a:p>
        </p:txBody>
      </p:sp>
      <p:sp>
        <p:nvSpPr>
          <p:cNvPr id="21" name="Text Placeholder 20"/>
          <p:cNvSpPr>
            <a:spLocks noGrp="1"/>
          </p:cNvSpPr>
          <p:nvPr>
            <p:ph type="body" sz="quarter" idx="17" hasCustomPrompt="1"/>
          </p:nvPr>
        </p:nvSpPr>
        <p:spPr>
          <a:xfrm>
            <a:off x="5418163" y="6451600"/>
            <a:ext cx="3315778" cy="365125"/>
          </a:xfrm>
        </p:spPr>
        <p:txBody>
          <a:bodyPr anchor="ctr"/>
          <a:lstStyle>
            <a:lvl1pPr marL="0" indent="0" algn="r">
              <a:buFontTx/>
              <a:buNone/>
              <a:defRPr sz="1050">
                <a:solidFill>
                  <a:schemeClr val="bg1"/>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dirty="0"/>
              <a:t>CSG2C3 – </a:t>
            </a:r>
            <a:r>
              <a:rPr lang="en-US" dirty="0" err="1"/>
              <a:t>Interaksi</a:t>
            </a:r>
            <a:r>
              <a:rPr lang="en-US" dirty="0"/>
              <a:t> </a:t>
            </a:r>
            <a:r>
              <a:rPr lang="en-US" dirty="0" err="1"/>
              <a:t>Manusia</a:t>
            </a:r>
            <a:r>
              <a:rPr lang="en-US" dirty="0"/>
              <a:t> Dan </a:t>
            </a:r>
            <a:r>
              <a:rPr lang="en-US" dirty="0" err="1"/>
              <a:t>Komputer</a:t>
            </a:r>
            <a:endParaRPr lang="en-US" dirty="0"/>
          </a:p>
        </p:txBody>
      </p:sp>
    </p:spTree>
    <p:extLst>
      <p:ext uri="{BB962C8B-B14F-4D97-AF65-F5344CB8AC3E}">
        <p14:creationId xmlns:p14="http://schemas.microsoft.com/office/powerpoint/2010/main" val="2915749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Only Blank Slide">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lvl1pPr>
              <a:defRPr/>
            </a:lvl1pPr>
          </a:lstStyle>
          <a:p>
            <a:pPr>
              <a:defRPr/>
            </a:pPr>
            <a:fld id="{F0540D16-EBF5-0D44-A21F-B32E9F609578}" type="slidenum">
              <a:rPr lang="en-US"/>
              <a:pPr>
                <a:defRPr/>
              </a:pPr>
              <a:t>‹#›</a:t>
            </a:fld>
            <a:endParaRPr lang="en-US" dirty="0"/>
          </a:p>
        </p:txBody>
      </p:sp>
      <p:sp>
        <p:nvSpPr>
          <p:cNvPr id="4" name="Date Placeholder 2"/>
          <p:cNvSpPr>
            <a:spLocks noGrp="1"/>
          </p:cNvSpPr>
          <p:nvPr>
            <p:ph type="dt" sz="half" idx="11"/>
          </p:nvPr>
        </p:nvSpPr>
        <p:spPr/>
        <p:txBody>
          <a:bodyPr/>
          <a:lstStyle>
            <a:lvl1pPr>
              <a:defRPr/>
            </a:lvl1pPr>
          </a:lstStyle>
          <a:p>
            <a:pPr>
              <a:defRPr/>
            </a:pPr>
            <a:fld id="{D439A3C2-C338-4087-BEE1-BDF09AFB0CD0}" type="datetime1">
              <a:rPr lang="en-US" smtClean="0"/>
              <a:t>2/2/2026</a:t>
            </a:fld>
            <a:endParaRPr lang="en-US" dirty="0"/>
          </a:p>
        </p:txBody>
      </p:sp>
      <p:sp>
        <p:nvSpPr>
          <p:cNvPr id="6" name="Rectangle 5"/>
          <p:cNvSpPr/>
          <p:nvPr userDrawn="1"/>
        </p:nvSpPr>
        <p:spPr>
          <a:xfrm>
            <a:off x="0" y="1242940"/>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3" y="6451600"/>
            <a:ext cx="3315778" cy="365125"/>
          </a:xfrm>
        </p:spPr>
        <p:txBody>
          <a:bodyPr anchor="ctr"/>
          <a:lstStyle>
            <a:lvl1pPr marL="0" indent="0" algn="r">
              <a:buFontTx/>
              <a:buNone/>
              <a:defRPr sz="1050">
                <a:solidFill>
                  <a:schemeClr val="bg1"/>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dirty="0"/>
              <a:t>CSG2C3 – </a:t>
            </a:r>
            <a:r>
              <a:rPr lang="en-US" dirty="0" err="1"/>
              <a:t>Interaksi</a:t>
            </a:r>
            <a:r>
              <a:rPr lang="en-US" dirty="0"/>
              <a:t> </a:t>
            </a:r>
            <a:r>
              <a:rPr lang="en-US" dirty="0" err="1"/>
              <a:t>Manusia</a:t>
            </a:r>
            <a:r>
              <a:rPr lang="en-US" dirty="0"/>
              <a:t> Dan </a:t>
            </a:r>
            <a:r>
              <a:rPr lang="en-US" dirty="0" err="1"/>
              <a:t>Komputer</a:t>
            </a:r>
            <a:endParaRPr lang="en-US" dirty="0"/>
          </a:p>
        </p:txBody>
      </p:sp>
    </p:spTree>
    <p:extLst>
      <p:ext uri="{BB962C8B-B14F-4D97-AF65-F5344CB8AC3E}">
        <p14:creationId xmlns:p14="http://schemas.microsoft.com/office/powerpoint/2010/main" val="3088552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 2 Column Slide">
    <p:spTree>
      <p:nvGrpSpPr>
        <p:cNvPr id="1" name=""/>
        <p:cNvGrpSpPr/>
        <p:nvPr/>
      </p:nvGrpSpPr>
      <p:grpSpPr>
        <a:xfrm>
          <a:off x="0" y="0"/>
          <a:ext cx="0" cy="0"/>
          <a:chOff x="0" y="0"/>
          <a:chExt cx="0" cy="0"/>
        </a:xfrm>
      </p:grpSpPr>
      <p:sp>
        <p:nvSpPr>
          <p:cNvPr id="5" name="Content Placeholder 4"/>
          <p:cNvSpPr>
            <a:spLocks noGrp="1"/>
          </p:cNvSpPr>
          <p:nvPr>
            <p:ph sz="quarter" idx="23"/>
          </p:nvPr>
        </p:nvSpPr>
        <p:spPr>
          <a:xfrm>
            <a:off x="374826" y="2009550"/>
            <a:ext cx="4035425" cy="40023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4"/>
          </p:nvPr>
        </p:nvSpPr>
        <p:spPr>
          <a:xfrm>
            <a:off x="4738863" y="2009550"/>
            <a:ext cx="4035425" cy="4002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1"/>
          <p:cNvSpPr>
            <a:spLocks noGrp="1"/>
          </p:cNvSpPr>
          <p:nvPr>
            <p:ph type="sldNum" sz="quarter" idx="25"/>
          </p:nvPr>
        </p:nvSpPr>
        <p:spPr/>
        <p:txBody>
          <a:bodyPr/>
          <a:lstStyle>
            <a:lvl1pPr>
              <a:defRPr/>
            </a:lvl1pPr>
          </a:lstStyle>
          <a:p>
            <a:pPr>
              <a:defRPr/>
            </a:pPr>
            <a:fld id="{C8467590-0BC9-4B4A-95A3-307D97AD4B4F}" type="slidenum">
              <a:rPr lang="en-US"/>
              <a:pPr>
                <a:defRPr/>
              </a:pPr>
              <a:t>‹#›</a:t>
            </a:fld>
            <a:endParaRPr lang="en-US" dirty="0"/>
          </a:p>
        </p:txBody>
      </p:sp>
      <p:sp>
        <p:nvSpPr>
          <p:cNvPr id="7" name="Date Placeholder 2"/>
          <p:cNvSpPr>
            <a:spLocks noGrp="1"/>
          </p:cNvSpPr>
          <p:nvPr>
            <p:ph type="dt" sz="half" idx="26"/>
          </p:nvPr>
        </p:nvSpPr>
        <p:spPr/>
        <p:txBody>
          <a:bodyPr/>
          <a:lstStyle>
            <a:lvl1pPr>
              <a:defRPr/>
            </a:lvl1pPr>
          </a:lstStyle>
          <a:p>
            <a:pPr>
              <a:defRPr/>
            </a:pPr>
            <a:fld id="{5D54AF28-527E-4D47-9AD2-69C1BFAFEA6E}" type="datetime1">
              <a:rPr lang="en-US" smtClean="0"/>
              <a:t>2/2/2026</a:t>
            </a:fld>
            <a:endParaRPr lang="en-US" dirty="0"/>
          </a:p>
        </p:txBody>
      </p:sp>
      <p:sp>
        <p:nvSpPr>
          <p:cNvPr id="9" name="Rectangle 8"/>
          <p:cNvSpPr/>
          <p:nvPr userDrawn="1"/>
        </p:nvSpPr>
        <p:spPr>
          <a:xfrm>
            <a:off x="0" y="1242940"/>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65124" y="1336417"/>
            <a:ext cx="8409163" cy="641239"/>
          </a:xfrm>
        </p:spPr>
        <p:txBody>
          <a:bodyPr/>
          <a:lstStyle/>
          <a:p>
            <a:r>
              <a:rPr lang="en-US"/>
              <a:t>Click to edit Master title style</a:t>
            </a:r>
          </a:p>
        </p:txBody>
      </p:sp>
      <p:sp>
        <p:nvSpPr>
          <p:cNvPr id="8" name="Text Placeholder 20"/>
          <p:cNvSpPr>
            <a:spLocks noGrp="1"/>
          </p:cNvSpPr>
          <p:nvPr>
            <p:ph type="body" sz="quarter" idx="17" hasCustomPrompt="1"/>
          </p:nvPr>
        </p:nvSpPr>
        <p:spPr>
          <a:xfrm>
            <a:off x="5418163" y="6451600"/>
            <a:ext cx="3315778" cy="365125"/>
          </a:xfrm>
        </p:spPr>
        <p:txBody>
          <a:bodyPr anchor="ctr"/>
          <a:lstStyle>
            <a:lvl1pPr marL="0" indent="0" algn="r">
              <a:buFontTx/>
              <a:buNone/>
              <a:defRPr sz="1050">
                <a:solidFill>
                  <a:schemeClr val="bg1"/>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dirty="0"/>
              <a:t>CSG2C3 – </a:t>
            </a:r>
            <a:r>
              <a:rPr lang="en-US" dirty="0" err="1"/>
              <a:t>Interaksi</a:t>
            </a:r>
            <a:r>
              <a:rPr lang="en-US" dirty="0"/>
              <a:t> </a:t>
            </a:r>
            <a:r>
              <a:rPr lang="en-US" dirty="0" err="1"/>
              <a:t>Manusia</a:t>
            </a:r>
            <a:r>
              <a:rPr lang="en-US" dirty="0"/>
              <a:t> Dan </a:t>
            </a:r>
            <a:r>
              <a:rPr lang="en-US" dirty="0" err="1"/>
              <a:t>Komputer</a:t>
            </a:r>
            <a:endParaRPr lang="en-US" dirty="0"/>
          </a:p>
        </p:txBody>
      </p:sp>
    </p:spTree>
    <p:extLst>
      <p:ext uri="{BB962C8B-B14F-4D97-AF65-F5344CB8AC3E}">
        <p14:creationId xmlns:p14="http://schemas.microsoft.com/office/powerpoint/2010/main" val="3774321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6153AAF-DB26-46E8-89FC-37482912ACE2}" type="datetime1">
              <a:rPr lang="en-US" altLang="en-US" smtClean="0"/>
              <a:t>2/2/2026</a:t>
            </a:fld>
            <a:endParaRPr lang="en-US" altLang="en-US"/>
          </a:p>
        </p:txBody>
      </p:sp>
      <p:sp>
        <p:nvSpPr>
          <p:cNvPr id="5" name="Footer Placeholder 4"/>
          <p:cNvSpPr>
            <a:spLocks noGrp="1"/>
          </p:cNvSpPr>
          <p:nvPr>
            <p:ph type="ftr" sz="quarter" idx="11"/>
          </p:nvPr>
        </p:nvSpPr>
        <p:spPr>
          <a:xfrm>
            <a:off x="1066800" y="6248400"/>
            <a:ext cx="2895600" cy="457200"/>
          </a:xfrm>
          <a:prstGeom prst="rect">
            <a:avLst/>
          </a:prstGeom>
        </p:spPr>
        <p:txBody>
          <a:bodyPr/>
          <a:lstStyle>
            <a:lvl1pPr>
              <a:defRPr>
                <a:latin typeface="Tahoma" panose="020B0604030504040204" pitchFamily="34" charset="0"/>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F9ED762C-A9A8-A740-875C-616636B42446}" type="slidenum">
              <a:rPr lang="en-US" altLang="en-US"/>
              <a:pPr>
                <a:defRPr/>
              </a:pPr>
              <a:t>‹#›</a:t>
            </a:fld>
            <a:endParaRPr lang="en-US" altLang="en-US"/>
          </a:p>
        </p:txBody>
      </p:sp>
    </p:spTree>
    <p:extLst>
      <p:ext uri="{BB962C8B-B14F-4D97-AF65-F5344CB8AC3E}">
        <p14:creationId xmlns:p14="http://schemas.microsoft.com/office/powerpoint/2010/main" val="33214531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arison Slide">
    <p:spTree>
      <p:nvGrpSpPr>
        <p:cNvPr id="1" name=""/>
        <p:cNvGrpSpPr/>
        <p:nvPr/>
      </p:nvGrpSpPr>
      <p:grpSpPr>
        <a:xfrm>
          <a:off x="0" y="0"/>
          <a:ext cx="0" cy="0"/>
          <a:chOff x="0" y="0"/>
          <a:chExt cx="0" cy="0"/>
        </a:xfrm>
      </p:grpSpPr>
      <p:sp>
        <p:nvSpPr>
          <p:cNvPr id="6" name="Text Placeholder 2"/>
          <p:cNvSpPr>
            <a:spLocks noGrp="1"/>
          </p:cNvSpPr>
          <p:nvPr>
            <p:ph type="body" idx="1"/>
          </p:nvPr>
        </p:nvSpPr>
        <p:spPr>
          <a:xfrm>
            <a:off x="366889" y="1645920"/>
            <a:ext cx="4035247" cy="789828"/>
          </a:xfrm>
          <a:prstGeom prst="rect">
            <a:avLst/>
          </a:prstGeom>
        </p:spPr>
        <p:txBody>
          <a:bodyPr anchor="b">
            <a:noAutofit/>
          </a:bodyPr>
          <a:lstStyle>
            <a:lvl1pPr marL="0" indent="0" algn="ctr">
              <a:lnSpc>
                <a:spcPts val="3000"/>
              </a:lnSpc>
              <a:spcBef>
                <a:spcPts val="0"/>
              </a:spcBef>
              <a:buNone/>
              <a:defRPr sz="26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2"/>
          <p:cNvSpPr>
            <a:spLocks noGrp="1"/>
          </p:cNvSpPr>
          <p:nvPr>
            <p:ph type="body" idx="17"/>
          </p:nvPr>
        </p:nvSpPr>
        <p:spPr>
          <a:xfrm>
            <a:off x="4703762" y="1645920"/>
            <a:ext cx="4045126" cy="789828"/>
          </a:xfrm>
          <a:prstGeom prst="rect">
            <a:avLst/>
          </a:prstGeom>
        </p:spPr>
        <p:txBody>
          <a:bodyPr anchor="b">
            <a:noAutofit/>
          </a:bodyPr>
          <a:lstStyle>
            <a:lvl1pPr marL="0" indent="0" algn="ctr">
              <a:lnSpc>
                <a:spcPts val="3000"/>
              </a:lnSpc>
              <a:spcBef>
                <a:spcPts val="0"/>
              </a:spcBef>
              <a:buNone/>
              <a:defRPr sz="2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4"/>
          <p:cNvSpPr>
            <a:spLocks noGrp="1"/>
          </p:cNvSpPr>
          <p:nvPr>
            <p:ph sz="quarter" idx="24"/>
          </p:nvPr>
        </p:nvSpPr>
        <p:spPr>
          <a:xfrm>
            <a:off x="357187" y="2659063"/>
            <a:ext cx="4044950"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25"/>
          </p:nvPr>
        </p:nvSpPr>
        <p:spPr>
          <a:xfrm>
            <a:off x="4703762" y="2659063"/>
            <a:ext cx="4044950"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
          <p:cNvSpPr>
            <a:spLocks noGrp="1"/>
          </p:cNvSpPr>
          <p:nvPr>
            <p:ph type="sldNum" sz="quarter" idx="26"/>
          </p:nvPr>
        </p:nvSpPr>
        <p:spPr/>
        <p:txBody>
          <a:bodyPr/>
          <a:lstStyle>
            <a:lvl1pPr>
              <a:defRPr/>
            </a:lvl1pPr>
          </a:lstStyle>
          <a:p>
            <a:pPr>
              <a:defRPr/>
            </a:pPr>
            <a:fld id="{E5D3C417-35D1-DE4B-9003-F2E94344F58E}" type="slidenum">
              <a:rPr lang="en-US"/>
              <a:pPr>
                <a:defRPr/>
              </a:pPr>
              <a:t>‹#›</a:t>
            </a:fld>
            <a:endParaRPr lang="en-US" dirty="0"/>
          </a:p>
        </p:txBody>
      </p:sp>
      <p:sp>
        <p:nvSpPr>
          <p:cNvPr id="9" name="Date Placeholder 2"/>
          <p:cNvSpPr>
            <a:spLocks noGrp="1"/>
          </p:cNvSpPr>
          <p:nvPr>
            <p:ph type="dt" sz="half" idx="27"/>
          </p:nvPr>
        </p:nvSpPr>
        <p:spPr/>
        <p:txBody>
          <a:bodyPr/>
          <a:lstStyle>
            <a:lvl1pPr>
              <a:defRPr/>
            </a:lvl1pPr>
          </a:lstStyle>
          <a:p>
            <a:pPr>
              <a:defRPr/>
            </a:pPr>
            <a:fld id="{C1BB0704-6450-4B15-B602-D3900EF8EAE7}" type="datetime1">
              <a:rPr lang="en-US" smtClean="0"/>
              <a:t>2/2/2026</a:t>
            </a:fld>
            <a:endParaRPr lang="en-US" dirty="0"/>
          </a:p>
        </p:txBody>
      </p:sp>
      <p:sp>
        <p:nvSpPr>
          <p:cNvPr id="11" name="Rectangle 10"/>
          <p:cNvSpPr/>
          <p:nvPr userDrawn="1"/>
        </p:nvSpPr>
        <p:spPr>
          <a:xfrm>
            <a:off x="0" y="1242940"/>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20"/>
          <p:cNvSpPr>
            <a:spLocks noGrp="1"/>
          </p:cNvSpPr>
          <p:nvPr>
            <p:ph type="body" sz="quarter" idx="28" hasCustomPrompt="1"/>
          </p:nvPr>
        </p:nvSpPr>
        <p:spPr>
          <a:xfrm>
            <a:off x="5418163" y="6451600"/>
            <a:ext cx="3315778" cy="365125"/>
          </a:xfrm>
        </p:spPr>
        <p:txBody>
          <a:bodyPr anchor="ctr"/>
          <a:lstStyle>
            <a:lvl1pPr marL="0" indent="0" algn="r">
              <a:buFontTx/>
              <a:buNone/>
              <a:defRPr sz="1050">
                <a:solidFill>
                  <a:schemeClr val="bg1"/>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dirty="0"/>
              <a:t>CSG2C3 – </a:t>
            </a:r>
            <a:r>
              <a:rPr lang="en-US" dirty="0" err="1"/>
              <a:t>Interaksi</a:t>
            </a:r>
            <a:r>
              <a:rPr lang="en-US" dirty="0"/>
              <a:t> </a:t>
            </a:r>
            <a:r>
              <a:rPr lang="en-US" dirty="0" err="1"/>
              <a:t>Manusia</a:t>
            </a:r>
            <a:r>
              <a:rPr lang="en-US" dirty="0"/>
              <a:t> Dan </a:t>
            </a:r>
            <a:r>
              <a:rPr lang="en-US" dirty="0" err="1"/>
              <a:t>Komputer</a:t>
            </a:r>
            <a:endParaRPr lang="en-US" dirty="0"/>
          </a:p>
        </p:txBody>
      </p:sp>
    </p:spTree>
    <p:extLst>
      <p:ext uri="{BB962C8B-B14F-4D97-AF65-F5344CB8AC3E}">
        <p14:creationId xmlns:p14="http://schemas.microsoft.com/office/powerpoint/2010/main" val="1146612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s Slide">
    <p:spTree>
      <p:nvGrpSpPr>
        <p:cNvPr id="1" name=""/>
        <p:cNvGrpSpPr/>
        <p:nvPr/>
      </p:nvGrpSpPr>
      <p:grpSpPr>
        <a:xfrm>
          <a:off x="0" y="0"/>
          <a:ext cx="0" cy="0"/>
          <a:chOff x="0" y="0"/>
          <a:chExt cx="0" cy="0"/>
        </a:xfrm>
      </p:grpSpPr>
      <p:sp>
        <p:nvSpPr>
          <p:cNvPr id="6" name="Title 1"/>
          <p:cNvSpPr txBox="1">
            <a:spLocks/>
          </p:cNvSpPr>
          <p:nvPr userDrawn="1"/>
        </p:nvSpPr>
        <p:spPr bwMode="auto">
          <a:xfrm>
            <a:off x="434548" y="4489331"/>
            <a:ext cx="8326438" cy="2119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200" b="1" kern="1200">
                <a:solidFill>
                  <a:schemeClr val="bg1"/>
                </a:solidFill>
                <a:latin typeface="+mj-lt"/>
                <a:ea typeface="ＭＳ Ｐゴシック" charset="0"/>
                <a:cs typeface="ＭＳ Ｐゴシック" charset="0"/>
              </a:defRPr>
            </a:lvl1pPr>
            <a:lvl2pPr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2pPr>
            <a:lvl3pPr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3pPr>
            <a:lvl4pPr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4pPr>
            <a:lvl5pPr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5pPr>
            <a:lvl6pPr marL="4572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6pPr>
            <a:lvl7pPr marL="9144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7pPr>
            <a:lvl8pPr marL="13716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8pPr>
            <a:lvl9pPr marL="18288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9pPr>
          </a:lstStyle>
          <a:p>
            <a:pPr algn="ctr"/>
            <a:r>
              <a:rPr lang="en-US" sz="5400" dirty="0">
                <a:solidFill>
                  <a:srgbClr val="C00000"/>
                </a:solidFill>
                <a:latin typeface="Brush Script Std" pitchFamily="66" charset="0"/>
              </a:rPr>
              <a:t>THANK YOU</a:t>
            </a:r>
          </a:p>
        </p:txBody>
      </p:sp>
      <p:sp>
        <p:nvSpPr>
          <p:cNvPr id="16" name="Rectangle 15"/>
          <p:cNvSpPr/>
          <p:nvPr userDrawn="1"/>
        </p:nvSpPr>
        <p:spPr>
          <a:xfrm>
            <a:off x="-489" y="4670967"/>
            <a:ext cx="9141923" cy="9368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074" name="Picture 2" descr="C:\Users\Mystogan\Pictures\red-digital-background.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7910" b="13980"/>
          <a:stretch/>
        </p:blipFill>
        <p:spPr bwMode="auto">
          <a:xfrm>
            <a:off x="-2566" y="0"/>
            <a:ext cx="9144000" cy="467096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Users\Mystogan\Pictures\logo-white.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54392" y="142946"/>
            <a:ext cx="3039184" cy="603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750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1 Content Slide">
    <p:spTree>
      <p:nvGrpSpPr>
        <p:cNvPr id="1" name=""/>
        <p:cNvGrpSpPr/>
        <p:nvPr/>
      </p:nvGrpSpPr>
      <p:grpSpPr>
        <a:xfrm>
          <a:off x="0" y="0"/>
          <a:ext cx="0" cy="0"/>
          <a:chOff x="0" y="0"/>
          <a:chExt cx="0" cy="0"/>
        </a:xfrm>
      </p:grpSpPr>
      <p:sp>
        <p:nvSpPr>
          <p:cNvPr id="5" name="Content Placeholder 4"/>
          <p:cNvSpPr>
            <a:spLocks noGrp="1"/>
          </p:cNvSpPr>
          <p:nvPr>
            <p:ph sz="quarter" idx="21"/>
          </p:nvPr>
        </p:nvSpPr>
        <p:spPr>
          <a:xfrm>
            <a:off x="4678538" y="2009550"/>
            <a:ext cx="4035425" cy="40023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p:cNvSpPr>
            <a:spLocks noGrp="1"/>
          </p:cNvSpPr>
          <p:nvPr>
            <p:ph type="pic" sz="quarter" idx="22"/>
          </p:nvPr>
        </p:nvSpPr>
        <p:spPr>
          <a:xfrm>
            <a:off x="365125" y="2009550"/>
            <a:ext cx="3997325" cy="4002313"/>
          </a:xfrm>
        </p:spPr>
        <p:txBody>
          <a:bodyPr rtlCol="0">
            <a:normAutofit/>
          </a:bodyPr>
          <a:lstStyle>
            <a:lvl1pPr marL="0" marR="0" indent="0" algn="l" defTabSz="457200" rtl="0" eaLnBrk="1" fontAlgn="auto" latinLnBrk="0" hangingPunct="1">
              <a:lnSpc>
                <a:spcPct val="100000"/>
              </a:lnSpc>
              <a:spcBef>
                <a:spcPts val="1800"/>
              </a:spcBef>
              <a:spcAft>
                <a:spcPts val="0"/>
              </a:spcAft>
              <a:buClrTx/>
              <a:buSzPct val="135000"/>
              <a:buFontTx/>
              <a:buNone/>
              <a:tabLst/>
              <a:defRPr sz="2000"/>
            </a:lvl1pPr>
          </a:lstStyle>
          <a:p>
            <a:pPr lvl="0"/>
            <a:r>
              <a:rPr lang="en-US" noProof="0" dirty="0"/>
              <a:t>Drag picture to placeholder or click icon to add</a:t>
            </a:r>
          </a:p>
        </p:txBody>
      </p:sp>
      <p:sp>
        <p:nvSpPr>
          <p:cNvPr id="6" name="Slide Number Placeholder 1"/>
          <p:cNvSpPr>
            <a:spLocks noGrp="1"/>
          </p:cNvSpPr>
          <p:nvPr>
            <p:ph type="sldNum" sz="quarter" idx="23"/>
          </p:nvPr>
        </p:nvSpPr>
        <p:spPr/>
        <p:txBody>
          <a:bodyPr/>
          <a:lstStyle>
            <a:lvl1pPr>
              <a:defRPr/>
            </a:lvl1pPr>
          </a:lstStyle>
          <a:p>
            <a:pPr>
              <a:defRPr/>
            </a:pPr>
            <a:fld id="{C2DA4596-0E95-4845-A51E-381771D71C5B}" type="slidenum">
              <a:rPr lang="en-US"/>
              <a:pPr>
                <a:defRPr/>
              </a:pPr>
              <a:t>‹#›</a:t>
            </a:fld>
            <a:endParaRPr lang="en-US" dirty="0"/>
          </a:p>
        </p:txBody>
      </p:sp>
      <p:sp>
        <p:nvSpPr>
          <p:cNvPr id="7" name="Date Placeholder 2"/>
          <p:cNvSpPr>
            <a:spLocks noGrp="1"/>
          </p:cNvSpPr>
          <p:nvPr>
            <p:ph type="dt" sz="half" idx="24"/>
          </p:nvPr>
        </p:nvSpPr>
        <p:spPr/>
        <p:txBody>
          <a:bodyPr/>
          <a:lstStyle>
            <a:lvl1pPr>
              <a:defRPr/>
            </a:lvl1pPr>
          </a:lstStyle>
          <a:p>
            <a:pPr>
              <a:defRPr/>
            </a:pPr>
            <a:fld id="{CD2B6EF3-0961-42C6-8143-00B3600A3212}" type="datetime1">
              <a:rPr lang="en-US" smtClean="0"/>
              <a:t>2/2/2026</a:t>
            </a:fld>
            <a:endParaRPr lang="en-US" dirty="0"/>
          </a:p>
        </p:txBody>
      </p:sp>
      <p:sp>
        <p:nvSpPr>
          <p:cNvPr id="9" name="Rectangle 8"/>
          <p:cNvSpPr/>
          <p:nvPr userDrawn="1"/>
        </p:nvSpPr>
        <p:spPr>
          <a:xfrm>
            <a:off x="0" y="1242940"/>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p>
        </p:txBody>
      </p:sp>
      <p:sp>
        <p:nvSpPr>
          <p:cNvPr id="8" name="Text Placeholder 20"/>
          <p:cNvSpPr>
            <a:spLocks noGrp="1"/>
          </p:cNvSpPr>
          <p:nvPr>
            <p:ph type="body" sz="quarter" idx="17" hasCustomPrompt="1"/>
          </p:nvPr>
        </p:nvSpPr>
        <p:spPr>
          <a:xfrm>
            <a:off x="5418163" y="6451600"/>
            <a:ext cx="3315778" cy="365125"/>
          </a:xfrm>
        </p:spPr>
        <p:txBody>
          <a:bodyPr anchor="ctr"/>
          <a:lstStyle>
            <a:lvl1pPr marL="0" indent="0" algn="r">
              <a:buFontTx/>
              <a:buNone/>
              <a:defRPr sz="1050">
                <a:solidFill>
                  <a:schemeClr val="bg1"/>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dirty="0"/>
              <a:t>CSG2C3 – </a:t>
            </a:r>
            <a:r>
              <a:rPr lang="en-US" dirty="0" err="1"/>
              <a:t>Interaksi</a:t>
            </a:r>
            <a:r>
              <a:rPr lang="en-US" dirty="0"/>
              <a:t> </a:t>
            </a:r>
            <a:r>
              <a:rPr lang="en-US" dirty="0" err="1"/>
              <a:t>Manusia</a:t>
            </a:r>
            <a:r>
              <a:rPr lang="en-US" dirty="0"/>
              <a:t> Dan </a:t>
            </a:r>
            <a:r>
              <a:rPr lang="en-US" dirty="0" err="1"/>
              <a:t>Komputer</a:t>
            </a:r>
            <a:endParaRPr lang="en-US" dirty="0"/>
          </a:p>
        </p:txBody>
      </p:sp>
    </p:spTree>
    <p:extLst>
      <p:ext uri="{BB962C8B-B14F-4D97-AF65-F5344CB8AC3E}">
        <p14:creationId xmlns:p14="http://schemas.microsoft.com/office/powerpoint/2010/main" val="2466198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Fjalla One"/>
              <a:buNone/>
              <a:defRPr sz="4400" b="0" i="0" u="none" strike="noStrike" cap="none">
                <a:solidFill>
                  <a:schemeClr val="dk1"/>
                </a:solidFill>
                <a:latin typeface="Fjalla One"/>
                <a:ea typeface="Fjalla One"/>
                <a:cs typeface="Fjalla One"/>
                <a:sym typeface="Fjalla On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Barlow"/>
                <a:ea typeface="Barlow"/>
                <a:cs typeface="Barlow"/>
                <a:sym typeface="Barlow"/>
              </a:defRPr>
            </a:lvl1pPr>
            <a:lvl2pPr marL="914400" marR="0" lvl="1"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Barlow"/>
                <a:ea typeface="Barlow"/>
                <a:cs typeface="Barlow"/>
                <a:sym typeface="Barlow"/>
              </a:defRPr>
            </a:lvl2pPr>
            <a:lvl3pPr marL="1371600" marR="0" lvl="2"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Barlow"/>
                <a:ea typeface="Barlow"/>
                <a:cs typeface="Barlow"/>
                <a:sym typeface="Barlow"/>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Barlow"/>
                <a:ea typeface="Barlow"/>
                <a:cs typeface="Barlow"/>
                <a:sym typeface="Barlow"/>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Barlow"/>
                <a:ea typeface="Barlow"/>
                <a:cs typeface="Barlow"/>
                <a:sym typeface="Barlow"/>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757575"/>
                </a:solidFill>
                <a:latin typeface="Barlow"/>
                <a:ea typeface="Barlow"/>
                <a:cs typeface="Barlow"/>
                <a:sym typeface="Barlow"/>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9pPr>
          </a:lstStyle>
          <a:p>
            <a:pPr>
              <a:defRPr/>
            </a:pPr>
            <a:fld id="{B6350520-418F-4396-921D-E2710A53FE95}" type="datetime1">
              <a:rPr lang="en-US" smtClean="0"/>
              <a:t>2/2/2026</a:t>
            </a:fld>
            <a:endParaRPr lang="en-US" dirty="0"/>
          </a:p>
        </p:txBody>
      </p:sp>
      <p:sp>
        <p:nvSpPr>
          <p:cNvPr id="9" name="Google Shape;9;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1pPr>
            <a:lvl2pPr marL="0" marR="0" lvl="1"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2pPr>
            <a:lvl3pPr marL="0" marR="0" lvl="2"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3pPr>
            <a:lvl4pPr marL="0" marR="0" lvl="3"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4pPr>
            <a:lvl5pPr marL="0" marR="0" lvl="4"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5pPr>
            <a:lvl6pPr marL="0" marR="0" lvl="5"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6pPr>
            <a:lvl7pPr marL="0" marR="0" lvl="6"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7pPr>
            <a:lvl8pPr marL="0" marR="0" lvl="7"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8pPr>
            <a:lvl9pPr marL="0" marR="0" lvl="8"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9pPr>
          </a:lstStyle>
          <a:p>
            <a:pPr>
              <a:defRPr/>
            </a:pPr>
            <a:fld id="{02B1F015-1154-6F45-9F5A-29B4836DF7ED}" type="slidenum">
              <a:rPr lang="en-US" smtClean="0"/>
              <a:pPr>
                <a:defRPr/>
              </a:pPr>
              <a:t>‹#›</a:t>
            </a:fld>
            <a:endParaRPr lang="en-US" dirty="0"/>
          </a:p>
        </p:txBody>
      </p:sp>
      <p:sp>
        <p:nvSpPr>
          <p:cNvPr id="2" name="Rectangle 1">
            <a:extLst>
              <a:ext uri="{FF2B5EF4-FFF2-40B4-BE49-F238E27FC236}">
                <a16:creationId xmlns:a16="http://schemas.microsoft.com/office/drawing/2014/main" id="{2B79634E-48EB-3B51-02FB-D944C3F3C70F}"/>
              </a:ext>
            </a:extLst>
          </p:cNvPr>
          <p:cNvSpPr/>
          <p:nvPr userDrawn="1"/>
        </p:nvSpPr>
        <p:spPr>
          <a:xfrm>
            <a:off x="0" y="0"/>
            <a:ext cx="9143999" cy="685800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205789"/>
      </p:ext>
    </p:extLst>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08" r:id="rId1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hyperlink" Target="https://www.youtube.com/watch?v=B23iWg0koi8" TargetMode="External"/><Relationship Id="rId2" Type="http://schemas.openxmlformats.org/officeDocument/2006/relationships/hyperlink" Target="How%20To%20Create%20UX%20Personas.mp4" TargetMode="External"/><Relationship Id="rId1" Type="http://schemas.openxmlformats.org/officeDocument/2006/relationships/slideLayout" Target="../slideLayouts/slideLayout4.xml"/><Relationship Id="rId6" Type="http://schemas.openxmlformats.org/officeDocument/2006/relationships/hyperlink" Target="https://www.youtube.com/watch?v=tCAeHfvsjoM" TargetMode="External"/><Relationship Id="rId5" Type="http://schemas.openxmlformats.org/officeDocument/2006/relationships/hyperlink" Target="https://www.youtube.com/watch?v=wClXAzTFUIY" TargetMode="External"/><Relationship Id="rId4" Type="http://schemas.openxmlformats.org/officeDocument/2006/relationships/hyperlink" Target="Personas%20and%20User%20Flows%20%20UXUI%20Design%20%20Product%20Design%20%20Udacity.mp4"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hyperlink" Target="http://knowledge.hubspot.com/contacts-user-guide/how-to-create-personas" TargetMode="External"/><Relationship Id="rId2" Type="http://schemas.openxmlformats.org/officeDocument/2006/relationships/hyperlink" Target="https://uxmastery.com/what-does-a-user-centred-design-process-look-like/" TargetMode="External"/><Relationship Id="rId1" Type="http://schemas.openxmlformats.org/officeDocument/2006/relationships/slideLayout" Target="../slideLayouts/slideLayout4.xml"/><Relationship Id="rId6" Type="http://schemas.openxmlformats.org/officeDocument/2006/relationships/hyperlink" Target="http://www.storyboardthat.com/articles/software-development/using-personas-to-identify-your-target-customers" TargetMode="External"/><Relationship Id="rId5" Type="http://schemas.openxmlformats.org/officeDocument/2006/relationships/hyperlink" Target="http://webdesign.tutsplus.com/articles/defining-and-applying-personas-to-ux-design--webdesign-7561" TargetMode="External"/><Relationship Id="rId4" Type="http://schemas.openxmlformats.org/officeDocument/2006/relationships/hyperlink" Target="http://www.smashingmagazine.com/2014/08/a-closer-look-at-personas-part-1/"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p:txBody>
          <a:bodyPr/>
          <a:lstStyle/>
          <a:p>
            <a:r>
              <a:rPr lang="en-US" dirty="0" err="1"/>
              <a:t>Interaksi</a:t>
            </a:r>
            <a:r>
              <a:rPr lang="en-US" dirty="0"/>
              <a:t> </a:t>
            </a:r>
            <a:r>
              <a:rPr lang="en-US" dirty="0" err="1"/>
              <a:t>Manusia</a:t>
            </a:r>
            <a:r>
              <a:rPr lang="en-US" dirty="0"/>
              <a:t> </a:t>
            </a:r>
            <a:r>
              <a:rPr lang="en-US" dirty="0" err="1"/>
              <a:t>dan</a:t>
            </a:r>
            <a:r>
              <a:rPr lang="en-US" dirty="0"/>
              <a:t> </a:t>
            </a:r>
            <a:r>
              <a:rPr lang="en-US" dirty="0" err="1"/>
              <a:t>Komputer</a:t>
            </a:r>
            <a:r>
              <a:rPr lang="en-US" dirty="0"/>
              <a:t> (IMK)</a:t>
            </a:r>
          </a:p>
        </p:txBody>
      </p:sp>
      <p:sp>
        <p:nvSpPr>
          <p:cNvPr id="2" name="TextBox 1"/>
          <p:cNvSpPr txBox="1"/>
          <p:nvPr/>
        </p:nvSpPr>
        <p:spPr>
          <a:xfrm>
            <a:off x="3532908" y="3307248"/>
            <a:ext cx="4960355" cy="1508105"/>
          </a:xfrm>
          <a:prstGeom prst="rect">
            <a:avLst/>
          </a:prstGeom>
          <a:ln>
            <a:noFill/>
          </a:ln>
        </p:spPr>
        <p:txBody>
          <a:bodyPr wrap="square" rtlCol="0">
            <a:spAutoFit/>
          </a:bodyPr>
          <a:lstStyle/>
          <a:p>
            <a:pPr algn="just"/>
            <a:r>
              <a:rPr lang="en-ID" sz="2400" b="1"/>
              <a:t>THE USER INTERFACE  (UI)</a:t>
            </a:r>
            <a:br>
              <a:rPr lang="en-ID" sz="2400" b="1"/>
            </a:br>
            <a:r>
              <a:rPr lang="en-ID" sz="2400" b="1"/>
              <a:t>DESIGN PROCESS</a:t>
            </a:r>
          </a:p>
          <a:p>
            <a:pPr algn="just"/>
            <a:endParaRPr lang="en-ID" sz="2800" b="1"/>
          </a:p>
          <a:p>
            <a:pPr algn="just"/>
            <a:r>
              <a:rPr lang="en-US" sz="1600" b="1"/>
              <a:t>Step 1 : Know Your Users &amp; Clients</a:t>
            </a:r>
            <a:endParaRPr lang="en-US" sz="1600" b="1" dirty="0"/>
          </a:p>
        </p:txBody>
      </p:sp>
    </p:spTree>
    <p:extLst>
      <p:ext uri="{BB962C8B-B14F-4D97-AF65-F5344CB8AC3E}">
        <p14:creationId xmlns:p14="http://schemas.microsoft.com/office/powerpoint/2010/main" val="1191294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t>Tujuan</a:t>
            </a:r>
            <a:r>
              <a:rPr lang="en-US" dirty="0"/>
              <a:t> </a:t>
            </a:r>
          </a:p>
        </p:txBody>
      </p:sp>
      <p:sp>
        <p:nvSpPr>
          <p:cNvPr id="2" name="Content Placeholder 1"/>
          <p:cNvSpPr>
            <a:spLocks noGrp="1"/>
          </p:cNvSpPr>
          <p:nvPr>
            <p:ph type="body" idx="1"/>
          </p:nvPr>
        </p:nvSpPr>
        <p:spPr/>
        <p:txBody>
          <a:bodyPr/>
          <a:lstStyle/>
          <a:p>
            <a:pPr marL="0" indent="0" algn="just">
              <a:lnSpc>
                <a:spcPct val="150000"/>
              </a:lnSpc>
              <a:spcBef>
                <a:spcPct val="0"/>
              </a:spcBef>
              <a:buNone/>
            </a:pPr>
            <a:r>
              <a:rPr lang="en-US" sz="2300" noProof="1"/>
              <a:t>Setelah mengikuti materi ini mahasiswa dapat:</a:t>
            </a:r>
          </a:p>
          <a:p>
            <a:pPr marL="457200" indent="-457200" algn="just">
              <a:lnSpc>
                <a:spcPct val="150000"/>
              </a:lnSpc>
              <a:spcBef>
                <a:spcPct val="0"/>
              </a:spcBef>
              <a:buFont typeface="+mj-lt"/>
              <a:buAutoNum type="arabicPeriod"/>
            </a:pPr>
            <a:r>
              <a:rPr lang="en-US" sz="2300" noProof="1"/>
              <a:t>Memahami pentingnya mengenal pengguna dari aplikasi yang akan dibangun sebagai dasar untuk merancang antarmuka perangkat lunak</a:t>
            </a:r>
          </a:p>
          <a:p>
            <a:pPr algn="just">
              <a:lnSpc>
                <a:spcPct val="150000"/>
              </a:lnSpc>
              <a:spcBef>
                <a:spcPct val="0"/>
              </a:spcBef>
              <a:buFont typeface="Verdana" pitchFamily="34" charset="0"/>
              <a:buAutoNum type="arabicPeriod"/>
            </a:pPr>
            <a:r>
              <a:rPr lang="en-US" sz="2300" noProof="1"/>
              <a:t> Mendefinisikan Persona </a:t>
            </a:r>
            <a:r>
              <a:rPr lang="en-US" sz="2300" i="1" noProof="1"/>
              <a:t>User</a:t>
            </a:r>
            <a:r>
              <a:rPr lang="en-US" sz="2300" noProof="1"/>
              <a:t> antarmuka perangkat lunak</a:t>
            </a:r>
          </a:p>
          <a:p>
            <a:pPr marL="0" indent="0">
              <a:buNone/>
            </a:pPr>
            <a:endParaRPr lang="en-US" sz="2300" dirty="0"/>
          </a:p>
        </p:txBody>
      </p:sp>
    </p:spTree>
    <p:extLst>
      <p:ext uri="{BB962C8B-B14F-4D97-AF65-F5344CB8AC3E}">
        <p14:creationId xmlns:p14="http://schemas.microsoft.com/office/powerpoint/2010/main" val="2287273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D" dirty="0"/>
              <a:t>Outline</a:t>
            </a:r>
            <a:endParaRPr lang="en-US" dirty="0"/>
          </a:p>
        </p:txBody>
      </p:sp>
      <p:sp>
        <p:nvSpPr>
          <p:cNvPr id="2" name="Content Placeholder 1"/>
          <p:cNvSpPr>
            <a:spLocks noGrp="1"/>
          </p:cNvSpPr>
          <p:nvPr>
            <p:ph type="body" idx="1"/>
          </p:nvPr>
        </p:nvSpPr>
        <p:spPr/>
        <p:txBody>
          <a:bodyPr/>
          <a:lstStyle/>
          <a:p>
            <a:r>
              <a:rPr lang="en-ID" dirty="0"/>
              <a:t>What is Persona?</a:t>
            </a:r>
          </a:p>
          <a:p>
            <a:r>
              <a:rPr lang="en-ID" dirty="0"/>
              <a:t>Why Personas are important in design?</a:t>
            </a:r>
          </a:p>
          <a:p>
            <a:r>
              <a:rPr lang="en-ID" dirty="0"/>
              <a:t>How to define Persona</a:t>
            </a:r>
          </a:p>
          <a:p>
            <a:r>
              <a:rPr lang="en-ID" dirty="0"/>
              <a:t>Know Your Users</a:t>
            </a:r>
          </a:p>
          <a:p>
            <a:r>
              <a:rPr lang="en-ID" dirty="0"/>
              <a:t>How to gather user data</a:t>
            </a:r>
          </a:p>
          <a:p>
            <a:r>
              <a:rPr lang="en-ID" dirty="0"/>
              <a:t>Template Persona</a:t>
            </a:r>
          </a:p>
          <a:p>
            <a:endParaRPr lang="en-ID" dirty="0"/>
          </a:p>
          <a:p>
            <a:endParaRPr lang="en-ID" dirty="0"/>
          </a:p>
          <a:p>
            <a:endParaRPr lang="en-ID" dirty="0"/>
          </a:p>
          <a:p>
            <a:endParaRPr lang="en-ID" dirty="0"/>
          </a:p>
          <a:p>
            <a:endParaRPr lang="en-US" dirty="0"/>
          </a:p>
        </p:txBody>
      </p:sp>
    </p:spTree>
    <p:extLst>
      <p:ext uri="{BB962C8B-B14F-4D97-AF65-F5344CB8AC3E}">
        <p14:creationId xmlns:p14="http://schemas.microsoft.com/office/powerpoint/2010/main" val="2470241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77D38C-C01D-4A99-8C22-7C2B93FCFF2B}"/>
              </a:ext>
            </a:extLst>
          </p:cNvPr>
          <p:cNvSpPr>
            <a:spLocks noGrp="1"/>
          </p:cNvSpPr>
          <p:nvPr>
            <p:ph type="title"/>
          </p:nvPr>
        </p:nvSpPr>
        <p:spPr>
          <a:xfrm>
            <a:off x="1711034" y="2668330"/>
            <a:ext cx="5721930" cy="773590"/>
          </a:xfrm>
        </p:spPr>
        <p:txBody>
          <a:bodyPr>
            <a:normAutofit/>
          </a:bodyPr>
          <a:lstStyle/>
          <a:p>
            <a:pPr algn="ctr"/>
            <a:r>
              <a:rPr lang="en-US" dirty="0"/>
              <a:t>WHAT IS PERSONA?</a:t>
            </a:r>
            <a:endParaRPr lang="en-GB" dirty="0"/>
          </a:p>
        </p:txBody>
      </p:sp>
    </p:spTree>
    <p:extLst>
      <p:ext uri="{BB962C8B-B14F-4D97-AF65-F5344CB8AC3E}">
        <p14:creationId xmlns:p14="http://schemas.microsoft.com/office/powerpoint/2010/main" val="3566580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id-ID" dirty="0"/>
              <a:t>What is Persona </a:t>
            </a:r>
            <a:r>
              <a:rPr lang="id-ID" sz="900" baseline="30000" dirty="0"/>
              <a:t>http://webdesign.tutsplus.com/articles/defining-and-applying-personas-to-ux-design--webdesign-7561</a:t>
            </a:r>
            <a:endParaRPr lang="id-ID" baseline="30000" dirty="0"/>
          </a:p>
        </p:txBody>
      </p:sp>
      <p:sp>
        <p:nvSpPr>
          <p:cNvPr id="2" name="Content Placeholder 1"/>
          <p:cNvSpPr>
            <a:spLocks noGrp="1"/>
          </p:cNvSpPr>
          <p:nvPr>
            <p:ph type="body" idx="1"/>
          </p:nvPr>
        </p:nvSpPr>
        <p:spPr/>
        <p:txBody>
          <a:bodyPr/>
          <a:lstStyle/>
          <a:p>
            <a:r>
              <a:rPr lang="en-US" sz="1400" dirty="0" err="1"/>
              <a:t>Adapun</a:t>
            </a:r>
            <a:r>
              <a:rPr lang="en-US" sz="1400" dirty="0"/>
              <a:t> output </a:t>
            </a:r>
            <a:r>
              <a:rPr lang="en-US" sz="1400" dirty="0" err="1"/>
              <a:t>dari</a:t>
            </a:r>
            <a:r>
              <a:rPr lang="en-US" sz="1400" dirty="0"/>
              <a:t> step 1 </a:t>
            </a:r>
            <a:r>
              <a:rPr lang="en-US" sz="1400" dirty="0" err="1"/>
              <a:t>ini</a:t>
            </a:r>
            <a:r>
              <a:rPr lang="en-US" sz="1400" dirty="0"/>
              <a:t> </a:t>
            </a:r>
            <a:r>
              <a:rPr lang="en-US" sz="1400" dirty="0" err="1"/>
              <a:t>adalah</a:t>
            </a:r>
            <a:r>
              <a:rPr lang="en-US" sz="1400" dirty="0"/>
              <a:t> </a:t>
            </a:r>
            <a:r>
              <a:rPr lang="en-US" sz="1400" dirty="0" err="1"/>
              <a:t>menghasilkan</a:t>
            </a:r>
            <a:r>
              <a:rPr lang="en-US" sz="1400" dirty="0"/>
              <a:t> </a:t>
            </a:r>
            <a:r>
              <a:rPr lang="en-US" sz="1400" b="1" dirty="0"/>
              <a:t>Persona </a:t>
            </a:r>
            <a:r>
              <a:rPr lang="en-US" sz="1400" b="1" i="1" dirty="0"/>
              <a:t>User</a:t>
            </a:r>
          </a:p>
          <a:p>
            <a:r>
              <a:rPr lang="en-US" sz="1400" dirty="0"/>
              <a:t>In terms of web design, a persona is a fictional example of a person within your user base. It typically includes details such as</a:t>
            </a:r>
          </a:p>
          <a:p>
            <a:pPr lvl="1"/>
            <a:r>
              <a:rPr lang="en-US" sz="1200" dirty="0"/>
              <a:t>age</a:t>
            </a:r>
          </a:p>
          <a:p>
            <a:pPr lvl="1"/>
            <a:r>
              <a:rPr lang="en-US" sz="1200" dirty="0"/>
              <a:t>sex</a:t>
            </a:r>
          </a:p>
          <a:p>
            <a:pPr lvl="1"/>
            <a:r>
              <a:rPr lang="en-US" sz="1200" dirty="0"/>
              <a:t>occupation</a:t>
            </a:r>
          </a:p>
          <a:p>
            <a:pPr lvl="1"/>
            <a:r>
              <a:rPr lang="en-US" sz="1200" dirty="0"/>
              <a:t>hobbies</a:t>
            </a:r>
          </a:p>
          <a:p>
            <a:pPr lvl="1"/>
            <a:r>
              <a:rPr lang="en-US" sz="1200" dirty="0"/>
              <a:t>likes/dislikes</a:t>
            </a:r>
          </a:p>
          <a:p>
            <a:pPr lvl="1"/>
            <a:r>
              <a:rPr lang="en-US" sz="1200" b="1" dirty="0"/>
              <a:t>other details germane to the product</a:t>
            </a:r>
          </a:p>
          <a:p>
            <a:r>
              <a:rPr lang="en-US" sz="1400" dirty="0"/>
              <a:t>Many times it also includes the personalities of these fictional users. The goal of erecting these details is to establish the mindset, desires, and necessary tasks of your users. Ideally, the persona creation process is informed by research and/or an intimate knowledge of an established user base. How you design them and what information you include is up to you and what you need</a:t>
            </a:r>
          </a:p>
          <a:p>
            <a:endParaRPr lang="id-ID" sz="1400" dirty="0"/>
          </a:p>
        </p:txBody>
      </p:sp>
    </p:spTree>
    <p:extLst>
      <p:ext uri="{BB962C8B-B14F-4D97-AF65-F5344CB8AC3E}">
        <p14:creationId xmlns:p14="http://schemas.microsoft.com/office/powerpoint/2010/main" val="2413882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77D38C-C01D-4A99-8C22-7C2B93FCFF2B}"/>
              </a:ext>
            </a:extLst>
          </p:cNvPr>
          <p:cNvSpPr>
            <a:spLocks noGrp="1"/>
          </p:cNvSpPr>
          <p:nvPr>
            <p:ph type="title"/>
          </p:nvPr>
        </p:nvSpPr>
        <p:spPr>
          <a:xfrm>
            <a:off x="1584574" y="2655410"/>
            <a:ext cx="5721930" cy="773590"/>
          </a:xfrm>
        </p:spPr>
        <p:txBody>
          <a:bodyPr>
            <a:normAutofit fontScale="90000"/>
          </a:bodyPr>
          <a:lstStyle/>
          <a:p>
            <a:pPr algn="ctr"/>
            <a:r>
              <a:rPr lang="en-US" dirty="0"/>
              <a:t>WHY PERSONA IS IMPORTANT IN UI DESIGN PROCESS?</a:t>
            </a:r>
            <a:endParaRPr lang="en-GB" dirty="0"/>
          </a:p>
        </p:txBody>
      </p:sp>
    </p:spTree>
    <p:extLst>
      <p:ext uri="{BB962C8B-B14F-4D97-AF65-F5344CB8AC3E}">
        <p14:creationId xmlns:p14="http://schemas.microsoft.com/office/powerpoint/2010/main" val="1240676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Why </a:t>
            </a:r>
            <a:r>
              <a:rPr lang="en-US"/>
              <a:t>Persona?</a:t>
            </a:r>
            <a:endParaRPr lang="en-US" dirty="0"/>
          </a:p>
        </p:txBody>
      </p:sp>
      <p:sp>
        <p:nvSpPr>
          <p:cNvPr id="2" name="Content Placeholder 1"/>
          <p:cNvSpPr>
            <a:spLocks noGrp="1"/>
          </p:cNvSpPr>
          <p:nvPr>
            <p:ph type="body" idx="1"/>
          </p:nvPr>
        </p:nvSpPr>
        <p:spPr/>
        <p:txBody>
          <a:bodyPr/>
          <a:lstStyle/>
          <a:p>
            <a:r>
              <a:rPr lang="en-US" altLang="en-US" dirty="0">
                <a:ea typeface="ＭＳ Ｐゴシック" charset="-128"/>
              </a:rPr>
              <a:t>Persona </a:t>
            </a:r>
            <a:r>
              <a:rPr lang="en-US" altLang="en-US" i="1" dirty="0">
                <a:ea typeface="ＭＳ Ｐゴシック" charset="-128"/>
              </a:rPr>
              <a:t>User</a:t>
            </a:r>
            <a:r>
              <a:rPr lang="en-US" altLang="en-US" dirty="0">
                <a:ea typeface="ＭＳ Ｐゴシック" charset="-128"/>
              </a:rPr>
              <a:t> </a:t>
            </a:r>
            <a:r>
              <a:rPr lang="en-US" altLang="en-US" dirty="0" err="1">
                <a:ea typeface="ＭＳ Ｐゴシック" charset="-128"/>
              </a:rPr>
              <a:t>dibuat</a:t>
            </a:r>
            <a:r>
              <a:rPr lang="en-US" altLang="en-US" dirty="0">
                <a:ea typeface="ＭＳ Ｐゴシック" charset="-128"/>
              </a:rPr>
              <a:t> </a:t>
            </a:r>
            <a:r>
              <a:rPr lang="en-US" altLang="en-US" dirty="0" err="1">
                <a:ea typeface="ＭＳ Ｐゴシック" charset="-128"/>
              </a:rPr>
              <a:t>untuk</a:t>
            </a:r>
            <a:r>
              <a:rPr lang="en-US" altLang="en-US" dirty="0">
                <a:ea typeface="ＭＳ Ｐゴシック" charset="-128"/>
              </a:rPr>
              <a:t> :</a:t>
            </a:r>
          </a:p>
          <a:p>
            <a:pPr lvl="1"/>
            <a:r>
              <a:rPr lang="en-US" altLang="en-US" dirty="0">
                <a:ea typeface="ＭＳ Ｐゴシック" charset="-128"/>
              </a:rPr>
              <a:t>Help identify specific users and needs</a:t>
            </a:r>
          </a:p>
          <a:p>
            <a:pPr lvl="1"/>
            <a:r>
              <a:rPr lang="en-US" altLang="en-US" dirty="0">
                <a:ea typeface="ＭＳ Ｐゴシック" charset="-128"/>
              </a:rPr>
              <a:t>Identify primary, secondary users</a:t>
            </a:r>
          </a:p>
          <a:p>
            <a:pPr lvl="1"/>
            <a:r>
              <a:rPr lang="en-US" altLang="en-US" dirty="0">
                <a:ea typeface="ＭＳ Ｐゴシック" charset="-128"/>
              </a:rPr>
              <a:t>Helps choose the right individuals to design for</a:t>
            </a:r>
          </a:p>
          <a:p>
            <a:endParaRPr lang="en-US" dirty="0"/>
          </a:p>
        </p:txBody>
      </p:sp>
    </p:spTree>
    <p:extLst>
      <p:ext uri="{BB962C8B-B14F-4D97-AF65-F5344CB8AC3E}">
        <p14:creationId xmlns:p14="http://schemas.microsoft.com/office/powerpoint/2010/main" val="475119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77D38C-C01D-4A99-8C22-7C2B93FCFF2B}"/>
              </a:ext>
            </a:extLst>
          </p:cNvPr>
          <p:cNvSpPr>
            <a:spLocks noGrp="1"/>
          </p:cNvSpPr>
          <p:nvPr>
            <p:ph type="title"/>
          </p:nvPr>
        </p:nvSpPr>
        <p:spPr>
          <a:xfrm>
            <a:off x="1711035" y="2624796"/>
            <a:ext cx="5721930" cy="773590"/>
          </a:xfrm>
        </p:spPr>
        <p:txBody>
          <a:bodyPr>
            <a:normAutofit fontScale="90000"/>
          </a:bodyPr>
          <a:lstStyle/>
          <a:p>
            <a:pPr algn="ctr"/>
            <a:r>
              <a:rPr lang="en-US" dirty="0"/>
              <a:t>OVERVIEW HOW TO DEFINE PERSONA?</a:t>
            </a:r>
            <a:endParaRPr lang="en-GB" dirty="0"/>
          </a:p>
        </p:txBody>
      </p:sp>
    </p:spTree>
    <p:extLst>
      <p:ext uri="{BB962C8B-B14F-4D97-AF65-F5344CB8AC3E}">
        <p14:creationId xmlns:p14="http://schemas.microsoft.com/office/powerpoint/2010/main" val="3699901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B1264-3EB7-4D77-8296-E9690C455839}"/>
              </a:ext>
            </a:extLst>
          </p:cNvPr>
          <p:cNvSpPr>
            <a:spLocks noGrp="1"/>
          </p:cNvSpPr>
          <p:nvPr>
            <p:ph type="title"/>
          </p:nvPr>
        </p:nvSpPr>
        <p:spPr/>
        <p:txBody>
          <a:bodyPr/>
          <a:lstStyle/>
          <a:p>
            <a:pPr eaLnBrk="1" fontAlgn="auto" hangingPunct="1">
              <a:spcAft>
                <a:spcPts val="0"/>
              </a:spcAft>
              <a:defRPr/>
            </a:pPr>
            <a:r>
              <a:rPr lang="en-US" dirty="0">
                <a:solidFill>
                  <a:schemeClr val="tx1"/>
                </a:solidFill>
                <a:ea typeface="+mj-ea"/>
              </a:rPr>
              <a:t>Target users</a:t>
            </a:r>
          </a:p>
        </p:txBody>
      </p:sp>
      <p:sp>
        <p:nvSpPr>
          <p:cNvPr id="6" name="Text Placeholder 5">
            <a:extLst>
              <a:ext uri="{FF2B5EF4-FFF2-40B4-BE49-F238E27FC236}">
                <a16:creationId xmlns:a16="http://schemas.microsoft.com/office/drawing/2014/main" id="{2E19AD29-0FF2-CCFF-0910-6B31C8638894}"/>
              </a:ext>
            </a:extLst>
          </p:cNvPr>
          <p:cNvSpPr>
            <a:spLocks noGrp="1"/>
          </p:cNvSpPr>
          <p:nvPr>
            <p:ph type="body" idx="1"/>
          </p:nvPr>
        </p:nvSpPr>
        <p:spPr/>
        <p:txBody>
          <a:bodyPr/>
          <a:lstStyle/>
          <a:p>
            <a:endParaRPr lang="en-ID"/>
          </a:p>
        </p:txBody>
      </p:sp>
      <p:pic>
        <p:nvPicPr>
          <p:cNvPr id="20483" name="Content Placeholder 3" descr="dilbert-target_user.gif">
            <a:extLst>
              <a:ext uri="{FF2B5EF4-FFF2-40B4-BE49-F238E27FC236}">
                <a16:creationId xmlns:a16="http://schemas.microsoft.com/office/drawing/2014/main" id="{9CBC5669-EA2B-4D51-BDAC-53AF367C15A1}"/>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165225" y="2438400"/>
            <a:ext cx="7978775" cy="2819400"/>
          </a:xfrm>
        </p:spPr>
      </p:pic>
    </p:spTree>
    <p:extLst>
      <p:ext uri="{BB962C8B-B14F-4D97-AF65-F5344CB8AC3E}">
        <p14:creationId xmlns:p14="http://schemas.microsoft.com/office/powerpoint/2010/main" val="2838294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2000" b="0">
                <a:latin typeface="Verdana (Body)"/>
              </a:rPr>
              <a:t>Tahapan untuk dapat mendefinisikan Persona (User)</a:t>
            </a:r>
            <a:endParaRPr lang="en-US" sz="2000" b="0" dirty="0">
              <a:latin typeface="Verdana (Body)"/>
            </a:endParaRPr>
          </a:p>
        </p:txBody>
      </p:sp>
      <p:sp>
        <p:nvSpPr>
          <p:cNvPr id="2" name="Content Placeholder 1"/>
          <p:cNvSpPr>
            <a:spLocks noGrp="1"/>
          </p:cNvSpPr>
          <p:nvPr>
            <p:ph type="body" idx="1"/>
          </p:nvPr>
        </p:nvSpPr>
        <p:spPr/>
        <p:txBody>
          <a:bodyPr/>
          <a:lstStyle/>
          <a:p>
            <a:pPr algn="just">
              <a:spcBef>
                <a:spcPts val="0"/>
              </a:spcBef>
            </a:pPr>
            <a:r>
              <a:rPr lang="en-US" sz="1500" dirty="0" err="1"/>
              <a:t>Kunjungi</a:t>
            </a:r>
            <a:r>
              <a:rPr lang="en-US" sz="1500" dirty="0"/>
              <a:t> </a:t>
            </a:r>
            <a:r>
              <a:rPr lang="en-US" sz="1500" dirty="0" err="1"/>
              <a:t>lokasi</a:t>
            </a:r>
            <a:r>
              <a:rPr lang="en-US" sz="1500" dirty="0"/>
              <a:t> </a:t>
            </a:r>
            <a:r>
              <a:rPr lang="en-US" sz="1500" dirty="0" err="1"/>
              <a:t>pengguna</a:t>
            </a:r>
            <a:r>
              <a:rPr lang="en-US" sz="1500" dirty="0"/>
              <a:t>, </a:t>
            </a:r>
            <a:r>
              <a:rPr lang="en-US" sz="1500" dirty="0" err="1"/>
              <a:t>terutama</a:t>
            </a:r>
            <a:r>
              <a:rPr lang="en-US" sz="1500" dirty="0"/>
              <a:t> </a:t>
            </a:r>
            <a:r>
              <a:rPr lang="en-US" sz="1500" dirty="0" err="1"/>
              <a:t>jika</a:t>
            </a:r>
            <a:r>
              <a:rPr lang="en-US" sz="1500" dirty="0"/>
              <a:t> </a:t>
            </a:r>
            <a:r>
              <a:rPr lang="en-US" sz="1500" dirty="0" err="1"/>
              <a:t>tempat</a:t>
            </a:r>
            <a:r>
              <a:rPr lang="en-US" sz="1500" dirty="0"/>
              <a:t> </a:t>
            </a:r>
            <a:r>
              <a:rPr lang="en-US" sz="1500" dirty="0" err="1"/>
              <a:t>kerja</a:t>
            </a:r>
            <a:r>
              <a:rPr lang="en-US" sz="1500" dirty="0"/>
              <a:t> </a:t>
            </a:r>
            <a:r>
              <a:rPr lang="en-US" sz="1500" dirty="0" err="1"/>
              <a:t>pengguna</a:t>
            </a:r>
            <a:r>
              <a:rPr lang="en-US" sz="1500" dirty="0"/>
              <a:t> yang </a:t>
            </a:r>
            <a:r>
              <a:rPr lang="en-US" sz="1500" dirty="0" err="1"/>
              <a:t>tidak</a:t>
            </a:r>
            <a:r>
              <a:rPr lang="en-US" sz="1500" dirty="0"/>
              <a:t> familiar </a:t>
            </a:r>
            <a:r>
              <a:rPr lang="en-US" sz="1500" dirty="0" err="1"/>
              <a:t>untuk</a:t>
            </a:r>
            <a:r>
              <a:rPr lang="en-US" sz="1500" dirty="0"/>
              <a:t> </a:t>
            </a:r>
            <a:r>
              <a:rPr lang="en-US" sz="1500" dirty="0" err="1"/>
              <a:t>kita</a:t>
            </a:r>
            <a:r>
              <a:rPr lang="en-US" sz="1500" dirty="0"/>
              <a:t>. Hal </a:t>
            </a:r>
            <a:r>
              <a:rPr lang="en-US" sz="1500" dirty="0" err="1"/>
              <a:t>ini</a:t>
            </a:r>
            <a:r>
              <a:rPr lang="en-US" sz="1500" dirty="0"/>
              <a:t> </a:t>
            </a:r>
            <a:r>
              <a:rPr lang="en-US" sz="1500" dirty="0" err="1"/>
              <a:t>untuk</a:t>
            </a:r>
            <a:r>
              <a:rPr lang="en-US" sz="1500" dirty="0"/>
              <a:t> </a:t>
            </a:r>
            <a:r>
              <a:rPr lang="en-US" sz="1500" dirty="0" err="1"/>
              <a:t>menuntun</a:t>
            </a:r>
            <a:r>
              <a:rPr lang="en-US" sz="1500" dirty="0"/>
              <a:t> </a:t>
            </a:r>
            <a:r>
              <a:rPr lang="en-US" sz="1500" dirty="0" err="1"/>
              <a:t>kita</a:t>
            </a:r>
            <a:r>
              <a:rPr lang="en-US" sz="1500" dirty="0"/>
              <a:t> </a:t>
            </a:r>
            <a:r>
              <a:rPr lang="en-US" sz="1500" dirty="0" err="1"/>
              <a:t>mengetahui</a:t>
            </a:r>
            <a:r>
              <a:rPr lang="en-US" sz="1500" dirty="0"/>
              <a:t> </a:t>
            </a:r>
            <a:r>
              <a:rPr lang="en-US" sz="1500" dirty="0" err="1"/>
              <a:t>lingkungan</a:t>
            </a:r>
            <a:r>
              <a:rPr lang="en-US" sz="1500" dirty="0"/>
              <a:t> </a:t>
            </a:r>
            <a:r>
              <a:rPr lang="en-US" sz="1500" dirty="0" err="1"/>
              <a:t>kerja</a:t>
            </a:r>
            <a:r>
              <a:rPr lang="en-US" sz="1500" dirty="0"/>
              <a:t> </a:t>
            </a:r>
            <a:r>
              <a:rPr lang="en-US" sz="1500" dirty="0" err="1"/>
              <a:t>pengguna</a:t>
            </a:r>
            <a:r>
              <a:rPr lang="en-US" sz="1500" dirty="0"/>
              <a:t>.</a:t>
            </a:r>
          </a:p>
          <a:p>
            <a:pPr algn="just">
              <a:spcBef>
                <a:spcPts val="0"/>
              </a:spcBef>
            </a:pPr>
            <a:r>
              <a:rPr lang="en-US" sz="1500" dirty="0" err="1"/>
              <a:t>Berbicaralah</a:t>
            </a:r>
            <a:r>
              <a:rPr lang="en-US" sz="1500" dirty="0"/>
              <a:t> </a:t>
            </a:r>
            <a:r>
              <a:rPr lang="en-US" sz="1500" dirty="0" err="1"/>
              <a:t>dengan</a:t>
            </a:r>
            <a:r>
              <a:rPr lang="en-US" sz="1500" dirty="0"/>
              <a:t> </a:t>
            </a:r>
            <a:r>
              <a:rPr lang="id-ID" sz="1500" dirty="0"/>
              <a:t>p</a:t>
            </a:r>
            <a:r>
              <a:rPr lang="en-US" sz="1500" dirty="0" err="1"/>
              <a:t>ara</a:t>
            </a:r>
            <a:r>
              <a:rPr lang="en-US" sz="1500" dirty="0"/>
              <a:t> </a:t>
            </a:r>
            <a:r>
              <a:rPr lang="en-US" sz="1500" dirty="0" err="1"/>
              <a:t>pengguna</a:t>
            </a:r>
            <a:r>
              <a:rPr lang="en-US" sz="1500" dirty="0"/>
              <a:t> </a:t>
            </a:r>
            <a:r>
              <a:rPr lang="en-US" sz="1500" dirty="0" err="1"/>
              <a:t>untuk</a:t>
            </a:r>
            <a:r>
              <a:rPr lang="en-US" sz="1500" dirty="0"/>
              <a:t> </a:t>
            </a:r>
            <a:r>
              <a:rPr lang="en-US" sz="1500" dirty="0" err="1"/>
              <a:t>mengetahui</a:t>
            </a:r>
            <a:r>
              <a:rPr lang="en-US" sz="1500" dirty="0"/>
              <a:t> </a:t>
            </a:r>
            <a:r>
              <a:rPr lang="en-US" sz="1500" dirty="0" err="1"/>
              <a:t>apa</a:t>
            </a:r>
            <a:r>
              <a:rPr lang="en-US" sz="1500" dirty="0"/>
              <a:t> </a:t>
            </a:r>
            <a:r>
              <a:rPr lang="en-US" sz="1500" dirty="0" err="1"/>
              <a:t>masalah</a:t>
            </a:r>
            <a:r>
              <a:rPr lang="en-US" sz="1500" dirty="0"/>
              <a:t> </a:t>
            </a:r>
            <a:r>
              <a:rPr lang="en-US" sz="1500" dirty="0" err="1"/>
              <a:t>mereka</a:t>
            </a:r>
            <a:r>
              <a:rPr lang="en-US" sz="1500" dirty="0"/>
              <a:t>, </a:t>
            </a:r>
            <a:r>
              <a:rPr lang="en-US" sz="1500" dirty="0" err="1"/>
              <a:t>kesulitan</a:t>
            </a:r>
            <a:r>
              <a:rPr lang="en-US" sz="1500" dirty="0"/>
              <a:t>, </a:t>
            </a:r>
            <a:r>
              <a:rPr lang="en-US" sz="1500" dirty="0" err="1"/>
              <a:t>harapan</a:t>
            </a:r>
            <a:r>
              <a:rPr lang="en-US" sz="1500" dirty="0"/>
              <a:t> </a:t>
            </a:r>
            <a:r>
              <a:rPr lang="en-US" sz="1500" dirty="0" err="1"/>
              <a:t>serta</a:t>
            </a:r>
            <a:r>
              <a:rPr lang="en-US" sz="1500" dirty="0"/>
              <a:t> </a:t>
            </a:r>
            <a:r>
              <a:rPr lang="en-US" sz="1500" dirty="0" err="1"/>
              <a:t>apa</a:t>
            </a:r>
            <a:r>
              <a:rPr lang="en-US" sz="1500" dirty="0"/>
              <a:t> yang </a:t>
            </a:r>
            <a:r>
              <a:rPr lang="en-US" sz="1500" dirty="0" err="1"/>
              <a:t>membuat</a:t>
            </a:r>
            <a:r>
              <a:rPr lang="en-US" sz="1500" dirty="0"/>
              <a:t> </a:t>
            </a:r>
            <a:r>
              <a:rPr lang="en-US" sz="1500" dirty="0" err="1"/>
              <a:t>mereka</a:t>
            </a:r>
            <a:r>
              <a:rPr lang="en-US" sz="1500" dirty="0"/>
              <a:t> </a:t>
            </a:r>
            <a:r>
              <a:rPr lang="en-US" sz="1500" dirty="0" err="1"/>
              <a:t>nyaman</a:t>
            </a:r>
            <a:r>
              <a:rPr lang="en-US" sz="1500" dirty="0"/>
              <a:t> </a:t>
            </a:r>
            <a:r>
              <a:rPr lang="en-US" sz="1500" dirty="0" err="1"/>
              <a:t>saat</a:t>
            </a:r>
            <a:r>
              <a:rPr lang="en-US" sz="1500" dirty="0"/>
              <a:t> </a:t>
            </a:r>
            <a:r>
              <a:rPr lang="en-US" sz="1500" dirty="0" err="1"/>
              <a:t>ini</a:t>
            </a:r>
            <a:r>
              <a:rPr lang="en-US" sz="1500" dirty="0"/>
              <a:t>.</a:t>
            </a:r>
          </a:p>
          <a:p>
            <a:pPr algn="just">
              <a:spcBef>
                <a:spcPts val="0"/>
              </a:spcBef>
            </a:pPr>
            <a:r>
              <a:rPr lang="en-US" sz="1500" dirty="0" err="1"/>
              <a:t>Membangun</a:t>
            </a:r>
            <a:r>
              <a:rPr lang="en-US" sz="1500" dirty="0"/>
              <a:t> </a:t>
            </a:r>
            <a:r>
              <a:rPr lang="en-US" sz="1500" dirty="0" err="1"/>
              <a:t>komunikasi</a:t>
            </a:r>
            <a:r>
              <a:rPr lang="en-US" sz="1500" dirty="0"/>
              <a:t> </a:t>
            </a:r>
            <a:r>
              <a:rPr lang="en-US" sz="1500" dirty="0" err="1"/>
              <a:t>secara</a:t>
            </a:r>
            <a:r>
              <a:rPr lang="en-US" sz="1500" dirty="0"/>
              <a:t> </a:t>
            </a:r>
            <a:r>
              <a:rPr lang="en-US" sz="1500" dirty="0" err="1"/>
              <a:t>langsung</a:t>
            </a:r>
            <a:r>
              <a:rPr lang="en-US" sz="1500" dirty="0"/>
              <a:t> </a:t>
            </a:r>
            <a:r>
              <a:rPr lang="en-US" sz="1500" dirty="0" err="1"/>
              <a:t>dengan</a:t>
            </a:r>
            <a:r>
              <a:rPr lang="en-US" sz="1500" dirty="0"/>
              <a:t> </a:t>
            </a:r>
            <a:r>
              <a:rPr lang="en-US" sz="1500" dirty="0" err="1"/>
              <a:t>pengguna</a:t>
            </a:r>
            <a:r>
              <a:rPr lang="en-US" sz="1500" dirty="0"/>
              <a:t>. </a:t>
            </a:r>
            <a:r>
              <a:rPr lang="en-US" sz="1500" dirty="0" err="1"/>
              <a:t>Hindari</a:t>
            </a:r>
            <a:r>
              <a:rPr lang="en-US" sz="1500" dirty="0"/>
              <a:t> </a:t>
            </a:r>
            <a:r>
              <a:rPr lang="en-US" sz="1500" dirty="0" err="1"/>
              <a:t>perantara</a:t>
            </a:r>
            <a:r>
              <a:rPr lang="en-US" sz="1500" dirty="0"/>
              <a:t>.</a:t>
            </a:r>
          </a:p>
          <a:p>
            <a:pPr algn="just">
              <a:spcBef>
                <a:spcPts val="0"/>
              </a:spcBef>
            </a:pPr>
            <a:r>
              <a:rPr lang="en-US" sz="1500" dirty="0" err="1"/>
              <a:t>Melakukan</a:t>
            </a:r>
            <a:r>
              <a:rPr lang="en-US" sz="1500" dirty="0"/>
              <a:t> </a:t>
            </a:r>
            <a:r>
              <a:rPr lang="en-US" sz="1500" dirty="0" err="1"/>
              <a:t>observasi</a:t>
            </a:r>
            <a:r>
              <a:rPr lang="en-US" sz="1500" dirty="0"/>
              <a:t> </a:t>
            </a:r>
            <a:r>
              <a:rPr lang="en-US" sz="1500" dirty="0" err="1"/>
              <a:t>bagaimana</a:t>
            </a:r>
            <a:r>
              <a:rPr lang="en-US" sz="1500" dirty="0"/>
              <a:t> </a:t>
            </a:r>
            <a:r>
              <a:rPr lang="en-US" sz="1500" dirty="0" err="1"/>
              <a:t>cara</a:t>
            </a:r>
            <a:r>
              <a:rPr lang="en-US" sz="1500" dirty="0"/>
              <a:t> </a:t>
            </a:r>
            <a:r>
              <a:rPr lang="en-US" sz="1500" dirty="0" err="1"/>
              <a:t>mereka</a:t>
            </a:r>
            <a:r>
              <a:rPr lang="en-US" sz="1500" dirty="0"/>
              <a:t> </a:t>
            </a:r>
            <a:r>
              <a:rPr lang="en-US" sz="1500" dirty="0" err="1"/>
              <a:t>melakukan</a:t>
            </a:r>
            <a:r>
              <a:rPr lang="en-US" sz="1500" dirty="0"/>
              <a:t> </a:t>
            </a:r>
            <a:r>
              <a:rPr lang="en-US" sz="1500" dirty="0" err="1"/>
              <a:t>setiap</a:t>
            </a:r>
            <a:r>
              <a:rPr lang="en-US" sz="1500" dirty="0"/>
              <a:t> task </a:t>
            </a:r>
            <a:r>
              <a:rPr lang="en-US" sz="1500" dirty="0" err="1"/>
              <a:t>serta</a:t>
            </a:r>
            <a:r>
              <a:rPr lang="en-US" sz="1500" dirty="0"/>
              <a:t> </a:t>
            </a:r>
            <a:r>
              <a:rPr lang="en-US" sz="1500" dirty="0" err="1"/>
              <a:t>melihat</a:t>
            </a:r>
            <a:r>
              <a:rPr lang="en-US" sz="1500" dirty="0"/>
              <a:t> </a:t>
            </a:r>
            <a:r>
              <a:rPr lang="en-US" sz="1500" dirty="0" err="1"/>
              <a:t>apa</a:t>
            </a:r>
            <a:r>
              <a:rPr lang="en-US" sz="1500" dirty="0"/>
              <a:t> </a:t>
            </a:r>
            <a:r>
              <a:rPr lang="en-US" sz="1500" dirty="0" err="1"/>
              <a:t>kesulitan</a:t>
            </a:r>
            <a:r>
              <a:rPr lang="en-US" sz="1500" dirty="0"/>
              <a:t> </a:t>
            </a:r>
            <a:r>
              <a:rPr lang="en-US" sz="1500" dirty="0" err="1"/>
              <a:t>dan</a:t>
            </a:r>
            <a:r>
              <a:rPr lang="en-US" sz="1500" dirty="0"/>
              <a:t> </a:t>
            </a:r>
            <a:r>
              <a:rPr lang="en-US" sz="1500" dirty="0" err="1"/>
              <a:t>masalah</a:t>
            </a:r>
            <a:r>
              <a:rPr lang="en-US" sz="1500" dirty="0"/>
              <a:t> </a:t>
            </a:r>
            <a:r>
              <a:rPr lang="en-US" sz="1500" dirty="0" err="1"/>
              <a:t>mereka</a:t>
            </a:r>
            <a:r>
              <a:rPr lang="en-US" sz="1500" dirty="0"/>
              <a:t>.</a:t>
            </a:r>
          </a:p>
          <a:p>
            <a:pPr algn="just">
              <a:spcBef>
                <a:spcPts val="0"/>
              </a:spcBef>
            </a:pPr>
            <a:r>
              <a:rPr lang="en-US" sz="1500" dirty="0" err="1"/>
              <a:t>Merekam</a:t>
            </a:r>
            <a:r>
              <a:rPr lang="en-US" sz="1500" dirty="0"/>
              <a:t> </a:t>
            </a:r>
            <a:r>
              <a:rPr lang="en-US" sz="1500" dirty="0" err="1"/>
              <a:t>cara</a:t>
            </a:r>
            <a:r>
              <a:rPr lang="en-US" sz="1500" dirty="0"/>
              <a:t> </a:t>
            </a:r>
            <a:r>
              <a:rPr lang="en-US" sz="1500" dirty="0" err="1"/>
              <a:t>kerja</a:t>
            </a:r>
            <a:r>
              <a:rPr lang="en-US" sz="1500" dirty="0"/>
              <a:t> </a:t>
            </a:r>
            <a:r>
              <a:rPr lang="en-US" sz="1500" dirty="0" err="1"/>
              <a:t>pengguna</a:t>
            </a:r>
            <a:r>
              <a:rPr lang="en-US" sz="1500" dirty="0"/>
              <a:t> </a:t>
            </a:r>
            <a:r>
              <a:rPr lang="en-US" sz="1500" dirty="0" err="1"/>
              <a:t>dalam</a:t>
            </a:r>
            <a:r>
              <a:rPr lang="en-US" sz="1500" dirty="0"/>
              <a:t> </a:t>
            </a:r>
            <a:r>
              <a:rPr lang="en-US" sz="1500" dirty="0" err="1"/>
              <a:t>melakukan</a:t>
            </a:r>
            <a:r>
              <a:rPr lang="en-US" sz="1500" dirty="0"/>
              <a:t> task </a:t>
            </a:r>
            <a:r>
              <a:rPr lang="en-US" sz="1500" dirty="0" err="1"/>
              <a:t>dan</a:t>
            </a:r>
            <a:r>
              <a:rPr lang="en-US" sz="1500" dirty="0"/>
              <a:t> </a:t>
            </a:r>
            <a:r>
              <a:rPr lang="en-US" sz="1500" dirty="0" err="1"/>
              <a:t>mempelajari</a:t>
            </a:r>
            <a:r>
              <a:rPr lang="en-US" sz="1500" dirty="0"/>
              <a:t> </a:t>
            </a:r>
            <a:r>
              <a:rPr lang="en-US" sz="1500" dirty="0" err="1"/>
              <a:t>masalah</a:t>
            </a:r>
            <a:r>
              <a:rPr lang="en-US" sz="1500" dirty="0"/>
              <a:t> </a:t>
            </a:r>
            <a:r>
              <a:rPr lang="en-US" sz="1500" dirty="0" err="1"/>
              <a:t>dan</a:t>
            </a:r>
            <a:r>
              <a:rPr lang="en-US" sz="1500" dirty="0"/>
              <a:t> </a:t>
            </a:r>
            <a:r>
              <a:rPr lang="en-US" sz="1500" dirty="0" err="1"/>
              <a:t>kesulitannya</a:t>
            </a:r>
            <a:r>
              <a:rPr lang="en-US" sz="1500" dirty="0"/>
              <a:t>.</a:t>
            </a:r>
          </a:p>
          <a:p>
            <a:pPr algn="just">
              <a:spcBef>
                <a:spcPts val="0"/>
              </a:spcBef>
            </a:pPr>
            <a:r>
              <a:rPr lang="en-US" sz="1500" dirty="0" err="1"/>
              <a:t>Mempelajari</a:t>
            </a:r>
            <a:r>
              <a:rPr lang="en-US" sz="1500" dirty="0"/>
              <a:t> </a:t>
            </a:r>
            <a:r>
              <a:rPr lang="en-US" sz="1500" dirty="0" err="1"/>
              <a:t>bagaimana</a:t>
            </a:r>
            <a:r>
              <a:rPr lang="en-US" sz="1500" dirty="0"/>
              <a:t> </a:t>
            </a:r>
            <a:r>
              <a:rPr lang="en-US" sz="1500" dirty="0" err="1"/>
              <a:t>sebuah</a:t>
            </a:r>
            <a:r>
              <a:rPr lang="en-US" sz="1500" dirty="0"/>
              <a:t> </a:t>
            </a:r>
            <a:r>
              <a:rPr lang="en-US" sz="1500" dirty="0" err="1"/>
              <a:t>alur</a:t>
            </a:r>
            <a:r>
              <a:rPr lang="en-US" sz="1500" dirty="0"/>
              <a:t> </a:t>
            </a:r>
            <a:r>
              <a:rPr lang="en-US" sz="1500" dirty="0" err="1"/>
              <a:t>kerja</a:t>
            </a:r>
            <a:r>
              <a:rPr lang="en-US" sz="1500" dirty="0"/>
              <a:t> </a:t>
            </a:r>
            <a:r>
              <a:rPr lang="en-US" sz="1500" dirty="0" err="1"/>
              <a:t>dalam</a:t>
            </a:r>
            <a:r>
              <a:rPr lang="en-US" sz="1500" dirty="0"/>
              <a:t> </a:t>
            </a:r>
            <a:r>
              <a:rPr lang="en-US" sz="1500" dirty="0" err="1"/>
              <a:t>lingkungan</a:t>
            </a:r>
            <a:r>
              <a:rPr lang="en-US" sz="1500" dirty="0"/>
              <a:t> </a:t>
            </a:r>
            <a:r>
              <a:rPr lang="en-US" sz="1500" dirty="0" err="1"/>
              <a:t>dimana</a:t>
            </a:r>
            <a:r>
              <a:rPr lang="en-US" sz="1500" dirty="0"/>
              <a:t> </a:t>
            </a:r>
            <a:r>
              <a:rPr lang="en-US" sz="1500" dirty="0" err="1"/>
              <a:t>sistem</a:t>
            </a:r>
            <a:r>
              <a:rPr lang="en-US" sz="1500" dirty="0"/>
              <a:t> </a:t>
            </a:r>
            <a:r>
              <a:rPr lang="en-US" sz="1500" dirty="0" err="1"/>
              <a:t>akan</a:t>
            </a:r>
            <a:r>
              <a:rPr lang="en-US" sz="1500" dirty="0"/>
              <a:t> </a:t>
            </a:r>
            <a:r>
              <a:rPr lang="en-US" sz="1500" dirty="0" err="1"/>
              <a:t>diinstal</a:t>
            </a:r>
            <a:r>
              <a:rPr lang="en-US" sz="1500" dirty="0"/>
              <a:t>.</a:t>
            </a:r>
          </a:p>
          <a:p>
            <a:pPr algn="just">
              <a:spcBef>
                <a:spcPts val="0"/>
              </a:spcBef>
            </a:pPr>
            <a:r>
              <a:rPr lang="id-ID" sz="1500" dirty="0"/>
              <a:t>Apakah pengguna berpikir keras ketika mereka melakukan sesuatu untuk mengungkap rincian yang tidak mungkin </a:t>
            </a:r>
            <a:r>
              <a:rPr lang="en-US" sz="1500" dirty="0" err="1"/>
              <a:t>dan</a:t>
            </a:r>
            <a:r>
              <a:rPr lang="en-US" sz="1500" dirty="0"/>
              <a:t> </a:t>
            </a:r>
            <a:r>
              <a:rPr lang="id-ID" sz="1500" dirty="0"/>
              <a:t>hal lain yang dapat di</a:t>
            </a:r>
            <a:r>
              <a:rPr lang="en-US" sz="1500" dirty="0" err="1"/>
              <a:t>lakukan</a:t>
            </a:r>
            <a:r>
              <a:rPr lang="en-US" sz="1500" dirty="0"/>
              <a:t>.</a:t>
            </a:r>
          </a:p>
          <a:p>
            <a:pPr algn="just">
              <a:spcBef>
                <a:spcPts val="0"/>
              </a:spcBef>
            </a:pPr>
            <a:r>
              <a:rPr lang="en-US" sz="1500" dirty="0" err="1"/>
              <a:t>Cobalah</a:t>
            </a:r>
            <a:r>
              <a:rPr lang="en-US" sz="1500" dirty="0"/>
              <a:t> </a:t>
            </a:r>
            <a:r>
              <a:rPr lang="en-US" sz="1500" dirty="0" err="1"/>
              <a:t>sendiri</a:t>
            </a:r>
            <a:r>
              <a:rPr lang="en-US" sz="1500" dirty="0"/>
              <a:t> </a:t>
            </a:r>
            <a:r>
              <a:rPr lang="en-US" sz="1500" dirty="0" err="1"/>
              <a:t>melakukan</a:t>
            </a:r>
            <a:r>
              <a:rPr lang="en-US" sz="1500" dirty="0"/>
              <a:t> </a:t>
            </a:r>
            <a:r>
              <a:rPr lang="en-US" sz="1500" dirty="0" err="1"/>
              <a:t>kegiatan</a:t>
            </a:r>
            <a:r>
              <a:rPr lang="en-US" sz="1500" dirty="0"/>
              <a:t> </a:t>
            </a:r>
            <a:r>
              <a:rPr lang="en-US" sz="1500" dirty="0" err="1"/>
              <a:t>pengguna</a:t>
            </a:r>
            <a:r>
              <a:rPr lang="en-US" sz="1500" dirty="0"/>
              <a:t>. </a:t>
            </a:r>
          </a:p>
          <a:p>
            <a:pPr algn="just">
              <a:spcBef>
                <a:spcPts val="0"/>
              </a:spcBef>
            </a:pPr>
            <a:r>
              <a:rPr lang="en-US" sz="1500" dirty="0" err="1"/>
              <a:t>Melakukan</a:t>
            </a:r>
            <a:r>
              <a:rPr lang="en-US" sz="1500" dirty="0"/>
              <a:t> survey </a:t>
            </a:r>
            <a:r>
              <a:rPr lang="en-US" sz="1500" dirty="0" err="1"/>
              <a:t>dan</a:t>
            </a:r>
            <a:r>
              <a:rPr lang="en-US" sz="1500" dirty="0"/>
              <a:t> </a:t>
            </a:r>
            <a:r>
              <a:rPr lang="en-US" sz="1500" dirty="0" err="1"/>
              <a:t>kuesioner</a:t>
            </a:r>
            <a:r>
              <a:rPr lang="en-US" sz="1500" dirty="0"/>
              <a:t> </a:t>
            </a:r>
            <a:r>
              <a:rPr lang="en-US" sz="1500" dirty="0" err="1"/>
              <a:t>untuk</a:t>
            </a:r>
            <a:r>
              <a:rPr lang="en-US" sz="1500" dirty="0"/>
              <a:t> </a:t>
            </a:r>
            <a:r>
              <a:rPr lang="en-US" sz="1500" dirty="0" err="1"/>
              <a:t>mendapatkan</a:t>
            </a:r>
            <a:r>
              <a:rPr lang="en-US" sz="1500" dirty="0"/>
              <a:t> </a:t>
            </a:r>
            <a:r>
              <a:rPr lang="en-US" sz="1500" dirty="0" err="1"/>
              <a:t>sampel</a:t>
            </a:r>
            <a:r>
              <a:rPr lang="en-US" sz="1500" dirty="0"/>
              <a:t> </a:t>
            </a:r>
            <a:r>
              <a:rPr lang="en-US" sz="1500" dirty="0" err="1"/>
              <a:t>pengguna</a:t>
            </a:r>
            <a:r>
              <a:rPr lang="en-US" sz="1500" dirty="0"/>
              <a:t>.</a:t>
            </a:r>
          </a:p>
          <a:p>
            <a:pPr algn="just">
              <a:spcBef>
                <a:spcPts val="0"/>
              </a:spcBef>
            </a:pPr>
            <a:r>
              <a:rPr lang="en-US" sz="1500" dirty="0" err="1"/>
              <a:t>Buat</a:t>
            </a:r>
            <a:r>
              <a:rPr lang="en-US" sz="1500" dirty="0"/>
              <a:t> </a:t>
            </a:r>
            <a:r>
              <a:rPr lang="en-US" sz="1500" dirty="0" err="1"/>
              <a:t>sebuah</a:t>
            </a:r>
            <a:r>
              <a:rPr lang="en-US" sz="1500" dirty="0"/>
              <a:t> tools/</a:t>
            </a:r>
            <a:r>
              <a:rPr lang="en-US" sz="1500" dirty="0" err="1"/>
              <a:t>alat</a:t>
            </a:r>
            <a:r>
              <a:rPr lang="en-US" sz="1500" dirty="0"/>
              <a:t> </a:t>
            </a:r>
            <a:r>
              <a:rPr lang="en-US" sz="1500" dirty="0" err="1"/>
              <a:t>untuk</a:t>
            </a:r>
            <a:r>
              <a:rPr lang="en-US" sz="1500" dirty="0"/>
              <a:t> </a:t>
            </a:r>
            <a:r>
              <a:rPr lang="en-US" sz="1500" dirty="0" err="1"/>
              <a:t>dapat</a:t>
            </a:r>
            <a:r>
              <a:rPr lang="en-US" sz="1500" dirty="0"/>
              <a:t> </a:t>
            </a:r>
            <a:r>
              <a:rPr lang="en-US" sz="1500" dirty="0" err="1"/>
              <a:t>menggali</a:t>
            </a:r>
            <a:r>
              <a:rPr lang="en-US" sz="1500" dirty="0"/>
              <a:t> </a:t>
            </a:r>
            <a:r>
              <a:rPr lang="en-US" sz="1500" dirty="0" err="1"/>
              <a:t>perilaku</a:t>
            </a:r>
            <a:r>
              <a:rPr lang="en-US" sz="1500" dirty="0"/>
              <a:t> user </a:t>
            </a:r>
            <a:r>
              <a:rPr lang="en-US" sz="1500" dirty="0" err="1"/>
              <a:t>dalam</a:t>
            </a:r>
            <a:r>
              <a:rPr lang="en-US" sz="1500" dirty="0"/>
              <a:t> </a:t>
            </a:r>
            <a:r>
              <a:rPr lang="en-US" sz="1500" dirty="0" err="1"/>
              <a:t>mencapai</a:t>
            </a:r>
            <a:r>
              <a:rPr lang="en-US" sz="1500" dirty="0"/>
              <a:t> </a:t>
            </a:r>
            <a:r>
              <a:rPr lang="en-US" sz="1500" dirty="0" err="1"/>
              <a:t>tujuannya</a:t>
            </a:r>
            <a:r>
              <a:rPr lang="en-US" sz="1500" dirty="0"/>
              <a:t>, </a:t>
            </a:r>
            <a:r>
              <a:rPr lang="en-US" sz="1500" dirty="0" err="1"/>
              <a:t>kemudian</a:t>
            </a:r>
            <a:r>
              <a:rPr lang="en-US" sz="1500" dirty="0"/>
              <a:t> </a:t>
            </a:r>
            <a:r>
              <a:rPr lang="en-US" sz="1500" dirty="0" err="1"/>
              <a:t>ukur</a:t>
            </a:r>
            <a:r>
              <a:rPr lang="en-US" sz="1500" dirty="0"/>
              <a:t> </a:t>
            </a:r>
            <a:r>
              <a:rPr lang="en-US" sz="1500" dirty="0" err="1"/>
              <a:t>sampai</a:t>
            </a:r>
            <a:r>
              <a:rPr lang="en-US" sz="1500" dirty="0"/>
              <a:t> </a:t>
            </a:r>
            <a:r>
              <a:rPr lang="en-US" sz="1500" dirty="0" err="1"/>
              <a:t>dengan</a:t>
            </a:r>
            <a:r>
              <a:rPr lang="en-US" sz="1500" dirty="0"/>
              <a:t> </a:t>
            </a:r>
            <a:r>
              <a:rPr lang="en-US" sz="1500" dirty="0" err="1"/>
              <a:t>kebutuhannya</a:t>
            </a:r>
            <a:r>
              <a:rPr lang="en-US" sz="1500" dirty="0"/>
              <a:t> </a:t>
            </a:r>
            <a:r>
              <a:rPr lang="en-US" sz="1500" dirty="0" err="1"/>
              <a:t>tercapai</a:t>
            </a:r>
            <a:r>
              <a:rPr lang="en-US" sz="1500" dirty="0"/>
              <a:t>.</a:t>
            </a:r>
          </a:p>
        </p:txBody>
      </p:sp>
    </p:spTree>
    <p:extLst>
      <p:ext uri="{BB962C8B-B14F-4D97-AF65-F5344CB8AC3E}">
        <p14:creationId xmlns:p14="http://schemas.microsoft.com/office/powerpoint/2010/main" val="2993246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id-ID" dirty="0">
                <a:solidFill>
                  <a:srgbClr val="FFFF00"/>
                </a:solidFill>
              </a:rPr>
              <a:t>Steps to Create Personas</a:t>
            </a:r>
          </a:p>
        </p:txBody>
      </p:sp>
      <p:sp>
        <p:nvSpPr>
          <p:cNvPr id="2" name="Text Placeholder 1">
            <a:extLst>
              <a:ext uri="{FF2B5EF4-FFF2-40B4-BE49-F238E27FC236}">
                <a16:creationId xmlns:a16="http://schemas.microsoft.com/office/drawing/2014/main" id="{71133376-B826-3EB5-4869-C96D54B0EC5D}"/>
              </a:ext>
            </a:extLst>
          </p:cNvPr>
          <p:cNvSpPr>
            <a:spLocks noGrp="1"/>
          </p:cNvSpPr>
          <p:nvPr>
            <p:ph type="body" idx="1"/>
          </p:nvPr>
        </p:nvSpPr>
        <p:spPr/>
        <p:txBody>
          <a:bodyPr/>
          <a:lstStyle/>
          <a:p>
            <a:endParaRPr lang="en-ID"/>
          </a:p>
        </p:txBody>
      </p:sp>
      <p:pic>
        <p:nvPicPr>
          <p:cNvPr id="1026" name="Picture 2" descr="Steps to Create Person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809" y="1077604"/>
            <a:ext cx="8835837" cy="5556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988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77D38C-C01D-4A99-8C22-7C2B93FCFF2B}"/>
              </a:ext>
            </a:extLst>
          </p:cNvPr>
          <p:cNvSpPr>
            <a:spLocks noGrp="1"/>
          </p:cNvSpPr>
          <p:nvPr>
            <p:ph type="title"/>
          </p:nvPr>
        </p:nvSpPr>
        <p:spPr>
          <a:xfrm>
            <a:off x="1788855" y="2624796"/>
            <a:ext cx="5721930" cy="773590"/>
          </a:xfrm>
        </p:spPr>
        <p:txBody>
          <a:bodyPr>
            <a:normAutofit/>
          </a:bodyPr>
          <a:lstStyle/>
          <a:p>
            <a:pPr algn="ctr"/>
            <a:r>
              <a:rPr lang="en-ID" dirty="0"/>
              <a:t>KNOW USERS</a:t>
            </a:r>
            <a:endParaRPr lang="en-GB" dirty="0"/>
          </a:p>
        </p:txBody>
      </p:sp>
    </p:spTree>
    <p:extLst>
      <p:ext uri="{BB962C8B-B14F-4D97-AF65-F5344CB8AC3E}">
        <p14:creationId xmlns:p14="http://schemas.microsoft.com/office/powerpoint/2010/main" val="17580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0">
                <a:latin typeface="Verdana (Body)"/>
              </a:rPr>
              <a:t>Step 1 : Know </a:t>
            </a:r>
            <a:r>
              <a:rPr lang="en-US" b="0" dirty="0">
                <a:latin typeface="Verdana (Body)"/>
              </a:rPr>
              <a:t>your users and clients</a:t>
            </a:r>
          </a:p>
        </p:txBody>
      </p:sp>
      <p:sp>
        <p:nvSpPr>
          <p:cNvPr id="2" name="Content Placeholder 1"/>
          <p:cNvSpPr>
            <a:spLocks noGrp="1"/>
          </p:cNvSpPr>
          <p:nvPr>
            <p:ph type="body" idx="1"/>
          </p:nvPr>
        </p:nvSpPr>
        <p:spPr/>
        <p:txBody>
          <a:bodyPr/>
          <a:lstStyle/>
          <a:p>
            <a:pPr algn="just"/>
            <a:r>
              <a:rPr lang="en-US" sz="2000" dirty="0"/>
              <a:t>Understand how people interact with computers.</a:t>
            </a:r>
          </a:p>
          <a:p>
            <a:pPr algn="just"/>
            <a:r>
              <a:rPr lang="en-US" sz="2000" dirty="0"/>
              <a:t>Understand the human characteristics important in design.</a:t>
            </a:r>
          </a:p>
          <a:p>
            <a:pPr algn="just"/>
            <a:r>
              <a:rPr lang="en-US" sz="2000" dirty="0"/>
              <a:t>Identify the user’s level of knowledge and experience.</a:t>
            </a:r>
          </a:p>
          <a:p>
            <a:pPr algn="just"/>
            <a:r>
              <a:rPr lang="en-US" sz="2000" dirty="0"/>
              <a:t>Identify the characteristics of the user’s needs, tasks, and jobs.</a:t>
            </a:r>
          </a:p>
          <a:p>
            <a:pPr algn="just"/>
            <a:r>
              <a:rPr lang="en-US" sz="2000" dirty="0"/>
              <a:t>Identify the user’s psychological characteristics.</a:t>
            </a:r>
          </a:p>
          <a:p>
            <a:pPr algn="just"/>
            <a:r>
              <a:rPr lang="en-US" sz="2000" dirty="0"/>
              <a:t>Identify the user’s physical characteristics.</a:t>
            </a:r>
          </a:p>
          <a:p>
            <a:pPr algn="just"/>
            <a:r>
              <a:rPr lang="en-US" sz="2000" dirty="0"/>
              <a:t>Employ recommended methods for gaining understanding of users</a:t>
            </a:r>
            <a:r>
              <a:rPr lang="en-US" dirty="0"/>
              <a:t>.</a:t>
            </a:r>
          </a:p>
          <a:p>
            <a:pPr marL="0" indent="0">
              <a:buNone/>
            </a:pPr>
            <a:endParaRPr lang="en-US" dirty="0"/>
          </a:p>
        </p:txBody>
      </p:sp>
    </p:spTree>
    <p:extLst>
      <p:ext uri="{BB962C8B-B14F-4D97-AF65-F5344CB8AC3E}">
        <p14:creationId xmlns:p14="http://schemas.microsoft.com/office/powerpoint/2010/main" val="3987226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400" dirty="0">
                <a:latin typeface="Verdana (Bold)"/>
              </a:rPr>
              <a:t>Understand how people interact with computers</a:t>
            </a:r>
          </a:p>
        </p:txBody>
      </p:sp>
      <p:sp>
        <p:nvSpPr>
          <p:cNvPr id="2" name="Content Placeholder 1"/>
          <p:cNvSpPr>
            <a:spLocks noGrp="1"/>
          </p:cNvSpPr>
          <p:nvPr>
            <p:ph type="body" idx="1"/>
          </p:nvPr>
        </p:nvSpPr>
        <p:spPr/>
        <p:txBody>
          <a:bodyPr/>
          <a:lstStyle/>
          <a:p>
            <a:pPr algn="just"/>
            <a:r>
              <a:rPr lang="en-US" dirty="0" err="1"/>
              <a:t>Siklus</a:t>
            </a:r>
            <a:r>
              <a:rPr lang="en-US" dirty="0"/>
              <a:t> </a:t>
            </a:r>
            <a:r>
              <a:rPr lang="en-US" dirty="0" err="1"/>
              <a:t>aksi</a:t>
            </a:r>
            <a:r>
              <a:rPr lang="en-US" dirty="0"/>
              <a:t> </a:t>
            </a:r>
            <a:r>
              <a:rPr lang="en-US" dirty="0" err="1"/>
              <a:t>manusia</a:t>
            </a:r>
            <a:r>
              <a:rPr lang="en-US" dirty="0"/>
              <a:t> :</a:t>
            </a:r>
          </a:p>
          <a:p>
            <a:pPr lvl="1" algn="just"/>
            <a:r>
              <a:rPr lang="en-US" sz="1600" dirty="0" err="1"/>
              <a:t>Tujuan</a:t>
            </a:r>
            <a:r>
              <a:rPr lang="en-US" sz="1600" dirty="0"/>
              <a:t> </a:t>
            </a:r>
            <a:r>
              <a:rPr lang="en-US" sz="1600" dirty="0" err="1"/>
              <a:t>dibentuk</a:t>
            </a:r>
            <a:endParaRPr lang="en-US" sz="1600" dirty="0"/>
          </a:p>
          <a:p>
            <a:pPr lvl="1" algn="just"/>
            <a:r>
              <a:rPr lang="en-US" sz="1600" dirty="0" err="1"/>
              <a:t>Sebuah</a:t>
            </a:r>
            <a:r>
              <a:rPr lang="en-US" sz="1600" dirty="0"/>
              <a:t> </a:t>
            </a:r>
            <a:r>
              <a:rPr lang="en-US" sz="1600" dirty="0" err="1"/>
              <a:t>rencana</a:t>
            </a:r>
            <a:r>
              <a:rPr lang="en-US" sz="1600" dirty="0"/>
              <a:t> </a:t>
            </a:r>
            <a:r>
              <a:rPr lang="en-US" sz="1600" dirty="0" err="1"/>
              <a:t>eksekusi</a:t>
            </a:r>
            <a:r>
              <a:rPr lang="en-US" sz="1600" dirty="0"/>
              <a:t> </a:t>
            </a:r>
            <a:r>
              <a:rPr lang="en-US" sz="1600" dirty="0" err="1"/>
              <a:t>disusun</a:t>
            </a:r>
            <a:r>
              <a:rPr lang="en-US" sz="1600" dirty="0"/>
              <a:t> </a:t>
            </a:r>
            <a:r>
              <a:rPr lang="en-US" sz="1600" dirty="0" err="1"/>
              <a:t>dan</a:t>
            </a:r>
            <a:r>
              <a:rPr lang="en-US" sz="1600" dirty="0"/>
              <a:t> </a:t>
            </a:r>
            <a:r>
              <a:rPr lang="en-US" sz="1600" dirty="0" err="1"/>
              <a:t>diimplementasikan</a:t>
            </a:r>
            <a:endParaRPr lang="en-US" sz="1600" dirty="0"/>
          </a:p>
          <a:p>
            <a:pPr lvl="1" algn="just"/>
            <a:r>
              <a:rPr lang="en-US" sz="1600" dirty="0" err="1"/>
              <a:t>Hasil</a:t>
            </a:r>
            <a:r>
              <a:rPr lang="en-US" sz="1600" dirty="0"/>
              <a:t> </a:t>
            </a:r>
            <a:r>
              <a:rPr lang="en-US" sz="1600" dirty="0" err="1"/>
              <a:t>dari</a:t>
            </a:r>
            <a:r>
              <a:rPr lang="en-US" sz="1600" dirty="0"/>
              <a:t> </a:t>
            </a:r>
            <a:r>
              <a:rPr lang="en-US" sz="1600" dirty="0" err="1"/>
              <a:t>sebuah</a:t>
            </a:r>
            <a:r>
              <a:rPr lang="en-US" sz="1600" dirty="0"/>
              <a:t> </a:t>
            </a:r>
            <a:r>
              <a:rPr lang="en-US" sz="1600" dirty="0" err="1"/>
              <a:t>tindakan</a:t>
            </a:r>
            <a:r>
              <a:rPr lang="en-US" sz="1600" dirty="0"/>
              <a:t> </a:t>
            </a:r>
            <a:r>
              <a:rPr lang="en-US" sz="1600" dirty="0" err="1"/>
              <a:t>kemudian</a:t>
            </a:r>
            <a:r>
              <a:rPr lang="en-US" sz="1600" dirty="0"/>
              <a:t> </a:t>
            </a:r>
            <a:r>
              <a:rPr lang="en-US" sz="1600" dirty="0" err="1"/>
              <a:t>dievaluasi</a:t>
            </a:r>
            <a:endParaRPr lang="en-US" sz="1600" dirty="0"/>
          </a:p>
          <a:p>
            <a:pPr algn="just"/>
            <a:r>
              <a:rPr lang="en-US" dirty="0" err="1"/>
              <a:t>Mengapa</a:t>
            </a:r>
            <a:r>
              <a:rPr lang="en-US" dirty="0"/>
              <a:t> orang </a:t>
            </a:r>
            <a:r>
              <a:rPr lang="en-US" dirty="0" err="1"/>
              <a:t>memiliki</a:t>
            </a:r>
            <a:r>
              <a:rPr lang="en-US" dirty="0"/>
              <a:t> </a:t>
            </a:r>
            <a:r>
              <a:rPr lang="en-US" dirty="0" err="1"/>
              <a:t>masalah</a:t>
            </a:r>
            <a:r>
              <a:rPr lang="en-US" dirty="0"/>
              <a:t> </a:t>
            </a:r>
            <a:r>
              <a:rPr lang="en-US" dirty="0" err="1"/>
              <a:t>dengan</a:t>
            </a:r>
            <a:r>
              <a:rPr lang="en-US" dirty="0"/>
              <a:t> </a:t>
            </a:r>
            <a:r>
              <a:rPr lang="en-US" dirty="0" err="1"/>
              <a:t>komputer</a:t>
            </a:r>
            <a:endParaRPr lang="en-US" dirty="0"/>
          </a:p>
          <a:p>
            <a:pPr lvl="1" algn="just"/>
            <a:r>
              <a:rPr lang="en-US" sz="1600" dirty="0" err="1"/>
              <a:t>Terlalu</a:t>
            </a:r>
            <a:r>
              <a:rPr lang="en-US" sz="1600" dirty="0"/>
              <a:t> </a:t>
            </a:r>
            <a:r>
              <a:rPr lang="en-US" sz="1600" dirty="0" err="1"/>
              <a:t>banyak</a:t>
            </a:r>
            <a:r>
              <a:rPr lang="en-US" sz="1600" dirty="0"/>
              <a:t> </a:t>
            </a:r>
            <a:r>
              <a:rPr lang="en-US" sz="1600" dirty="0" err="1"/>
              <a:t>flesibilitas</a:t>
            </a:r>
            <a:endParaRPr lang="en-US" sz="1600" dirty="0"/>
          </a:p>
          <a:p>
            <a:pPr lvl="1" algn="just"/>
            <a:r>
              <a:rPr lang="en-US" sz="1600" dirty="0" err="1"/>
              <a:t>Menggunakan</a:t>
            </a:r>
            <a:r>
              <a:rPr lang="en-US" sz="1600" dirty="0"/>
              <a:t> jargon</a:t>
            </a:r>
          </a:p>
          <a:p>
            <a:pPr lvl="1" algn="just"/>
            <a:r>
              <a:rPr lang="en-US" sz="1600" dirty="0" err="1"/>
              <a:t>Desain</a:t>
            </a:r>
            <a:r>
              <a:rPr lang="en-US" sz="1600" dirty="0"/>
              <a:t> yang </a:t>
            </a:r>
            <a:r>
              <a:rPr lang="en-US" sz="1600" dirty="0" err="1"/>
              <a:t>membingungkan</a:t>
            </a:r>
            <a:r>
              <a:rPr lang="en-US" sz="1600" dirty="0"/>
              <a:t>/</a:t>
            </a:r>
            <a:r>
              <a:rPr lang="en-US" sz="1600" dirty="0" err="1"/>
              <a:t>tidak</a:t>
            </a:r>
            <a:r>
              <a:rPr lang="en-US" sz="1600" dirty="0"/>
              <a:t> </a:t>
            </a:r>
            <a:r>
              <a:rPr lang="en-US" sz="1600" dirty="0" err="1"/>
              <a:t>jelas</a:t>
            </a:r>
            <a:endParaRPr lang="en-US" sz="1600" dirty="0"/>
          </a:p>
          <a:p>
            <a:pPr lvl="1" algn="just"/>
            <a:r>
              <a:rPr lang="en-US" sz="1600" dirty="0" err="1"/>
              <a:t>Perbedaan</a:t>
            </a:r>
            <a:r>
              <a:rPr lang="en-US" sz="1600" dirty="0"/>
              <a:t> yang </a:t>
            </a:r>
            <a:r>
              <a:rPr lang="en-US" sz="1600" dirty="0" err="1"/>
              <a:t>terlalu</a:t>
            </a:r>
            <a:r>
              <a:rPr lang="en-US" sz="1600" dirty="0"/>
              <a:t> </a:t>
            </a:r>
            <a:r>
              <a:rPr lang="en-US" sz="1600" dirty="0" err="1"/>
              <a:t>halus</a:t>
            </a:r>
            <a:endParaRPr lang="en-US" sz="1600" dirty="0"/>
          </a:p>
          <a:p>
            <a:pPr lvl="1" algn="just"/>
            <a:r>
              <a:rPr lang="id-ID" sz="1600" dirty="0"/>
              <a:t>Disparitas dalam strategi pemecahan masalah</a:t>
            </a:r>
            <a:r>
              <a:rPr lang="en-US" sz="1600" dirty="0"/>
              <a:t> </a:t>
            </a:r>
          </a:p>
          <a:p>
            <a:pPr lvl="1"/>
            <a:endParaRPr lang="en-US" dirty="0"/>
          </a:p>
        </p:txBody>
      </p:sp>
    </p:spTree>
    <p:extLst>
      <p:ext uri="{BB962C8B-B14F-4D97-AF65-F5344CB8AC3E}">
        <p14:creationId xmlns:p14="http://schemas.microsoft.com/office/powerpoint/2010/main" val="1383288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400" b="0" dirty="0">
                <a:latin typeface="Verdana (Bold)"/>
              </a:rPr>
              <a:t>Understand the human characteristics important in design</a:t>
            </a:r>
            <a:endParaRPr lang="en-US" dirty="0"/>
          </a:p>
        </p:txBody>
      </p:sp>
      <p:sp>
        <p:nvSpPr>
          <p:cNvPr id="2" name="Content Placeholder 1"/>
          <p:cNvSpPr>
            <a:spLocks noGrp="1"/>
          </p:cNvSpPr>
          <p:nvPr>
            <p:ph type="body" idx="1"/>
          </p:nvPr>
        </p:nvSpPr>
        <p:spPr/>
        <p:txBody>
          <a:bodyPr>
            <a:normAutofit/>
          </a:bodyPr>
          <a:lstStyle/>
          <a:p>
            <a:r>
              <a:rPr lang="id-ID" dirty="0"/>
              <a:t>Respon psikologis yang khas untuk desain </a:t>
            </a:r>
            <a:r>
              <a:rPr lang="en-US" dirty="0" err="1"/>
              <a:t>buruk</a:t>
            </a:r>
            <a:r>
              <a:rPr lang="en-US" dirty="0"/>
              <a:t> </a:t>
            </a:r>
            <a:r>
              <a:rPr lang="id-ID" dirty="0"/>
              <a:t>adalah: </a:t>
            </a:r>
            <a:br>
              <a:rPr lang="id-ID" dirty="0"/>
            </a:br>
            <a:r>
              <a:rPr lang="id-ID" sz="1800" b="1" dirty="0">
                <a:solidFill>
                  <a:srgbClr val="FF0000"/>
                </a:solidFill>
                <a:latin typeface="Perpetua Titling MT" panose="02020502060505020804" pitchFamily="18" charset="0"/>
              </a:rPr>
              <a:t>Kebingungan</a:t>
            </a:r>
            <a:r>
              <a:rPr lang="id-ID" sz="1800" b="1" dirty="0">
                <a:latin typeface="Perpetua Titling MT" panose="02020502060505020804" pitchFamily="18" charset="0"/>
              </a:rPr>
              <a:t>, </a:t>
            </a:r>
            <a:r>
              <a:rPr lang="id-ID" sz="1800" b="1" dirty="0">
                <a:solidFill>
                  <a:srgbClr val="FF0000"/>
                </a:solidFill>
                <a:latin typeface="Perpetua Titling MT" panose="02020502060505020804" pitchFamily="18" charset="0"/>
              </a:rPr>
              <a:t>Annoyance</a:t>
            </a:r>
            <a:r>
              <a:rPr lang="id-ID" sz="1800" b="1" dirty="0">
                <a:latin typeface="Perpetua Titling MT" panose="02020502060505020804" pitchFamily="18" charset="0"/>
              </a:rPr>
              <a:t>, </a:t>
            </a:r>
            <a:r>
              <a:rPr lang="id-ID" sz="1800" b="1" dirty="0">
                <a:solidFill>
                  <a:srgbClr val="FF0000"/>
                </a:solidFill>
                <a:latin typeface="Perpetua Titling MT" panose="02020502060505020804" pitchFamily="18" charset="0"/>
              </a:rPr>
              <a:t>Frustrasi</a:t>
            </a:r>
            <a:r>
              <a:rPr lang="id-ID" sz="1800" b="1" dirty="0">
                <a:latin typeface="Perpetua Titling MT" panose="02020502060505020804" pitchFamily="18" charset="0"/>
              </a:rPr>
              <a:t>, </a:t>
            </a:r>
            <a:r>
              <a:rPr lang="id-ID" sz="1800" b="1" dirty="0">
                <a:solidFill>
                  <a:srgbClr val="FF0000"/>
                </a:solidFill>
                <a:latin typeface="Perpetua Titling MT" panose="02020502060505020804" pitchFamily="18" charset="0"/>
              </a:rPr>
              <a:t>Panic</a:t>
            </a:r>
            <a:r>
              <a:rPr lang="id-ID" sz="1800" b="1" dirty="0">
                <a:latin typeface="Perpetua Titling MT" panose="02020502060505020804" pitchFamily="18" charset="0"/>
              </a:rPr>
              <a:t> </a:t>
            </a:r>
            <a:r>
              <a:rPr lang="id-ID" sz="1800" b="1" dirty="0">
                <a:solidFill>
                  <a:srgbClr val="FF0000"/>
                </a:solidFill>
                <a:latin typeface="Perpetua Titling MT" panose="02020502060505020804" pitchFamily="18" charset="0"/>
              </a:rPr>
              <a:t>/ stres</a:t>
            </a:r>
            <a:r>
              <a:rPr lang="id-ID" sz="1800" b="1" dirty="0">
                <a:latin typeface="Perpetua Titling MT" panose="02020502060505020804" pitchFamily="18" charset="0"/>
              </a:rPr>
              <a:t>, </a:t>
            </a:r>
            <a:r>
              <a:rPr lang="id-ID" sz="1800" b="1" dirty="0">
                <a:solidFill>
                  <a:srgbClr val="FF0000"/>
                </a:solidFill>
                <a:latin typeface="Perpetua Titling MT" panose="02020502060505020804" pitchFamily="18" charset="0"/>
              </a:rPr>
              <a:t>Kebosanan</a:t>
            </a:r>
            <a:r>
              <a:rPr lang="id-ID" sz="1800" dirty="0">
                <a:latin typeface="Perpetua Titling MT" panose="02020502060505020804" pitchFamily="18" charset="0"/>
              </a:rPr>
              <a:t>. </a:t>
            </a:r>
            <a:endParaRPr lang="en-US" sz="1800" dirty="0">
              <a:latin typeface="Perpetua Titling MT" panose="02020502060505020804" pitchFamily="18" charset="0"/>
            </a:endParaRPr>
          </a:p>
          <a:p>
            <a:r>
              <a:rPr lang="en-US" dirty="0" err="1">
                <a:latin typeface="Verdana (Bold)"/>
              </a:rPr>
              <a:t>Kemudian</a:t>
            </a:r>
            <a:r>
              <a:rPr lang="en-US" dirty="0">
                <a:latin typeface="Verdana (Bold)"/>
              </a:rPr>
              <a:t> </a:t>
            </a:r>
            <a:r>
              <a:rPr lang="en-US" dirty="0" err="1">
                <a:latin typeface="Verdana (Bold)"/>
              </a:rPr>
              <a:t>akan</a:t>
            </a:r>
            <a:r>
              <a:rPr lang="en-US" dirty="0">
                <a:latin typeface="Verdana (Bold)"/>
              </a:rPr>
              <a:t> </a:t>
            </a:r>
            <a:r>
              <a:rPr lang="en-US" dirty="0" err="1">
                <a:latin typeface="Verdana (Bold)"/>
              </a:rPr>
              <a:t>diikuti</a:t>
            </a:r>
            <a:r>
              <a:rPr lang="en-US" dirty="0">
                <a:latin typeface="Verdana (Bold)"/>
              </a:rPr>
              <a:t> </a:t>
            </a:r>
            <a:r>
              <a:rPr lang="en-US" dirty="0" err="1">
                <a:latin typeface="Verdana (Bold)"/>
              </a:rPr>
              <a:t>dengan</a:t>
            </a:r>
            <a:r>
              <a:rPr lang="en-US" dirty="0">
                <a:latin typeface="Verdana (Bold)"/>
              </a:rPr>
              <a:t> </a:t>
            </a:r>
            <a:r>
              <a:rPr lang="en-US" dirty="0" err="1">
                <a:latin typeface="Verdana (Bold)"/>
              </a:rPr>
              <a:t>reaksi</a:t>
            </a:r>
            <a:r>
              <a:rPr lang="en-US" dirty="0">
                <a:latin typeface="Verdana (Bold)"/>
              </a:rPr>
              <a:t> </a:t>
            </a:r>
            <a:r>
              <a:rPr lang="en-US" dirty="0" err="1">
                <a:latin typeface="Verdana (Bold)"/>
              </a:rPr>
              <a:t>fisik</a:t>
            </a:r>
            <a:r>
              <a:rPr lang="en-US" dirty="0">
                <a:latin typeface="Verdana (Bold)"/>
              </a:rPr>
              <a:t> :</a:t>
            </a:r>
          </a:p>
          <a:p>
            <a:pPr lvl="1"/>
            <a:r>
              <a:rPr lang="id-ID" sz="1600" dirty="0"/>
              <a:t>Pengabaian sistem. </a:t>
            </a:r>
            <a:endParaRPr lang="en-US" sz="1600" dirty="0"/>
          </a:p>
          <a:p>
            <a:pPr lvl="1"/>
            <a:r>
              <a:rPr lang="id-ID" sz="1600" dirty="0"/>
              <a:t>Penggunaan sebagian dari sistem. </a:t>
            </a:r>
            <a:endParaRPr lang="en-US" sz="1600" dirty="0"/>
          </a:p>
          <a:p>
            <a:pPr lvl="1"/>
            <a:r>
              <a:rPr lang="id-ID" sz="1600" dirty="0"/>
              <a:t>Penggunaan langsung dari sistem. </a:t>
            </a:r>
            <a:endParaRPr lang="en-US" sz="1600" dirty="0"/>
          </a:p>
          <a:p>
            <a:pPr lvl="1"/>
            <a:r>
              <a:rPr lang="id-ID" sz="1600" dirty="0"/>
              <a:t>Modifikasi tugas. </a:t>
            </a:r>
            <a:endParaRPr lang="en-US" sz="1600" dirty="0"/>
          </a:p>
          <a:p>
            <a:pPr lvl="1"/>
            <a:r>
              <a:rPr lang="id-ID" sz="1600" dirty="0"/>
              <a:t>Aktivitas kompensasi. </a:t>
            </a:r>
            <a:endParaRPr lang="en-US" sz="1600" dirty="0"/>
          </a:p>
          <a:p>
            <a:pPr lvl="1"/>
            <a:r>
              <a:rPr lang="id-ID" sz="1600" dirty="0"/>
              <a:t>Penyalahgunaan sistem. </a:t>
            </a:r>
            <a:endParaRPr lang="en-US" sz="1600" dirty="0"/>
          </a:p>
          <a:p>
            <a:pPr lvl="1"/>
            <a:r>
              <a:rPr lang="id-ID" sz="1600" dirty="0"/>
              <a:t>Pemrograman langsung</a:t>
            </a:r>
            <a:r>
              <a:rPr lang="en-US" sz="1600" dirty="0">
                <a:latin typeface="Verdana (Bold)"/>
              </a:rPr>
              <a:t> </a:t>
            </a:r>
          </a:p>
        </p:txBody>
      </p:sp>
    </p:spTree>
    <p:extLst>
      <p:ext uri="{BB962C8B-B14F-4D97-AF65-F5344CB8AC3E}">
        <p14:creationId xmlns:p14="http://schemas.microsoft.com/office/powerpoint/2010/main" val="3861542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200" b="0" dirty="0">
                <a:latin typeface="Verdana (Bold)"/>
              </a:rPr>
              <a:t>Understand the human characteristics important in design</a:t>
            </a:r>
          </a:p>
        </p:txBody>
      </p:sp>
      <p:sp>
        <p:nvSpPr>
          <p:cNvPr id="2" name="Content Placeholder 1"/>
          <p:cNvSpPr>
            <a:spLocks noGrp="1"/>
          </p:cNvSpPr>
          <p:nvPr>
            <p:ph type="body" idx="1"/>
          </p:nvPr>
        </p:nvSpPr>
        <p:spPr/>
        <p:txBody>
          <a:bodyPr numCol="2"/>
          <a:lstStyle/>
          <a:p>
            <a:pPr>
              <a:spcBef>
                <a:spcPts val="0"/>
              </a:spcBef>
            </a:pPr>
            <a:r>
              <a:rPr lang="en-US" sz="2000" dirty="0"/>
              <a:t>Perception</a:t>
            </a:r>
          </a:p>
          <a:p>
            <a:pPr>
              <a:spcBef>
                <a:spcPts val="0"/>
              </a:spcBef>
            </a:pPr>
            <a:r>
              <a:rPr lang="en-US" sz="2000" dirty="0"/>
              <a:t>Memory : Short term memory (STM) </a:t>
            </a:r>
            <a:r>
              <a:rPr lang="en-US" sz="2000" dirty="0" err="1"/>
              <a:t>dan</a:t>
            </a:r>
            <a:r>
              <a:rPr lang="en-US" sz="2000" dirty="0"/>
              <a:t> Long term memory (LTM)</a:t>
            </a:r>
          </a:p>
          <a:p>
            <a:pPr>
              <a:spcBef>
                <a:spcPts val="0"/>
              </a:spcBef>
            </a:pPr>
            <a:r>
              <a:rPr lang="en-US" sz="2000" dirty="0"/>
              <a:t>Sensory storage</a:t>
            </a:r>
          </a:p>
          <a:p>
            <a:pPr>
              <a:spcBef>
                <a:spcPts val="0"/>
              </a:spcBef>
            </a:pPr>
            <a:r>
              <a:rPr lang="en-US" sz="2000" dirty="0"/>
              <a:t>Visual Acuity</a:t>
            </a:r>
          </a:p>
          <a:p>
            <a:pPr>
              <a:spcBef>
                <a:spcPts val="0"/>
              </a:spcBef>
            </a:pPr>
            <a:r>
              <a:rPr lang="en-US" sz="2000" dirty="0"/>
              <a:t>Information Process</a:t>
            </a:r>
          </a:p>
          <a:p>
            <a:pPr>
              <a:spcBef>
                <a:spcPts val="0"/>
              </a:spcBef>
            </a:pPr>
            <a:r>
              <a:rPr lang="en-US" sz="2000" dirty="0"/>
              <a:t>Mental Models </a:t>
            </a:r>
          </a:p>
          <a:p>
            <a:pPr>
              <a:spcBef>
                <a:spcPts val="0"/>
              </a:spcBef>
            </a:pPr>
            <a:r>
              <a:rPr lang="en-US" sz="2000" dirty="0"/>
              <a:t>Movement Control </a:t>
            </a:r>
          </a:p>
          <a:p>
            <a:pPr>
              <a:spcBef>
                <a:spcPts val="0"/>
              </a:spcBef>
            </a:pPr>
            <a:r>
              <a:rPr lang="en-US" sz="2000" dirty="0"/>
              <a:t>Learning </a:t>
            </a:r>
          </a:p>
          <a:p>
            <a:pPr>
              <a:spcBef>
                <a:spcPts val="0"/>
              </a:spcBef>
            </a:pPr>
            <a:r>
              <a:rPr lang="en-US" sz="2000" dirty="0"/>
              <a:t>Skill </a:t>
            </a:r>
          </a:p>
          <a:p>
            <a:pPr>
              <a:spcBef>
                <a:spcPts val="0"/>
              </a:spcBef>
            </a:pPr>
            <a:r>
              <a:rPr lang="en-US" sz="2000" dirty="0"/>
              <a:t>Performance Load </a:t>
            </a:r>
          </a:p>
          <a:p>
            <a:pPr>
              <a:spcBef>
                <a:spcPts val="0"/>
              </a:spcBef>
            </a:pPr>
            <a:r>
              <a:rPr lang="en-US" sz="2000" dirty="0"/>
              <a:t>Individual Differences </a:t>
            </a:r>
          </a:p>
          <a:p>
            <a:pPr marL="0" indent="0">
              <a:buNone/>
            </a:pPr>
            <a:endParaRPr lang="en-US" dirty="0"/>
          </a:p>
        </p:txBody>
      </p:sp>
    </p:spTree>
    <p:extLst>
      <p:ext uri="{BB962C8B-B14F-4D97-AF65-F5344CB8AC3E}">
        <p14:creationId xmlns:p14="http://schemas.microsoft.com/office/powerpoint/2010/main" val="2363725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0" dirty="0">
                <a:latin typeface="Verdana (Bold)"/>
              </a:rPr>
              <a:t>Understand the human characteristics important in design </a:t>
            </a:r>
            <a:endParaRPr lang="en-US" dirty="0"/>
          </a:p>
        </p:txBody>
      </p:sp>
      <p:sp>
        <p:nvSpPr>
          <p:cNvPr id="2" name="Content Placeholder 1"/>
          <p:cNvSpPr>
            <a:spLocks noGrp="1"/>
          </p:cNvSpPr>
          <p:nvPr>
            <p:ph type="body" idx="1"/>
          </p:nvPr>
        </p:nvSpPr>
        <p:spPr/>
        <p:txBody>
          <a:bodyPr/>
          <a:lstStyle/>
          <a:p>
            <a:pPr marL="0" indent="0">
              <a:buNone/>
              <a:defRPr/>
            </a:pPr>
            <a:endParaRPr lang="en-US" sz="1800" dirty="0"/>
          </a:p>
          <a:p>
            <a:r>
              <a:rPr lang="en-US" dirty="0" err="1"/>
              <a:t>Faktor</a:t>
            </a:r>
            <a:r>
              <a:rPr lang="en-US" dirty="0"/>
              <a:t> </a:t>
            </a:r>
            <a:r>
              <a:rPr lang="en-US" dirty="0" err="1"/>
              <a:t>penentu</a:t>
            </a:r>
            <a:r>
              <a:rPr lang="en-US" dirty="0"/>
              <a:t> </a:t>
            </a:r>
            <a:r>
              <a:rPr lang="en-US" dirty="0" err="1"/>
              <a:t>utama</a:t>
            </a:r>
            <a:r>
              <a:rPr lang="en-US" dirty="0"/>
              <a:t> </a:t>
            </a:r>
            <a:r>
              <a:rPr lang="en-US" dirty="0" err="1"/>
              <a:t>untuk</a:t>
            </a:r>
            <a:r>
              <a:rPr lang="en-US" dirty="0"/>
              <a:t> </a:t>
            </a:r>
            <a:r>
              <a:rPr lang="en-US" dirty="0" err="1"/>
              <a:t>merancang</a:t>
            </a:r>
            <a:r>
              <a:rPr lang="en-US" dirty="0"/>
              <a:t> </a:t>
            </a:r>
            <a:r>
              <a:rPr lang="en-US" dirty="0" err="1"/>
              <a:t>sistem</a:t>
            </a:r>
            <a:r>
              <a:rPr lang="en-US" dirty="0"/>
              <a:t> </a:t>
            </a:r>
            <a:r>
              <a:rPr lang="en-US" dirty="0" err="1"/>
              <a:t>interaktif</a:t>
            </a:r>
            <a:endParaRPr lang="en-US" dirty="0"/>
          </a:p>
          <a:p>
            <a:r>
              <a:rPr lang="en-US" dirty="0" err="1"/>
              <a:t>Pemahaman</a:t>
            </a:r>
            <a:r>
              <a:rPr lang="en-US" dirty="0"/>
              <a:t> </a:t>
            </a:r>
            <a:r>
              <a:rPr lang="en-US" dirty="0" err="1"/>
              <a:t>bagaimana</a:t>
            </a:r>
            <a:r>
              <a:rPr lang="en-US" dirty="0"/>
              <a:t> orang </a:t>
            </a:r>
            <a:r>
              <a:rPr lang="en-US" dirty="0" err="1"/>
              <a:t>berpikir</a:t>
            </a:r>
            <a:r>
              <a:rPr lang="en-US" dirty="0"/>
              <a:t>, </a:t>
            </a:r>
            <a:r>
              <a:rPr lang="en-US" dirty="0" err="1"/>
              <a:t>belajar</a:t>
            </a:r>
            <a:r>
              <a:rPr lang="en-US" dirty="0"/>
              <a:t> </a:t>
            </a:r>
            <a:r>
              <a:rPr lang="en-US" dirty="0" err="1"/>
              <a:t>dan</a:t>
            </a:r>
            <a:r>
              <a:rPr lang="en-US" dirty="0"/>
              <a:t> </a:t>
            </a:r>
            <a:r>
              <a:rPr lang="en-US" dirty="0" err="1"/>
              <a:t>berkomunikasi</a:t>
            </a:r>
            <a:endParaRPr lang="en-US" dirty="0"/>
          </a:p>
          <a:p>
            <a:r>
              <a:rPr lang="en-US" dirty="0" err="1"/>
              <a:t>Bisa</a:t>
            </a:r>
            <a:r>
              <a:rPr lang="en-US" dirty="0"/>
              <a:t> </a:t>
            </a:r>
            <a:r>
              <a:rPr lang="en-US" dirty="0" err="1"/>
              <a:t>dianalogikan</a:t>
            </a:r>
            <a:r>
              <a:rPr lang="en-US" dirty="0"/>
              <a:t> </a:t>
            </a:r>
            <a:r>
              <a:rPr lang="en-US" dirty="0" err="1"/>
              <a:t>dengan</a:t>
            </a:r>
            <a:r>
              <a:rPr lang="en-US" dirty="0"/>
              <a:t> model </a:t>
            </a:r>
            <a:r>
              <a:rPr lang="en-US" dirty="0" err="1"/>
              <a:t>pemrosesan</a:t>
            </a:r>
            <a:r>
              <a:rPr lang="en-US" dirty="0"/>
              <a:t> </a:t>
            </a:r>
            <a:r>
              <a:rPr lang="en-US" dirty="0" err="1"/>
              <a:t>dalam</a:t>
            </a:r>
            <a:r>
              <a:rPr lang="en-US" dirty="0"/>
              <a:t> </a:t>
            </a:r>
            <a:r>
              <a:rPr lang="en-US" dirty="0" err="1"/>
              <a:t>komputer</a:t>
            </a:r>
            <a:endParaRPr lang="en-US" dirty="0"/>
          </a:p>
          <a:p>
            <a:pPr marL="0" indent="0">
              <a:buNone/>
            </a:pPr>
            <a:endParaRPr lang="en-US" dirty="0"/>
          </a:p>
          <a:p>
            <a:endParaRPr lang="en-US" dirty="0"/>
          </a:p>
        </p:txBody>
      </p:sp>
    </p:spTree>
    <p:extLst>
      <p:ext uri="{BB962C8B-B14F-4D97-AF65-F5344CB8AC3E}">
        <p14:creationId xmlns:p14="http://schemas.microsoft.com/office/powerpoint/2010/main" val="1740789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11034" y="268039"/>
            <a:ext cx="5721930" cy="773590"/>
          </a:xfrm>
        </p:spPr>
        <p:txBody>
          <a:bodyPr>
            <a:normAutofit fontScale="90000"/>
          </a:bodyPr>
          <a:lstStyle/>
          <a:p>
            <a:r>
              <a:rPr lang="en-US" dirty="0"/>
              <a:t>3 Phase Human Information Processing System</a:t>
            </a:r>
          </a:p>
        </p:txBody>
      </p:sp>
      <p:sp>
        <p:nvSpPr>
          <p:cNvPr id="2" name="Content Placeholder 1"/>
          <p:cNvSpPr>
            <a:spLocks noGrp="1"/>
          </p:cNvSpPr>
          <p:nvPr>
            <p:ph type="body" idx="1"/>
          </p:nvPr>
        </p:nvSpPr>
        <p:spPr/>
        <p:txBody>
          <a:bodyPr/>
          <a:lstStyle/>
          <a:p>
            <a:pPr marL="609600" indent="-609600">
              <a:buFontTx/>
              <a:buAutoNum type="arabicPeriod"/>
              <a:defRPr/>
            </a:pPr>
            <a:r>
              <a:rPr lang="en-US" sz="1800" b="1" dirty="0"/>
              <a:t>Perceptual System (Read – scan)</a:t>
            </a:r>
          </a:p>
          <a:p>
            <a:pPr marL="609600" indent="-609600">
              <a:buFontTx/>
              <a:buAutoNum type="arabicPeriod"/>
              <a:defRPr/>
            </a:pPr>
            <a:r>
              <a:rPr lang="en-US" sz="1800" b="1" dirty="0"/>
              <a:t>Cognitive System (Think)</a:t>
            </a:r>
          </a:p>
          <a:p>
            <a:pPr marL="609600" indent="-609600">
              <a:buFontTx/>
              <a:buAutoNum type="arabicPeriod"/>
              <a:defRPr/>
            </a:pPr>
            <a:r>
              <a:rPr lang="en-US" sz="1800" b="1" dirty="0"/>
              <a:t>Motor System (Response)</a:t>
            </a:r>
          </a:p>
          <a:p>
            <a:pPr marL="0" indent="0">
              <a:buNone/>
            </a:pPr>
            <a:endParaRPr lang="en-US" dirty="0"/>
          </a:p>
        </p:txBody>
      </p:sp>
      <p:pic>
        <p:nvPicPr>
          <p:cNvPr id="7" name="Picture 5" descr="H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2607" y="1233509"/>
            <a:ext cx="4841393" cy="507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778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a:t>Perceptual System</a:t>
            </a:r>
          </a:p>
        </p:txBody>
      </p:sp>
      <p:sp>
        <p:nvSpPr>
          <p:cNvPr id="2" name="Content Placeholder 1"/>
          <p:cNvSpPr>
            <a:spLocks noGrp="1"/>
          </p:cNvSpPr>
          <p:nvPr>
            <p:ph type="body" idx="1"/>
          </p:nvPr>
        </p:nvSpPr>
        <p:spPr/>
        <p:txBody>
          <a:bodyPr/>
          <a:lstStyle/>
          <a:p>
            <a:pPr>
              <a:buNone/>
              <a:defRPr/>
            </a:pPr>
            <a:r>
              <a:rPr lang="en-US" dirty="0"/>
              <a:t>Memory Structure :</a:t>
            </a:r>
            <a:endParaRPr lang="en-US" dirty="0">
              <a:sym typeface="Wingdings" pitchFamily="2" charset="2"/>
            </a:endParaRPr>
          </a:p>
          <a:p>
            <a:r>
              <a:rPr lang="en-US" dirty="0"/>
              <a:t>Sensory organ </a:t>
            </a:r>
            <a:r>
              <a:rPr lang="en-US" dirty="0">
                <a:sym typeface="Wingdings" pitchFamily="2" charset="2"/>
              </a:rPr>
              <a:t> sensory buffer to hold a virtual, </a:t>
            </a:r>
            <a:r>
              <a:rPr lang="en-US" dirty="0" err="1">
                <a:sym typeface="Wingdings" pitchFamily="2" charset="2"/>
              </a:rPr>
              <a:t>uninterpreted</a:t>
            </a:r>
            <a:r>
              <a:rPr lang="en-US" dirty="0">
                <a:sym typeface="Wingdings" pitchFamily="2" charset="2"/>
              </a:rPr>
              <a:t> image of external signal</a:t>
            </a:r>
          </a:p>
          <a:p>
            <a:r>
              <a:rPr lang="en-US" dirty="0">
                <a:sym typeface="Wingdings" pitchFamily="2" charset="2"/>
              </a:rPr>
              <a:t>Can hold a high level of detail, but a very short in duration</a:t>
            </a:r>
          </a:p>
          <a:p>
            <a:r>
              <a:rPr lang="en-US" dirty="0">
                <a:sym typeface="Wingdings" pitchFamily="2" charset="2"/>
              </a:rPr>
              <a:t>Information will decay or travel to brain</a:t>
            </a:r>
          </a:p>
          <a:p>
            <a:endParaRPr lang="en-US" dirty="0">
              <a:sym typeface="Wingdings" pitchFamily="2" charset="2"/>
            </a:endParaRPr>
          </a:p>
          <a:p>
            <a:endParaRPr lang="en-US" dirty="0"/>
          </a:p>
        </p:txBody>
      </p:sp>
    </p:spTree>
    <p:extLst>
      <p:ext uri="{BB962C8B-B14F-4D97-AF65-F5344CB8AC3E}">
        <p14:creationId xmlns:p14="http://schemas.microsoft.com/office/powerpoint/2010/main" val="1016766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Perceptual Process</a:t>
            </a:r>
          </a:p>
        </p:txBody>
      </p:sp>
      <p:sp>
        <p:nvSpPr>
          <p:cNvPr id="2" name="Content Placeholder 1"/>
          <p:cNvSpPr>
            <a:spLocks noGrp="1"/>
          </p:cNvSpPr>
          <p:nvPr>
            <p:ph type="body" idx="1"/>
          </p:nvPr>
        </p:nvSpPr>
        <p:spPr/>
        <p:txBody>
          <a:bodyPr>
            <a:normAutofit/>
          </a:bodyPr>
          <a:lstStyle/>
          <a:p>
            <a:r>
              <a:rPr lang="en-US" dirty="0"/>
              <a:t>Image from sensory buffer is recorded in a learned way by drawing upon the information store in long-term memory</a:t>
            </a:r>
          </a:p>
          <a:p>
            <a:r>
              <a:rPr lang="en-US" dirty="0"/>
              <a:t>Human Pattern Recognition is not a simple matter of matching a pattern it makes heavy use of context and knowledge</a:t>
            </a:r>
          </a:p>
          <a:p>
            <a:r>
              <a:rPr lang="en-US" dirty="0"/>
              <a:t>Human Pattern Recognition is a active processing, able to tolerate an ambiguity and incompleteness information.</a:t>
            </a:r>
          </a:p>
          <a:p>
            <a:endParaRPr lang="en-US" dirty="0"/>
          </a:p>
          <a:p>
            <a:endParaRPr lang="en-US" dirty="0"/>
          </a:p>
          <a:p>
            <a:endParaRPr lang="en-US" dirty="0"/>
          </a:p>
        </p:txBody>
      </p:sp>
    </p:spTree>
    <p:extLst>
      <p:ext uri="{BB962C8B-B14F-4D97-AF65-F5344CB8AC3E}">
        <p14:creationId xmlns:p14="http://schemas.microsoft.com/office/powerpoint/2010/main" val="1904029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a:t>Cognitive System</a:t>
            </a:r>
          </a:p>
        </p:txBody>
      </p:sp>
      <p:sp>
        <p:nvSpPr>
          <p:cNvPr id="2" name="Content Placeholder 1"/>
          <p:cNvSpPr>
            <a:spLocks noGrp="1"/>
          </p:cNvSpPr>
          <p:nvPr>
            <p:ph type="body" idx="1"/>
          </p:nvPr>
        </p:nvSpPr>
        <p:spPr/>
        <p:txBody>
          <a:bodyPr/>
          <a:lstStyle/>
          <a:p>
            <a:pPr>
              <a:buNone/>
              <a:defRPr/>
            </a:pPr>
            <a:r>
              <a:rPr lang="en-US" b="1" dirty="0"/>
              <a:t>Short-term Memory (STM)</a:t>
            </a:r>
            <a:r>
              <a:rPr lang="en-US" dirty="0"/>
              <a:t> </a:t>
            </a:r>
            <a:r>
              <a:rPr lang="en-US" sz="1800" dirty="0"/>
              <a:t>:</a:t>
            </a:r>
          </a:p>
          <a:p>
            <a:r>
              <a:rPr lang="en-US" dirty="0"/>
              <a:t>Not only a storage buffer but also a (very slow) processor</a:t>
            </a:r>
          </a:p>
          <a:p>
            <a:r>
              <a:rPr lang="en-US" dirty="0"/>
              <a:t>Limited in Capacity and Duration</a:t>
            </a:r>
          </a:p>
          <a:p>
            <a:pPr>
              <a:buNone/>
              <a:defRPr/>
            </a:pPr>
            <a:r>
              <a:rPr lang="en-US" b="1" dirty="0"/>
              <a:t>Long Term Memory (LTM) :</a:t>
            </a:r>
          </a:p>
          <a:p>
            <a:r>
              <a:rPr lang="en-US" dirty="0"/>
              <a:t>Unlimited in Capacity and permanent duration</a:t>
            </a:r>
          </a:p>
          <a:p>
            <a:r>
              <a:rPr lang="en-US" dirty="0"/>
              <a:t>Request effort &amp; concentration to put new information in LTM</a:t>
            </a:r>
          </a:p>
          <a:p>
            <a:endParaRPr lang="en-US" dirty="0"/>
          </a:p>
          <a:p>
            <a:endParaRPr lang="en-US" dirty="0"/>
          </a:p>
          <a:p>
            <a:endParaRPr lang="en-US" dirty="0"/>
          </a:p>
        </p:txBody>
      </p:sp>
    </p:spTree>
    <p:extLst>
      <p:ext uri="{BB962C8B-B14F-4D97-AF65-F5344CB8AC3E}">
        <p14:creationId xmlns:p14="http://schemas.microsoft.com/office/powerpoint/2010/main" val="1801483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a:t>Motor System</a:t>
            </a:r>
          </a:p>
        </p:txBody>
      </p:sp>
      <p:sp>
        <p:nvSpPr>
          <p:cNvPr id="2" name="Content Placeholder 1"/>
          <p:cNvSpPr>
            <a:spLocks noGrp="1"/>
          </p:cNvSpPr>
          <p:nvPr>
            <p:ph type="body" idx="1"/>
          </p:nvPr>
        </p:nvSpPr>
        <p:spPr/>
        <p:txBody>
          <a:bodyPr/>
          <a:lstStyle/>
          <a:p>
            <a:pPr algn="just"/>
            <a:r>
              <a:rPr lang="en-US" sz="2800" dirty="0"/>
              <a:t>It is believe that thought is translated into action through a series of discrete </a:t>
            </a:r>
            <a:r>
              <a:rPr lang="en-US" sz="2800" dirty="0" err="1"/>
              <a:t>micromovement</a:t>
            </a:r>
            <a:endParaRPr lang="en-US" sz="2800" dirty="0"/>
          </a:p>
          <a:p>
            <a:pPr algn="just"/>
            <a:r>
              <a:rPr lang="en-US" sz="2800" dirty="0"/>
              <a:t>Motor movement relevant to UI design include :</a:t>
            </a:r>
          </a:p>
          <a:p>
            <a:pPr algn="just">
              <a:buNone/>
              <a:defRPr/>
            </a:pPr>
            <a:r>
              <a:rPr lang="en-US" sz="2800" dirty="0"/>
              <a:t>	head, eye, arm, hand and finger movement</a:t>
            </a:r>
          </a:p>
          <a:p>
            <a:endParaRPr lang="en-US" dirty="0"/>
          </a:p>
        </p:txBody>
      </p:sp>
    </p:spTree>
    <p:extLst>
      <p:ext uri="{BB962C8B-B14F-4D97-AF65-F5344CB8AC3E}">
        <p14:creationId xmlns:p14="http://schemas.microsoft.com/office/powerpoint/2010/main" val="2097658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sz="2600" b="0" dirty="0">
                <a:latin typeface="Verdana (Bold)"/>
              </a:rPr>
              <a:t>Human Considerations in the Design of Business Systems</a:t>
            </a:r>
          </a:p>
        </p:txBody>
      </p:sp>
      <p:sp>
        <p:nvSpPr>
          <p:cNvPr id="2" name="Content Placeholder 1"/>
          <p:cNvSpPr>
            <a:spLocks noGrp="1"/>
          </p:cNvSpPr>
          <p:nvPr>
            <p:ph type="body" idx="1"/>
          </p:nvPr>
        </p:nvSpPr>
        <p:spPr/>
        <p:txBody>
          <a:bodyPr/>
          <a:lstStyle/>
          <a:p>
            <a:pPr algn="just"/>
            <a:r>
              <a:rPr lang="en-US" dirty="0"/>
              <a:t>The User’s Knowledge and Experience </a:t>
            </a:r>
          </a:p>
          <a:p>
            <a:pPr algn="just"/>
            <a:r>
              <a:rPr lang="en-US" dirty="0"/>
              <a:t>The User’s Tasks and Needs </a:t>
            </a:r>
          </a:p>
          <a:p>
            <a:pPr algn="just"/>
            <a:r>
              <a:rPr lang="en-US" dirty="0"/>
              <a:t>The User’s Psychological Characteristics </a:t>
            </a:r>
          </a:p>
          <a:p>
            <a:pPr algn="just"/>
            <a:r>
              <a:rPr lang="en-US" dirty="0"/>
              <a:t>The User’s Physical Characteristics </a:t>
            </a:r>
          </a:p>
          <a:p>
            <a:pPr marL="0" indent="0">
              <a:buNone/>
            </a:pPr>
            <a:endParaRPr lang="en-US" dirty="0"/>
          </a:p>
        </p:txBody>
      </p:sp>
    </p:spTree>
    <p:extLst>
      <p:ext uri="{BB962C8B-B14F-4D97-AF65-F5344CB8AC3E}">
        <p14:creationId xmlns:p14="http://schemas.microsoft.com/office/powerpoint/2010/main" val="3152870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200" b="0" dirty="0">
                <a:latin typeface="Verdana (Body)"/>
              </a:rPr>
              <a:t>Identify the user’s level of knowledge and experience</a:t>
            </a:r>
          </a:p>
        </p:txBody>
      </p:sp>
      <p:sp>
        <p:nvSpPr>
          <p:cNvPr id="2" name="Text Placeholder 1">
            <a:extLst>
              <a:ext uri="{FF2B5EF4-FFF2-40B4-BE49-F238E27FC236}">
                <a16:creationId xmlns:a16="http://schemas.microsoft.com/office/drawing/2014/main" id="{CA00429E-1088-8AA6-874A-B0F5BF5FF7B4}"/>
              </a:ext>
            </a:extLst>
          </p:cNvPr>
          <p:cNvSpPr>
            <a:spLocks noGrp="1"/>
          </p:cNvSpPr>
          <p:nvPr>
            <p:ph type="body" idx="1"/>
          </p:nvPr>
        </p:nvSpPr>
        <p:spPr/>
        <p:txBody>
          <a:bodyPr/>
          <a:lstStyle/>
          <a:p>
            <a:endParaRPr lang="en-ID"/>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4178768032"/>
              </p:ext>
            </p:extLst>
          </p:nvPr>
        </p:nvGraphicFramePr>
        <p:xfrm>
          <a:off x="0" y="1835150"/>
          <a:ext cx="8289925" cy="4443413"/>
        </p:xfrm>
        <a:graphic>
          <a:graphicData uri="http://schemas.openxmlformats.org/drawingml/2006/table">
            <a:tbl>
              <a:tblPr firstRow="1" bandRow="1">
                <a:tableStyleId>{5C22544A-7EE6-4342-B048-85BDC9FD1C3A}</a:tableStyleId>
              </a:tblPr>
              <a:tblGrid>
                <a:gridCol w="2858259">
                  <a:extLst>
                    <a:ext uri="{9D8B030D-6E8A-4147-A177-3AD203B41FA5}">
                      <a16:colId xmlns:a16="http://schemas.microsoft.com/office/drawing/2014/main" val="20000"/>
                    </a:ext>
                  </a:extLst>
                </a:gridCol>
                <a:gridCol w="5431809">
                  <a:extLst>
                    <a:ext uri="{9D8B030D-6E8A-4147-A177-3AD203B41FA5}">
                      <a16:colId xmlns:a16="http://schemas.microsoft.com/office/drawing/2014/main" val="20001"/>
                    </a:ext>
                  </a:extLst>
                </a:gridCol>
              </a:tblGrid>
              <a:tr h="297133">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sym typeface="Arial" pitchFamily="34" charset="0"/>
                        </a:rPr>
                        <a:t>KNOWLEDGE/EXPERIENCE</a:t>
                      </a:r>
                    </a:p>
                  </a:txBody>
                  <a:tcPr anchor="ctr" horzOverflow="overflow"/>
                </a:tc>
                <a:tc hMerge="1">
                  <a:txBody>
                    <a:bodyPr/>
                    <a:lstStyle/>
                    <a:p>
                      <a:endParaRPr lang="en-US"/>
                    </a:p>
                  </a:txBody>
                  <a:tcPr/>
                </a:tc>
                <a:extLst>
                  <a:ext uri="{0D108BD9-81ED-4DB2-BD59-A6C34878D82A}">
                    <a16:rowId xmlns:a16="http://schemas.microsoft.com/office/drawing/2014/main" val="10000"/>
                  </a:ext>
                </a:extLst>
              </a:tr>
              <a:tr h="4592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Computer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Literacy</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Highly</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technical</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experienced,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moderate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computer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 experience,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none.</a:t>
                      </a:r>
                    </a:p>
                  </a:txBody>
                  <a:tcPr anchor="ctr" horzOverflow="overflow"/>
                </a:tc>
                <a:extLst>
                  <a:ext uri="{0D108BD9-81ED-4DB2-BD59-A6C34878D82A}">
                    <a16:rowId xmlns:a16="http://schemas.microsoft.com/office/drawing/2014/main" val="10001"/>
                  </a:ext>
                </a:extLst>
              </a:tr>
              <a:tr h="6482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System</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Experience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High,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moderate,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low</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knowledge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particular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 system</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and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its</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methods</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interaction.</a:t>
                      </a:r>
                    </a:p>
                  </a:txBody>
                  <a:tcPr anchor="ctr" horzOverflow="overflow"/>
                </a:tc>
                <a:extLst>
                  <a:ext uri="{0D108BD9-81ED-4DB2-BD59-A6C34878D82A}">
                    <a16:rowId xmlns:a16="http://schemas.microsoft.com/office/drawing/2014/main" val="10002"/>
                  </a:ext>
                </a:extLst>
              </a:tr>
              <a:tr h="4592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Application</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Experience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High,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moderate,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low</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knowledge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similar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systems.</a:t>
                      </a:r>
                    </a:p>
                  </a:txBody>
                  <a:tcPr anchor="ctr" horzOverflow="overflow"/>
                </a:tc>
                <a:extLst>
                  <a:ext uri="{0D108BD9-81ED-4DB2-BD59-A6C34878D82A}">
                    <a16:rowId xmlns:a16="http://schemas.microsoft.com/office/drawing/2014/main" val="10003"/>
                  </a:ext>
                </a:extLst>
              </a:tr>
              <a:tr h="27012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Task</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Experience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Level</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knowledge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job</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and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job</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tasks.</a:t>
                      </a:r>
                    </a:p>
                  </a:txBody>
                  <a:tcPr anchor="ctr" horzOverflow="overflow"/>
                </a:tc>
                <a:extLst>
                  <a:ext uri="{0D108BD9-81ED-4DB2-BD59-A6C34878D82A}">
                    <a16:rowId xmlns:a16="http://schemas.microsoft.com/office/drawing/2014/main" val="10004"/>
                  </a:ext>
                </a:extLst>
              </a:tr>
              <a:tr h="4592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Other</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Systems</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Use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Frequent</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infrequent</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use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other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systems</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in</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doing</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 job.</a:t>
                      </a:r>
                    </a:p>
                  </a:txBody>
                  <a:tcPr anchor="ctr" horzOverflow="overflow"/>
                </a:tc>
                <a:extLst>
                  <a:ext uri="{0D108BD9-81ED-4DB2-BD59-A6C34878D82A}">
                    <a16:rowId xmlns:a16="http://schemas.microsoft.com/office/drawing/2014/main" val="10005"/>
                  </a:ext>
                </a:extLst>
              </a:tr>
              <a:tr h="27012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Education</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High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school,</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college,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advanced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degree.</a:t>
                      </a:r>
                    </a:p>
                  </a:txBody>
                  <a:tcPr anchor="ctr" horzOverflow="overflow"/>
                </a:tc>
                <a:extLst>
                  <a:ext uri="{0D108BD9-81ED-4DB2-BD59-A6C34878D82A}">
                    <a16:rowId xmlns:a16="http://schemas.microsoft.com/office/drawing/2014/main" val="10006"/>
                  </a:ext>
                </a:extLst>
              </a:tr>
              <a:tr h="4592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Reading</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Level</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Less</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than</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5th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grade,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5th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12th,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more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than</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12th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grade.</a:t>
                      </a:r>
                    </a:p>
                  </a:txBody>
                  <a:tcPr anchor="ctr" horzOverflow="overflow"/>
                </a:tc>
                <a:extLst>
                  <a:ext uri="{0D108BD9-81ED-4DB2-BD59-A6C34878D82A}">
                    <a16:rowId xmlns:a16="http://schemas.microsoft.com/office/drawing/2014/main" val="10007"/>
                  </a:ext>
                </a:extLst>
              </a:tr>
              <a:tr h="6482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Typing</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Skill</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Expert</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(135</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WPM),</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skilled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(90</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WPM),</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good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(55</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WPM),</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average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(40</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WPM),</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hunt</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and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peck</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(10</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WPM).</a:t>
                      </a:r>
                    </a:p>
                  </a:txBody>
                  <a:tcPr anchor="ctr" horzOverflow="overflow"/>
                </a:tc>
                <a:extLst>
                  <a:ext uri="{0D108BD9-81ED-4DB2-BD59-A6C34878D82A}">
                    <a16:rowId xmlns:a16="http://schemas.microsoft.com/office/drawing/2014/main" val="10008"/>
                  </a:ext>
                </a:extLst>
              </a:tr>
              <a:tr h="27012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Native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Language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Culture</a:t>
                      </a: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English,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another,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several.</a:t>
                      </a:r>
                    </a:p>
                  </a:txBody>
                  <a:tcPr anchor="ctr" horzOverflow="overflow"/>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86548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2200" b="0" dirty="0">
                <a:latin typeface="Verdana (Body)"/>
              </a:rPr>
              <a:t>Identify the characteristics of the user’s needs, tasks, and jobs</a:t>
            </a:r>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2576435924"/>
              </p:ext>
            </p:extLst>
          </p:nvPr>
        </p:nvGraphicFramePr>
        <p:xfrm>
          <a:off x="428221" y="1354509"/>
          <a:ext cx="8287556" cy="4440817"/>
        </p:xfrm>
        <a:graphic>
          <a:graphicData uri="http://schemas.openxmlformats.org/drawingml/2006/table">
            <a:tbl>
              <a:tblPr firstRow="1" bandRow="1">
                <a:tableStyleId>{5C22544A-7EE6-4342-B048-85BDC9FD1C3A}</a:tableStyleId>
              </a:tblPr>
              <a:tblGrid>
                <a:gridCol w="2446314">
                  <a:extLst>
                    <a:ext uri="{9D8B030D-6E8A-4147-A177-3AD203B41FA5}">
                      <a16:colId xmlns:a16="http://schemas.microsoft.com/office/drawing/2014/main" val="20000"/>
                    </a:ext>
                  </a:extLst>
                </a:gridCol>
                <a:gridCol w="5841242">
                  <a:extLst>
                    <a:ext uri="{9D8B030D-6E8A-4147-A177-3AD203B41FA5}">
                      <a16:colId xmlns:a16="http://schemas.microsoft.com/office/drawing/2014/main" val="20001"/>
                    </a:ext>
                  </a:extLst>
                </a:gridCol>
              </a:tblGrid>
              <a:tr h="278074">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sym typeface="Arial" pitchFamily="34" charset="0"/>
                        </a:rPr>
                        <a:t>JOB / TASK / NEED</a:t>
                      </a:r>
                    </a:p>
                  </a:txBody>
                  <a:tcPr anchor="ctr" horzOverflow="overflow"/>
                </a:tc>
                <a:tc hMerge="1">
                  <a:txBody>
                    <a:bodyPr/>
                    <a:lstStyle/>
                    <a:p>
                      <a:endParaRPr lang="en-US"/>
                    </a:p>
                  </a:txBody>
                  <a:tcPr/>
                </a:tc>
                <a:extLst>
                  <a:ext uri="{0D108BD9-81ED-4DB2-BD59-A6C34878D82A}">
                    <a16:rowId xmlns:a16="http://schemas.microsoft.com/office/drawing/2014/main" val="10000"/>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Type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System</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Use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Mandatory</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discretionary</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use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the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system.</a:t>
                      </a:r>
                    </a:p>
                  </a:txBody>
                  <a:tcPr anchor="ctr" horzOverflow="overflow"/>
                </a:tc>
                <a:extLst>
                  <a:ext uri="{0D108BD9-81ED-4DB2-BD59-A6C34878D82A}">
                    <a16:rowId xmlns:a16="http://schemas.microsoft.com/office/drawing/2014/main" val="10001"/>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Frequency</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Use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Continual,</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frequent,</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occasional,</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once-in-a-lifetime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 use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 of</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system.</a:t>
                      </a:r>
                    </a:p>
                  </a:txBody>
                  <a:tcPr anchor="ctr" horzOverflow="overflow"/>
                </a:tc>
                <a:extLst>
                  <a:ext uri="{0D108BD9-81ED-4DB2-BD59-A6C34878D82A}">
                    <a16:rowId xmlns:a16="http://schemas.microsoft.com/office/drawing/2014/main" val="10002"/>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Task</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Need</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 Importance</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High,</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moderate,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low</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importance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the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task</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being</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 performed.</a:t>
                      </a:r>
                    </a:p>
                  </a:txBody>
                  <a:tcPr anchor="ctr" horzOverflow="overflow"/>
                </a:tc>
                <a:extLst>
                  <a:ext uri="{0D108BD9-81ED-4DB2-BD59-A6C34878D82A}">
                    <a16:rowId xmlns:a16="http://schemas.microsoft.com/office/drawing/2014/main" val="10003"/>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Task</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Structure</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Repetitiveness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predictability</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of</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tasks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being</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automated,</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 high, </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moderate,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low.</a:t>
                      </a:r>
                    </a:p>
                  </a:txBody>
                  <a:tcPr anchor="ctr" horzOverflow="overflow"/>
                </a:tc>
                <a:extLst>
                  <a:ext uri="{0D108BD9-81ED-4DB2-BD59-A6C34878D82A}">
                    <a16:rowId xmlns:a16="http://schemas.microsoft.com/office/drawing/2014/main" val="10004"/>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Social</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Interactions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Verbal</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communication</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with</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another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person</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required/not</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 required.</a:t>
                      </a:r>
                    </a:p>
                  </a:txBody>
                  <a:tcPr anchor="ctr" horzOverflow="overflow"/>
                </a:tc>
                <a:extLst>
                  <a:ext uri="{0D108BD9-81ED-4DB2-BD59-A6C34878D82A}">
                    <a16:rowId xmlns:a16="http://schemas.microsoft.com/office/drawing/2014/main" val="10005"/>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Primary</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Training</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Extensive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formal</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training,</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self-training</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through</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manuals,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no</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training.</a:t>
                      </a:r>
                    </a:p>
                  </a:txBody>
                  <a:tcPr anchor="ctr" horzOverflow="overflow"/>
                </a:tc>
                <a:extLst>
                  <a:ext uri="{0D108BD9-81ED-4DB2-BD59-A6C34878D82A}">
                    <a16:rowId xmlns:a16="http://schemas.microsoft.com/office/drawing/2014/main" val="10006"/>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Turnover</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Rate</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High,</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moderate,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low</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turnover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rate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for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jobholders.</a:t>
                      </a:r>
                    </a:p>
                  </a:txBody>
                  <a:tcPr anchor="ctr" horzOverflow="overflow"/>
                </a:tc>
                <a:extLst>
                  <a:ext uri="{0D108BD9-81ED-4DB2-BD59-A6C34878D82A}">
                    <a16:rowId xmlns:a16="http://schemas.microsoft.com/office/drawing/2014/main" val="10007"/>
                  </a:ext>
                </a:extLst>
              </a:tr>
              <a:tr h="4297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Job</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Category</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Executive,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manager,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professional,</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secretary,</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clerk.</a:t>
                      </a:r>
                    </a:p>
                  </a:txBody>
                  <a:tcPr anchor="ctr" horzOverflow="overflow"/>
                </a:tc>
                <a:extLst>
                  <a:ext uri="{0D108BD9-81ED-4DB2-BD59-A6C34878D82A}">
                    <a16:rowId xmlns:a16="http://schemas.microsoft.com/office/drawing/2014/main" val="10008"/>
                  </a:ext>
                </a:extLst>
              </a:tr>
              <a:tr h="60670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rPr>
                        <a:t>Lifestyle</a:t>
                      </a:r>
                      <a:r>
                        <a:rPr kumimoji="0" lang="en-US" sz="12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2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For</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Web</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e-commerce</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systems,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includes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hobbies,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 recreational</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 pursuits,</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and</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economic</a:t>
                      </a:r>
                      <a:r>
                        <a:rPr kumimoji="0" lang="en-US" sz="12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200" b="1" i="0" u="none" strike="noStrike" cap="none" normalizeH="0" baseline="0" dirty="0">
                          <a:ln>
                            <a:noFill/>
                          </a:ln>
                          <a:solidFill>
                            <a:schemeClr val="tx1"/>
                          </a:solidFill>
                          <a:effectLst/>
                          <a:latin typeface="Arial" pitchFamily="34" charset="0"/>
                          <a:cs typeface="Arial" pitchFamily="34" charset="0"/>
                          <a:sym typeface="Arial" pitchFamily="34" charset="0"/>
                        </a:rPr>
                        <a:t>status.</a:t>
                      </a:r>
                    </a:p>
                  </a:txBody>
                  <a:tcPr anchor="ctr" horzOverflow="overflow"/>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556877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400" b="0" dirty="0">
                <a:latin typeface="Verdana (Bold)"/>
              </a:rPr>
              <a:t>Identify the user’s psychological characteristics</a:t>
            </a:r>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2248187050"/>
              </p:ext>
            </p:extLst>
          </p:nvPr>
        </p:nvGraphicFramePr>
        <p:xfrm>
          <a:off x="518875" y="1787052"/>
          <a:ext cx="8326438" cy="2743200"/>
        </p:xfrm>
        <a:graphic>
          <a:graphicData uri="http://schemas.openxmlformats.org/drawingml/2006/table">
            <a:tbl>
              <a:tblPr firstRow="1" bandRow="1">
                <a:tableStyleId>{5C22544A-7EE6-4342-B048-85BDC9FD1C3A}</a:tableStyleId>
              </a:tblPr>
              <a:tblGrid>
                <a:gridCol w="2963494">
                  <a:extLst>
                    <a:ext uri="{9D8B030D-6E8A-4147-A177-3AD203B41FA5}">
                      <a16:colId xmlns:a16="http://schemas.microsoft.com/office/drawing/2014/main" val="20000"/>
                    </a:ext>
                  </a:extLst>
                </a:gridCol>
                <a:gridCol w="5362944">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sym typeface="Arial" pitchFamily="34" charset="0"/>
                        </a:rPr>
                        <a:t>PSYCHOLOGICAL</a:t>
                      </a:r>
                      <a:r>
                        <a:rPr kumimoji="0" lang="en-US" sz="16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600" b="1" i="0" u="none" strike="noStrike" cap="none" normalizeH="0" baseline="0" dirty="0">
                          <a:ln>
                            <a:noFill/>
                          </a:ln>
                          <a:solidFill>
                            <a:schemeClr val="tx1"/>
                          </a:solidFill>
                          <a:effectLst/>
                          <a:latin typeface="Arial" pitchFamily="34" charset="0"/>
                          <a:cs typeface="Arial" pitchFamily="34" charset="0"/>
                          <a:sym typeface="Arial" pitchFamily="34" charset="0"/>
                        </a:rPr>
                        <a:t>CHARACTERISTICS</a:t>
                      </a:r>
                    </a:p>
                  </a:txBody>
                  <a:tcPr anchor="ctr" horzOverflow="overflow"/>
                </a:tc>
                <a:tc hMerge="1">
                  <a:txBody>
                    <a:bodyPr/>
                    <a:lstStyle/>
                    <a:p>
                      <a:endParaRPr lang="en-US"/>
                    </a:p>
                  </a:txBody>
                  <a:tcPr/>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Attitude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Positive,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neutral,</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negative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feeling</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toward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job</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system.</a:t>
                      </a:r>
                    </a:p>
                  </a:txBody>
                  <a:tcPr anchor="ct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Motivation</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Low,</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moderate,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high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due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to</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interest</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fear.</a:t>
                      </a:r>
                    </a:p>
                  </a:txBody>
                  <a:tcPr anchor="ct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Patience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Patience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impatience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expected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in</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accomplishing</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goal.</a:t>
                      </a:r>
                    </a:p>
                  </a:txBody>
                  <a:tcPr anchor="ct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Expectations</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Kinds</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and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reasonableness.</a:t>
                      </a:r>
                    </a:p>
                  </a:txBody>
                  <a:tcPr anchor="ctr"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Stress</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Level</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High,</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some,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no</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stress</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generally</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resulting</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from</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task</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 performance.</a:t>
                      </a:r>
                    </a:p>
                  </a:txBody>
                  <a:tcPr anchor="ctr"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Cognitive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Style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Verbal</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spatial,</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analytic</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intuitive,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concrete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abstract.</a:t>
                      </a:r>
                    </a:p>
                  </a:txBody>
                  <a:tcPr anchor="ctr"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72982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400" dirty="0">
                <a:latin typeface="Verdana (Body)"/>
              </a:rPr>
              <a:t>Identify the user’s physical characteristics</a:t>
            </a:r>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510796764"/>
              </p:ext>
            </p:extLst>
          </p:nvPr>
        </p:nvGraphicFramePr>
        <p:xfrm>
          <a:off x="408780" y="2066452"/>
          <a:ext cx="8326438" cy="2001520"/>
        </p:xfrm>
        <a:graphic>
          <a:graphicData uri="http://schemas.openxmlformats.org/drawingml/2006/table">
            <a:tbl>
              <a:tblPr firstRow="1" bandRow="1">
                <a:tableStyleId>{5C22544A-7EE6-4342-B048-85BDC9FD1C3A}</a:tableStyleId>
              </a:tblPr>
              <a:tblGrid>
                <a:gridCol w="4163219">
                  <a:extLst>
                    <a:ext uri="{9D8B030D-6E8A-4147-A177-3AD203B41FA5}">
                      <a16:colId xmlns:a16="http://schemas.microsoft.com/office/drawing/2014/main" val="20000"/>
                    </a:ext>
                  </a:extLst>
                </a:gridCol>
                <a:gridCol w="4163219">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pitchFamily="34" charset="0"/>
                          <a:cs typeface="Arial" pitchFamily="34" charset="0"/>
                          <a:sym typeface="Arial" pitchFamily="34" charset="0"/>
                        </a:rPr>
                        <a:t>PHYSICAL</a:t>
                      </a:r>
                      <a:r>
                        <a:rPr kumimoji="0" lang="en-US" sz="16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600" b="1" i="0" u="none" strike="noStrike" cap="none" normalizeH="0" baseline="0" dirty="0">
                          <a:ln>
                            <a:noFill/>
                          </a:ln>
                          <a:solidFill>
                            <a:schemeClr val="tx1"/>
                          </a:solidFill>
                          <a:effectLst/>
                          <a:latin typeface="Arial" pitchFamily="34" charset="0"/>
                          <a:cs typeface="Arial" pitchFamily="34" charset="0"/>
                          <a:sym typeface="Arial" pitchFamily="34" charset="0"/>
                        </a:rPr>
                        <a:t>CHARACTERISTICS</a:t>
                      </a:r>
                    </a:p>
                  </a:txBody>
                  <a:tcPr anchor="ctr" horzOverflow="overflow"/>
                </a:tc>
                <a:tc hMerge="1">
                  <a:txBody>
                    <a:bodyPr/>
                    <a:lstStyle/>
                    <a:p>
                      <a:endParaRPr lang="en-US"/>
                    </a:p>
                  </a:txBody>
                  <a:tcPr/>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Age</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Young,</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middle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aged,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elderly.</a:t>
                      </a:r>
                    </a:p>
                  </a:txBody>
                  <a:tcPr anchor="ct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Gender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Male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female.</a:t>
                      </a:r>
                    </a:p>
                  </a:txBody>
                  <a:tcPr anchor="ct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Handedness</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Left,</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right,</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ambidextrous.</a:t>
                      </a:r>
                    </a:p>
                  </a:txBody>
                  <a:tcPr anchor="ct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rPr>
                        <a:t>Disabilities</a:t>
                      </a:r>
                      <a:r>
                        <a:rPr kumimoji="0" lang="en-US" sz="1400" b="1" i="0" u="none" strike="noStrike" cap="none" normalizeH="0" baseline="0">
                          <a:ln>
                            <a:noFill/>
                          </a:ln>
                          <a:solidFill>
                            <a:schemeClr val="tx1"/>
                          </a:solidFill>
                          <a:effectLst/>
                          <a:latin typeface="Verdana"/>
                          <a:cs typeface="Arial" pitchFamily="34" charset="0"/>
                          <a:sym typeface="Arial" pitchFamily="34" charset="0"/>
                        </a:rPr>
                        <a:t> </a:t>
                      </a:r>
                      <a:endParaRPr kumimoji="0" lang="en-US" sz="1400" b="1" i="0" u="none" strike="noStrike" cap="none" normalizeH="0" baseline="0">
                        <a:ln>
                          <a:noFill/>
                        </a:ln>
                        <a:solidFill>
                          <a:schemeClr val="tx1"/>
                        </a:solidFill>
                        <a:effectLst/>
                        <a:latin typeface="Arial" pitchFamily="34" charset="0"/>
                        <a:cs typeface="Arial" pitchFamily="34" charset="0"/>
                        <a:sym typeface="Arial" pitchFamily="34"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Blind,</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defective</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vision,</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deafness,</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motor</a:t>
                      </a:r>
                      <a:r>
                        <a:rPr kumimoji="0" lang="en-US" sz="1400" b="1" i="0" u="none" strike="noStrike" cap="none" normalizeH="0" baseline="0" dirty="0">
                          <a:ln>
                            <a:noFill/>
                          </a:ln>
                          <a:solidFill>
                            <a:schemeClr val="tx1"/>
                          </a:solidFill>
                          <a:effectLst/>
                          <a:latin typeface="Verdana"/>
                          <a:cs typeface="Arial" pitchFamily="34" charset="0"/>
                          <a:sym typeface="Arial" pitchFamily="34" charset="0"/>
                        </a:rPr>
                        <a:t> </a:t>
                      </a:r>
                      <a:r>
                        <a:rPr kumimoji="0" lang="en-US" sz="1400" b="1" i="0" u="none" strike="noStrike" cap="none" normalizeH="0" baseline="0" dirty="0">
                          <a:ln>
                            <a:noFill/>
                          </a:ln>
                          <a:solidFill>
                            <a:schemeClr val="tx1"/>
                          </a:solidFill>
                          <a:effectLst/>
                          <a:latin typeface="Arial" pitchFamily="34" charset="0"/>
                          <a:cs typeface="Arial" pitchFamily="34" charset="0"/>
                          <a:sym typeface="Arial" pitchFamily="34" charset="0"/>
                        </a:rPr>
                        <a:t>handicap.</a:t>
                      </a:r>
                    </a:p>
                  </a:txBody>
                  <a:tcPr anchor="ct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74095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77D38C-C01D-4A99-8C22-7C2B93FCFF2B}"/>
              </a:ext>
            </a:extLst>
          </p:cNvPr>
          <p:cNvSpPr>
            <a:spLocks noGrp="1"/>
          </p:cNvSpPr>
          <p:nvPr>
            <p:ph type="title"/>
          </p:nvPr>
        </p:nvSpPr>
        <p:spPr>
          <a:xfrm>
            <a:off x="1535937" y="2655410"/>
            <a:ext cx="5721930" cy="773590"/>
          </a:xfrm>
        </p:spPr>
        <p:txBody>
          <a:bodyPr>
            <a:normAutofit fontScale="90000"/>
          </a:bodyPr>
          <a:lstStyle/>
          <a:p>
            <a:pPr algn="ctr"/>
            <a:r>
              <a:rPr lang="en-ID" dirty="0"/>
              <a:t>HOW TO GATHER DATA PERSONA?</a:t>
            </a:r>
            <a:endParaRPr lang="en-GB" dirty="0"/>
          </a:p>
        </p:txBody>
      </p:sp>
    </p:spTree>
    <p:extLst>
      <p:ext uri="{BB962C8B-B14F-4D97-AF65-F5344CB8AC3E}">
        <p14:creationId xmlns:p14="http://schemas.microsoft.com/office/powerpoint/2010/main" val="2942871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61456E0-C7F6-431B-AC3B-FEB407355497}"/>
              </a:ext>
            </a:extLst>
          </p:cNvPr>
          <p:cNvSpPr>
            <a:spLocks noGrp="1" noChangeArrowheads="1"/>
          </p:cNvSpPr>
          <p:nvPr>
            <p:ph type="title"/>
          </p:nvPr>
        </p:nvSpPr>
        <p:spPr>
          <a:xfrm>
            <a:off x="1711035" y="753702"/>
            <a:ext cx="5721930" cy="773590"/>
          </a:xfrm>
        </p:spPr>
        <p:txBody>
          <a:bodyPr>
            <a:normAutofit fontScale="90000"/>
          </a:bodyPr>
          <a:lstStyle/>
          <a:p>
            <a:pPr eaLnBrk="1" fontAlgn="auto" hangingPunct="1">
              <a:spcAft>
                <a:spcPts val="0"/>
              </a:spcAft>
              <a:defRPr/>
            </a:pPr>
            <a:r>
              <a:rPr lang="en-US" dirty="0">
                <a:solidFill>
                  <a:schemeClr val="tx1"/>
                </a:solidFill>
                <a:ea typeface="+mj-ea"/>
              </a:rPr>
              <a:t>Brief overview of common methods to gather user data</a:t>
            </a:r>
          </a:p>
        </p:txBody>
      </p:sp>
      <p:sp>
        <p:nvSpPr>
          <p:cNvPr id="25603" name="Rectangle 3">
            <a:extLst>
              <a:ext uri="{FF2B5EF4-FFF2-40B4-BE49-F238E27FC236}">
                <a16:creationId xmlns:a16="http://schemas.microsoft.com/office/drawing/2014/main" id="{EBBF1C01-5718-4F48-92DF-1170CA9E982E}"/>
              </a:ext>
            </a:extLst>
          </p:cNvPr>
          <p:cNvSpPr>
            <a:spLocks noGrp="1" noChangeArrowheads="1"/>
          </p:cNvSpPr>
          <p:nvPr>
            <p:ph type="body" idx="1"/>
          </p:nvPr>
        </p:nvSpPr>
        <p:spPr>
          <a:xfrm>
            <a:off x="220866" y="2052536"/>
            <a:ext cx="8706656" cy="4182158"/>
          </a:xfrm>
        </p:spPr>
        <p:txBody>
          <a:bodyPr/>
          <a:lstStyle/>
          <a:p>
            <a:pPr lvl="2" indent="-441325" eaLnBrk="1" hangingPunct="1">
              <a:lnSpc>
                <a:spcPct val="130000"/>
              </a:lnSpc>
              <a:buFont typeface="Symbol" panose="05050102010706020507" pitchFamily="18" charset="2"/>
              <a:buChar char="·"/>
            </a:pPr>
            <a:r>
              <a:rPr lang="en-US" altLang="en-US" sz="3200" dirty="0">
                <a:ea typeface="ＭＳ Ｐゴシック" panose="020B0600070205080204" pitchFamily="34" charset="-128"/>
              </a:rPr>
              <a:t>Interviews</a:t>
            </a:r>
          </a:p>
          <a:p>
            <a:pPr lvl="2" indent="-441325" eaLnBrk="1" hangingPunct="1">
              <a:lnSpc>
                <a:spcPct val="130000"/>
              </a:lnSpc>
              <a:buFont typeface="Symbol" panose="05050102010706020507" pitchFamily="18" charset="2"/>
              <a:buChar char="·"/>
            </a:pPr>
            <a:r>
              <a:rPr lang="en-US" altLang="en-US" sz="3200" dirty="0">
                <a:ea typeface="ＭＳ Ｐゴシック" panose="020B0600070205080204" pitchFamily="34" charset="-128"/>
              </a:rPr>
              <a:t>Questionnaires</a:t>
            </a:r>
          </a:p>
          <a:p>
            <a:pPr lvl="2" indent="-441325" eaLnBrk="1" hangingPunct="1">
              <a:lnSpc>
                <a:spcPct val="130000"/>
              </a:lnSpc>
              <a:buFont typeface="Symbol" panose="05050102010706020507" pitchFamily="18" charset="2"/>
              <a:buChar char="·"/>
            </a:pPr>
            <a:r>
              <a:rPr lang="en-US" altLang="en-US" sz="3200" dirty="0">
                <a:ea typeface="ＭＳ Ｐゴシック" panose="020B0600070205080204" pitchFamily="34" charset="-128"/>
              </a:rPr>
              <a:t>Observation</a:t>
            </a:r>
          </a:p>
          <a:p>
            <a:pPr lvl="2" indent="-441325" eaLnBrk="1" hangingPunct="1">
              <a:lnSpc>
                <a:spcPct val="130000"/>
              </a:lnSpc>
              <a:buFont typeface="Symbol" panose="05050102010706020507" pitchFamily="18" charset="2"/>
              <a:buChar char="·"/>
            </a:pPr>
            <a:r>
              <a:rPr lang="en-US" altLang="en-US" sz="3200" dirty="0">
                <a:ea typeface="ＭＳ Ｐゴシック" panose="020B0600070205080204" pitchFamily="34" charset="-128"/>
              </a:rPr>
              <a:t>Choosing and combining techniques</a:t>
            </a:r>
          </a:p>
        </p:txBody>
      </p:sp>
    </p:spTree>
    <p:extLst>
      <p:ext uri="{BB962C8B-B14F-4D97-AF65-F5344CB8AC3E}">
        <p14:creationId xmlns:p14="http://schemas.microsoft.com/office/powerpoint/2010/main" val="4154013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en-US" dirty="0">
                <a:latin typeface="Verdana" panose="020B0604030504040204" pitchFamily="34" charset="0"/>
              </a:rPr>
              <a:t>Interviews</a:t>
            </a:r>
            <a:endParaRPr lang="id-ID" dirty="0"/>
          </a:p>
        </p:txBody>
      </p:sp>
      <p:sp>
        <p:nvSpPr>
          <p:cNvPr id="8" name="Content Placeholder 7"/>
          <p:cNvSpPr>
            <a:spLocks noGrp="1"/>
          </p:cNvSpPr>
          <p:nvPr>
            <p:ph type="body" idx="1"/>
          </p:nvPr>
        </p:nvSpPr>
        <p:spPr/>
        <p:txBody>
          <a:bodyPr>
            <a:normAutofit/>
          </a:bodyPr>
          <a:lstStyle/>
          <a:p>
            <a:pPr>
              <a:spcBef>
                <a:spcPts val="0"/>
              </a:spcBef>
              <a:buFontTx/>
              <a:buChar char="•"/>
            </a:pPr>
            <a:r>
              <a:rPr lang="en-US" altLang="en-US" b="1" dirty="0">
                <a:latin typeface="Verdana" panose="020B0604030504040204" pitchFamily="34" charset="0"/>
              </a:rPr>
              <a:t>Unstructured</a:t>
            </a:r>
            <a:r>
              <a:rPr lang="en-US" altLang="en-US" dirty="0">
                <a:latin typeface="Verdana" panose="020B0604030504040204" pitchFamily="34" charset="0"/>
              </a:rPr>
              <a:t> - are not directed by a script. Rich but not replicable. </a:t>
            </a:r>
          </a:p>
          <a:p>
            <a:pPr>
              <a:spcBef>
                <a:spcPts val="0"/>
              </a:spcBef>
              <a:buFontTx/>
              <a:buChar char="•"/>
            </a:pPr>
            <a:endParaRPr lang="en-US" altLang="en-US" dirty="0">
              <a:latin typeface="Verdana" panose="020B0604030504040204" pitchFamily="34" charset="0"/>
            </a:endParaRPr>
          </a:p>
          <a:p>
            <a:pPr>
              <a:spcBef>
                <a:spcPts val="0"/>
              </a:spcBef>
              <a:buFontTx/>
              <a:buChar char="•"/>
            </a:pPr>
            <a:r>
              <a:rPr lang="en-US" altLang="en-US" b="1" dirty="0">
                <a:latin typeface="Verdana" panose="020B0604030504040204" pitchFamily="34" charset="0"/>
              </a:rPr>
              <a:t>Structured </a:t>
            </a:r>
            <a:r>
              <a:rPr lang="en-US" altLang="en-US" dirty="0">
                <a:latin typeface="Verdana" panose="020B0604030504040204" pitchFamily="34" charset="0"/>
              </a:rPr>
              <a:t>- are tightly scripted, a questionnaire delivered verbally. Replicable but may lack richness.</a:t>
            </a:r>
          </a:p>
          <a:p>
            <a:pPr>
              <a:spcBef>
                <a:spcPts val="0"/>
              </a:spcBef>
              <a:buFontTx/>
              <a:buChar char="•"/>
            </a:pPr>
            <a:endParaRPr lang="en-US" altLang="en-US" dirty="0">
              <a:latin typeface="Verdana" panose="020B0604030504040204" pitchFamily="34" charset="0"/>
            </a:endParaRPr>
          </a:p>
          <a:p>
            <a:pPr>
              <a:spcBef>
                <a:spcPts val="0"/>
              </a:spcBef>
              <a:buFontTx/>
              <a:buChar char="•"/>
            </a:pPr>
            <a:r>
              <a:rPr lang="en-US" altLang="en-US" b="1" dirty="0">
                <a:latin typeface="Verdana" panose="020B0604030504040204" pitchFamily="34" charset="0"/>
              </a:rPr>
              <a:t>Semi-structured</a:t>
            </a:r>
            <a:r>
              <a:rPr lang="en-US" altLang="en-US" dirty="0">
                <a:latin typeface="Verdana" panose="020B0604030504040204" pitchFamily="34" charset="0"/>
              </a:rPr>
              <a:t> - guided by a script but interesting issues can be explored in more depth. Can provide a good balance between richness and replicability.</a:t>
            </a:r>
          </a:p>
          <a:p>
            <a:pPr>
              <a:spcBef>
                <a:spcPts val="0"/>
              </a:spcBef>
            </a:pPr>
            <a:endParaRPr lang="id-ID" dirty="0"/>
          </a:p>
        </p:txBody>
      </p:sp>
    </p:spTree>
    <p:extLst>
      <p:ext uri="{BB962C8B-B14F-4D97-AF65-F5344CB8AC3E}">
        <p14:creationId xmlns:p14="http://schemas.microsoft.com/office/powerpoint/2010/main" val="2269418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en-US" dirty="0">
                <a:latin typeface="Verdana" panose="020B0604030504040204" pitchFamily="34" charset="0"/>
              </a:rPr>
              <a:t>Interview questions</a:t>
            </a:r>
            <a:endParaRPr lang="id-ID" dirty="0"/>
          </a:p>
        </p:txBody>
      </p:sp>
      <p:sp>
        <p:nvSpPr>
          <p:cNvPr id="8" name="Content Placeholder 7"/>
          <p:cNvSpPr>
            <a:spLocks noGrp="1"/>
          </p:cNvSpPr>
          <p:nvPr>
            <p:ph type="body" idx="1"/>
          </p:nvPr>
        </p:nvSpPr>
        <p:spPr/>
        <p:txBody>
          <a:bodyPr>
            <a:normAutofit/>
          </a:bodyPr>
          <a:lstStyle/>
          <a:p>
            <a:pPr>
              <a:spcBef>
                <a:spcPct val="20000"/>
              </a:spcBef>
              <a:buFontTx/>
              <a:buChar char="•"/>
            </a:pPr>
            <a:r>
              <a:rPr lang="en-US" altLang="en-US" sz="2000" dirty="0">
                <a:latin typeface="Verdana" panose="020B0604030504040204" pitchFamily="34" charset="0"/>
              </a:rPr>
              <a:t>Two types:</a:t>
            </a:r>
          </a:p>
          <a:p>
            <a:pPr lvl="1">
              <a:spcBef>
                <a:spcPct val="20000"/>
              </a:spcBef>
              <a:buFont typeface="Verdana" panose="020B0604030504040204" pitchFamily="34" charset="0"/>
              <a:buChar char="−"/>
            </a:pPr>
            <a:r>
              <a:rPr lang="ja-JP" altLang="en-US" sz="1800" dirty="0">
                <a:latin typeface="Verdana" panose="020B0604030504040204" pitchFamily="34" charset="0"/>
              </a:rPr>
              <a:t>‘</a:t>
            </a:r>
            <a:r>
              <a:rPr lang="en-US" altLang="ja-JP" sz="1800" dirty="0">
                <a:latin typeface="Verdana" panose="020B0604030504040204" pitchFamily="34" charset="0"/>
              </a:rPr>
              <a:t>closed questions</a:t>
            </a:r>
            <a:r>
              <a:rPr lang="ja-JP" altLang="en-US" sz="1800" dirty="0">
                <a:latin typeface="Verdana" panose="020B0604030504040204" pitchFamily="34" charset="0"/>
              </a:rPr>
              <a:t>’</a:t>
            </a:r>
            <a:r>
              <a:rPr lang="en-US" altLang="ja-JP" sz="1800" dirty="0">
                <a:latin typeface="Verdana" panose="020B0604030504040204" pitchFamily="34" charset="0"/>
              </a:rPr>
              <a:t> have a predetermined answer format, e.g., </a:t>
            </a:r>
            <a:r>
              <a:rPr lang="ja-JP" altLang="en-US" sz="1800" dirty="0">
                <a:latin typeface="Verdana" panose="020B0604030504040204" pitchFamily="34" charset="0"/>
              </a:rPr>
              <a:t>‘</a:t>
            </a:r>
            <a:r>
              <a:rPr lang="en-US" altLang="ja-JP" sz="1800" dirty="0">
                <a:latin typeface="Verdana" panose="020B0604030504040204" pitchFamily="34" charset="0"/>
              </a:rPr>
              <a:t>yes</a:t>
            </a:r>
            <a:r>
              <a:rPr lang="ja-JP" altLang="en-US" sz="1800" dirty="0">
                <a:latin typeface="Verdana" panose="020B0604030504040204" pitchFamily="34" charset="0"/>
              </a:rPr>
              <a:t>’</a:t>
            </a:r>
            <a:r>
              <a:rPr lang="en-US" altLang="ja-JP" sz="1800" dirty="0">
                <a:latin typeface="Verdana" panose="020B0604030504040204" pitchFamily="34" charset="0"/>
              </a:rPr>
              <a:t> or </a:t>
            </a:r>
            <a:r>
              <a:rPr lang="ja-JP" altLang="en-US" sz="1800" dirty="0">
                <a:latin typeface="Verdana" panose="020B0604030504040204" pitchFamily="34" charset="0"/>
              </a:rPr>
              <a:t>‘</a:t>
            </a:r>
            <a:r>
              <a:rPr lang="en-US" altLang="ja-JP" sz="1800" dirty="0">
                <a:latin typeface="Verdana" panose="020B0604030504040204" pitchFamily="34" charset="0"/>
              </a:rPr>
              <a:t>no</a:t>
            </a:r>
            <a:r>
              <a:rPr lang="ja-JP" altLang="en-US" sz="1800" dirty="0">
                <a:latin typeface="Verdana" panose="020B0604030504040204" pitchFamily="34" charset="0"/>
              </a:rPr>
              <a:t>’</a:t>
            </a:r>
            <a:endParaRPr lang="en-US" altLang="ja-JP" sz="1800" dirty="0">
              <a:latin typeface="Verdana" panose="020B0604030504040204" pitchFamily="34" charset="0"/>
            </a:endParaRPr>
          </a:p>
          <a:p>
            <a:pPr lvl="1">
              <a:spcBef>
                <a:spcPct val="20000"/>
              </a:spcBef>
              <a:buFont typeface="Verdana" panose="020B0604030504040204" pitchFamily="34" charset="0"/>
              <a:buChar char="−"/>
            </a:pPr>
            <a:r>
              <a:rPr lang="ja-JP" altLang="en-US" sz="1800" dirty="0">
                <a:latin typeface="Verdana" panose="020B0604030504040204" pitchFamily="34" charset="0"/>
              </a:rPr>
              <a:t>‘</a:t>
            </a:r>
            <a:r>
              <a:rPr lang="en-US" altLang="ja-JP" sz="1800" dirty="0">
                <a:latin typeface="Verdana" panose="020B0604030504040204" pitchFamily="34" charset="0"/>
              </a:rPr>
              <a:t>open questions</a:t>
            </a:r>
            <a:r>
              <a:rPr lang="ja-JP" altLang="en-US" sz="1800" dirty="0">
                <a:latin typeface="Verdana" panose="020B0604030504040204" pitchFamily="34" charset="0"/>
              </a:rPr>
              <a:t>’</a:t>
            </a:r>
            <a:r>
              <a:rPr lang="en-US" altLang="ja-JP" sz="1800" dirty="0">
                <a:latin typeface="Verdana" panose="020B0604030504040204" pitchFamily="34" charset="0"/>
              </a:rPr>
              <a:t> do not have a predetermined format</a:t>
            </a:r>
          </a:p>
          <a:p>
            <a:pPr>
              <a:spcBef>
                <a:spcPct val="20000"/>
              </a:spcBef>
              <a:buFontTx/>
              <a:buChar char="•"/>
            </a:pPr>
            <a:r>
              <a:rPr lang="en-US" altLang="en-US" sz="2000" dirty="0">
                <a:latin typeface="Verdana" panose="020B0604030504040204" pitchFamily="34" charset="0"/>
              </a:rPr>
              <a:t>Closed questions are easier to analyze</a:t>
            </a:r>
          </a:p>
          <a:p>
            <a:pPr>
              <a:spcBef>
                <a:spcPct val="20000"/>
              </a:spcBef>
              <a:buFont typeface="Symbol" panose="05050102010706020507" pitchFamily="18" charset="2"/>
              <a:buChar char="·"/>
            </a:pPr>
            <a:r>
              <a:rPr lang="en-US" altLang="en-US" sz="2000" dirty="0">
                <a:latin typeface="Verdana" panose="020B0604030504040204" pitchFamily="34" charset="0"/>
              </a:rPr>
              <a:t>Avoid:</a:t>
            </a:r>
          </a:p>
          <a:p>
            <a:pPr lvl="1">
              <a:spcBef>
                <a:spcPct val="20000"/>
              </a:spcBef>
              <a:buFont typeface="Verdana" panose="020B0604030504040204" pitchFamily="34" charset="0"/>
              <a:buChar char="−"/>
            </a:pPr>
            <a:r>
              <a:rPr lang="en-US" altLang="en-US" sz="1800" dirty="0">
                <a:latin typeface="Verdana" panose="020B0604030504040204" pitchFamily="34" charset="0"/>
              </a:rPr>
              <a:t>Long questions</a:t>
            </a:r>
          </a:p>
          <a:p>
            <a:pPr lvl="1">
              <a:spcBef>
                <a:spcPct val="20000"/>
              </a:spcBef>
              <a:buFont typeface="Verdana" panose="020B0604030504040204" pitchFamily="34" charset="0"/>
              <a:buChar char="−"/>
            </a:pPr>
            <a:r>
              <a:rPr lang="en-US" altLang="en-US" sz="1800" dirty="0">
                <a:latin typeface="Verdana" panose="020B0604030504040204" pitchFamily="34" charset="0"/>
              </a:rPr>
              <a:t>Compound sentences - split them into two</a:t>
            </a:r>
          </a:p>
          <a:p>
            <a:pPr lvl="1">
              <a:spcBef>
                <a:spcPct val="20000"/>
              </a:spcBef>
              <a:buFont typeface="Verdana" panose="020B0604030504040204" pitchFamily="34" charset="0"/>
              <a:buChar char="−"/>
            </a:pPr>
            <a:r>
              <a:rPr lang="en-US" altLang="en-US" sz="1800" dirty="0">
                <a:latin typeface="Verdana" panose="020B0604030504040204" pitchFamily="34" charset="0"/>
              </a:rPr>
              <a:t>Jargon and language that the interviewee may not understand </a:t>
            </a:r>
          </a:p>
          <a:p>
            <a:pPr lvl="1">
              <a:spcBef>
                <a:spcPct val="20000"/>
              </a:spcBef>
              <a:buFont typeface="Verdana" panose="020B0604030504040204" pitchFamily="34" charset="0"/>
              <a:buChar char="−"/>
            </a:pPr>
            <a:r>
              <a:rPr lang="en-US" altLang="en-US" sz="1800" dirty="0">
                <a:latin typeface="Verdana" panose="020B0604030504040204" pitchFamily="34" charset="0"/>
              </a:rPr>
              <a:t>Leading questions that make assumptions e.g., why do you like …?</a:t>
            </a:r>
          </a:p>
          <a:p>
            <a:pPr lvl="1">
              <a:spcBef>
                <a:spcPct val="20000"/>
              </a:spcBef>
              <a:buFont typeface="Verdana" panose="020B0604030504040204" pitchFamily="34" charset="0"/>
              <a:buChar char="−"/>
            </a:pPr>
            <a:r>
              <a:rPr lang="en-US" altLang="en-US" sz="1800" dirty="0">
                <a:latin typeface="Verdana" panose="020B0604030504040204" pitchFamily="34" charset="0"/>
              </a:rPr>
              <a:t>Unconscious biases e.g., gender stereotypes</a:t>
            </a:r>
          </a:p>
          <a:p>
            <a:endParaRPr lang="id-ID" sz="2000" dirty="0"/>
          </a:p>
        </p:txBody>
      </p:sp>
    </p:spTree>
    <p:extLst>
      <p:ext uri="{BB962C8B-B14F-4D97-AF65-F5344CB8AC3E}">
        <p14:creationId xmlns:p14="http://schemas.microsoft.com/office/powerpoint/2010/main" val="3933727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E0463E27-7426-4DC6-A6BF-B0E783DF30E3}"/>
              </a:ext>
            </a:extLst>
          </p:cNvPr>
          <p:cNvSpPr>
            <a:spLocks noGrp="1" noChangeArrowheads="1"/>
          </p:cNvSpPr>
          <p:nvPr>
            <p:ph type="title"/>
          </p:nvPr>
        </p:nvSpPr>
        <p:spPr/>
        <p:txBody>
          <a:bodyPr/>
          <a:lstStyle/>
          <a:p>
            <a:pPr eaLnBrk="1" fontAlgn="auto" hangingPunct="1">
              <a:spcAft>
                <a:spcPts val="0"/>
              </a:spcAft>
              <a:defRPr/>
            </a:pPr>
            <a:r>
              <a:rPr lang="en-GB" sz="3200" dirty="0">
                <a:solidFill>
                  <a:schemeClr val="tx1"/>
                </a:solidFill>
                <a:ea typeface="+mj-ea"/>
              </a:rPr>
              <a:t>Enriching the interview process</a:t>
            </a:r>
          </a:p>
        </p:txBody>
      </p:sp>
      <p:sp>
        <p:nvSpPr>
          <p:cNvPr id="3" name="Text Placeholder 2">
            <a:extLst>
              <a:ext uri="{FF2B5EF4-FFF2-40B4-BE49-F238E27FC236}">
                <a16:creationId xmlns:a16="http://schemas.microsoft.com/office/drawing/2014/main" id="{63332F21-8CFA-16D9-D20E-5426513515CD}"/>
              </a:ext>
            </a:extLst>
          </p:cNvPr>
          <p:cNvSpPr>
            <a:spLocks noGrp="1"/>
          </p:cNvSpPr>
          <p:nvPr>
            <p:ph type="body" idx="1"/>
          </p:nvPr>
        </p:nvSpPr>
        <p:spPr/>
        <p:txBody>
          <a:bodyPr/>
          <a:lstStyle/>
          <a:p>
            <a:endParaRPr lang="en-ID"/>
          </a:p>
        </p:txBody>
      </p:sp>
      <p:pic>
        <p:nvPicPr>
          <p:cNvPr id="28675" name="Picture 6" descr="7-5">
            <a:extLst>
              <a:ext uri="{FF2B5EF4-FFF2-40B4-BE49-F238E27FC236}">
                <a16:creationId xmlns:a16="http://schemas.microsoft.com/office/drawing/2014/main" id="{D22D9293-80C2-4C2A-923F-D6FA310D34D2}"/>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tretch>
            <a:fillRect/>
          </a:stretch>
        </p:blipFill>
        <p:spPr>
          <a:xfrm>
            <a:off x="0" y="2563813"/>
            <a:ext cx="5329238" cy="2917825"/>
          </a:xfrm>
          <a:noFill/>
        </p:spPr>
      </p:pic>
      <p:sp>
        <p:nvSpPr>
          <p:cNvPr id="28676" name="Rectangle 5">
            <a:extLst>
              <a:ext uri="{FF2B5EF4-FFF2-40B4-BE49-F238E27FC236}">
                <a16:creationId xmlns:a16="http://schemas.microsoft.com/office/drawing/2014/main" id="{35518D16-9C32-43FD-B45A-9A059C058B55}"/>
              </a:ext>
            </a:extLst>
          </p:cNvPr>
          <p:cNvSpPr>
            <a:spLocks noChangeArrowheads="1"/>
          </p:cNvSpPr>
          <p:nvPr/>
        </p:nvSpPr>
        <p:spPr bwMode="auto">
          <a:xfrm>
            <a:off x="539750" y="1981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lnSpc>
                <a:spcPct val="120000"/>
              </a:lnSpc>
              <a:spcBef>
                <a:spcPct val="20000"/>
              </a:spcBef>
              <a:buFontTx/>
              <a:buChar char="•"/>
            </a:pPr>
            <a:r>
              <a:rPr lang="en-US" altLang="en-US">
                <a:latin typeface="Verdana" panose="020B0604030504040204" pitchFamily="34" charset="0"/>
              </a:rPr>
              <a:t>Props - devices for prompting interviewee, e.g., a prototype, scenario</a:t>
            </a:r>
          </a:p>
        </p:txBody>
      </p:sp>
    </p:spTree>
    <p:extLst>
      <p:ext uri="{BB962C8B-B14F-4D97-AF65-F5344CB8AC3E}">
        <p14:creationId xmlns:p14="http://schemas.microsoft.com/office/powerpoint/2010/main" val="333322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7DD1FEF4-3190-4CDB-B736-7E0AF78DA0A1}"/>
              </a:ext>
            </a:extLst>
          </p:cNvPr>
          <p:cNvSpPr>
            <a:spLocks noChangeArrowheads="1"/>
          </p:cNvSpPr>
          <p:nvPr/>
        </p:nvSpPr>
        <p:spPr bwMode="auto">
          <a:xfrm>
            <a:off x="703263" y="6248400"/>
            <a:ext cx="189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latin typeface="Corbel" panose="020B0503020204020204" pitchFamily="34" charset="0"/>
            </a:endParaRPr>
          </a:p>
        </p:txBody>
      </p:sp>
      <p:sp>
        <p:nvSpPr>
          <p:cNvPr id="29700" name="Rectangle 6">
            <a:extLst>
              <a:ext uri="{FF2B5EF4-FFF2-40B4-BE49-F238E27FC236}">
                <a16:creationId xmlns:a16="http://schemas.microsoft.com/office/drawing/2014/main" id="{E3821768-BAA6-40FD-87EA-CEA55F4B931E}"/>
              </a:ext>
            </a:extLst>
          </p:cNvPr>
          <p:cNvSpPr>
            <a:spLocks noChangeArrowheads="1"/>
          </p:cNvSpPr>
          <p:nvPr/>
        </p:nvSpPr>
        <p:spPr bwMode="auto">
          <a:xfrm>
            <a:off x="703263" y="6248400"/>
            <a:ext cx="189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latin typeface="Corbel" panose="020B0503020204020204" pitchFamily="34" charset="0"/>
            </a:endParaRPr>
          </a:p>
        </p:txBody>
      </p:sp>
      <p:sp>
        <p:nvSpPr>
          <p:cNvPr id="29701" name="Rectangle 7">
            <a:extLst>
              <a:ext uri="{FF2B5EF4-FFF2-40B4-BE49-F238E27FC236}">
                <a16:creationId xmlns:a16="http://schemas.microsoft.com/office/drawing/2014/main" id="{666DE0E4-A2A7-4D62-854B-803222CCD532}"/>
              </a:ext>
            </a:extLst>
          </p:cNvPr>
          <p:cNvSpPr>
            <a:spLocks noChangeArrowheads="1"/>
          </p:cNvSpPr>
          <p:nvPr/>
        </p:nvSpPr>
        <p:spPr bwMode="auto">
          <a:xfrm>
            <a:off x="3165475" y="6248400"/>
            <a:ext cx="2813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latin typeface="Corbel" panose="020B0503020204020204" pitchFamily="34" charset="0"/>
            </a:endParaRPr>
          </a:p>
        </p:txBody>
      </p:sp>
      <p:sp>
        <p:nvSpPr>
          <p:cNvPr id="29703" name="Rectangle 9">
            <a:extLst>
              <a:ext uri="{FF2B5EF4-FFF2-40B4-BE49-F238E27FC236}">
                <a16:creationId xmlns:a16="http://schemas.microsoft.com/office/drawing/2014/main" id="{12255732-8C7C-451D-8AA7-504A556608FD}"/>
              </a:ext>
            </a:extLst>
          </p:cNvPr>
          <p:cNvSpPr>
            <a:spLocks noChangeArrowheads="1"/>
          </p:cNvSpPr>
          <p:nvPr/>
        </p:nvSpPr>
        <p:spPr bwMode="auto">
          <a:xfrm>
            <a:off x="914400" y="1066800"/>
            <a:ext cx="696277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FontTx/>
              <a:buChar char="•"/>
            </a:pPr>
            <a:endParaRPr lang="en-US" altLang="en-US" sz="3200">
              <a:solidFill>
                <a:srgbClr val="000000"/>
              </a:solidFill>
              <a:latin typeface="Verdana" panose="020B0604030504040204" pitchFamily="34" charset="0"/>
            </a:endParaRPr>
          </a:p>
          <a:p>
            <a:pPr eaLnBrk="1" hangingPunct="1">
              <a:spcBef>
                <a:spcPct val="20000"/>
              </a:spcBef>
              <a:buFontTx/>
              <a:buChar char="•"/>
            </a:pPr>
            <a:endParaRPr lang="en-US" altLang="en-US" sz="3200">
              <a:latin typeface="Verdana" panose="020B0604030504040204" pitchFamily="34" charset="0"/>
            </a:endParaRPr>
          </a:p>
        </p:txBody>
      </p:sp>
      <p:sp>
        <p:nvSpPr>
          <p:cNvPr id="7" name="Title 6"/>
          <p:cNvSpPr>
            <a:spLocks noGrp="1"/>
          </p:cNvSpPr>
          <p:nvPr>
            <p:ph type="title"/>
          </p:nvPr>
        </p:nvSpPr>
        <p:spPr/>
        <p:txBody>
          <a:bodyPr/>
          <a:lstStyle/>
          <a:p>
            <a:r>
              <a:rPr lang="en-US" altLang="en-US" dirty="0">
                <a:latin typeface="Verdana" panose="020B0604030504040204" pitchFamily="34" charset="0"/>
              </a:rPr>
              <a:t>Contextual Inquiry</a:t>
            </a:r>
            <a:endParaRPr lang="id-ID" dirty="0"/>
          </a:p>
        </p:txBody>
      </p:sp>
      <p:sp>
        <p:nvSpPr>
          <p:cNvPr id="8" name="Content Placeholder 7"/>
          <p:cNvSpPr>
            <a:spLocks noGrp="1"/>
          </p:cNvSpPr>
          <p:nvPr>
            <p:ph type="body" idx="1"/>
          </p:nvPr>
        </p:nvSpPr>
        <p:spPr/>
        <p:txBody>
          <a:bodyPr/>
          <a:lstStyle/>
          <a:p>
            <a:pPr>
              <a:lnSpc>
                <a:spcPct val="120000"/>
              </a:lnSpc>
              <a:spcBef>
                <a:spcPts val="0"/>
              </a:spcBef>
              <a:buFontTx/>
              <a:buChar char="•"/>
            </a:pPr>
            <a:r>
              <a:rPr lang="en-US" altLang="en-US" sz="2000" dirty="0">
                <a:latin typeface="Verdana" panose="020B0604030504040204" pitchFamily="34" charset="0"/>
              </a:rPr>
              <a:t>An approach to ethnographic study. Often conducted as an apprenticeship where user is expert, designer is apprentice</a:t>
            </a:r>
          </a:p>
          <a:p>
            <a:pPr>
              <a:lnSpc>
                <a:spcPct val="120000"/>
              </a:lnSpc>
              <a:spcBef>
                <a:spcPts val="0"/>
              </a:spcBef>
              <a:buFontTx/>
              <a:buChar char="•"/>
            </a:pPr>
            <a:r>
              <a:rPr lang="en-US" altLang="en-US" sz="2000" dirty="0">
                <a:latin typeface="Verdana" panose="020B0604030504040204" pitchFamily="34" charset="0"/>
              </a:rPr>
              <a:t>A form of interview, but</a:t>
            </a:r>
          </a:p>
          <a:p>
            <a:pPr lvl="1">
              <a:lnSpc>
                <a:spcPct val="120000"/>
              </a:lnSpc>
              <a:spcBef>
                <a:spcPts val="0"/>
              </a:spcBef>
              <a:buFontTx/>
              <a:buChar char="—"/>
            </a:pPr>
            <a:r>
              <a:rPr lang="en-US" altLang="en-US" sz="1800" dirty="0">
                <a:latin typeface="Verdana" panose="020B0604030504040204" pitchFamily="34" charset="0"/>
              </a:rPr>
              <a:t> at users</a:t>
            </a:r>
            <a:r>
              <a:rPr lang="ja-JP" altLang="en-US" sz="1800" dirty="0">
                <a:latin typeface="Verdana" panose="020B0604030504040204" pitchFamily="34" charset="0"/>
              </a:rPr>
              <a:t>’</a:t>
            </a:r>
            <a:r>
              <a:rPr lang="en-US" altLang="ja-JP" sz="1800" dirty="0">
                <a:latin typeface="Verdana" panose="020B0604030504040204" pitchFamily="34" charset="0"/>
              </a:rPr>
              <a:t> workplace (workstation)</a:t>
            </a:r>
          </a:p>
          <a:p>
            <a:pPr lvl="1">
              <a:lnSpc>
                <a:spcPct val="120000"/>
              </a:lnSpc>
              <a:spcBef>
                <a:spcPts val="0"/>
              </a:spcBef>
              <a:buFontTx/>
              <a:buChar char="—"/>
            </a:pPr>
            <a:r>
              <a:rPr lang="en-US" altLang="en-US" sz="1800" dirty="0">
                <a:latin typeface="Verdana" panose="020B0604030504040204" pitchFamily="34" charset="0"/>
              </a:rPr>
              <a:t> 2 to 3 hours long</a:t>
            </a:r>
          </a:p>
          <a:p>
            <a:pPr>
              <a:lnSpc>
                <a:spcPct val="120000"/>
              </a:lnSpc>
              <a:spcBef>
                <a:spcPts val="0"/>
              </a:spcBef>
              <a:buFontTx/>
              <a:buChar char="•"/>
            </a:pPr>
            <a:r>
              <a:rPr lang="en-US" altLang="en-US" sz="2000" dirty="0">
                <a:latin typeface="Verdana" panose="020B0604030504040204" pitchFamily="34" charset="0"/>
              </a:rPr>
              <a:t>Four main principles:</a:t>
            </a:r>
          </a:p>
          <a:p>
            <a:pPr lvl="1">
              <a:lnSpc>
                <a:spcPct val="120000"/>
              </a:lnSpc>
              <a:spcBef>
                <a:spcPts val="0"/>
              </a:spcBef>
              <a:buFontTx/>
              <a:buChar char="—"/>
            </a:pPr>
            <a:r>
              <a:rPr lang="en-US" altLang="en-US" sz="1800" dirty="0">
                <a:latin typeface="Verdana" panose="020B0604030504040204" pitchFamily="34" charset="0"/>
              </a:rPr>
              <a:t> Context: see workplace &amp; what happens</a:t>
            </a:r>
          </a:p>
          <a:p>
            <a:pPr lvl="1">
              <a:lnSpc>
                <a:spcPct val="120000"/>
              </a:lnSpc>
              <a:spcBef>
                <a:spcPts val="0"/>
              </a:spcBef>
              <a:buFontTx/>
              <a:buChar char="—"/>
            </a:pPr>
            <a:r>
              <a:rPr lang="en-US" altLang="en-US" sz="1800" dirty="0">
                <a:latin typeface="Verdana" panose="020B0604030504040204" pitchFamily="34" charset="0"/>
              </a:rPr>
              <a:t> Partnership: user and developer collaborate</a:t>
            </a:r>
          </a:p>
          <a:p>
            <a:pPr lvl="1">
              <a:lnSpc>
                <a:spcPct val="120000"/>
              </a:lnSpc>
              <a:spcBef>
                <a:spcPts val="0"/>
              </a:spcBef>
              <a:buFontTx/>
              <a:buChar char="—"/>
            </a:pPr>
            <a:r>
              <a:rPr lang="en-US" altLang="en-US" sz="1800" dirty="0">
                <a:latin typeface="Verdana" panose="020B0604030504040204" pitchFamily="34" charset="0"/>
              </a:rPr>
              <a:t> Interpretation: observations interpreted by user and developer together</a:t>
            </a:r>
          </a:p>
          <a:p>
            <a:pPr lvl="1">
              <a:lnSpc>
                <a:spcPct val="120000"/>
              </a:lnSpc>
              <a:spcBef>
                <a:spcPts val="0"/>
              </a:spcBef>
              <a:buFontTx/>
              <a:buChar char="—"/>
            </a:pPr>
            <a:r>
              <a:rPr lang="en-US" altLang="en-US" sz="1800" dirty="0">
                <a:latin typeface="Verdana" panose="020B0604030504040204" pitchFamily="34" charset="0"/>
              </a:rPr>
              <a:t> Focus: project focus to understand what to look for</a:t>
            </a:r>
            <a:endParaRPr lang="id-ID" sz="1800" dirty="0"/>
          </a:p>
        </p:txBody>
      </p:sp>
    </p:spTree>
    <p:extLst>
      <p:ext uri="{BB962C8B-B14F-4D97-AF65-F5344CB8AC3E}">
        <p14:creationId xmlns:p14="http://schemas.microsoft.com/office/powerpoint/2010/main" val="749461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latin typeface="Verdana" panose="020B0604030504040204" pitchFamily="34" charset="0"/>
              </a:rPr>
              <a:t>Questionnaires</a:t>
            </a:r>
            <a:endParaRPr lang="id-ID" dirty="0"/>
          </a:p>
        </p:txBody>
      </p:sp>
      <p:sp>
        <p:nvSpPr>
          <p:cNvPr id="5" name="Content Placeholder 4"/>
          <p:cNvSpPr>
            <a:spLocks noGrp="1"/>
          </p:cNvSpPr>
          <p:nvPr>
            <p:ph type="body" idx="1"/>
          </p:nvPr>
        </p:nvSpPr>
        <p:spPr/>
        <p:txBody>
          <a:bodyPr>
            <a:normAutofit/>
          </a:bodyPr>
          <a:lstStyle/>
          <a:p>
            <a:pPr>
              <a:spcBef>
                <a:spcPct val="20000"/>
              </a:spcBef>
              <a:buFontTx/>
              <a:buChar char="•"/>
            </a:pPr>
            <a:r>
              <a:rPr lang="en-US" altLang="en-US" dirty="0">
                <a:latin typeface="Verdana" panose="020B0604030504040204" pitchFamily="34" charset="0"/>
              </a:rPr>
              <a:t>Questions can be closed or open</a:t>
            </a:r>
          </a:p>
          <a:p>
            <a:pPr>
              <a:spcBef>
                <a:spcPct val="20000"/>
              </a:spcBef>
              <a:buFontTx/>
              <a:buChar char="•"/>
            </a:pPr>
            <a:r>
              <a:rPr lang="en-US" altLang="en-US" dirty="0">
                <a:latin typeface="Verdana" panose="020B0604030504040204" pitchFamily="34" charset="0"/>
              </a:rPr>
              <a:t>Closed questions are easier to analyze, and may be done by computer</a:t>
            </a:r>
          </a:p>
          <a:p>
            <a:pPr>
              <a:spcBef>
                <a:spcPct val="20000"/>
              </a:spcBef>
              <a:buFontTx/>
              <a:buChar char="•"/>
            </a:pPr>
            <a:r>
              <a:rPr lang="en-US" altLang="en-US" dirty="0">
                <a:latin typeface="Verdana" panose="020B0604030504040204" pitchFamily="34" charset="0"/>
              </a:rPr>
              <a:t>Can be administered to large populations</a:t>
            </a:r>
          </a:p>
          <a:p>
            <a:pPr>
              <a:spcBef>
                <a:spcPct val="20000"/>
              </a:spcBef>
              <a:buFontTx/>
              <a:buChar char="•"/>
            </a:pPr>
            <a:r>
              <a:rPr lang="en-US" altLang="en-US" dirty="0">
                <a:latin typeface="Verdana" panose="020B0604030504040204" pitchFamily="34" charset="0"/>
              </a:rPr>
              <a:t>Paper, email and the web used for dissemination</a:t>
            </a:r>
          </a:p>
          <a:p>
            <a:pPr>
              <a:spcBef>
                <a:spcPct val="20000"/>
              </a:spcBef>
              <a:buFontTx/>
              <a:buChar char="•"/>
            </a:pPr>
            <a:r>
              <a:rPr lang="en-US" altLang="en-US" dirty="0">
                <a:latin typeface="Verdana" panose="020B0604030504040204" pitchFamily="34" charset="0"/>
              </a:rPr>
              <a:t>Sampling can be a problem when the size of a population is unknown as is common online</a:t>
            </a:r>
          </a:p>
          <a:p>
            <a:endParaRPr lang="id-ID" dirty="0"/>
          </a:p>
        </p:txBody>
      </p:sp>
    </p:spTree>
    <p:extLst>
      <p:ext uri="{BB962C8B-B14F-4D97-AF65-F5344CB8AC3E}">
        <p14:creationId xmlns:p14="http://schemas.microsoft.com/office/powerpoint/2010/main" val="3801734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altLang="en-US" dirty="0">
                <a:latin typeface="Verdana" panose="020B0604030504040204" pitchFamily="34" charset="0"/>
              </a:rPr>
              <a:t>Questionnaire design</a:t>
            </a:r>
            <a:endParaRPr lang="id-ID" dirty="0"/>
          </a:p>
        </p:txBody>
      </p:sp>
      <p:sp>
        <p:nvSpPr>
          <p:cNvPr id="5" name="Content Placeholder 4"/>
          <p:cNvSpPr>
            <a:spLocks noGrp="1"/>
          </p:cNvSpPr>
          <p:nvPr>
            <p:ph type="body" idx="1"/>
          </p:nvPr>
        </p:nvSpPr>
        <p:spPr/>
        <p:txBody>
          <a:bodyPr>
            <a:normAutofit/>
          </a:bodyPr>
          <a:lstStyle/>
          <a:p>
            <a:pPr>
              <a:spcBef>
                <a:spcPct val="20000"/>
              </a:spcBef>
              <a:buFontTx/>
              <a:buChar char="•"/>
            </a:pPr>
            <a:r>
              <a:rPr lang="en-US" altLang="en-US" dirty="0">
                <a:latin typeface="Verdana" panose="020B0604030504040204" pitchFamily="34" charset="0"/>
              </a:rPr>
              <a:t>The impact of a question can be influenced by question order.</a:t>
            </a:r>
          </a:p>
          <a:p>
            <a:pPr>
              <a:spcBef>
                <a:spcPct val="20000"/>
              </a:spcBef>
              <a:buFontTx/>
              <a:buChar char="•"/>
            </a:pPr>
            <a:r>
              <a:rPr lang="en-US" altLang="en-US" dirty="0">
                <a:latin typeface="Verdana" panose="020B0604030504040204" pitchFamily="34" charset="0"/>
              </a:rPr>
              <a:t>Do you need different versions of the questionnaire for different populations?</a:t>
            </a:r>
          </a:p>
          <a:p>
            <a:pPr>
              <a:spcBef>
                <a:spcPct val="20000"/>
              </a:spcBef>
              <a:buFontTx/>
              <a:buChar char="•"/>
            </a:pPr>
            <a:r>
              <a:rPr lang="en-US" altLang="en-US" dirty="0">
                <a:latin typeface="Verdana" panose="020B0604030504040204" pitchFamily="34" charset="0"/>
              </a:rPr>
              <a:t>Provide clear instructions on how to complete the questionnaire. </a:t>
            </a:r>
          </a:p>
          <a:p>
            <a:pPr>
              <a:spcBef>
                <a:spcPct val="20000"/>
              </a:spcBef>
              <a:buFontTx/>
              <a:buChar char="•"/>
            </a:pPr>
            <a:r>
              <a:rPr lang="en-US" altLang="en-US" dirty="0">
                <a:latin typeface="Verdana" panose="020B0604030504040204" pitchFamily="34" charset="0"/>
              </a:rPr>
              <a:t>Strike a balance between using white space and keeping the questionnaire compact.</a:t>
            </a:r>
          </a:p>
          <a:p>
            <a:pPr>
              <a:spcBef>
                <a:spcPct val="20000"/>
              </a:spcBef>
              <a:buFontTx/>
              <a:buChar char="•"/>
            </a:pPr>
            <a:r>
              <a:rPr lang="en-US" altLang="en-US" dirty="0">
                <a:latin typeface="Verdana" panose="020B0604030504040204" pitchFamily="34" charset="0"/>
              </a:rPr>
              <a:t>Decide on whether phrases will all be positive, all negative or mixed.</a:t>
            </a:r>
          </a:p>
          <a:p>
            <a:endParaRPr lang="id-ID" dirty="0"/>
          </a:p>
        </p:txBody>
      </p:sp>
    </p:spTree>
    <p:extLst>
      <p:ext uri="{BB962C8B-B14F-4D97-AF65-F5344CB8AC3E}">
        <p14:creationId xmlns:p14="http://schemas.microsoft.com/office/powerpoint/2010/main" val="2063969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BC32AA9-AECC-41C0-8A52-0E7B71E66498}"/>
              </a:ext>
            </a:extLst>
          </p:cNvPr>
          <p:cNvSpPr>
            <a:spLocks noGrp="1" noChangeArrowheads="1"/>
          </p:cNvSpPr>
          <p:nvPr>
            <p:ph type="title"/>
          </p:nvPr>
        </p:nvSpPr>
        <p:spPr>
          <a:xfrm>
            <a:off x="1711034" y="623306"/>
            <a:ext cx="5721930" cy="773590"/>
          </a:xfrm>
        </p:spPr>
        <p:txBody>
          <a:bodyPr>
            <a:normAutofit fontScale="90000"/>
          </a:bodyPr>
          <a:lstStyle/>
          <a:p>
            <a:pPr eaLnBrk="1" fontAlgn="auto" hangingPunct="1">
              <a:spcAft>
                <a:spcPts val="0"/>
              </a:spcAft>
              <a:defRPr/>
            </a:pPr>
            <a:r>
              <a:rPr lang="en-US" dirty="0">
                <a:solidFill>
                  <a:schemeClr val="tx1"/>
                </a:solidFill>
                <a:ea typeface="+mj-ea"/>
              </a:rPr>
              <a:t>Advantages of online questionnaires</a:t>
            </a:r>
          </a:p>
        </p:txBody>
      </p:sp>
      <p:sp>
        <p:nvSpPr>
          <p:cNvPr id="5" name="Content Placeholder 4">
            <a:extLst>
              <a:ext uri="{FF2B5EF4-FFF2-40B4-BE49-F238E27FC236}">
                <a16:creationId xmlns:a16="http://schemas.microsoft.com/office/drawing/2014/main" id="{FEF975C0-57CC-44F3-9E7D-A0132333835D}"/>
              </a:ext>
            </a:extLst>
          </p:cNvPr>
          <p:cNvSpPr>
            <a:spLocks noGrp="1"/>
          </p:cNvSpPr>
          <p:nvPr>
            <p:ph type="body" idx="1"/>
          </p:nvPr>
        </p:nvSpPr>
        <p:spPr>
          <a:xfrm>
            <a:off x="220866" y="2159540"/>
            <a:ext cx="8706656" cy="4075154"/>
          </a:xfrm>
        </p:spPr>
        <p:txBody>
          <a:bodyPr/>
          <a:lstStyle/>
          <a:p>
            <a:pPr eaLnBrk="1" hangingPunct="1">
              <a:buFont typeface="Symbol" pitchFamily="18" charset="2"/>
              <a:buChar char="·"/>
              <a:defRPr/>
            </a:pPr>
            <a:r>
              <a:rPr lang="en-US" dirty="0">
                <a:ea typeface="ＭＳ Ｐゴシック" pitchFamily="34" charset="-128"/>
              </a:rPr>
              <a:t>Responses are usually received </a:t>
            </a:r>
            <a:r>
              <a:rPr lang="en-US" b="1" dirty="0">
                <a:ea typeface="ＭＳ Ｐゴシック" pitchFamily="34" charset="-128"/>
              </a:rPr>
              <a:t>quickly</a:t>
            </a:r>
          </a:p>
          <a:p>
            <a:pPr eaLnBrk="1" hangingPunct="1">
              <a:buFont typeface="Symbol" pitchFamily="18" charset="2"/>
              <a:buChar char="·"/>
              <a:defRPr/>
            </a:pPr>
            <a:r>
              <a:rPr lang="en-US" dirty="0">
                <a:ea typeface="ＭＳ Ｐゴシック" pitchFamily="34" charset="-128"/>
              </a:rPr>
              <a:t>No </a:t>
            </a:r>
            <a:r>
              <a:rPr lang="en-US" b="1" dirty="0">
                <a:ea typeface="ＭＳ Ｐゴシック" pitchFamily="34" charset="-128"/>
              </a:rPr>
              <a:t>copying</a:t>
            </a:r>
            <a:r>
              <a:rPr lang="en-US" dirty="0">
                <a:ea typeface="ＭＳ Ｐゴシック" pitchFamily="34" charset="-128"/>
              </a:rPr>
              <a:t> and postage </a:t>
            </a:r>
            <a:r>
              <a:rPr lang="en-US" b="1" dirty="0">
                <a:ea typeface="ＭＳ Ｐゴシック" pitchFamily="34" charset="-128"/>
              </a:rPr>
              <a:t>costs</a:t>
            </a:r>
          </a:p>
          <a:p>
            <a:pPr eaLnBrk="1" hangingPunct="1">
              <a:buFont typeface="Symbol" pitchFamily="18" charset="2"/>
              <a:buChar char="·"/>
              <a:defRPr/>
            </a:pPr>
            <a:r>
              <a:rPr lang="en-US" dirty="0">
                <a:ea typeface="ＭＳ Ｐゴシック" pitchFamily="34" charset="-128"/>
              </a:rPr>
              <a:t>Data can be collected in </a:t>
            </a:r>
            <a:r>
              <a:rPr lang="en-US" b="1" dirty="0">
                <a:ea typeface="ＭＳ Ｐゴシック" pitchFamily="34" charset="-128"/>
              </a:rPr>
              <a:t>database</a:t>
            </a:r>
            <a:r>
              <a:rPr lang="en-US" dirty="0">
                <a:ea typeface="ＭＳ Ｐゴシック" pitchFamily="34" charset="-128"/>
              </a:rPr>
              <a:t> for analysis</a:t>
            </a:r>
          </a:p>
          <a:p>
            <a:pPr eaLnBrk="1" hangingPunct="1">
              <a:buFont typeface="Symbol" pitchFamily="18" charset="2"/>
              <a:buChar char="·"/>
              <a:defRPr/>
            </a:pPr>
            <a:r>
              <a:rPr lang="en-US" dirty="0">
                <a:ea typeface="ＭＳ Ｐゴシック" pitchFamily="34" charset="-128"/>
              </a:rPr>
              <a:t>Time required for data analysis is </a:t>
            </a:r>
            <a:r>
              <a:rPr lang="en-US" b="1" dirty="0">
                <a:ea typeface="ＭＳ Ｐゴシック" pitchFamily="34" charset="-128"/>
              </a:rPr>
              <a:t>reduced</a:t>
            </a:r>
          </a:p>
          <a:p>
            <a:pPr eaLnBrk="1" hangingPunct="1">
              <a:buFont typeface="Symbol" pitchFamily="18" charset="2"/>
              <a:buChar char="·"/>
              <a:defRPr/>
            </a:pPr>
            <a:r>
              <a:rPr lang="en-US" dirty="0">
                <a:ea typeface="ＭＳ Ｐゴシック" pitchFamily="34" charset="-128"/>
              </a:rPr>
              <a:t>Errors can be corrected </a:t>
            </a:r>
            <a:r>
              <a:rPr lang="en-US" sz="2800" b="1" dirty="0">
                <a:ea typeface="ＭＳ Ｐゴシック" pitchFamily="34" charset="-128"/>
              </a:rPr>
              <a:t>easily</a:t>
            </a:r>
          </a:p>
          <a:p>
            <a:pPr marL="0" indent="0" eaLnBrk="1" hangingPunct="1">
              <a:buFontTx/>
              <a:buNone/>
              <a:defRPr/>
            </a:pPr>
            <a:endParaRPr lang="en-US" dirty="0"/>
          </a:p>
        </p:txBody>
      </p:sp>
    </p:spTree>
    <p:extLst>
      <p:ext uri="{BB962C8B-B14F-4D97-AF65-F5344CB8AC3E}">
        <p14:creationId xmlns:p14="http://schemas.microsoft.com/office/powerpoint/2010/main" val="3776733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F95734D-D1ED-4713-AA7C-6F7B2D83F9BE}"/>
              </a:ext>
            </a:extLst>
          </p:cNvPr>
          <p:cNvSpPr>
            <a:spLocks noGrp="1" noChangeArrowheads="1"/>
          </p:cNvSpPr>
          <p:nvPr>
            <p:ph type="title"/>
          </p:nvPr>
        </p:nvSpPr>
        <p:spPr>
          <a:xfrm>
            <a:off x="1711034" y="966230"/>
            <a:ext cx="5721930" cy="773590"/>
          </a:xfrm>
        </p:spPr>
        <p:txBody>
          <a:bodyPr>
            <a:normAutofit fontScale="90000"/>
          </a:bodyPr>
          <a:lstStyle/>
          <a:p>
            <a:pPr eaLnBrk="1" fontAlgn="auto" hangingPunct="1">
              <a:spcAft>
                <a:spcPts val="0"/>
              </a:spcAft>
              <a:defRPr/>
            </a:pPr>
            <a:r>
              <a:rPr lang="en-US" dirty="0">
                <a:solidFill>
                  <a:schemeClr val="tx1"/>
                </a:solidFill>
                <a:ea typeface="+mj-ea"/>
              </a:rPr>
              <a:t>Problems with online questionnaires</a:t>
            </a:r>
          </a:p>
        </p:txBody>
      </p:sp>
      <p:sp>
        <p:nvSpPr>
          <p:cNvPr id="33795" name="Rectangle 3">
            <a:extLst>
              <a:ext uri="{FF2B5EF4-FFF2-40B4-BE49-F238E27FC236}">
                <a16:creationId xmlns:a16="http://schemas.microsoft.com/office/drawing/2014/main" id="{8E511C9A-856F-48B7-B553-8FD0E0880D51}"/>
              </a:ext>
            </a:extLst>
          </p:cNvPr>
          <p:cNvSpPr>
            <a:spLocks noGrp="1" noChangeArrowheads="1"/>
          </p:cNvSpPr>
          <p:nvPr>
            <p:ph type="body" idx="1"/>
          </p:nvPr>
        </p:nvSpPr>
        <p:spPr>
          <a:xfrm>
            <a:off x="220866" y="2159540"/>
            <a:ext cx="8706656" cy="4075154"/>
          </a:xfrm>
        </p:spPr>
        <p:txBody>
          <a:bodyPr/>
          <a:lstStyle/>
          <a:p>
            <a:pPr eaLnBrk="1" hangingPunct="1">
              <a:buFont typeface="Symbol" panose="05050102010706020507" pitchFamily="18" charset="2"/>
              <a:buChar char="·"/>
            </a:pPr>
            <a:r>
              <a:rPr lang="en-US" altLang="en-US">
                <a:ea typeface="ＭＳ Ｐゴシック" panose="020B0600070205080204" pitchFamily="34" charset="-128"/>
              </a:rPr>
              <a:t>Sampling is problematic if population size is unknown</a:t>
            </a:r>
          </a:p>
          <a:p>
            <a:pPr eaLnBrk="1" hangingPunct="1">
              <a:buFont typeface="Symbol" panose="05050102010706020507" pitchFamily="18" charset="2"/>
              <a:buChar char="·"/>
            </a:pPr>
            <a:r>
              <a:rPr lang="en-US" altLang="en-US">
                <a:ea typeface="ＭＳ Ｐゴシック" panose="020B0600070205080204" pitchFamily="34" charset="-128"/>
              </a:rPr>
              <a:t>Preventing individuals from responding more than once</a:t>
            </a:r>
          </a:p>
          <a:p>
            <a:pPr eaLnBrk="1" hangingPunct="1">
              <a:buFont typeface="Symbol" panose="05050102010706020507" pitchFamily="18" charset="2"/>
              <a:buChar char="·"/>
            </a:pPr>
            <a:r>
              <a:rPr lang="en-US" altLang="en-US">
                <a:ea typeface="ＭＳ Ｐゴシック" panose="020B0600070205080204" pitchFamily="34" charset="-128"/>
              </a:rPr>
              <a:t>Individuals have also been known to change questions in email questionnaires</a:t>
            </a:r>
          </a:p>
        </p:txBody>
      </p:sp>
    </p:spTree>
    <p:extLst>
      <p:ext uri="{BB962C8B-B14F-4D97-AF65-F5344CB8AC3E}">
        <p14:creationId xmlns:p14="http://schemas.microsoft.com/office/powerpoint/2010/main" val="3304063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E173F9C-80F5-4C93-B05B-6EF33FEB5DB4}"/>
              </a:ext>
            </a:extLst>
          </p:cNvPr>
          <p:cNvSpPr>
            <a:spLocks noGrp="1" noChangeArrowheads="1"/>
          </p:cNvSpPr>
          <p:nvPr>
            <p:ph type="title"/>
          </p:nvPr>
        </p:nvSpPr>
        <p:spPr/>
        <p:txBody>
          <a:bodyPr/>
          <a:lstStyle/>
          <a:p>
            <a:pPr eaLnBrk="1" fontAlgn="auto" hangingPunct="1">
              <a:spcAft>
                <a:spcPts val="0"/>
              </a:spcAft>
              <a:defRPr/>
            </a:pPr>
            <a:r>
              <a:rPr lang="en-US" dirty="0">
                <a:solidFill>
                  <a:schemeClr val="tx1"/>
                </a:solidFill>
                <a:ea typeface="+mj-ea"/>
              </a:rPr>
              <a:t>Observation</a:t>
            </a:r>
          </a:p>
        </p:txBody>
      </p:sp>
      <p:sp>
        <p:nvSpPr>
          <p:cNvPr id="3" name="Content Placeholder 2">
            <a:extLst>
              <a:ext uri="{FF2B5EF4-FFF2-40B4-BE49-F238E27FC236}">
                <a16:creationId xmlns:a16="http://schemas.microsoft.com/office/drawing/2014/main" id="{2FC48572-4DB1-44D4-9605-11FF5D16D4B9}"/>
              </a:ext>
            </a:extLst>
          </p:cNvPr>
          <p:cNvSpPr>
            <a:spLocks noGrp="1"/>
          </p:cNvSpPr>
          <p:nvPr>
            <p:ph type="body" idx="1"/>
          </p:nvPr>
        </p:nvSpPr>
        <p:spPr/>
        <p:txBody>
          <a:bodyPr/>
          <a:lstStyle/>
          <a:p>
            <a:pPr eaLnBrk="1" hangingPunct="1">
              <a:defRPr/>
            </a:pPr>
            <a:r>
              <a:rPr lang="en-US" dirty="0">
                <a:ea typeface="ＭＳ Ｐゴシック" pitchFamily="34" charset="-128"/>
              </a:rPr>
              <a:t>Direct observation in the field</a:t>
            </a:r>
          </a:p>
          <a:p>
            <a:pPr lvl="1" eaLnBrk="1" hangingPunct="1">
              <a:buFont typeface="Lucida Grande" charset="0"/>
              <a:buChar char="–"/>
              <a:defRPr/>
            </a:pPr>
            <a:r>
              <a:rPr lang="en-US" dirty="0">
                <a:ea typeface="ＭＳ Ｐゴシック" pitchFamily="34" charset="-128"/>
              </a:rPr>
              <a:t>Structuring frameworks</a:t>
            </a:r>
          </a:p>
          <a:p>
            <a:pPr lvl="1" eaLnBrk="1" hangingPunct="1">
              <a:buFont typeface="Lucida Grande" charset="0"/>
              <a:buChar char="–"/>
              <a:defRPr/>
            </a:pPr>
            <a:r>
              <a:rPr lang="en-US" dirty="0">
                <a:ea typeface="ＭＳ Ｐゴシック" pitchFamily="34" charset="-128"/>
              </a:rPr>
              <a:t>Degree of participation (insider or outsider)</a:t>
            </a:r>
          </a:p>
          <a:p>
            <a:pPr lvl="1" eaLnBrk="1" hangingPunct="1">
              <a:buFont typeface="Lucida Grande" charset="0"/>
              <a:buChar char="–"/>
              <a:defRPr/>
            </a:pPr>
            <a:r>
              <a:rPr lang="en-US" dirty="0">
                <a:ea typeface="ＭＳ Ｐゴシック" pitchFamily="34" charset="-128"/>
              </a:rPr>
              <a:t>Ethnography</a:t>
            </a:r>
          </a:p>
          <a:p>
            <a:pPr eaLnBrk="1" hangingPunct="1">
              <a:defRPr/>
            </a:pPr>
            <a:r>
              <a:rPr lang="en-US" dirty="0">
                <a:ea typeface="ＭＳ Ｐゴシック" pitchFamily="34" charset="-128"/>
              </a:rPr>
              <a:t>Direct observation in controlled environments</a:t>
            </a:r>
          </a:p>
          <a:p>
            <a:pPr eaLnBrk="1" hangingPunct="1">
              <a:defRPr/>
            </a:pPr>
            <a:r>
              <a:rPr lang="en-US" dirty="0">
                <a:ea typeface="ＭＳ Ｐゴシック" pitchFamily="34" charset="-128"/>
              </a:rPr>
              <a:t>Indirect observation: tracking users</a:t>
            </a:r>
            <a:r>
              <a:rPr lang="ja-JP" altLang="en-US" dirty="0">
                <a:ea typeface="ＭＳ Ｐゴシック" pitchFamily="34" charset="-128"/>
              </a:rPr>
              <a:t>’</a:t>
            </a:r>
            <a:r>
              <a:rPr lang="en-US" altLang="ja-JP" dirty="0">
                <a:ea typeface="ＭＳ Ｐゴシック" pitchFamily="34" charset="-128"/>
              </a:rPr>
              <a:t> activities</a:t>
            </a:r>
          </a:p>
          <a:p>
            <a:pPr lvl="1" eaLnBrk="1" hangingPunct="1">
              <a:buFont typeface="Lucida Grande" charset="0"/>
              <a:buChar char="–"/>
              <a:defRPr/>
            </a:pPr>
            <a:r>
              <a:rPr lang="en-US" dirty="0">
                <a:ea typeface="ＭＳ Ｐゴシック" pitchFamily="34" charset="-128"/>
              </a:rPr>
              <a:t>Diaries</a:t>
            </a:r>
          </a:p>
          <a:p>
            <a:pPr lvl="1" eaLnBrk="1" hangingPunct="1">
              <a:buFont typeface="Lucida Grande" charset="0"/>
              <a:buChar char="–"/>
              <a:defRPr/>
            </a:pPr>
            <a:r>
              <a:rPr lang="en-US" dirty="0">
                <a:ea typeface="ＭＳ Ｐゴシック" pitchFamily="34" charset="-128"/>
              </a:rPr>
              <a:t>Interaction logging</a:t>
            </a:r>
          </a:p>
          <a:p>
            <a:pPr marL="0" indent="0" eaLnBrk="1" hangingPunct="1">
              <a:buFontTx/>
              <a:buNone/>
              <a:defRPr/>
            </a:pPr>
            <a:endParaRPr lang="en-US" dirty="0"/>
          </a:p>
        </p:txBody>
      </p:sp>
    </p:spTree>
    <p:extLst>
      <p:ext uri="{BB962C8B-B14F-4D97-AF65-F5344CB8AC3E}">
        <p14:creationId xmlns:p14="http://schemas.microsoft.com/office/powerpoint/2010/main" val="1625100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EF70FF2-1342-4531-8776-1E8C82838A84}"/>
              </a:ext>
            </a:extLst>
          </p:cNvPr>
          <p:cNvSpPr>
            <a:spLocks noGrp="1" noChangeArrowheads="1"/>
          </p:cNvSpPr>
          <p:nvPr>
            <p:ph type="title"/>
          </p:nvPr>
        </p:nvSpPr>
        <p:spPr>
          <a:xfrm>
            <a:off x="1711035" y="893514"/>
            <a:ext cx="5721930" cy="773590"/>
          </a:xfrm>
        </p:spPr>
        <p:txBody>
          <a:bodyPr>
            <a:normAutofit fontScale="90000"/>
          </a:bodyPr>
          <a:lstStyle/>
          <a:p>
            <a:pPr eaLnBrk="1" fontAlgn="auto" hangingPunct="1">
              <a:spcAft>
                <a:spcPts val="0"/>
              </a:spcAft>
              <a:defRPr/>
            </a:pPr>
            <a:r>
              <a:rPr lang="en-US" dirty="0">
                <a:solidFill>
                  <a:schemeClr val="tx1"/>
                </a:solidFill>
                <a:ea typeface="+mj-ea"/>
              </a:rPr>
              <a:t>Structuring frameworks to guide observation</a:t>
            </a:r>
          </a:p>
        </p:txBody>
      </p:sp>
      <p:sp>
        <p:nvSpPr>
          <p:cNvPr id="35843" name="Rectangle 3">
            <a:extLst>
              <a:ext uri="{FF2B5EF4-FFF2-40B4-BE49-F238E27FC236}">
                <a16:creationId xmlns:a16="http://schemas.microsoft.com/office/drawing/2014/main" id="{E58AC9F2-B8AC-4DC8-A249-5AF3147F20F6}"/>
              </a:ext>
            </a:extLst>
          </p:cNvPr>
          <p:cNvSpPr>
            <a:spLocks noGrp="1" noChangeArrowheads="1"/>
          </p:cNvSpPr>
          <p:nvPr>
            <p:ph type="body" idx="1"/>
          </p:nvPr>
        </p:nvSpPr>
        <p:spPr>
          <a:xfrm>
            <a:off x="220866" y="2373549"/>
            <a:ext cx="8706656" cy="3861145"/>
          </a:xfrm>
        </p:spPr>
        <p:txBody>
          <a:bodyPr/>
          <a:lstStyle/>
          <a:p>
            <a:pPr eaLnBrk="1" hangingPunct="1"/>
            <a:r>
              <a:rPr lang="en-US" altLang="en-US" sz="2000">
                <a:ea typeface="ＭＳ Ｐゴシック" panose="020B0600070205080204" pitchFamily="34" charset="-128"/>
              </a:rPr>
              <a:t>- </a:t>
            </a:r>
            <a:r>
              <a:rPr lang="en-US" altLang="en-US" sz="2000" i="1">
                <a:ea typeface="ＭＳ Ｐゴシック" panose="020B0600070205080204" pitchFamily="34" charset="-128"/>
              </a:rPr>
              <a:t>The person</a:t>
            </a:r>
            <a:r>
              <a:rPr lang="en-US" altLang="en-US" sz="2000">
                <a:ea typeface="ＭＳ Ｐゴシック" panose="020B0600070205080204" pitchFamily="34" charset="-128"/>
              </a:rPr>
              <a:t>. Who? </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The place.</a:t>
            </a:r>
            <a:r>
              <a:rPr lang="en-US" altLang="en-US" sz="2000">
                <a:ea typeface="ＭＳ Ｐゴシック" panose="020B0600070205080204" pitchFamily="34" charset="-128"/>
              </a:rPr>
              <a:t> Where?</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The thing.</a:t>
            </a:r>
            <a:r>
              <a:rPr lang="en-US" altLang="en-US" sz="2000">
                <a:ea typeface="ＭＳ Ｐゴシック" panose="020B0600070205080204" pitchFamily="34" charset="-128"/>
              </a:rPr>
              <a:t> What?</a:t>
            </a:r>
          </a:p>
          <a:p>
            <a:pPr eaLnBrk="1" hangingPunct="1"/>
            <a:r>
              <a:rPr lang="en-US" altLang="en-US" sz="2000">
                <a:ea typeface="ＭＳ Ｐゴシック" panose="020B0600070205080204" pitchFamily="34" charset="-128"/>
              </a:rPr>
              <a:t> The Goetz and LeCompte (1984) framework:</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Who</a:t>
            </a:r>
            <a:r>
              <a:rPr lang="en-US" altLang="en-US" sz="2000">
                <a:ea typeface="ＭＳ Ｐゴシック" panose="020B0600070205080204" pitchFamily="34" charset="-128"/>
              </a:rPr>
              <a:t> is present? </a:t>
            </a:r>
            <a:br>
              <a:rPr lang="en-US" altLang="en-US" sz="2000">
                <a:ea typeface="ＭＳ Ｐゴシック" panose="020B0600070205080204" pitchFamily="34" charset="-128"/>
              </a:rPr>
            </a:br>
            <a:r>
              <a:rPr lang="en-US" altLang="en-US" sz="2000">
                <a:ea typeface="ＭＳ Ｐゴシック" panose="020B0600070205080204" pitchFamily="34" charset="-128"/>
              </a:rPr>
              <a:t>- What is their role? </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What</a:t>
            </a:r>
            <a:r>
              <a:rPr lang="en-US" altLang="en-US" sz="2000">
                <a:ea typeface="ＭＳ Ｐゴシック" panose="020B0600070205080204" pitchFamily="34" charset="-128"/>
              </a:rPr>
              <a:t> is happening? </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When</a:t>
            </a:r>
            <a:r>
              <a:rPr lang="en-US" altLang="en-US" sz="2000">
                <a:ea typeface="ＭＳ Ｐゴシック" panose="020B0600070205080204" pitchFamily="34" charset="-128"/>
              </a:rPr>
              <a:t> does the activity occur?</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Where</a:t>
            </a:r>
            <a:r>
              <a:rPr lang="en-US" altLang="en-US" sz="2000">
                <a:ea typeface="ＭＳ Ｐゴシック" panose="020B0600070205080204" pitchFamily="34" charset="-128"/>
              </a:rPr>
              <a:t> is it happening? </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Why</a:t>
            </a:r>
            <a:r>
              <a:rPr lang="en-US" altLang="en-US" sz="2000">
                <a:ea typeface="ＭＳ Ｐゴシック" panose="020B0600070205080204" pitchFamily="34" charset="-128"/>
              </a:rPr>
              <a:t> is it happening? </a:t>
            </a:r>
            <a:br>
              <a:rPr lang="en-US" altLang="en-US" sz="2000">
                <a:ea typeface="ＭＳ Ｐゴシック" panose="020B0600070205080204" pitchFamily="34" charset="-128"/>
              </a:rPr>
            </a:br>
            <a:r>
              <a:rPr lang="en-US" altLang="en-US" sz="2000">
                <a:ea typeface="ＭＳ Ｐゴシック" panose="020B0600070205080204" pitchFamily="34" charset="-128"/>
              </a:rPr>
              <a:t>- </a:t>
            </a:r>
            <a:r>
              <a:rPr lang="en-US" altLang="en-US" sz="2000" i="1">
                <a:ea typeface="ＭＳ Ｐゴシック" panose="020B0600070205080204" pitchFamily="34" charset="-128"/>
              </a:rPr>
              <a:t>How</a:t>
            </a:r>
            <a:r>
              <a:rPr lang="en-US" altLang="en-US" sz="2000">
                <a:ea typeface="ＭＳ Ｐゴシック" panose="020B0600070205080204" pitchFamily="34" charset="-128"/>
              </a:rPr>
              <a:t> is the activity organized? </a:t>
            </a:r>
          </a:p>
        </p:txBody>
      </p:sp>
    </p:spTree>
    <p:extLst>
      <p:ext uri="{BB962C8B-B14F-4D97-AF65-F5344CB8AC3E}">
        <p14:creationId xmlns:p14="http://schemas.microsoft.com/office/powerpoint/2010/main" val="270397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8C2DBA53-B7E8-450E-9820-9BC4281948AE}"/>
              </a:ext>
            </a:extLst>
          </p:cNvPr>
          <p:cNvSpPr>
            <a:spLocks noGrp="1" noChangeArrowheads="1"/>
          </p:cNvSpPr>
          <p:nvPr>
            <p:ph type="title"/>
          </p:nvPr>
        </p:nvSpPr>
        <p:spPr/>
        <p:txBody>
          <a:bodyPr/>
          <a:lstStyle/>
          <a:p>
            <a:pPr eaLnBrk="1" fontAlgn="auto" hangingPunct="1">
              <a:spcAft>
                <a:spcPts val="0"/>
              </a:spcAft>
              <a:defRPr/>
            </a:pPr>
            <a:r>
              <a:rPr lang="en-US" dirty="0">
                <a:solidFill>
                  <a:schemeClr val="tx1"/>
                </a:solidFill>
                <a:ea typeface="+mj-ea"/>
              </a:rPr>
              <a:t>Ethnography (1)</a:t>
            </a:r>
          </a:p>
        </p:txBody>
      </p:sp>
      <p:sp>
        <p:nvSpPr>
          <p:cNvPr id="36867" name="Rectangle 3">
            <a:extLst>
              <a:ext uri="{FF2B5EF4-FFF2-40B4-BE49-F238E27FC236}">
                <a16:creationId xmlns:a16="http://schemas.microsoft.com/office/drawing/2014/main" id="{C99946EF-ECC8-45B6-AFE4-3DFB96FF1E9C}"/>
              </a:ext>
            </a:extLst>
          </p:cNvPr>
          <p:cNvSpPr>
            <a:spLocks noGrp="1" noChangeArrowheads="1"/>
          </p:cNvSpPr>
          <p:nvPr>
            <p:ph type="body" idx="1"/>
          </p:nvPr>
        </p:nvSpPr>
        <p:spPr/>
        <p:txBody>
          <a:bodyPr/>
          <a:lstStyle/>
          <a:p>
            <a:pPr eaLnBrk="1" hangingPunct="1">
              <a:lnSpc>
                <a:spcPct val="90000"/>
              </a:lnSpc>
              <a:buFont typeface="Symbol" panose="05050102010706020507" pitchFamily="18" charset="2"/>
              <a:buChar char="·"/>
            </a:pPr>
            <a:r>
              <a:rPr lang="en-US" altLang="en-US" sz="2000">
                <a:ea typeface="ＭＳ Ｐゴシック" panose="020B0600070205080204" pitchFamily="34" charset="-128"/>
              </a:rPr>
              <a:t>Ethnography is a philosophy with a set of techniques that include participant observation and interviews</a:t>
            </a:r>
          </a:p>
          <a:p>
            <a:pPr eaLnBrk="1" hangingPunct="1">
              <a:lnSpc>
                <a:spcPct val="90000"/>
              </a:lnSpc>
              <a:buFont typeface="Symbol" panose="05050102010706020507" pitchFamily="18" charset="2"/>
              <a:buChar char="·"/>
            </a:pPr>
            <a:r>
              <a:rPr lang="en-US" altLang="en-US" sz="2000">
                <a:ea typeface="ＭＳ Ｐゴシック" panose="020B0600070205080204" pitchFamily="34" charset="-128"/>
              </a:rPr>
              <a:t>Debate about differences between participant observation and ethnography</a:t>
            </a:r>
          </a:p>
          <a:p>
            <a:pPr eaLnBrk="1" hangingPunct="1">
              <a:lnSpc>
                <a:spcPct val="90000"/>
              </a:lnSpc>
              <a:buFont typeface="Symbol" panose="05050102010706020507" pitchFamily="18" charset="2"/>
              <a:buChar char="·"/>
            </a:pPr>
            <a:r>
              <a:rPr lang="en-US" altLang="en-US" sz="2000">
                <a:ea typeface="ＭＳ Ｐゴシック" panose="020B0600070205080204" pitchFamily="34" charset="-128"/>
              </a:rPr>
              <a:t>Ethnographers immerse themselves in the culture that they study</a:t>
            </a:r>
          </a:p>
          <a:p>
            <a:pPr eaLnBrk="1" hangingPunct="1">
              <a:lnSpc>
                <a:spcPct val="90000"/>
              </a:lnSpc>
              <a:buFont typeface="Symbol" panose="05050102010706020507" pitchFamily="18" charset="2"/>
              <a:buChar char="·"/>
            </a:pPr>
            <a:r>
              <a:rPr lang="en-US" altLang="en-US" sz="2000">
                <a:ea typeface="ＭＳ Ｐゴシック" panose="020B0600070205080204" pitchFamily="34" charset="-128"/>
              </a:rPr>
              <a:t>A researcher</a:t>
            </a:r>
            <a:r>
              <a:rPr lang="ja-JP" altLang="en-US" sz="2000">
                <a:ea typeface="ＭＳ Ｐゴシック" panose="020B0600070205080204" pitchFamily="34" charset="-128"/>
              </a:rPr>
              <a:t>’</a:t>
            </a:r>
            <a:r>
              <a:rPr lang="en-US" altLang="ja-JP" sz="2000">
                <a:ea typeface="ＭＳ Ｐゴシック" panose="020B0600070205080204" pitchFamily="34" charset="-128"/>
              </a:rPr>
              <a:t>s degree of participation can vary along a scale from </a:t>
            </a:r>
            <a:r>
              <a:rPr lang="ja-JP" altLang="en-US" sz="2000">
                <a:ea typeface="ＭＳ Ｐゴシック" panose="020B0600070205080204" pitchFamily="34" charset="-128"/>
              </a:rPr>
              <a:t>‘</a:t>
            </a:r>
            <a:r>
              <a:rPr lang="en-US" altLang="ja-JP" sz="2000">
                <a:ea typeface="ＭＳ Ｐゴシック" panose="020B0600070205080204" pitchFamily="34" charset="-128"/>
              </a:rPr>
              <a:t>outside</a:t>
            </a:r>
            <a:r>
              <a:rPr lang="ja-JP" altLang="en-US" sz="2000">
                <a:ea typeface="ＭＳ Ｐゴシック" panose="020B0600070205080204" pitchFamily="34" charset="-128"/>
              </a:rPr>
              <a:t>’</a:t>
            </a:r>
            <a:r>
              <a:rPr lang="en-US" altLang="ja-JP" sz="2000">
                <a:ea typeface="ＭＳ Ｐゴシック" panose="020B0600070205080204" pitchFamily="34" charset="-128"/>
              </a:rPr>
              <a:t> to </a:t>
            </a:r>
            <a:r>
              <a:rPr lang="ja-JP" altLang="en-US" sz="2000">
                <a:ea typeface="ＭＳ Ｐゴシック" panose="020B0600070205080204" pitchFamily="34" charset="-128"/>
              </a:rPr>
              <a:t>‘</a:t>
            </a:r>
            <a:r>
              <a:rPr lang="en-US" altLang="ja-JP" sz="2000">
                <a:ea typeface="ＭＳ Ｐゴシック" panose="020B0600070205080204" pitchFamily="34" charset="-128"/>
              </a:rPr>
              <a:t>inside</a:t>
            </a:r>
            <a:r>
              <a:rPr lang="ja-JP" altLang="en-US" sz="2000">
                <a:ea typeface="ＭＳ Ｐゴシック" panose="020B0600070205080204" pitchFamily="34" charset="-128"/>
              </a:rPr>
              <a:t>’</a:t>
            </a:r>
            <a:endParaRPr lang="en-US" altLang="ja-JP" sz="2000">
              <a:ea typeface="ＭＳ Ｐゴシック" panose="020B0600070205080204" pitchFamily="34" charset="-128"/>
            </a:endParaRPr>
          </a:p>
          <a:p>
            <a:pPr eaLnBrk="1" hangingPunct="1">
              <a:lnSpc>
                <a:spcPct val="90000"/>
              </a:lnSpc>
              <a:buFont typeface="Symbol" panose="05050102010706020507" pitchFamily="18" charset="2"/>
              <a:buChar char="·"/>
            </a:pPr>
            <a:r>
              <a:rPr lang="en-US" altLang="en-US" sz="2000">
                <a:ea typeface="ＭＳ Ｐゴシック" panose="020B0600070205080204" pitchFamily="34" charset="-128"/>
              </a:rPr>
              <a:t>Analyzing video and data logs can be time-consuming</a:t>
            </a:r>
          </a:p>
          <a:p>
            <a:pPr eaLnBrk="1" hangingPunct="1">
              <a:lnSpc>
                <a:spcPct val="90000"/>
              </a:lnSpc>
              <a:buFont typeface="Symbol" panose="05050102010706020507" pitchFamily="18" charset="2"/>
              <a:buChar char="·"/>
            </a:pPr>
            <a:r>
              <a:rPr lang="en-US" altLang="en-US" sz="2000">
                <a:ea typeface="ＭＳ Ｐゴシック" panose="020B0600070205080204" pitchFamily="34" charset="-128"/>
              </a:rPr>
              <a:t>Collections of comments, incidents, and artifacts are made </a:t>
            </a:r>
          </a:p>
        </p:txBody>
      </p:sp>
    </p:spTree>
    <p:extLst>
      <p:ext uri="{BB962C8B-B14F-4D97-AF65-F5344CB8AC3E}">
        <p14:creationId xmlns:p14="http://schemas.microsoft.com/office/powerpoint/2010/main" val="3880496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799FF25-50F8-4716-90B3-1520B17E336B}"/>
              </a:ext>
            </a:extLst>
          </p:cNvPr>
          <p:cNvSpPr>
            <a:spLocks noGrp="1" noChangeArrowheads="1"/>
          </p:cNvSpPr>
          <p:nvPr>
            <p:ph type="title"/>
          </p:nvPr>
        </p:nvSpPr>
        <p:spPr/>
        <p:txBody>
          <a:bodyPr>
            <a:normAutofit/>
          </a:bodyPr>
          <a:lstStyle/>
          <a:p>
            <a:pPr eaLnBrk="1" fontAlgn="auto" hangingPunct="1">
              <a:spcAft>
                <a:spcPts val="0"/>
              </a:spcAft>
              <a:defRPr/>
            </a:pPr>
            <a:r>
              <a:rPr lang="en-US" dirty="0">
                <a:solidFill>
                  <a:schemeClr val="tx1"/>
                </a:solidFill>
                <a:ea typeface="+mj-ea"/>
              </a:rPr>
              <a:t>Ethnography (2)</a:t>
            </a:r>
          </a:p>
        </p:txBody>
      </p:sp>
      <p:sp>
        <p:nvSpPr>
          <p:cNvPr id="7" name="Content Placeholder 6"/>
          <p:cNvSpPr>
            <a:spLocks noGrp="1"/>
          </p:cNvSpPr>
          <p:nvPr>
            <p:ph type="body" idx="1"/>
          </p:nvPr>
        </p:nvSpPr>
        <p:spPr/>
        <p:txBody>
          <a:bodyPr/>
          <a:lstStyle/>
          <a:p>
            <a:pPr>
              <a:spcBef>
                <a:spcPts val="0"/>
              </a:spcBef>
              <a:defRPr/>
            </a:pPr>
            <a:r>
              <a:rPr lang="en-US" dirty="0">
                <a:ea typeface="ＭＳ Ｐゴシック" pitchFamily="34" charset="-128"/>
              </a:rPr>
              <a:t>Co-operation of people being observed is required</a:t>
            </a:r>
          </a:p>
          <a:p>
            <a:pPr>
              <a:spcBef>
                <a:spcPts val="0"/>
              </a:spcBef>
              <a:defRPr/>
            </a:pPr>
            <a:r>
              <a:rPr lang="en-US" dirty="0">
                <a:ea typeface="ＭＳ Ｐゴシック" pitchFamily="34" charset="-128"/>
              </a:rPr>
              <a:t>Informants are useful</a:t>
            </a:r>
          </a:p>
          <a:p>
            <a:pPr>
              <a:spcBef>
                <a:spcPts val="0"/>
              </a:spcBef>
              <a:defRPr/>
            </a:pPr>
            <a:r>
              <a:rPr lang="en-US" dirty="0">
                <a:ea typeface="ＭＳ Ｐゴシック" pitchFamily="34" charset="-128"/>
              </a:rPr>
              <a:t>Data analysis is continuous</a:t>
            </a:r>
          </a:p>
          <a:p>
            <a:pPr>
              <a:spcBef>
                <a:spcPts val="0"/>
              </a:spcBef>
              <a:defRPr/>
            </a:pPr>
            <a:r>
              <a:rPr lang="en-US" dirty="0">
                <a:ea typeface="ＭＳ Ｐゴシック" pitchFamily="34" charset="-128"/>
              </a:rPr>
              <a:t>Interpretivist technique</a:t>
            </a:r>
          </a:p>
          <a:p>
            <a:pPr marL="0" indent="0">
              <a:spcBef>
                <a:spcPts val="0"/>
              </a:spcBef>
              <a:buNone/>
              <a:defRPr/>
            </a:pPr>
            <a:endParaRPr lang="en-US" dirty="0">
              <a:ea typeface="ＭＳ Ｐゴシック" pitchFamily="34" charset="-128"/>
            </a:endParaRPr>
          </a:p>
          <a:p>
            <a:pPr>
              <a:spcBef>
                <a:spcPts val="0"/>
              </a:spcBef>
              <a:defRPr/>
            </a:pPr>
            <a:r>
              <a:rPr lang="en-US" dirty="0">
                <a:ea typeface="ＭＳ Ｐゴシック" pitchFamily="34" charset="-128"/>
              </a:rPr>
              <a:t>Questions get refined as understanding grows</a:t>
            </a:r>
          </a:p>
          <a:p>
            <a:pPr>
              <a:spcBef>
                <a:spcPts val="0"/>
              </a:spcBef>
              <a:defRPr/>
            </a:pPr>
            <a:r>
              <a:rPr lang="en-US" dirty="0">
                <a:ea typeface="ＭＳ Ｐゴシック" pitchFamily="34" charset="-128"/>
              </a:rPr>
              <a:t>Reports usually contain examples</a:t>
            </a:r>
          </a:p>
          <a:p>
            <a:pPr>
              <a:spcBef>
                <a:spcPts val="0"/>
              </a:spcBef>
            </a:pPr>
            <a:endParaRPr lang="id-ID" dirty="0"/>
          </a:p>
          <a:p>
            <a:endParaRPr lang="id-ID" dirty="0"/>
          </a:p>
        </p:txBody>
      </p:sp>
      <p:pic>
        <p:nvPicPr>
          <p:cNvPr id="37892" name="Picture 4" descr="7-11A">
            <a:extLst>
              <a:ext uri="{FF2B5EF4-FFF2-40B4-BE49-F238E27FC236}">
                <a16:creationId xmlns:a16="http://schemas.microsoft.com/office/drawing/2014/main" id="{B917361C-FB28-4AE7-B3FB-5A8BA2EE76F5}"/>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tretch>
            <a:fillRect/>
          </a:stretch>
        </p:blipFill>
        <p:spPr>
          <a:xfrm>
            <a:off x="5857875" y="2259013"/>
            <a:ext cx="3286125" cy="2463800"/>
          </a:xfrm>
          <a:noFill/>
        </p:spPr>
      </p:pic>
    </p:spTree>
    <p:extLst>
      <p:ext uri="{BB962C8B-B14F-4D97-AF65-F5344CB8AC3E}">
        <p14:creationId xmlns:p14="http://schemas.microsoft.com/office/powerpoint/2010/main" val="525170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935F77E7-E1AE-441C-89EE-55FAF132932E}"/>
              </a:ext>
            </a:extLst>
          </p:cNvPr>
          <p:cNvSpPr>
            <a:spLocks noGrp="1" noChangeArrowheads="1"/>
          </p:cNvSpPr>
          <p:nvPr>
            <p:ph type="title"/>
          </p:nvPr>
        </p:nvSpPr>
        <p:spPr/>
        <p:txBody>
          <a:bodyPr>
            <a:normAutofit fontScale="90000"/>
          </a:bodyPr>
          <a:lstStyle/>
          <a:p>
            <a:pPr eaLnBrk="1" fontAlgn="auto" hangingPunct="1">
              <a:spcAft>
                <a:spcPts val="0"/>
              </a:spcAft>
              <a:defRPr/>
            </a:pPr>
            <a:r>
              <a:rPr lang="en-US" dirty="0">
                <a:solidFill>
                  <a:schemeClr val="tx1"/>
                </a:solidFill>
                <a:ea typeface="+mj-ea"/>
              </a:rPr>
              <a:t>Direct observation in a controlled setting</a:t>
            </a:r>
          </a:p>
        </p:txBody>
      </p:sp>
      <p:sp>
        <p:nvSpPr>
          <p:cNvPr id="38915" name="Rectangle 3">
            <a:extLst>
              <a:ext uri="{FF2B5EF4-FFF2-40B4-BE49-F238E27FC236}">
                <a16:creationId xmlns:a16="http://schemas.microsoft.com/office/drawing/2014/main" id="{BF7A66CE-FBDC-4394-A996-1ACC3934A3D7}"/>
              </a:ext>
            </a:extLst>
          </p:cNvPr>
          <p:cNvSpPr>
            <a:spLocks noGrp="1" noChangeArrowheads="1"/>
          </p:cNvSpPr>
          <p:nvPr>
            <p:ph type="body" idx="1"/>
          </p:nvPr>
        </p:nvSpPr>
        <p:spPr/>
        <p:txBody>
          <a:bodyPr>
            <a:normAutofit/>
          </a:bodyPr>
          <a:lstStyle/>
          <a:p>
            <a:pPr marL="457200" indent="-457200" algn="l" eaLnBrk="1" hangingPunct="1">
              <a:buFont typeface="Arial" panose="020B0604020202020204" pitchFamily="34" charset="0"/>
              <a:buChar char="•"/>
            </a:pPr>
            <a:r>
              <a:rPr lang="en-US" altLang="en-US" sz="2800" dirty="0">
                <a:solidFill>
                  <a:schemeClr val="tx1"/>
                </a:solidFill>
                <a:ea typeface="ＭＳ Ｐゴシック" panose="020B0600070205080204" pitchFamily="34" charset="-128"/>
              </a:rPr>
              <a:t>Think-aloud technique</a:t>
            </a:r>
          </a:p>
        </p:txBody>
      </p:sp>
      <p:sp>
        <p:nvSpPr>
          <p:cNvPr id="38916" name="Rectangle 4">
            <a:extLst>
              <a:ext uri="{FF2B5EF4-FFF2-40B4-BE49-F238E27FC236}">
                <a16:creationId xmlns:a16="http://schemas.microsoft.com/office/drawing/2014/main" id="{DBB08334-0B58-483C-96DB-CF88503B86A0}"/>
              </a:ext>
            </a:extLst>
          </p:cNvPr>
          <p:cNvSpPr>
            <a:spLocks noChangeArrowheads="1"/>
          </p:cNvSpPr>
          <p:nvPr/>
        </p:nvSpPr>
        <p:spPr bwMode="auto">
          <a:xfrm>
            <a:off x="762000" y="3332163"/>
            <a:ext cx="8534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3600" b="1" dirty="0">
                <a:latin typeface="Verdana" panose="020B0604030504040204" pitchFamily="34" charset="0"/>
              </a:rPr>
              <a:t>Indirect observation</a:t>
            </a:r>
          </a:p>
        </p:txBody>
      </p:sp>
      <p:sp>
        <p:nvSpPr>
          <p:cNvPr id="38917" name="Rectangle 5">
            <a:extLst>
              <a:ext uri="{FF2B5EF4-FFF2-40B4-BE49-F238E27FC236}">
                <a16:creationId xmlns:a16="http://schemas.microsoft.com/office/drawing/2014/main" id="{D559C163-90BA-4256-9E36-41E43750E4C5}"/>
              </a:ext>
            </a:extLst>
          </p:cNvPr>
          <p:cNvSpPr>
            <a:spLocks noChangeArrowheads="1"/>
          </p:cNvSpPr>
          <p:nvPr/>
        </p:nvSpPr>
        <p:spPr bwMode="auto">
          <a:xfrm>
            <a:off x="152400" y="4343400"/>
            <a:ext cx="8458200"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FontTx/>
              <a:buChar char="•"/>
            </a:pPr>
            <a:r>
              <a:rPr lang="en-US" altLang="en-US" sz="3200" dirty="0">
                <a:latin typeface="Verdana" panose="020B0604030504040204" pitchFamily="34" charset="0"/>
              </a:rPr>
              <a:t>Diaries</a:t>
            </a:r>
          </a:p>
          <a:p>
            <a:pPr algn="r" eaLnBrk="1" hangingPunct="1">
              <a:spcBef>
                <a:spcPct val="20000"/>
              </a:spcBef>
              <a:buFontTx/>
              <a:buChar char="•"/>
            </a:pPr>
            <a:r>
              <a:rPr lang="en-US" altLang="en-US" sz="3200" dirty="0">
                <a:latin typeface="Verdana" panose="020B0604030504040204" pitchFamily="34" charset="0"/>
              </a:rPr>
              <a:t>Interaction logs</a:t>
            </a:r>
          </a:p>
          <a:p>
            <a:pPr eaLnBrk="1" hangingPunct="1">
              <a:spcBef>
                <a:spcPct val="20000"/>
              </a:spcBef>
              <a:buFontTx/>
              <a:buChar char="•"/>
            </a:pPr>
            <a:endParaRPr lang="en-US" altLang="en-US" sz="3200" dirty="0">
              <a:latin typeface="Verdana" panose="020B0604030504040204" pitchFamily="34" charset="0"/>
            </a:endParaRPr>
          </a:p>
        </p:txBody>
      </p:sp>
    </p:spTree>
    <p:extLst>
      <p:ext uri="{BB962C8B-B14F-4D97-AF65-F5344CB8AC3E}">
        <p14:creationId xmlns:p14="http://schemas.microsoft.com/office/powerpoint/2010/main" val="42383982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AE3895B-C327-417B-B408-CAC34E916D63}"/>
              </a:ext>
            </a:extLst>
          </p:cNvPr>
          <p:cNvSpPr>
            <a:spLocks noGrp="1" noChangeArrowheads="1"/>
          </p:cNvSpPr>
          <p:nvPr>
            <p:ph type="title"/>
          </p:nvPr>
        </p:nvSpPr>
        <p:spPr/>
        <p:txBody>
          <a:bodyPr>
            <a:normAutofit fontScale="90000"/>
          </a:bodyPr>
          <a:lstStyle/>
          <a:p>
            <a:pPr eaLnBrk="1" fontAlgn="auto" hangingPunct="1">
              <a:spcAft>
                <a:spcPts val="0"/>
              </a:spcAft>
              <a:defRPr/>
            </a:pPr>
            <a:r>
              <a:rPr lang="en-US" dirty="0">
                <a:solidFill>
                  <a:schemeClr val="tx1"/>
                </a:solidFill>
                <a:ea typeface="+mj-ea"/>
              </a:rPr>
              <a:t>Choosing and combining techniques</a:t>
            </a:r>
          </a:p>
        </p:txBody>
      </p:sp>
      <p:sp>
        <p:nvSpPr>
          <p:cNvPr id="2" name="Content Placeholder 1">
            <a:extLst>
              <a:ext uri="{FF2B5EF4-FFF2-40B4-BE49-F238E27FC236}">
                <a16:creationId xmlns:a16="http://schemas.microsoft.com/office/drawing/2014/main" id="{AB50395B-15D8-4606-B124-4B5DC5C18544}"/>
              </a:ext>
            </a:extLst>
          </p:cNvPr>
          <p:cNvSpPr>
            <a:spLocks noGrp="1"/>
          </p:cNvSpPr>
          <p:nvPr>
            <p:ph type="body" idx="1"/>
          </p:nvPr>
        </p:nvSpPr>
        <p:spPr/>
        <p:txBody>
          <a:bodyPr/>
          <a:lstStyle/>
          <a:p>
            <a:pPr eaLnBrk="1" hangingPunct="1">
              <a:defRPr/>
            </a:pPr>
            <a:r>
              <a:rPr lang="en-US" dirty="0">
                <a:ea typeface="ＭＳ Ｐゴシック" pitchFamily="34" charset="-128"/>
              </a:rPr>
              <a:t>Depends on</a:t>
            </a:r>
          </a:p>
          <a:p>
            <a:pPr lvl="1" eaLnBrk="1" hangingPunct="1">
              <a:buFont typeface="Lucida Grande" charset="0"/>
              <a:buChar char="–"/>
              <a:defRPr/>
            </a:pPr>
            <a:r>
              <a:rPr lang="en-US" sz="2400" dirty="0">
                <a:ea typeface="ＭＳ Ｐゴシック" pitchFamily="34" charset="-128"/>
              </a:rPr>
              <a:t>The focus of the study</a:t>
            </a:r>
          </a:p>
          <a:p>
            <a:pPr lvl="1" eaLnBrk="1" hangingPunct="1">
              <a:buFont typeface="Lucida Grande" charset="0"/>
              <a:buChar char="–"/>
              <a:defRPr/>
            </a:pPr>
            <a:r>
              <a:rPr lang="en-US" sz="2400" dirty="0">
                <a:ea typeface="ＭＳ Ｐゴシック" pitchFamily="34" charset="-128"/>
              </a:rPr>
              <a:t>The participants involved</a:t>
            </a:r>
          </a:p>
          <a:p>
            <a:pPr lvl="1" eaLnBrk="1" hangingPunct="1">
              <a:buFont typeface="Lucida Grande" charset="0"/>
              <a:buChar char="–"/>
              <a:defRPr/>
            </a:pPr>
            <a:r>
              <a:rPr lang="en-US" sz="2400" dirty="0">
                <a:ea typeface="ＭＳ Ｐゴシック" pitchFamily="34" charset="-128"/>
              </a:rPr>
              <a:t>The nature of the technique</a:t>
            </a:r>
          </a:p>
          <a:p>
            <a:pPr lvl="1" eaLnBrk="1" hangingPunct="1">
              <a:buFont typeface="Lucida Grande" charset="0"/>
              <a:buChar char="–"/>
              <a:defRPr/>
            </a:pPr>
            <a:r>
              <a:rPr lang="en-US" sz="2400" dirty="0">
                <a:ea typeface="ＭＳ Ｐゴシック" pitchFamily="34" charset="-128"/>
              </a:rPr>
              <a:t>The resources available</a:t>
            </a:r>
          </a:p>
          <a:p>
            <a:pPr marL="0" indent="0" eaLnBrk="1" hangingPunct="1">
              <a:buFontTx/>
              <a:buNone/>
              <a:defRPr/>
            </a:pPr>
            <a:endParaRPr lang="en-US" dirty="0"/>
          </a:p>
        </p:txBody>
      </p:sp>
    </p:spTree>
    <p:extLst>
      <p:ext uri="{BB962C8B-B14F-4D97-AF65-F5344CB8AC3E}">
        <p14:creationId xmlns:p14="http://schemas.microsoft.com/office/powerpoint/2010/main" val="4181942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77D38C-C01D-4A99-8C22-7C2B93FCFF2B}"/>
              </a:ext>
            </a:extLst>
          </p:cNvPr>
          <p:cNvSpPr>
            <a:spLocks noGrp="1"/>
          </p:cNvSpPr>
          <p:nvPr>
            <p:ph type="title"/>
          </p:nvPr>
        </p:nvSpPr>
        <p:spPr>
          <a:xfrm>
            <a:off x="1711034" y="2795031"/>
            <a:ext cx="5721930" cy="773590"/>
          </a:xfrm>
        </p:spPr>
        <p:txBody>
          <a:bodyPr/>
          <a:lstStyle/>
          <a:p>
            <a:pPr algn="ctr"/>
            <a:r>
              <a:rPr lang="en-US" dirty="0"/>
              <a:t>STYLE PERSONA</a:t>
            </a:r>
            <a:endParaRPr lang="en-GB" dirty="0"/>
          </a:p>
        </p:txBody>
      </p:sp>
    </p:spTree>
    <p:extLst>
      <p:ext uri="{BB962C8B-B14F-4D97-AF65-F5344CB8AC3E}">
        <p14:creationId xmlns:p14="http://schemas.microsoft.com/office/powerpoint/2010/main" val="13985024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Persona’s style</a:t>
            </a:r>
          </a:p>
        </p:txBody>
      </p:sp>
      <p:sp>
        <p:nvSpPr>
          <p:cNvPr id="2" name="Content Placeholder 1"/>
          <p:cNvSpPr>
            <a:spLocks noGrp="1"/>
          </p:cNvSpPr>
          <p:nvPr>
            <p:ph type="body" idx="1"/>
          </p:nvPr>
        </p:nvSpPr>
        <p:spPr/>
        <p:txBody>
          <a:bodyPr/>
          <a:lstStyle/>
          <a:p>
            <a:pPr marL="0" indent="0">
              <a:buNone/>
            </a:pPr>
            <a:r>
              <a:rPr lang="en-ID" dirty="0" err="1"/>
              <a:t>Tidak</a:t>
            </a:r>
            <a:r>
              <a:rPr lang="en-ID" dirty="0"/>
              <a:t> </a:t>
            </a:r>
            <a:r>
              <a:rPr lang="en-ID" dirty="0" err="1"/>
              <a:t>ada</a:t>
            </a:r>
            <a:r>
              <a:rPr lang="en-ID" dirty="0"/>
              <a:t> style yang </a:t>
            </a:r>
            <a:r>
              <a:rPr lang="en-ID" dirty="0" err="1"/>
              <a:t>tetap</a:t>
            </a:r>
            <a:r>
              <a:rPr lang="en-ID" dirty="0"/>
              <a:t> </a:t>
            </a:r>
            <a:r>
              <a:rPr lang="en-ID" dirty="0" err="1"/>
              <a:t>dalam</a:t>
            </a:r>
            <a:r>
              <a:rPr lang="en-ID" dirty="0"/>
              <a:t> </a:t>
            </a:r>
            <a:r>
              <a:rPr lang="en-ID" dirty="0" err="1"/>
              <a:t>pembuatan</a:t>
            </a:r>
            <a:r>
              <a:rPr lang="en-ID" dirty="0"/>
              <a:t> persona, </a:t>
            </a:r>
            <a:r>
              <a:rPr lang="en-ID" dirty="0" err="1"/>
              <a:t>namun</a:t>
            </a:r>
            <a:r>
              <a:rPr lang="en-ID" dirty="0"/>
              <a:t> </a:t>
            </a:r>
            <a:r>
              <a:rPr lang="en-ID" dirty="0" err="1"/>
              <a:t>suatu</a:t>
            </a:r>
            <a:r>
              <a:rPr lang="en-ID" dirty="0"/>
              <a:t> </a:t>
            </a:r>
            <a:r>
              <a:rPr lang="en-ID" dirty="0" err="1"/>
              <a:t>studi</a:t>
            </a:r>
            <a:r>
              <a:rPr lang="en-ID" dirty="0"/>
              <a:t> </a:t>
            </a:r>
            <a:r>
              <a:rPr lang="en-ID" dirty="0" err="1"/>
              <a:t>perbandingan</a:t>
            </a:r>
            <a:r>
              <a:rPr lang="en-ID" dirty="0"/>
              <a:t> </a:t>
            </a:r>
            <a:r>
              <a:rPr lang="en-ID" dirty="0" err="1"/>
              <a:t>tentang</a:t>
            </a:r>
            <a:r>
              <a:rPr lang="en-ID" dirty="0"/>
              <a:t> style persona </a:t>
            </a:r>
            <a:r>
              <a:rPr lang="en-ID" dirty="0" err="1"/>
              <a:t>telah</a:t>
            </a:r>
            <a:r>
              <a:rPr lang="en-ID" dirty="0"/>
              <a:t> </a:t>
            </a:r>
            <a:r>
              <a:rPr lang="en-ID" dirty="0" err="1"/>
              <a:t>dilakukan</a:t>
            </a:r>
            <a:r>
              <a:rPr lang="en-ID" dirty="0"/>
              <a:t> di Denmark(2015), </a:t>
            </a:r>
            <a:r>
              <a:rPr lang="en-ID" dirty="0" err="1"/>
              <a:t>dan</a:t>
            </a:r>
            <a:r>
              <a:rPr lang="en-ID" dirty="0"/>
              <a:t> </a:t>
            </a:r>
            <a:r>
              <a:rPr lang="en-ID" dirty="0" err="1"/>
              <a:t>menunjukkan</a:t>
            </a:r>
            <a:r>
              <a:rPr lang="en-ID" dirty="0"/>
              <a:t> style persona </a:t>
            </a:r>
            <a:r>
              <a:rPr lang="en-ID" dirty="0" err="1"/>
              <a:t>sangat</a:t>
            </a:r>
            <a:r>
              <a:rPr lang="en-ID" dirty="0"/>
              <a:t> </a:t>
            </a:r>
            <a:r>
              <a:rPr lang="en-ID" dirty="0" err="1"/>
              <a:t>dipengaruhi</a:t>
            </a:r>
            <a:r>
              <a:rPr lang="en-ID" dirty="0"/>
              <a:t> </a:t>
            </a:r>
            <a:r>
              <a:rPr lang="en-ID" dirty="0" err="1"/>
              <a:t>oleh</a:t>
            </a:r>
            <a:r>
              <a:rPr lang="en-ID" dirty="0"/>
              <a:t> </a:t>
            </a:r>
            <a:r>
              <a:rPr lang="en-ID" dirty="0" err="1"/>
              <a:t>komunitas</a:t>
            </a:r>
            <a:r>
              <a:rPr lang="en-ID" dirty="0"/>
              <a:t> </a:t>
            </a:r>
            <a:r>
              <a:rPr lang="en-ID" dirty="0" err="1"/>
              <a:t>praktisi</a:t>
            </a:r>
            <a:r>
              <a:rPr lang="en-ID" dirty="0"/>
              <a:t>, </a:t>
            </a:r>
            <a:r>
              <a:rPr lang="en-ID" dirty="0" err="1"/>
              <a:t>bergantung</a:t>
            </a:r>
            <a:r>
              <a:rPr lang="en-ID" dirty="0"/>
              <a:t> </a:t>
            </a:r>
            <a:r>
              <a:rPr lang="en-ID" dirty="0" err="1"/>
              <a:t>pada</a:t>
            </a:r>
            <a:r>
              <a:rPr lang="en-ID" dirty="0"/>
              <a:t> </a:t>
            </a:r>
            <a:r>
              <a:rPr lang="en-ID" dirty="0" err="1"/>
              <a:t>kebutuhan</a:t>
            </a:r>
            <a:r>
              <a:rPr lang="en-ID" dirty="0"/>
              <a:t> </a:t>
            </a:r>
            <a:r>
              <a:rPr lang="en-ID" dirty="0" err="1"/>
              <a:t>bisnis</a:t>
            </a:r>
            <a:r>
              <a:rPr lang="en-ID" dirty="0"/>
              <a:t>.</a:t>
            </a:r>
            <a:endParaRPr lang="en-US" dirty="0"/>
          </a:p>
        </p:txBody>
      </p:sp>
      <p:sp>
        <p:nvSpPr>
          <p:cNvPr id="7" name="TextBox 6"/>
          <p:cNvSpPr txBox="1"/>
          <p:nvPr/>
        </p:nvSpPr>
        <p:spPr>
          <a:xfrm>
            <a:off x="378455" y="5365856"/>
            <a:ext cx="7495963" cy="1169551"/>
          </a:xfrm>
          <a:prstGeom prst="rect">
            <a:avLst/>
          </a:prstGeom>
          <a:ln>
            <a:noFill/>
          </a:ln>
        </p:spPr>
        <p:txBody>
          <a:bodyPr wrap="none" rtlCol="0">
            <a:spAutoFit/>
          </a:bodyPr>
          <a:lstStyle/>
          <a:p>
            <a:r>
              <a:rPr lang="en-ID" sz="1000" dirty="0" err="1"/>
              <a:t>Sumber</a:t>
            </a:r>
            <a:r>
              <a:rPr lang="en-ID" sz="1000" dirty="0"/>
              <a:t> :</a:t>
            </a:r>
          </a:p>
          <a:p>
            <a:r>
              <a:rPr lang="en-US" sz="1000" dirty="0"/>
              <a:t>A Template for Design Personas: Analysis of 47 Persona Descriptions from Danish Industries and Organizations, </a:t>
            </a:r>
          </a:p>
          <a:p>
            <a:r>
              <a:rPr lang="en-US" sz="1000" dirty="0" err="1"/>
              <a:t>Lene</a:t>
            </a:r>
            <a:r>
              <a:rPr lang="en-US" sz="1000" dirty="0"/>
              <a:t> Nielsen, Kira </a:t>
            </a:r>
            <a:r>
              <a:rPr lang="en-US" sz="1000" dirty="0" err="1"/>
              <a:t>Storgaard</a:t>
            </a:r>
            <a:r>
              <a:rPr lang="en-US" sz="1000" dirty="0"/>
              <a:t> Hansen, Jan Stage and Jane </a:t>
            </a:r>
            <a:r>
              <a:rPr lang="en-US" sz="1000" dirty="0" err="1"/>
              <a:t>Billestrup</a:t>
            </a:r>
            <a:r>
              <a:rPr lang="en-US" sz="1000" dirty="0"/>
              <a:t> </a:t>
            </a:r>
          </a:p>
          <a:p>
            <a:r>
              <a:rPr lang="en-GB" sz="1000" dirty="0"/>
              <a:t>International Journal of </a:t>
            </a:r>
            <a:r>
              <a:rPr lang="en-GB" sz="1000" dirty="0" err="1"/>
              <a:t>Sociotechnology</a:t>
            </a:r>
            <a:r>
              <a:rPr lang="en-GB" sz="1000" dirty="0"/>
              <a:t> and Knowledge Development (IJSKD), 2015</a:t>
            </a:r>
          </a:p>
          <a:p>
            <a:r>
              <a:rPr lang="en-US" sz="1000" dirty="0"/>
              <a:t>https://www.igi-global.com/article/a-template-for-design-personas/136351</a:t>
            </a:r>
            <a:endParaRPr lang="en-GB" sz="1000" dirty="0"/>
          </a:p>
          <a:p>
            <a:endParaRPr lang="en-US" sz="1000" dirty="0"/>
          </a:p>
          <a:p>
            <a:endParaRPr lang="en-US" sz="1000" dirty="0"/>
          </a:p>
        </p:txBody>
      </p:sp>
    </p:spTree>
    <p:extLst>
      <p:ext uri="{BB962C8B-B14F-4D97-AF65-F5344CB8AC3E}">
        <p14:creationId xmlns:p14="http://schemas.microsoft.com/office/powerpoint/2010/main" val="1340809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normAutofit fontScale="90000"/>
          </a:bodyPr>
          <a:lstStyle/>
          <a:p>
            <a:pPr eaLnBrk="1" hangingPunct="1"/>
            <a:r>
              <a:rPr lang="en-GB" altLang="en-US">
                <a:ea typeface="ＭＳ Ｐゴシック" charset="-128"/>
              </a:rPr>
              <a:t>An Example Persona : </a:t>
            </a:r>
            <a:r>
              <a:rPr lang="en-GB" altLang="en-US" dirty="0">
                <a:ea typeface="ＭＳ Ｐゴシック" charset="-128"/>
              </a:rPr>
              <a:t>Marjorie </a:t>
            </a:r>
            <a:r>
              <a:rPr lang="en-GB" altLang="en-US" dirty="0" err="1">
                <a:ea typeface="ＭＳ Ｐゴシック" charset="-128"/>
              </a:rPr>
              <a:t>Bannet</a:t>
            </a:r>
            <a:endParaRPr lang="en-US" altLang="en-US" dirty="0">
              <a:ea typeface="ＭＳ Ｐゴシック" charset="-128"/>
            </a:endParaRPr>
          </a:p>
        </p:txBody>
      </p:sp>
      <p:sp>
        <p:nvSpPr>
          <p:cNvPr id="41987" name="Content Placeholder 2"/>
          <p:cNvSpPr>
            <a:spLocks noGrp="1"/>
          </p:cNvSpPr>
          <p:nvPr>
            <p:ph type="body" idx="1"/>
          </p:nvPr>
        </p:nvSpPr>
        <p:spPr/>
        <p:txBody>
          <a:bodyPr/>
          <a:lstStyle/>
          <a:p>
            <a:pPr eaLnBrk="1" hangingPunct="1"/>
            <a:r>
              <a:rPr lang="en-GB" altLang="en-US" b="1">
                <a:solidFill>
                  <a:schemeClr val="accent1"/>
                </a:solidFill>
                <a:ea typeface="ＭＳ Ｐゴシック" charset="-128"/>
              </a:rPr>
              <a:t>Biography</a:t>
            </a:r>
            <a:r>
              <a:rPr lang="en-GB" altLang="en-US">
                <a:ea typeface="ＭＳ Ｐゴシック" charset="-128"/>
              </a:rPr>
              <a:t> </a:t>
            </a:r>
          </a:p>
          <a:p>
            <a:pPr lvl="1" eaLnBrk="1" hangingPunct="1">
              <a:spcBef>
                <a:spcPct val="50000"/>
              </a:spcBef>
            </a:pPr>
            <a:r>
              <a:rPr lang="en-GB" altLang="en-US" sz="1800">
                <a:ea typeface="ＭＳ Ｐゴシック" charset="-128"/>
              </a:rPr>
              <a:t>78 years old</a:t>
            </a:r>
          </a:p>
          <a:p>
            <a:pPr lvl="1" eaLnBrk="1" hangingPunct="1">
              <a:spcBef>
                <a:spcPct val="50000"/>
              </a:spcBef>
            </a:pPr>
            <a:r>
              <a:rPr lang="en-GB" altLang="en-US" sz="1800">
                <a:ea typeface="ＭＳ Ｐゴシック" charset="-128"/>
              </a:rPr>
              <a:t>Just moved to Penrith from Windermere</a:t>
            </a:r>
          </a:p>
          <a:p>
            <a:pPr lvl="1" eaLnBrk="1" hangingPunct="1">
              <a:spcBef>
                <a:spcPct val="50000"/>
              </a:spcBef>
            </a:pPr>
            <a:r>
              <a:rPr lang="en-GB" altLang="en-US" sz="1800">
                <a:ea typeface="ＭＳ Ｐゴシック" charset="-128"/>
              </a:rPr>
              <a:t>Has a son in Hastings, and a daughter in Newcastle</a:t>
            </a:r>
          </a:p>
          <a:p>
            <a:pPr lvl="1" eaLnBrk="1" hangingPunct="1">
              <a:spcBef>
                <a:spcPct val="50000"/>
              </a:spcBef>
            </a:pPr>
            <a:r>
              <a:rPr lang="en-GB" altLang="en-US" sz="1800">
                <a:ea typeface="ＭＳ Ｐゴシック" charset="-128"/>
              </a:rPr>
              <a:t>Doesn’t know anyone else in Penrith yet</a:t>
            </a:r>
          </a:p>
          <a:p>
            <a:pPr lvl="1" eaLnBrk="1" hangingPunct="1">
              <a:spcBef>
                <a:spcPct val="50000"/>
              </a:spcBef>
            </a:pPr>
            <a:r>
              <a:rPr lang="en-GB" altLang="en-US" sz="1800">
                <a:ea typeface="ＭＳ Ｐゴシック" charset="-128"/>
              </a:rPr>
              <a:t>Hasn’t been driving for a few years now</a:t>
            </a:r>
          </a:p>
          <a:p>
            <a:pPr lvl="1" eaLnBrk="1" hangingPunct="1">
              <a:spcBef>
                <a:spcPct val="50000"/>
              </a:spcBef>
            </a:pPr>
            <a:r>
              <a:rPr lang="en-GB" altLang="en-US" sz="1800">
                <a:ea typeface="ＭＳ Ｐゴシック" charset="-128"/>
              </a:rPr>
              <a:t>Sometimes feels lonely</a:t>
            </a:r>
          </a:p>
          <a:p>
            <a:pPr lvl="1" eaLnBrk="1" hangingPunct="1">
              <a:spcBef>
                <a:spcPct val="50000"/>
              </a:spcBef>
            </a:pPr>
            <a:r>
              <a:rPr lang="en-GB" altLang="en-US" sz="1800">
                <a:ea typeface="ＭＳ Ｐゴシック" charset="-128"/>
              </a:rPr>
              <a:t>Has a help come in once a week</a:t>
            </a:r>
          </a:p>
          <a:p>
            <a:pPr lvl="1" eaLnBrk="1" hangingPunct="1">
              <a:spcBef>
                <a:spcPct val="50000"/>
              </a:spcBef>
            </a:pPr>
            <a:r>
              <a:rPr lang="en-GB" altLang="en-US" sz="1800">
                <a:ea typeface="ＭＳ Ｐゴシック" charset="-128"/>
              </a:rPr>
              <a:t>Would like to be able to read more</a:t>
            </a:r>
            <a:endParaRPr lang="en-US" altLang="en-US" sz="1800">
              <a:ea typeface="ＭＳ Ｐゴシック" charset="-128"/>
            </a:endParaRPr>
          </a:p>
          <a:p>
            <a:pPr eaLnBrk="1" hangingPunct="1"/>
            <a:endParaRPr lang="en-US" altLang="en-US">
              <a:ea typeface="ＭＳ Ｐゴシック" charset="-128"/>
            </a:endParaRPr>
          </a:p>
        </p:txBody>
      </p:sp>
      <p:pic>
        <p:nvPicPr>
          <p:cNvPr id="41989" name="Picture 6" descr="MarjorieBannet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7695" y="2512102"/>
            <a:ext cx="19621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0160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pPr eaLnBrk="1" hangingPunct="1"/>
            <a:r>
              <a:rPr lang="en-GB" altLang="en-US">
                <a:ea typeface="ＭＳ Ｐゴシック" charset="-128"/>
              </a:rPr>
              <a:t>An Example: Marjorie Bannet</a:t>
            </a:r>
            <a:endParaRPr lang="en-US" altLang="en-US">
              <a:ea typeface="ＭＳ Ｐゴシック" charset="-128"/>
            </a:endParaRPr>
          </a:p>
        </p:txBody>
      </p:sp>
      <p:sp>
        <p:nvSpPr>
          <p:cNvPr id="43011" name="Content Placeholder 2"/>
          <p:cNvSpPr>
            <a:spLocks noGrp="1"/>
          </p:cNvSpPr>
          <p:nvPr>
            <p:ph type="body" idx="1"/>
          </p:nvPr>
        </p:nvSpPr>
        <p:spPr/>
        <p:txBody>
          <a:bodyPr>
            <a:normAutofit/>
          </a:bodyPr>
          <a:lstStyle/>
          <a:p>
            <a:pPr eaLnBrk="1" hangingPunct="1"/>
            <a:r>
              <a:rPr lang="en-GB" altLang="en-US" b="1">
                <a:solidFill>
                  <a:schemeClr val="accent1"/>
                </a:solidFill>
                <a:ea typeface="ＭＳ Ｐゴシック" charset="-128"/>
              </a:rPr>
              <a:t>Health</a:t>
            </a:r>
            <a:endParaRPr lang="en-GB" altLang="en-US">
              <a:ea typeface="ＭＳ Ｐゴシック" charset="-128"/>
            </a:endParaRPr>
          </a:p>
          <a:p>
            <a:pPr lvl="1" eaLnBrk="1" hangingPunct="1">
              <a:spcBef>
                <a:spcPct val="50000"/>
              </a:spcBef>
            </a:pPr>
            <a:r>
              <a:rPr lang="en-GB" altLang="en-US">
                <a:ea typeface="ＭＳ Ｐゴシック" charset="-128"/>
              </a:rPr>
              <a:t>Has trouble sleeping from time to time. Will wake up in the early hours and often not get to sleep again for 2-3 hours</a:t>
            </a:r>
          </a:p>
          <a:p>
            <a:pPr lvl="1" eaLnBrk="1" hangingPunct="1">
              <a:spcBef>
                <a:spcPct val="50000"/>
              </a:spcBef>
            </a:pPr>
            <a:r>
              <a:rPr lang="en-GB" altLang="en-US">
                <a:ea typeface="ＭＳ Ｐゴシック" charset="-128"/>
              </a:rPr>
              <a:t>A little arthritis in her hands</a:t>
            </a:r>
          </a:p>
          <a:p>
            <a:pPr lvl="1" eaLnBrk="1" hangingPunct="1">
              <a:spcBef>
                <a:spcPct val="50000"/>
              </a:spcBef>
            </a:pPr>
            <a:r>
              <a:rPr lang="en-GB" altLang="en-US">
                <a:ea typeface="ＭＳ Ｐゴシック" charset="-128"/>
              </a:rPr>
              <a:t>Early cataracts, so less acute vision</a:t>
            </a:r>
          </a:p>
          <a:p>
            <a:pPr lvl="1" eaLnBrk="1" hangingPunct="1">
              <a:spcBef>
                <a:spcPct val="50000"/>
              </a:spcBef>
            </a:pPr>
            <a:r>
              <a:rPr lang="en-GB" altLang="en-US">
                <a:ea typeface="ＭＳ Ｐゴシック" charset="-128"/>
              </a:rPr>
              <a:t>Can move about, perhaps not quite as quickly as she could 10 years ago</a:t>
            </a:r>
          </a:p>
          <a:p>
            <a:pPr lvl="1" eaLnBrk="1" hangingPunct="1">
              <a:spcBef>
                <a:spcPct val="50000"/>
              </a:spcBef>
            </a:pPr>
            <a:r>
              <a:rPr lang="en-GB" altLang="en-US">
                <a:ea typeface="ＭＳ Ｐゴシック" charset="-128"/>
              </a:rPr>
              <a:t>Sometimes has a rest in the afternoon</a:t>
            </a:r>
            <a:endParaRPr lang="en-US" altLang="en-US">
              <a:ea typeface="ＭＳ Ｐゴシック" charset="-128"/>
            </a:endParaRPr>
          </a:p>
          <a:p>
            <a:pPr eaLnBrk="1" hangingPunct="1"/>
            <a:endParaRPr lang="en-US" altLang="en-US">
              <a:ea typeface="ＭＳ Ｐゴシック" charset="-128"/>
            </a:endParaRPr>
          </a:p>
        </p:txBody>
      </p:sp>
      <p:pic>
        <p:nvPicPr>
          <p:cNvPr id="43013" name="Picture 6" descr="MarjorieBannet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286000"/>
            <a:ext cx="19621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66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normAutofit fontScale="90000"/>
          </a:bodyPr>
          <a:lstStyle/>
          <a:p>
            <a:pPr eaLnBrk="1" hangingPunct="1"/>
            <a:r>
              <a:rPr lang="en-GB" altLang="en-US">
                <a:ea typeface="ＭＳ Ｐゴシック" charset="-128"/>
              </a:rPr>
              <a:t>An Example: Marjorie Bannet</a:t>
            </a:r>
            <a:endParaRPr lang="en-US" altLang="en-US">
              <a:ea typeface="ＭＳ Ｐゴシック" charset="-128"/>
            </a:endParaRPr>
          </a:p>
        </p:txBody>
      </p:sp>
      <p:sp>
        <p:nvSpPr>
          <p:cNvPr id="44035" name="Content Placeholder 2"/>
          <p:cNvSpPr>
            <a:spLocks noGrp="1"/>
          </p:cNvSpPr>
          <p:nvPr>
            <p:ph type="body" idx="1"/>
          </p:nvPr>
        </p:nvSpPr>
        <p:spPr/>
        <p:txBody>
          <a:bodyPr>
            <a:normAutofit/>
          </a:bodyPr>
          <a:lstStyle/>
          <a:p>
            <a:pPr eaLnBrk="1" hangingPunct="1"/>
            <a:r>
              <a:rPr lang="en-GB" altLang="en-US" b="1">
                <a:solidFill>
                  <a:schemeClr val="accent1"/>
                </a:solidFill>
                <a:ea typeface="ＭＳ Ｐゴシック" charset="-128"/>
              </a:rPr>
              <a:t>Technology</a:t>
            </a:r>
            <a:endParaRPr lang="en-GB" altLang="en-US">
              <a:ea typeface="ＭＳ Ｐゴシック" charset="-128"/>
            </a:endParaRPr>
          </a:p>
          <a:p>
            <a:pPr lvl="1" eaLnBrk="1" hangingPunct="1">
              <a:spcBef>
                <a:spcPct val="50000"/>
              </a:spcBef>
            </a:pPr>
            <a:r>
              <a:rPr lang="en-GB" altLang="en-US">
                <a:ea typeface="ＭＳ Ｐゴシック" charset="-128"/>
              </a:rPr>
              <a:t>Has never used a computer before, and is a little nervous about them</a:t>
            </a:r>
          </a:p>
          <a:p>
            <a:pPr lvl="1" eaLnBrk="1" hangingPunct="1">
              <a:spcBef>
                <a:spcPct val="50000"/>
              </a:spcBef>
            </a:pPr>
            <a:r>
              <a:rPr lang="en-GB" altLang="en-US">
                <a:ea typeface="ＭＳ Ｐゴシック" charset="-128"/>
              </a:rPr>
              <a:t>Has a mobile phone, and instructions on how to use it from her son</a:t>
            </a:r>
          </a:p>
          <a:p>
            <a:pPr lvl="1" eaLnBrk="1" hangingPunct="1">
              <a:spcBef>
                <a:spcPct val="50000"/>
              </a:spcBef>
            </a:pPr>
            <a:r>
              <a:rPr lang="en-GB" altLang="en-US">
                <a:ea typeface="ＭＳ Ｐゴシック" charset="-128"/>
              </a:rPr>
              <a:t>Uses the microwave to prepare many of her meals</a:t>
            </a:r>
          </a:p>
          <a:p>
            <a:pPr lvl="1" eaLnBrk="1" hangingPunct="1">
              <a:spcBef>
                <a:spcPct val="50000"/>
              </a:spcBef>
            </a:pPr>
            <a:r>
              <a:rPr lang="en-GB" altLang="en-US">
                <a:ea typeface="ＭＳ Ｐゴシック" charset="-128"/>
              </a:rPr>
              <a:t>Uses a video recorder, but can’t be bothered setting it to record things</a:t>
            </a:r>
            <a:endParaRPr lang="en-US" altLang="en-US">
              <a:ea typeface="ＭＳ Ｐゴシック" charset="-128"/>
            </a:endParaRPr>
          </a:p>
          <a:p>
            <a:pPr eaLnBrk="1" hangingPunct="1"/>
            <a:endParaRPr lang="en-US" altLang="en-US">
              <a:ea typeface="ＭＳ Ｐゴシック" charset="-128"/>
            </a:endParaRPr>
          </a:p>
        </p:txBody>
      </p:sp>
      <p:pic>
        <p:nvPicPr>
          <p:cNvPr id="44037" name="Picture 6" descr="MarjorieBannet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286000"/>
            <a:ext cx="19621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39433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a:normAutofit/>
          </a:bodyPr>
          <a:lstStyle/>
          <a:p>
            <a:r>
              <a:rPr lang="id-ID" dirty="0"/>
              <a:t>User Persona Example</a:t>
            </a:r>
          </a:p>
        </p:txBody>
      </p:sp>
      <p:sp>
        <p:nvSpPr>
          <p:cNvPr id="2" name="Text Placeholder 1">
            <a:extLst>
              <a:ext uri="{FF2B5EF4-FFF2-40B4-BE49-F238E27FC236}">
                <a16:creationId xmlns:a16="http://schemas.microsoft.com/office/drawing/2014/main" id="{40D64ED9-BE80-B99D-2749-53EF27444E91}"/>
              </a:ext>
            </a:extLst>
          </p:cNvPr>
          <p:cNvSpPr>
            <a:spLocks noGrp="1"/>
          </p:cNvSpPr>
          <p:nvPr>
            <p:ph type="body" idx="1"/>
          </p:nvPr>
        </p:nvSpPr>
        <p:spPr/>
        <p:txBody>
          <a:bodyPr/>
          <a:lstStyle/>
          <a:p>
            <a:endParaRPr lang="en-ID"/>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133" y="1246800"/>
            <a:ext cx="7481912" cy="5205086"/>
          </a:xfrm>
          <a:prstGeom prst="rect">
            <a:avLst/>
          </a:prstGeom>
        </p:spPr>
      </p:pic>
    </p:spTree>
    <p:extLst>
      <p:ext uri="{BB962C8B-B14F-4D97-AF65-F5344CB8AC3E}">
        <p14:creationId xmlns:p14="http://schemas.microsoft.com/office/powerpoint/2010/main" val="6544526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a:normAutofit/>
          </a:bodyPr>
          <a:lstStyle/>
          <a:p>
            <a:r>
              <a:rPr lang="id-ID" dirty="0"/>
              <a:t>User Persona Example</a:t>
            </a:r>
          </a:p>
        </p:txBody>
      </p:sp>
      <p:sp>
        <p:nvSpPr>
          <p:cNvPr id="2" name="Text Placeholder 1">
            <a:extLst>
              <a:ext uri="{FF2B5EF4-FFF2-40B4-BE49-F238E27FC236}">
                <a16:creationId xmlns:a16="http://schemas.microsoft.com/office/drawing/2014/main" id="{DA72AFF8-EF14-3463-39BC-A804D42375DB}"/>
              </a:ext>
            </a:extLst>
          </p:cNvPr>
          <p:cNvSpPr>
            <a:spLocks noGrp="1"/>
          </p:cNvSpPr>
          <p:nvPr>
            <p:ph type="body" idx="1"/>
          </p:nvPr>
        </p:nvSpPr>
        <p:spPr/>
        <p:txBody>
          <a:bodyPr/>
          <a:lstStyle/>
          <a:p>
            <a:endParaRPr lang="en-ID"/>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1946" y="1245040"/>
            <a:ext cx="7902054" cy="5182430"/>
          </a:xfrm>
          <a:prstGeom prst="rect">
            <a:avLst/>
          </a:prstGeom>
        </p:spPr>
      </p:pic>
    </p:spTree>
    <p:extLst>
      <p:ext uri="{BB962C8B-B14F-4D97-AF65-F5344CB8AC3E}">
        <p14:creationId xmlns:p14="http://schemas.microsoft.com/office/powerpoint/2010/main" val="3014098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a:normAutofit/>
          </a:bodyPr>
          <a:lstStyle/>
          <a:p>
            <a:r>
              <a:rPr lang="id-ID" dirty="0"/>
              <a:t>User Persona Example</a:t>
            </a:r>
          </a:p>
        </p:txBody>
      </p:sp>
      <p:sp>
        <p:nvSpPr>
          <p:cNvPr id="2" name="Text Placeholder 1">
            <a:extLst>
              <a:ext uri="{FF2B5EF4-FFF2-40B4-BE49-F238E27FC236}">
                <a16:creationId xmlns:a16="http://schemas.microsoft.com/office/drawing/2014/main" id="{57EC9953-2F92-DCA1-61C7-89AC3F408CD3}"/>
              </a:ext>
            </a:extLst>
          </p:cNvPr>
          <p:cNvSpPr>
            <a:spLocks noGrp="1"/>
          </p:cNvSpPr>
          <p:nvPr>
            <p:ph type="body" idx="1"/>
          </p:nvPr>
        </p:nvSpPr>
        <p:spPr/>
        <p:txBody>
          <a:bodyPr/>
          <a:lstStyle/>
          <a:p>
            <a:endParaRPr lang="en-ID"/>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117" y="1276900"/>
            <a:ext cx="6550926" cy="5240740"/>
          </a:xfrm>
          <a:prstGeom prst="rect">
            <a:avLst/>
          </a:prstGeom>
        </p:spPr>
      </p:pic>
    </p:spTree>
    <p:extLst>
      <p:ext uri="{BB962C8B-B14F-4D97-AF65-F5344CB8AC3E}">
        <p14:creationId xmlns:p14="http://schemas.microsoft.com/office/powerpoint/2010/main" val="627539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a:normAutofit/>
          </a:bodyPr>
          <a:lstStyle/>
          <a:p>
            <a:r>
              <a:rPr lang="id-ID" dirty="0"/>
              <a:t>User Persona Example</a:t>
            </a:r>
          </a:p>
        </p:txBody>
      </p:sp>
      <p:sp>
        <p:nvSpPr>
          <p:cNvPr id="3" name="Text Placeholder 2">
            <a:extLst>
              <a:ext uri="{FF2B5EF4-FFF2-40B4-BE49-F238E27FC236}">
                <a16:creationId xmlns:a16="http://schemas.microsoft.com/office/drawing/2014/main" id="{EE638E4D-A5FE-A629-E111-08994635F8D6}"/>
              </a:ext>
            </a:extLst>
          </p:cNvPr>
          <p:cNvSpPr>
            <a:spLocks noGrp="1"/>
          </p:cNvSpPr>
          <p:nvPr>
            <p:ph type="body" idx="1"/>
          </p:nvPr>
        </p:nvSpPr>
        <p:spPr/>
        <p:txBody>
          <a:bodyPr/>
          <a:lstStyle/>
          <a:p>
            <a:endParaRPr lang="en-ID"/>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5838" y="1609372"/>
            <a:ext cx="7758162" cy="4450234"/>
          </a:xfrm>
          <a:prstGeom prst="rect">
            <a:avLst/>
          </a:prstGeom>
        </p:spPr>
      </p:pic>
    </p:spTree>
    <p:extLst>
      <p:ext uri="{BB962C8B-B14F-4D97-AF65-F5344CB8AC3E}">
        <p14:creationId xmlns:p14="http://schemas.microsoft.com/office/powerpoint/2010/main" val="5647713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a:normAutofit/>
          </a:bodyPr>
          <a:lstStyle/>
          <a:p>
            <a:r>
              <a:rPr lang="id-ID" dirty="0"/>
              <a:t>User Persona Example</a:t>
            </a:r>
          </a:p>
        </p:txBody>
      </p:sp>
      <p:sp>
        <p:nvSpPr>
          <p:cNvPr id="2" name="Text Placeholder 1">
            <a:extLst>
              <a:ext uri="{FF2B5EF4-FFF2-40B4-BE49-F238E27FC236}">
                <a16:creationId xmlns:a16="http://schemas.microsoft.com/office/drawing/2014/main" id="{B8CD9A2B-1FF2-36D4-AB42-3C038314AA06}"/>
              </a:ext>
            </a:extLst>
          </p:cNvPr>
          <p:cNvSpPr>
            <a:spLocks noGrp="1"/>
          </p:cNvSpPr>
          <p:nvPr>
            <p:ph type="body" idx="1"/>
          </p:nvPr>
        </p:nvSpPr>
        <p:spPr/>
        <p:txBody>
          <a:bodyPr/>
          <a:lstStyle/>
          <a:p>
            <a:endParaRPr lang="en-ID"/>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127" y="1005676"/>
            <a:ext cx="7336776" cy="5811049"/>
          </a:xfrm>
          <a:prstGeom prst="rect">
            <a:avLst/>
          </a:prstGeom>
        </p:spPr>
      </p:pic>
    </p:spTree>
    <p:extLst>
      <p:ext uri="{BB962C8B-B14F-4D97-AF65-F5344CB8AC3E}">
        <p14:creationId xmlns:p14="http://schemas.microsoft.com/office/powerpoint/2010/main" val="3129760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id-ID" dirty="0"/>
              <a:t>How to Create User Persona</a:t>
            </a:r>
          </a:p>
        </p:txBody>
      </p:sp>
      <p:sp>
        <p:nvSpPr>
          <p:cNvPr id="6" name="Content Placeholder 5"/>
          <p:cNvSpPr>
            <a:spLocks noGrp="1"/>
          </p:cNvSpPr>
          <p:nvPr>
            <p:ph type="body" idx="1"/>
          </p:nvPr>
        </p:nvSpPr>
        <p:spPr/>
        <p:txBody>
          <a:bodyPr>
            <a:normAutofit/>
          </a:bodyPr>
          <a:lstStyle/>
          <a:p>
            <a:r>
              <a:rPr lang="en-US" dirty="0">
                <a:hlinkClick r:id="rId2" action="ppaction://hlinkfile"/>
              </a:rPr>
              <a:t>How To Create UX Personas</a:t>
            </a:r>
            <a:r>
              <a:rPr lang="id-ID" dirty="0"/>
              <a:t> </a:t>
            </a:r>
            <a:r>
              <a:rPr lang="id-ID" dirty="0">
                <a:sym typeface="Wingdings" panose="05000000000000000000" pitchFamily="2" charset="2"/>
              </a:rPr>
              <a:t> </a:t>
            </a:r>
            <a:r>
              <a:rPr lang="id-ID" dirty="0">
                <a:sym typeface="Wingdings" panose="05000000000000000000" pitchFamily="2" charset="2"/>
                <a:hlinkClick r:id="rId3"/>
              </a:rPr>
              <a:t>https://www.youtube.com/watch?v=B23iWg0koi8</a:t>
            </a:r>
            <a:endParaRPr lang="id-ID" dirty="0">
              <a:sym typeface="Wingdings" panose="05000000000000000000" pitchFamily="2" charset="2"/>
            </a:endParaRPr>
          </a:p>
          <a:p>
            <a:r>
              <a:rPr lang="en-US" dirty="0">
                <a:hlinkClick r:id="rId4" action="ppaction://hlinkfile"/>
              </a:rPr>
              <a:t>Personas and User Flows  UXUI Design  Product Design  </a:t>
            </a:r>
            <a:r>
              <a:rPr lang="en-US" dirty="0" err="1">
                <a:hlinkClick r:id="rId4" action="ppaction://hlinkfile"/>
              </a:rPr>
              <a:t>Udacity</a:t>
            </a:r>
            <a:r>
              <a:rPr lang="id-ID" dirty="0"/>
              <a:t> </a:t>
            </a:r>
            <a:r>
              <a:rPr lang="id-ID" dirty="0">
                <a:sym typeface="Wingdings" panose="05000000000000000000" pitchFamily="2" charset="2"/>
              </a:rPr>
              <a:t> </a:t>
            </a:r>
            <a:r>
              <a:rPr lang="id-ID" dirty="0">
                <a:sym typeface="Wingdings" panose="05000000000000000000" pitchFamily="2" charset="2"/>
                <a:hlinkClick r:id="rId5"/>
              </a:rPr>
              <a:t>https://www.youtube.com/watch?v=wClXAzTFUIY</a:t>
            </a:r>
            <a:endParaRPr lang="id-ID" dirty="0">
              <a:sym typeface="Wingdings" panose="05000000000000000000" pitchFamily="2" charset="2"/>
            </a:endParaRPr>
          </a:p>
          <a:p>
            <a:r>
              <a:rPr lang="id-ID" dirty="0">
                <a:hlinkClick r:id="rId4" action="ppaction://hlinkfile"/>
              </a:rPr>
              <a:t>Creating personas for effective user stories</a:t>
            </a:r>
            <a:r>
              <a:rPr lang="id-ID" dirty="0"/>
              <a:t> </a:t>
            </a:r>
            <a:r>
              <a:rPr lang="id-ID" dirty="0">
                <a:sym typeface="Wingdings" panose="05000000000000000000" pitchFamily="2" charset="2"/>
              </a:rPr>
              <a:t> </a:t>
            </a:r>
            <a:r>
              <a:rPr lang="id-ID" dirty="0">
                <a:sym typeface="Wingdings" panose="05000000000000000000" pitchFamily="2" charset="2"/>
                <a:hlinkClick r:id="rId6"/>
              </a:rPr>
              <a:t>https://www.youtube.com/watch?v=tCAeHfvsjoM</a:t>
            </a:r>
            <a:endParaRPr lang="id-ID" dirty="0">
              <a:sym typeface="Wingdings" panose="05000000000000000000" pitchFamily="2" charset="2"/>
            </a:endParaRPr>
          </a:p>
          <a:p>
            <a:endParaRPr lang="id-ID" dirty="0"/>
          </a:p>
          <a:p>
            <a:endParaRPr lang="id-ID" dirty="0"/>
          </a:p>
        </p:txBody>
      </p:sp>
    </p:spTree>
    <p:extLst>
      <p:ext uri="{BB962C8B-B14F-4D97-AF65-F5344CB8AC3E}">
        <p14:creationId xmlns:p14="http://schemas.microsoft.com/office/powerpoint/2010/main" val="29945786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BBDAD2-BAD8-0807-C935-A5DDB793971E}"/>
              </a:ext>
            </a:extLst>
          </p:cNvPr>
          <p:cNvSpPr>
            <a:spLocks noGrp="1"/>
          </p:cNvSpPr>
          <p:nvPr>
            <p:ph type="title"/>
          </p:nvPr>
        </p:nvSpPr>
        <p:spPr/>
        <p:txBody>
          <a:bodyPr/>
          <a:lstStyle/>
          <a:p>
            <a:endParaRPr lang="en-ID"/>
          </a:p>
        </p:txBody>
      </p:sp>
      <p:sp>
        <p:nvSpPr>
          <p:cNvPr id="7" name="Text Placeholder 6"/>
          <p:cNvSpPr>
            <a:spLocks noGrp="1"/>
          </p:cNvSpPr>
          <p:nvPr>
            <p:ph type="body" idx="1"/>
          </p:nvPr>
        </p:nvSpPr>
        <p:spPr/>
        <p:txBody>
          <a:bodyPr/>
          <a:lstStyle/>
          <a:p>
            <a:r>
              <a:rPr lang="id-ID" dirty="0"/>
              <a:t>Template</a:t>
            </a:r>
          </a:p>
        </p:txBody>
      </p:sp>
      <p:sp>
        <p:nvSpPr>
          <p:cNvPr id="8" name="Text Placeholder 7"/>
          <p:cNvSpPr>
            <a:spLocks noGrp="1"/>
          </p:cNvSpPr>
          <p:nvPr>
            <p:ph type="body" idx="4294967295"/>
          </p:nvPr>
        </p:nvSpPr>
        <p:spPr>
          <a:xfrm>
            <a:off x="5099050" y="1646238"/>
            <a:ext cx="4044950" cy="788987"/>
          </a:xfrm>
        </p:spPr>
        <p:txBody>
          <a:bodyPr/>
          <a:lstStyle/>
          <a:p>
            <a:r>
              <a:rPr lang="id-ID" dirty="0"/>
              <a:t>Tools</a:t>
            </a:r>
          </a:p>
        </p:txBody>
      </p:sp>
      <p:sp>
        <p:nvSpPr>
          <p:cNvPr id="2" name="Content Placeholder 1"/>
          <p:cNvSpPr>
            <a:spLocks noGrp="1"/>
          </p:cNvSpPr>
          <p:nvPr>
            <p:ph sz="quarter" idx="4294967295"/>
          </p:nvPr>
        </p:nvSpPr>
        <p:spPr>
          <a:xfrm>
            <a:off x="0" y="2659063"/>
            <a:ext cx="4044950" cy="3352800"/>
          </a:xfrm>
        </p:spPr>
        <p:txBody>
          <a:bodyPr/>
          <a:lstStyle/>
          <a:p>
            <a:r>
              <a:rPr lang="id-ID" dirty="0"/>
              <a:t>http://www.ux-lady.com/diy-user-personas/</a:t>
            </a:r>
          </a:p>
          <a:p>
            <a:r>
              <a:rPr lang="id-ID" dirty="0"/>
              <a:t>https://www.pinterest.com/kooj/personas/</a:t>
            </a:r>
          </a:p>
          <a:p>
            <a:endParaRPr lang="id-ID" dirty="0"/>
          </a:p>
          <a:p>
            <a:endParaRPr lang="id-ID" dirty="0"/>
          </a:p>
          <a:p>
            <a:endParaRPr lang="id-ID" dirty="0"/>
          </a:p>
        </p:txBody>
      </p:sp>
      <p:sp>
        <p:nvSpPr>
          <p:cNvPr id="9" name="Content Placeholder 8"/>
          <p:cNvSpPr>
            <a:spLocks noGrp="1"/>
          </p:cNvSpPr>
          <p:nvPr>
            <p:ph sz="quarter" idx="4294967295"/>
          </p:nvPr>
        </p:nvSpPr>
        <p:spPr>
          <a:xfrm>
            <a:off x="5099050" y="2659063"/>
            <a:ext cx="4044950" cy="3352800"/>
          </a:xfrm>
        </p:spPr>
        <p:txBody>
          <a:bodyPr/>
          <a:lstStyle/>
          <a:p>
            <a:r>
              <a:rPr lang="id-ID" dirty="0"/>
              <a:t>http://xtensio.com/user-persona/</a:t>
            </a:r>
          </a:p>
          <a:p>
            <a:r>
              <a:rPr lang="id-ID" dirty="0"/>
              <a:t>http://grayscale.com.hk/persona-generator/</a:t>
            </a:r>
          </a:p>
        </p:txBody>
      </p:sp>
    </p:spTree>
    <p:extLst>
      <p:ext uri="{BB962C8B-B14F-4D97-AF65-F5344CB8AC3E}">
        <p14:creationId xmlns:p14="http://schemas.microsoft.com/office/powerpoint/2010/main" val="1126897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id-ID" dirty="0"/>
              <a:t>Bahan bacaan</a:t>
            </a:r>
          </a:p>
        </p:txBody>
      </p:sp>
      <p:sp>
        <p:nvSpPr>
          <p:cNvPr id="2" name="Content Placeholder 1"/>
          <p:cNvSpPr>
            <a:spLocks noGrp="1"/>
          </p:cNvSpPr>
          <p:nvPr>
            <p:ph type="body" idx="1"/>
          </p:nvPr>
        </p:nvSpPr>
        <p:spPr/>
        <p:txBody>
          <a:bodyPr/>
          <a:lstStyle/>
          <a:p>
            <a:pPr>
              <a:spcBef>
                <a:spcPts val="600"/>
              </a:spcBef>
            </a:pPr>
            <a:r>
              <a:rPr lang="id-ID" sz="1600" dirty="0"/>
              <a:t>Wilbert O. Galitz,2007,</a:t>
            </a:r>
            <a:r>
              <a:rPr lang="en-US" sz="1600" b="1" dirty="0"/>
              <a:t>The Essential Guide to User Interface Design: An Introduction to GUI Design Principles and</a:t>
            </a:r>
            <a:r>
              <a:rPr lang="id-ID" sz="1600" b="1" dirty="0"/>
              <a:t> Techniques, Third Edition,</a:t>
            </a:r>
            <a:r>
              <a:rPr lang="id-ID" sz="1600" dirty="0"/>
              <a:t> Wiley Publishing, p.71-102 (dan untuk pertemuan minggu depan p.103-126)</a:t>
            </a:r>
          </a:p>
          <a:p>
            <a:pPr>
              <a:spcBef>
                <a:spcPts val="600"/>
              </a:spcBef>
            </a:pPr>
            <a:r>
              <a:rPr lang="id-ID" sz="1600" dirty="0">
                <a:hlinkClick r:id="rId2"/>
              </a:rPr>
              <a:t>https://uxmastery.com/what-does-a-user-centred-design-process-look-like/</a:t>
            </a:r>
            <a:r>
              <a:rPr lang="id-ID" sz="1600" dirty="0"/>
              <a:t> </a:t>
            </a:r>
          </a:p>
          <a:p>
            <a:pPr>
              <a:spcBef>
                <a:spcPts val="600"/>
              </a:spcBef>
            </a:pPr>
            <a:r>
              <a:rPr lang="id-ID" sz="1600" dirty="0">
                <a:hlinkClick r:id="rId3"/>
              </a:rPr>
              <a:t>http://knowledge.hubspot.com/contacts-user-guide/how-to-create-personas</a:t>
            </a:r>
            <a:r>
              <a:rPr lang="id-ID" sz="1600" dirty="0"/>
              <a:t> </a:t>
            </a:r>
          </a:p>
          <a:p>
            <a:pPr>
              <a:spcBef>
                <a:spcPts val="600"/>
              </a:spcBef>
            </a:pPr>
            <a:r>
              <a:rPr lang="id-ID" sz="1600" dirty="0">
                <a:hlinkClick r:id="rId4"/>
              </a:rPr>
              <a:t>http://www.smashingmagazine.com/2014/08/a-closer-look-at-personas-part-1/</a:t>
            </a:r>
            <a:r>
              <a:rPr lang="id-ID" sz="1600" dirty="0"/>
              <a:t> </a:t>
            </a:r>
          </a:p>
          <a:p>
            <a:pPr>
              <a:spcBef>
                <a:spcPts val="600"/>
              </a:spcBef>
            </a:pPr>
            <a:r>
              <a:rPr lang="id-ID" sz="1600" dirty="0">
                <a:hlinkClick r:id="rId5"/>
              </a:rPr>
              <a:t>http://webdesign.tutsplus.com/articles/defining-and-applying-personas-to-ux-design--webdesign-7561</a:t>
            </a:r>
            <a:r>
              <a:rPr lang="id-ID" sz="1600" dirty="0"/>
              <a:t> </a:t>
            </a:r>
          </a:p>
          <a:p>
            <a:pPr>
              <a:spcBef>
                <a:spcPts val="600"/>
              </a:spcBef>
            </a:pPr>
            <a:r>
              <a:rPr lang="id-ID" sz="1600" dirty="0">
                <a:hlinkClick r:id="rId6"/>
              </a:rPr>
              <a:t>http://www.storyboardthat.com/articles/software-development/using-personas-to-identify-your-target-customers</a:t>
            </a:r>
            <a:endParaRPr lang="id-ID" sz="1600" dirty="0"/>
          </a:p>
        </p:txBody>
      </p:sp>
    </p:spTree>
    <p:extLst>
      <p:ext uri="{BB962C8B-B14F-4D97-AF65-F5344CB8AC3E}">
        <p14:creationId xmlns:p14="http://schemas.microsoft.com/office/powerpoint/2010/main" val="38891792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2889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baef278ee1cee0baed2218bd40bde239eef692"/>
</p:tagLst>
</file>

<file path=ppt/theme/theme1.xml><?xml version="1.0" encoding="utf-8"?>
<a:theme xmlns:a="http://schemas.openxmlformats.org/drawingml/2006/main" name="Fif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Fif theme" id="{F87EA711-521A-4946-B019-DC3D372964CE}" vid="{B3398939-BCCF-43BB-B8C5-63A70CAAD6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3EAFF4A131874088A6625F3ADD53C4" ma:contentTypeVersion="0" ma:contentTypeDescription="Create a new document." ma:contentTypeScope="" ma:versionID="780deb29eeb7a5b1c709d6584340df73">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B9E054C-28F2-4255-86F1-9EB58FE60FB1}"/>
</file>

<file path=customXml/itemProps2.xml><?xml version="1.0" encoding="utf-8"?>
<ds:datastoreItem xmlns:ds="http://schemas.openxmlformats.org/officeDocument/2006/customXml" ds:itemID="{469EB6BA-6E47-4BBC-AB20-D5E845BC3DBD}">
  <ds:schemaRefs>
    <ds:schemaRef ds:uri="http://schemas.microsoft.com/sharepoint/v3/contenttype/forms"/>
  </ds:schemaRefs>
</ds:datastoreItem>
</file>

<file path=customXml/itemProps3.xml><?xml version="1.0" encoding="utf-8"?>
<ds:datastoreItem xmlns:ds="http://schemas.openxmlformats.org/officeDocument/2006/customXml" ds:itemID="{FFAC6687-CD96-486E-9AD1-BDA3E1C2A071}">
  <ds:schemaRefs>
    <ds:schemaRef ds:uri="http://schemas.microsoft.com/office/2006/metadata/properties"/>
    <ds:schemaRef ds:uri="http://schemas.microsoft.com/office/infopath/2007/PartnerControls"/>
    <ds:schemaRef ds:uri="da944019-e0c0-4cbe-b9e1-79848028e4af"/>
    <ds:schemaRef ds:uri="4a4cec7d-c36e-444e-b338-a48af7a4be82"/>
  </ds:schemaRefs>
</ds:datastoreItem>
</file>

<file path=docProps/app.xml><?xml version="1.0" encoding="utf-8"?>
<Properties xmlns="http://schemas.openxmlformats.org/officeDocument/2006/extended-properties" xmlns:vt="http://schemas.openxmlformats.org/officeDocument/2006/docPropsVTypes">
  <Template>Fif theme</Template>
  <TotalTime>12474</TotalTime>
  <Words>2536</Words>
  <Application>Microsoft Office PowerPoint</Application>
  <PresentationFormat>On-screen Show (4:3)</PresentationFormat>
  <Paragraphs>342</Paragraphs>
  <Slides>57</Slides>
  <Notes>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57</vt:i4>
      </vt:variant>
    </vt:vector>
  </HeadingPairs>
  <TitlesOfParts>
    <vt:vector size="74" baseType="lpstr">
      <vt:lpstr>ＭＳ Ｐゴシック</vt:lpstr>
      <vt:lpstr>Arial</vt:lpstr>
      <vt:lpstr>Barlow</vt:lpstr>
      <vt:lpstr>Brush Script Std</vt:lpstr>
      <vt:lpstr>Calibri</vt:lpstr>
      <vt:lpstr>Carlito</vt:lpstr>
      <vt:lpstr>Corbel</vt:lpstr>
      <vt:lpstr>Fjalla One</vt:lpstr>
      <vt:lpstr>Lucida Grande</vt:lpstr>
      <vt:lpstr>Perpetua Titling MT</vt:lpstr>
      <vt:lpstr>Symbol</vt:lpstr>
      <vt:lpstr>Tahoma</vt:lpstr>
      <vt:lpstr>Verdana</vt:lpstr>
      <vt:lpstr>Verdana (Body)</vt:lpstr>
      <vt:lpstr>Verdana (Bold)</vt:lpstr>
      <vt:lpstr>Wingdings</vt:lpstr>
      <vt:lpstr>Fif theme</vt:lpstr>
      <vt:lpstr>Interaksi Manusia dan Komputer (IMK)</vt:lpstr>
      <vt:lpstr>Tujuan </vt:lpstr>
      <vt:lpstr>Outline</vt:lpstr>
      <vt:lpstr>WHAT IS PERSONA?</vt:lpstr>
      <vt:lpstr>What is Persona http://webdesign.tutsplus.com/articles/defining-and-applying-personas-to-ux-design--webdesign-7561</vt:lpstr>
      <vt:lpstr>WHY PERSONA IS IMPORTANT IN UI DESIGN PROCESS?</vt:lpstr>
      <vt:lpstr>Why Persona?</vt:lpstr>
      <vt:lpstr>OVERVIEW HOW TO DEFINE PERSONA?</vt:lpstr>
      <vt:lpstr>Target users</vt:lpstr>
      <vt:lpstr>Tahapan untuk dapat mendefinisikan Persona (User)</vt:lpstr>
      <vt:lpstr>Steps to Create Personas</vt:lpstr>
      <vt:lpstr>KNOW USERS</vt:lpstr>
      <vt:lpstr>Step 1 : Know your users and clients</vt:lpstr>
      <vt:lpstr>Understand how people interact with computers</vt:lpstr>
      <vt:lpstr>Understand the human characteristics important in design</vt:lpstr>
      <vt:lpstr>Understand the human characteristics important in design</vt:lpstr>
      <vt:lpstr>Understand the human characteristics important in design </vt:lpstr>
      <vt:lpstr>3 Phase Human Information Processing System</vt:lpstr>
      <vt:lpstr>Perceptual System</vt:lpstr>
      <vt:lpstr>Perceptual Process</vt:lpstr>
      <vt:lpstr>Cognitive System</vt:lpstr>
      <vt:lpstr>Motor System</vt:lpstr>
      <vt:lpstr>Human Considerations in the Design of Business Systems</vt:lpstr>
      <vt:lpstr>Identify the user’s level of knowledge and experience</vt:lpstr>
      <vt:lpstr>Identify the characteristics of the user’s needs, tasks, and jobs</vt:lpstr>
      <vt:lpstr>Identify the user’s psychological characteristics</vt:lpstr>
      <vt:lpstr>Identify the user’s physical characteristics</vt:lpstr>
      <vt:lpstr>HOW TO GATHER DATA PERSONA?</vt:lpstr>
      <vt:lpstr>Brief overview of common methods to gather user data</vt:lpstr>
      <vt:lpstr>Interviews</vt:lpstr>
      <vt:lpstr>Interview questions</vt:lpstr>
      <vt:lpstr>Enriching the interview process</vt:lpstr>
      <vt:lpstr>Contextual Inquiry</vt:lpstr>
      <vt:lpstr>Questionnaires</vt:lpstr>
      <vt:lpstr>Questionnaire design</vt:lpstr>
      <vt:lpstr>Advantages of online questionnaires</vt:lpstr>
      <vt:lpstr>Problems with online questionnaires</vt:lpstr>
      <vt:lpstr>Observation</vt:lpstr>
      <vt:lpstr>Structuring frameworks to guide observation</vt:lpstr>
      <vt:lpstr>Ethnography (1)</vt:lpstr>
      <vt:lpstr>Ethnography (2)</vt:lpstr>
      <vt:lpstr>Direct observation in a controlled setting</vt:lpstr>
      <vt:lpstr>Choosing and combining techniques</vt:lpstr>
      <vt:lpstr>STYLE PERSONA</vt:lpstr>
      <vt:lpstr>Persona’s style</vt:lpstr>
      <vt:lpstr>An Example Persona : Marjorie Bannet</vt:lpstr>
      <vt:lpstr>An Example: Marjorie Bannet</vt:lpstr>
      <vt:lpstr>An Example: Marjorie Bannet</vt:lpstr>
      <vt:lpstr>User Persona Example</vt:lpstr>
      <vt:lpstr>User Persona Example</vt:lpstr>
      <vt:lpstr>User Persona Example</vt:lpstr>
      <vt:lpstr>User Persona Example</vt:lpstr>
      <vt:lpstr>User Persona Example</vt:lpstr>
      <vt:lpstr>How to Create User Persona</vt:lpstr>
      <vt:lpstr>PowerPoint Presentation</vt:lpstr>
      <vt:lpstr>Bahan bacaan</vt:lpstr>
      <vt:lpstr>PowerPoint Presentation</vt:lpstr>
    </vt:vector>
  </TitlesOfParts>
  <Company>IEEE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Engel, Lisa Lisa.</dc:creator>
  <cp:lastModifiedBy>GEDE AGUNG ARY WISUDIAWAN</cp:lastModifiedBy>
  <cp:revision>261</cp:revision>
  <dcterms:created xsi:type="dcterms:W3CDTF">2012-11-14T18:53:32Z</dcterms:created>
  <dcterms:modified xsi:type="dcterms:W3CDTF">2026-02-02T04:17:42Z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0x010100283EAFF4A131874088A6625F3ADD53C4</vt:lpwstr>
  </property>
  <property fmtid="{D5CDD505-2E9C-101B-9397-08002B2CF9AE}" pid="3" name="MediaServiceImageTags">
    <vt:lpwstr/>
  </property>
</Properties>
</file>